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2"/>
  </p:notesMasterIdLst>
  <p:sldIdLst>
    <p:sldId id="260" r:id="rId2"/>
    <p:sldId id="267" r:id="rId3"/>
    <p:sldId id="269" r:id="rId4"/>
    <p:sldId id="276" r:id="rId5"/>
    <p:sldId id="275" r:id="rId6"/>
    <p:sldId id="268" r:id="rId7"/>
    <p:sldId id="277" r:id="rId8"/>
    <p:sldId id="278" r:id="rId9"/>
    <p:sldId id="279" r:id="rId10"/>
    <p:sldId id="280" r:id="rId11"/>
    <p:sldId id="286" r:id="rId12"/>
    <p:sldId id="281" r:id="rId13"/>
    <p:sldId id="282" r:id="rId14"/>
    <p:sldId id="283" r:id="rId15"/>
    <p:sldId id="284" r:id="rId16"/>
    <p:sldId id="287" r:id="rId17"/>
    <p:sldId id="285" r:id="rId18"/>
    <p:sldId id="288" r:id="rId19"/>
    <p:sldId id="263" r:id="rId20"/>
    <p:sldId id="295" r:id="rId21"/>
    <p:sldId id="292" r:id="rId22"/>
    <p:sldId id="293" r:id="rId23"/>
    <p:sldId id="290" r:id="rId24"/>
    <p:sldId id="291" r:id="rId25"/>
    <p:sldId id="493" r:id="rId26"/>
    <p:sldId id="296" r:id="rId27"/>
    <p:sldId id="494" r:id="rId28"/>
    <p:sldId id="297" r:id="rId29"/>
    <p:sldId id="298" r:id="rId30"/>
    <p:sldId id="299" r:id="rId31"/>
    <p:sldId id="300" r:id="rId32"/>
    <p:sldId id="302" r:id="rId33"/>
    <p:sldId id="303" r:id="rId34"/>
    <p:sldId id="304" r:id="rId35"/>
    <p:sldId id="305" r:id="rId36"/>
    <p:sldId id="307" r:id="rId37"/>
    <p:sldId id="308" r:id="rId38"/>
    <p:sldId id="309" r:id="rId39"/>
    <p:sldId id="310" r:id="rId40"/>
    <p:sldId id="495" r:id="rId41"/>
    <p:sldId id="306" r:id="rId42"/>
    <p:sldId id="323" r:id="rId43"/>
    <p:sldId id="311" r:id="rId44"/>
    <p:sldId id="314" r:id="rId45"/>
    <p:sldId id="315" r:id="rId46"/>
    <p:sldId id="316" r:id="rId47"/>
    <p:sldId id="317" r:id="rId48"/>
    <p:sldId id="318" r:id="rId49"/>
    <p:sldId id="319" r:id="rId50"/>
    <p:sldId id="320" r:id="rId51"/>
    <p:sldId id="321" r:id="rId52"/>
    <p:sldId id="322" r:id="rId53"/>
    <p:sldId id="324" r:id="rId54"/>
    <p:sldId id="312" r:id="rId55"/>
    <p:sldId id="325" r:id="rId56"/>
    <p:sldId id="313" r:id="rId57"/>
    <p:sldId id="326" r:id="rId58"/>
    <p:sldId id="327" r:id="rId59"/>
    <p:sldId id="329" r:id="rId60"/>
    <p:sldId id="330" r:id="rId61"/>
    <p:sldId id="328" r:id="rId62"/>
    <p:sldId id="332" r:id="rId63"/>
    <p:sldId id="336" r:id="rId64"/>
    <p:sldId id="333" r:id="rId65"/>
    <p:sldId id="334" r:id="rId66"/>
    <p:sldId id="335" r:id="rId67"/>
    <p:sldId id="337" r:id="rId68"/>
    <p:sldId id="338" r:id="rId69"/>
    <p:sldId id="339" r:id="rId70"/>
    <p:sldId id="340" r:id="rId71"/>
    <p:sldId id="341" r:id="rId72"/>
    <p:sldId id="301" r:id="rId73"/>
    <p:sldId id="343" r:id="rId74"/>
    <p:sldId id="344" r:id="rId75"/>
    <p:sldId id="345" r:id="rId76"/>
    <p:sldId id="342" r:id="rId77"/>
    <p:sldId id="346" r:id="rId78"/>
    <p:sldId id="347" r:id="rId79"/>
    <p:sldId id="348" r:id="rId80"/>
    <p:sldId id="349" r:id="rId81"/>
    <p:sldId id="350" r:id="rId82"/>
    <p:sldId id="351" r:id="rId83"/>
    <p:sldId id="331" r:id="rId84"/>
    <p:sldId id="354" r:id="rId85"/>
    <p:sldId id="352" r:id="rId86"/>
    <p:sldId id="355" r:id="rId87"/>
    <p:sldId id="353" r:id="rId88"/>
    <p:sldId id="356" r:id="rId89"/>
    <p:sldId id="357" r:id="rId90"/>
    <p:sldId id="358" r:id="rId91"/>
    <p:sldId id="359" r:id="rId92"/>
    <p:sldId id="360" r:id="rId93"/>
    <p:sldId id="367" r:id="rId94"/>
    <p:sldId id="368" r:id="rId95"/>
    <p:sldId id="370" r:id="rId96"/>
    <p:sldId id="361" r:id="rId97"/>
    <p:sldId id="362" r:id="rId98"/>
    <p:sldId id="363" r:id="rId99"/>
    <p:sldId id="364" r:id="rId100"/>
    <p:sldId id="365" r:id="rId101"/>
    <p:sldId id="366" r:id="rId102"/>
    <p:sldId id="369" r:id="rId103"/>
    <p:sldId id="371" r:id="rId104"/>
    <p:sldId id="374" r:id="rId105"/>
    <p:sldId id="377" r:id="rId106"/>
    <p:sldId id="372" r:id="rId107"/>
    <p:sldId id="373" r:id="rId108"/>
    <p:sldId id="378" r:id="rId109"/>
    <p:sldId id="379" r:id="rId110"/>
    <p:sldId id="380" r:id="rId111"/>
    <p:sldId id="381" r:id="rId112"/>
    <p:sldId id="382" r:id="rId113"/>
    <p:sldId id="383" r:id="rId114"/>
    <p:sldId id="384" r:id="rId115"/>
    <p:sldId id="390" r:id="rId116"/>
    <p:sldId id="385" r:id="rId117"/>
    <p:sldId id="386" r:id="rId118"/>
    <p:sldId id="387" r:id="rId119"/>
    <p:sldId id="388" r:id="rId120"/>
    <p:sldId id="391" r:id="rId121"/>
    <p:sldId id="392" r:id="rId122"/>
    <p:sldId id="393" r:id="rId123"/>
    <p:sldId id="389" r:id="rId124"/>
    <p:sldId id="394" r:id="rId125"/>
    <p:sldId id="395" r:id="rId126"/>
    <p:sldId id="396" r:id="rId127"/>
    <p:sldId id="397" r:id="rId128"/>
    <p:sldId id="398" r:id="rId129"/>
    <p:sldId id="399" r:id="rId130"/>
    <p:sldId id="417" r:id="rId131"/>
    <p:sldId id="400" r:id="rId132"/>
    <p:sldId id="402" r:id="rId133"/>
    <p:sldId id="401" r:id="rId134"/>
    <p:sldId id="403" r:id="rId135"/>
    <p:sldId id="404" r:id="rId136"/>
    <p:sldId id="405" r:id="rId137"/>
    <p:sldId id="406" r:id="rId138"/>
    <p:sldId id="408" r:id="rId139"/>
    <p:sldId id="407" r:id="rId140"/>
    <p:sldId id="409" r:id="rId141"/>
    <p:sldId id="410" r:id="rId142"/>
    <p:sldId id="416" r:id="rId143"/>
    <p:sldId id="411" r:id="rId144"/>
    <p:sldId id="412" r:id="rId145"/>
    <p:sldId id="413" r:id="rId146"/>
    <p:sldId id="414" r:id="rId147"/>
    <p:sldId id="421" r:id="rId148"/>
    <p:sldId id="415" r:id="rId149"/>
    <p:sldId id="422" r:id="rId150"/>
    <p:sldId id="423" r:id="rId151"/>
    <p:sldId id="424" r:id="rId152"/>
    <p:sldId id="425" r:id="rId153"/>
    <p:sldId id="426" r:id="rId154"/>
    <p:sldId id="427" r:id="rId155"/>
    <p:sldId id="428" r:id="rId156"/>
    <p:sldId id="264" r:id="rId157"/>
    <p:sldId id="429" r:id="rId158"/>
    <p:sldId id="430" r:id="rId159"/>
    <p:sldId id="432" r:id="rId160"/>
    <p:sldId id="431" r:id="rId161"/>
    <p:sldId id="433" r:id="rId162"/>
    <p:sldId id="434" r:id="rId163"/>
    <p:sldId id="435" r:id="rId164"/>
    <p:sldId id="436" r:id="rId165"/>
    <p:sldId id="437" r:id="rId166"/>
    <p:sldId id="438" r:id="rId167"/>
    <p:sldId id="439" r:id="rId168"/>
    <p:sldId id="441" r:id="rId169"/>
    <p:sldId id="440" r:id="rId170"/>
    <p:sldId id="445" r:id="rId171"/>
    <p:sldId id="446" r:id="rId172"/>
    <p:sldId id="447" r:id="rId173"/>
    <p:sldId id="442" r:id="rId174"/>
    <p:sldId id="443" r:id="rId175"/>
    <p:sldId id="444" r:id="rId176"/>
    <p:sldId id="449" r:id="rId177"/>
    <p:sldId id="450" r:id="rId178"/>
    <p:sldId id="451" r:id="rId179"/>
    <p:sldId id="452" r:id="rId180"/>
    <p:sldId id="453" r:id="rId181"/>
    <p:sldId id="454" r:id="rId182"/>
    <p:sldId id="455" r:id="rId183"/>
    <p:sldId id="265" r:id="rId184"/>
    <p:sldId id="456" r:id="rId185"/>
    <p:sldId id="457" r:id="rId186"/>
    <p:sldId id="458" r:id="rId187"/>
    <p:sldId id="459" r:id="rId188"/>
    <p:sldId id="460" r:id="rId189"/>
    <p:sldId id="461" r:id="rId190"/>
    <p:sldId id="462" r:id="rId191"/>
    <p:sldId id="463" r:id="rId192"/>
    <p:sldId id="464" r:id="rId193"/>
    <p:sldId id="465" r:id="rId194"/>
    <p:sldId id="466" r:id="rId195"/>
    <p:sldId id="467" r:id="rId196"/>
    <p:sldId id="468" r:id="rId197"/>
    <p:sldId id="469" r:id="rId198"/>
    <p:sldId id="470" r:id="rId199"/>
    <p:sldId id="471" r:id="rId200"/>
    <p:sldId id="473" r:id="rId201"/>
    <p:sldId id="472" r:id="rId202"/>
    <p:sldId id="474" r:id="rId203"/>
    <p:sldId id="475" r:id="rId204"/>
    <p:sldId id="476" r:id="rId205"/>
    <p:sldId id="477" r:id="rId206"/>
    <p:sldId id="478" r:id="rId207"/>
    <p:sldId id="479" r:id="rId208"/>
    <p:sldId id="480" r:id="rId209"/>
    <p:sldId id="481" r:id="rId210"/>
    <p:sldId id="483" r:id="rId211"/>
    <p:sldId id="484" r:id="rId212"/>
    <p:sldId id="485" r:id="rId213"/>
    <p:sldId id="486" r:id="rId214"/>
    <p:sldId id="487" r:id="rId215"/>
    <p:sldId id="488" r:id="rId216"/>
    <p:sldId id="490" r:id="rId217"/>
    <p:sldId id="489" r:id="rId218"/>
    <p:sldId id="491" r:id="rId219"/>
    <p:sldId id="492" r:id="rId220"/>
    <p:sldId id="266" r:id="rId221"/>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8000"/>
    <a:srgbClr val="00CC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7" autoAdjust="0"/>
    <p:restoredTop sz="98778" autoAdjust="0"/>
  </p:normalViewPr>
  <p:slideViewPr>
    <p:cSldViewPr>
      <p:cViewPr varScale="1">
        <p:scale>
          <a:sx n="72" d="100"/>
          <a:sy n="72" d="100"/>
        </p:scale>
        <p:origin x="1326"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11" Type="http://schemas.openxmlformats.org/officeDocument/2006/relationships/slide" Target="slides/slide210.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slide" Target="slides/slide205.xml"/><Relationship Id="rId227" Type="http://schemas.microsoft.com/office/2015/10/relationships/revisionInfo" Target="revisionInfo.xml"/><Relationship Id="rId201" Type="http://schemas.openxmlformats.org/officeDocument/2006/relationships/slide" Target="slides/slide200.xml"/><Relationship Id="rId222"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19" Type="http://schemas.openxmlformats.org/officeDocument/2006/relationships/slide" Target="slides/slide18.xml"/><Relationship Id="rId224" Type="http://schemas.openxmlformats.org/officeDocument/2006/relationships/viewProps" Target="viewProps.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5D3F34-04BE-4AA6-A2AB-FB66DB6A7351}" type="doc">
      <dgm:prSet loTypeId="urn:microsoft.com/office/officeart/2005/8/layout/vProcess5" loCatId="process" qsTypeId="urn:microsoft.com/office/officeart/2005/8/quickstyle/3d3" qsCatId="3D" csTypeId="urn:microsoft.com/office/officeart/2005/8/colors/colorful1#1" csCatId="colorful" phldr="1"/>
      <dgm:spPr/>
      <dgm:t>
        <a:bodyPr/>
        <a:lstStyle/>
        <a:p>
          <a:endParaRPr lang="es-ES"/>
        </a:p>
      </dgm:t>
    </dgm:pt>
    <dgm:pt modelId="{C0573C17-86EB-4DF7-80F2-1BC45E2E009E}">
      <dgm:prSet phldrT="[Texto]"/>
      <dgm:spPr/>
      <dgm:t>
        <a:bodyPr/>
        <a:lstStyle/>
        <a:p>
          <a:r>
            <a:rPr lang="es-ES" dirty="0"/>
            <a:t>Análisis de requisitos</a:t>
          </a:r>
        </a:p>
      </dgm:t>
    </dgm:pt>
    <dgm:pt modelId="{26D6AE25-8A07-4EED-9F05-AF687CF3A788}" type="parTrans" cxnId="{D51AC937-6D5E-4B62-98DE-BD7CFC3BCE52}">
      <dgm:prSet/>
      <dgm:spPr/>
      <dgm:t>
        <a:bodyPr/>
        <a:lstStyle/>
        <a:p>
          <a:endParaRPr lang="es-ES"/>
        </a:p>
      </dgm:t>
    </dgm:pt>
    <dgm:pt modelId="{524EAE70-7D23-4A5F-9665-4816BEAFEF06}" type="sibTrans" cxnId="{D51AC937-6D5E-4B62-98DE-BD7CFC3BCE52}">
      <dgm:prSet/>
      <dgm:spPr/>
      <dgm:t>
        <a:bodyPr/>
        <a:lstStyle/>
        <a:p>
          <a:endParaRPr lang="es-ES"/>
        </a:p>
      </dgm:t>
    </dgm:pt>
    <dgm:pt modelId="{EEF60000-FDCD-416A-9723-9EDCA49AC7B2}">
      <dgm:prSet phldrT="[Texto]"/>
      <dgm:spPr/>
      <dgm:t>
        <a:bodyPr/>
        <a:lstStyle/>
        <a:p>
          <a:r>
            <a:rPr lang="es-ES" dirty="0"/>
            <a:t>Diseño Conceptual</a:t>
          </a:r>
        </a:p>
      </dgm:t>
    </dgm:pt>
    <dgm:pt modelId="{88AA4C50-2824-453C-A314-53F1A2837715}" type="parTrans" cxnId="{6831A020-64EB-4B7D-8940-8A19CFAA2C58}">
      <dgm:prSet/>
      <dgm:spPr/>
      <dgm:t>
        <a:bodyPr/>
        <a:lstStyle/>
        <a:p>
          <a:endParaRPr lang="es-ES"/>
        </a:p>
      </dgm:t>
    </dgm:pt>
    <dgm:pt modelId="{0993647A-5DCE-4A44-B398-FF4B548B84A3}" type="sibTrans" cxnId="{6831A020-64EB-4B7D-8940-8A19CFAA2C58}">
      <dgm:prSet/>
      <dgm:spPr/>
      <dgm:t>
        <a:bodyPr/>
        <a:lstStyle/>
        <a:p>
          <a:endParaRPr lang="es-ES"/>
        </a:p>
      </dgm:t>
    </dgm:pt>
    <dgm:pt modelId="{65D46465-8330-446B-8FDD-6F8A33DF3139}">
      <dgm:prSet phldrT="[Texto]"/>
      <dgm:spPr/>
      <dgm:t>
        <a:bodyPr/>
        <a:lstStyle/>
        <a:p>
          <a:r>
            <a:rPr lang="es-ES" dirty="0"/>
            <a:t>Implantación en el SGBD</a:t>
          </a:r>
        </a:p>
      </dgm:t>
    </dgm:pt>
    <dgm:pt modelId="{C3D9242B-1A47-4ED6-B72C-B4F62DA0918B}" type="parTrans" cxnId="{7CBE5839-7C84-4165-8872-AD2FE1407012}">
      <dgm:prSet/>
      <dgm:spPr/>
      <dgm:t>
        <a:bodyPr/>
        <a:lstStyle/>
        <a:p>
          <a:endParaRPr lang="es-ES"/>
        </a:p>
      </dgm:t>
    </dgm:pt>
    <dgm:pt modelId="{0EC12812-1934-43CC-A3A0-099216937FF0}" type="sibTrans" cxnId="{7CBE5839-7C84-4165-8872-AD2FE1407012}">
      <dgm:prSet/>
      <dgm:spPr/>
      <dgm:t>
        <a:bodyPr/>
        <a:lstStyle/>
        <a:p>
          <a:endParaRPr lang="es-ES"/>
        </a:p>
      </dgm:t>
    </dgm:pt>
    <dgm:pt modelId="{0C69ACC9-DCE5-49FF-B034-CE61EDA0D587}" type="pres">
      <dgm:prSet presAssocID="{2C5D3F34-04BE-4AA6-A2AB-FB66DB6A7351}" presName="outerComposite" presStyleCnt="0">
        <dgm:presLayoutVars>
          <dgm:chMax val="5"/>
          <dgm:dir/>
          <dgm:resizeHandles val="exact"/>
        </dgm:presLayoutVars>
      </dgm:prSet>
      <dgm:spPr/>
    </dgm:pt>
    <dgm:pt modelId="{61CFC98B-2252-461D-B829-470E304B895C}" type="pres">
      <dgm:prSet presAssocID="{2C5D3F34-04BE-4AA6-A2AB-FB66DB6A7351}" presName="dummyMaxCanvas" presStyleCnt="0">
        <dgm:presLayoutVars/>
      </dgm:prSet>
      <dgm:spPr/>
    </dgm:pt>
    <dgm:pt modelId="{CBF56F0B-9202-4934-A207-3F2A61ADE9F2}" type="pres">
      <dgm:prSet presAssocID="{2C5D3F34-04BE-4AA6-A2AB-FB66DB6A7351}" presName="ThreeNodes_1" presStyleLbl="node1" presStyleIdx="0" presStyleCnt="3">
        <dgm:presLayoutVars>
          <dgm:bulletEnabled val="1"/>
        </dgm:presLayoutVars>
      </dgm:prSet>
      <dgm:spPr/>
    </dgm:pt>
    <dgm:pt modelId="{23AB4FF0-6BAB-4DA5-9084-565ABA5BAAC8}" type="pres">
      <dgm:prSet presAssocID="{2C5D3F34-04BE-4AA6-A2AB-FB66DB6A7351}" presName="ThreeNodes_2" presStyleLbl="node1" presStyleIdx="1" presStyleCnt="3">
        <dgm:presLayoutVars>
          <dgm:bulletEnabled val="1"/>
        </dgm:presLayoutVars>
      </dgm:prSet>
      <dgm:spPr/>
    </dgm:pt>
    <dgm:pt modelId="{CB0F0D83-DFB1-4289-BAC6-2CB013E7A395}" type="pres">
      <dgm:prSet presAssocID="{2C5D3F34-04BE-4AA6-A2AB-FB66DB6A7351}" presName="ThreeNodes_3" presStyleLbl="node1" presStyleIdx="2" presStyleCnt="3">
        <dgm:presLayoutVars>
          <dgm:bulletEnabled val="1"/>
        </dgm:presLayoutVars>
      </dgm:prSet>
      <dgm:spPr/>
    </dgm:pt>
    <dgm:pt modelId="{C755488E-95F5-49D2-9F68-0BC772E107D5}" type="pres">
      <dgm:prSet presAssocID="{2C5D3F34-04BE-4AA6-A2AB-FB66DB6A7351}" presName="ThreeConn_1-2" presStyleLbl="fgAccFollowNode1" presStyleIdx="0" presStyleCnt="2">
        <dgm:presLayoutVars>
          <dgm:bulletEnabled val="1"/>
        </dgm:presLayoutVars>
      </dgm:prSet>
      <dgm:spPr/>
    </dgm:pt>
    <dgm:pt modelId="{F473FCE4-75BE-457A-9AD0-0B920C0D2AAD}" type="pres">
      <dgm:prSet presAssocID="{2C5D3F34-04BE-4AA6-A2AB-FB66DB6A7351}" presName="ThreeConn_2-3" presStyleLbl="fgAccFollowNode1" presStyleIdx="1" presStyleCnt="2">
        <dgm:presLayoutVars>
          <dgm:bulletEnabled val="1"/>
        </dgm:presLayoutVars>
      </dgm:prSet>
      <dgm:spPr/>
    </dgm:pt>
    <dgm:pt modelId="{F19B8623-1227-47B2-B250-73172EBB8FB2}" type="pres">
      <dgm:prSet presAssocID="{2C5D3F34-04BE-4AA6-A2AB-FB66DB6A7351}" presName="ThreeNodes_1_text" presStyleLbl="node1" presStyleIdx="2" presStyleCnt="3">
        <dgm:presLayoutVars>
          <dgm:bulletEnabled val="1"/>
        </dgm:presLayoutVars>
      </dgm:prSet>
      <dgm:spPr/>
    </dgm:pt>
    <dgm:pt modelId="{D51E2A58-627D-4E0D-8949-3922C8A42EE1}" type="pres">
      <dgm:prSet presAssocID="{2C5D3F34-04BE-4AA6-A2AB-FB66DB6A7351}" presName="ThreeNodes_2_text" presStyleLbl="node1" presStyleIdx="2" presStyleCnt="3">
        <dgm:presLayoutVars>
          <dgm:bulletEnabled val="1"/>
        </dgm:presLayoutVars>
      </dgm:prSet>
      <dgm:spPr/>
    </dgm:pt>
    <dgm:pt modelId="{56BCCAD2-1063-40D4-92DA-4DE847C19250}" type="pres">
      <dgm:prSet presAssocID="{2C5D3F34-04BE-4AA6-A2AB-FB66DB6A7351}" presName="ThreeNodes_3_text" presStyleLbl="node1" presStyleIdx="2" presStyleCnt="3">
        <dgm:presLayoutVars>
          <dgm:bulletEnabled val="1"/>
        </dgm:presLayoutVars>
      </dgm:prSet>
      <dgm:spPr/>
    </dgm:pt>
  </dgm:ptLst>
  <dgm:cxnLst>
    <dgm:cxn modelId="{69BCF715-D660-465C-99A5-A43EDED5D5C1}" type="presOf" srcId="{EEF60000-FDCD-416A-9723-9EDCA49AC7B2}" destId="{23AB4FF0-6BAB-4DA5-9084-565ABA5BAAC8}" srcOrd="0" destOrd="0" presId="urn:microsoft.com/office/officeart/2005/8/layout/vProcess5"/>
    <dgm:cxn modelId="{6831A020-64EB-4B7D-8940-8A19CFAA2C58}" srcId="{2C5D3F34-04BE-4AA6-A2AB-FB66DB6A7351}" destId="{EEF60000-FDCD-416A-9723-9EDCA49AC7B2}" srcOrd="1" destOrd="0" parTransId="{88AA4C50-2824-453C-A314-53F1A2837715}" sibTransId="{0993647A-5DCE-4A44-B398-FF4B548B84A3}"/>
    <dgm:cxn modelId="{7CD52A34-3CA7-4A0E-9295-40434F8997B7}" type="presOf" srcId="{65D46465-8330-446B-8FDD-6F8A33DF3139}" destId="{56BCCAD2-1063-40D4-92DA-4DE847C19250}" srcOrd="1" destOrd="0" presId="urn:microsoft.com/office/officeart/2005/8/layout/vProcess5"/>
    <dgm:cxn modelId="{D51AC937-6D5E-4B62-98DE-BD7CFC3BCE52}" srcId="{2C5D3F34-04BE-4AA6-A2AB-FB66DB6A7351}" destId="{C0573C17-86EB-4DF7-80F2-1BC45E2E009E}" srcOrd="0" destOrd="0" parTransId="{26D6AE25-8A07-4EED-9F05-AF687CF3A788}" sibTransId="{524EAE70-7D23-4A5F-9665-4816BEAFEF06}"/>
    <dgm:cxn modelId="{7CBE5839-7C84-4165-8872-AD2FE1407012}" srcId="{2C5D3F34-04BE-4AA6-A2AB-FB66DB6A7351}" destId="{65D46465-8330-446B-8FDD-6F8A33DF3139}" srcOrd="2" destOrd="0" parTransId="{C3D9242B-1A47-4ED6-B72C-B4F62DA0918B}" sibTransId="{0EC12812-1934-43CC-A3A0-099216937FF0}"/>
    <dgm:cxn modelId="{3CAC2478-8B92-4264-8AD7-B0555F9C2A3B}" type="presOf" srcId="{EEF60000-FDCD-416A-9723-9EDCA49AC7B2}" destId="{D51E2A58-627D-4E0D-8949-3922C8A42EE1}" srcOrd="1" destOrd="0" presId="urn:microsoft.com/office/officeart/2005/8/layout/vProcess5"/>
    <dgm:cxn modelId="{77B90895-9A26-4792-95BA-C68B2A8246E5}" type="presOf" srcId="{C0573C17-86EB-4DF7-80F2-1BC45E2E009E}" destId="{CBF56F0B-9202-4934-A207-3F2A61ADE9F2}" srcOrd="0" destOrd="0" presId="urn:microsoft.com/office/officeart/2005/8/layout/vProcess5"/>
    <dgm:cxn modelId="{266B5B9F-EE63-43BA-A2E5-5FC2216CF2AD}" type="presOf" srcId="{0993647A-5DCE-4A44-B398-FF4B548B84A3}" destId="{F473FCE4-75BE-457A-9AD0-0B920C0D2AAD}" srcOrd="0" destOrd="0" presId="urn:microsoft.com/office/officeart/2005/8/layout/vProcess5"/>
    <dgm:cxn modelId="{1D83DCC9-49E6-45F0-9E63-EFC4728ABEB8}" type="presOf" srcId="{C0573C17-86EB-4DF7-80F2-1BC45E2E009E}" destId="{F19B8623-1227-47B2-B250-73172EBB8FB2}" srcOrd="1" destOrd="0" presId="urn:microsoft.com/office/officeart/2005/8/layout/vProcess5"/>
    <dgm:cxn modelId="{117AACDE-CF79-44F8-9431-63250176F818}" type="presOf" srcId="{2C5D3F34-04BE-4AA6-A2AB-FB66DB6A7351}" destId="{0C69ACC9-DCE5-49FF-B034-CE61EDA0D587}" srcOrd="0" destOrd="0" presId="urn:microsoft.com/office/officeart/2005/8/layout/vProcess5"/>
    <dgm:cxn modelId="{1DEA51E2-AD09-423B-ABBD-90EB664DD0DE}" type="presOf" srcId="{65D46465-8330-446B-8FDD-6F8A33DF3139}" destId="{CB0F0D83-DFB1-4289-BAC6-2CB013E7A395}" srcOrd="0" destOrd="0" presId="urn:microsoft.com/office/officeart/2005/8/layout/vProcess5"/>
    <dgm:cxn modelId="{127B6BFE-555C-40CD-B6F0-AEC098C63C13}" type="presOf" srcId="{524EAE70-7D23-4A5F-9665-4816BEAFEF06}" destId="{C755488E-95F5-49D2-9F68-0BC772E107D5}" srcOrd="0" destOrd="0" presId="urn:microsoft.com/office/officeart/2005/8/layout/vProcess5"/>
    <dgm:cxn modelId="{DF624988-3FA0-44E1-988E-069B2B90E05B}" type="presParOf" srcId="{0C69ACC9-DCE5-49FF-B034-CE61EDA0D587}" destId="{61CFC98B-2252-461D-B829-470E304B895C}" srcOrd="0" destOrd="0" presId="urn:microsoft.com/office/officeart/2005/8/layout/vProcess5"/>
    <dgm:cxn modelId="{445A1E0A-07DF-4F70-98E6-58BDEC40E807}" type="presParOf" srcId="{0C69ACC9-DCE5-49FF-B034-CE61EDA0D587}" destId="{CBF56F0B-9202-4934-A207-3F2A61ADE9F2}" srcOrd="1" destOrd="0" presId="urn:microsoft.com/office/officeart/2005/8/layout/vProcess5"/>
    <dgm:cxn modelId="{4AE69529-AB35-4D44-A750-27C2C66D13EE}" type="presParOf" srcId="{0C69ACC9-DCE5-49FF-B034-CE61EDA0D587}" destId="{23AB4FF0-6BAB-4DA5-9084-565ABA5BAAC8}" srcOrd="2" destOrd="0" presId="urn:microsoft.com/office/officeart/2005/8/layout/vProcess5"/>
    <dgm:cxn modelId="{5AAE7DCF-C543-43FB-98DA-DA1826FCBE4F}" type="presParOf" srcId="{0C69ACC9-DCE5-49FF-B034-CE61EDA0D587}" destId="{CB0F0D83-DFB1-4289-BAC6-2CB013E7A395}" srcOrd="3" destOrd="0" presId="urn:microsoft.com/office/officeart/2005/8/layout/vProcess5"/>
    <dgm:cxn modelId="{6C93DD70-4318-479C-B3C8-D9B90698BA03}" type="presParOf" srcId="{0C69ACC9-DCE5-49FF-B034-CE61EDA0D587}" destId="{C755488E-95F5-49D2-9F68-0BC772E107D5}" srcOrd="4" destOrd="0" presId="urn:microsoft.com/office/officeart/2005/8/layout/vProcess5"/>
    <dgm:cxn modelId="{4086345F-59D0-4BDB-966E-5C8DB8AAED61}" type="presParOf" srcId="{0C69ACC9-DCE5-49FF-B034-CE61EDA0D587}" destId="{F473FCE4-75BE-457A-9AD0-0B920C0D2AAD}" srcOrd="5" destOrd="0" presId="urn:microsoft.com/office/officeart/2005/8/layout/vProcess5"/>
    <dgm:cxn modelId="{2CB623BE-0456-4CB8-858E-766027B273EE}" type="presParOf" srcId="{0C69ACC9-DCE5-49FF-B034-CE61EDA0D587}" destId="{F19B8623-1227-47B2-B250-73172EBB8FB2}" srcOrd="6" destOrd="0" presId="urn:microsoft.com/office/officeart/2005/8/layout/vProcess5"/>
    <dgm:cxn modelId="{BE36DC75-DE5E-4A63-9C65-D966F7ECD1D3}" type="presParOf" srcId="{0C69ACC9-DCE5-49FF-B034-CE61EDA0D587}" destId="{D51E2A58-627D-4E0D-8949-3922C8A42EE1}" srcOrd="7" destOrd="0" presId="urn:microsoft.com/office/officeart/2005/8/layout/vProcess5"/>
    <dgm:cxn modelId="{D043B7B9-0C11-4A7D-AF1E-94BBE7AA499C}" type="presParOf" srcId="{0C69ACC9-DCE5-49FF-B034-CE61EDA0D587}" destId="{56BCCAD2-1063-40D4-92DA-4DE847C19250}"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F56F0B-9202-4934-A207-3F2A61ADE9F2}">
      <dsp:nvSpPr>
        <dsp:cNvPr id="0" name=""/>
        <dsp:cNvSpPr/>
      </dsp:nvSpPr>
      <dsp:spPr>
        <a:xfrm>
          <a:off x="0" y="0"/>
          <a:ext cx="5991248" cy="1219200"/>
        </a:xfrm>
        <a:prstGeom prst="roundRect">
          <a:avLst>
            <a:gd name="adj" fmla="val 10000"/>
          </a:avLst>
        </a:prstGeom>
        <a:solidFill>
          <a:schemeClr val="accent2">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s-ES" sz="2900" kern="1200" dirty="0"/>
            <a:t>Análisis de requisitos</a:t>
          </a:r>
        </a:p>
      </dsp:txBody>
      <dsp:txXfrm>
        <a:off x="35709" y="35709"/>
        <a:ext cx="4675637" cy="1147782"/>
      </dsp:txXfrm>
    </dsp:sp>
    <dsp:sp modelId="{23AB4FF0-6BAB-4DA5-9084-565ABA5BAAC8}">
      <dsp:nvSpPr>
        <dsp:cNvPr id="0" name=""/>
        <dsp:cNvSpPr/>
      </dsp:nvSpPr>
      <dsp:spPr>
        <a:xfrm>
          <a:off x="528639" y="1422399"/>
          <a:ext cx="5991248" cy="1219200"/>
        </a:xfrm>
        <a:prstGeom prst="roundRect">
          <a:avLst>
            <a:gd name="adj" fmla="val 10000"/>
          </a:avLst>
        </a:prstGeom>
        <a:solidFill>
          <a:schemeClr val="accent3">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s-ES" sz="2900" kern="1200" dirty="0"/>
            <a:t>Diseño Conceptual</a:t>
          </a:r>
        </a:p>
      </dsp:txBody>
      <dsp:txXfrm>
        <a:off x="564348" y="1458108"/>
        <a:ext cx="4598711" cy="1147782"/>
      </dsp:txXfrm>
    </dsp:sp>
    <dsp:sp modelId="{CB0F0D83-DFB1-4289-BAC6-2CB013E7A395}">
      <dsp:nvSpPr>
        <dsp:cNvPr id="0" name=""/>
        <dsp:cNvSpPr/>
      </dsp:nvSpPr>
      <dsp:spPr>
        <a:xfrm>
          <a:off x="1057279" y="2844799"/>
          <a:ext cx="5991248" cy="1219200"/>
        </a:xfrm>
        <a:prstGeom prst="roundRect">
          <a:avLst>
            <a:gd name="adj" fmla="val 10000"/>
          </a:avLst>
        </a:prstGeom>
        <a:solidFill>
          <a:schemeClr val="accent4">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s-ES" sz="2900" kern="1200" dirty="0"/>
            <a:t>Implantación en el SGBD</a:t>
          </a:r>
        </a:p>
      </dsp:txBody>
      <dsp:txXfrm>
        <a:off x="1092988" y="2880508"/>
        <a:ext cx="4598711" cy="1147782"/>
      </dsp:txXfrm>
    </dsp:sp>
    <dsp:sp modelId="{C755488E-95F5-49D2-9F68-0BC772E107D5}">
      <dsp:nvSpPr>
        <dsp:cNvPr id="0" name=""/>
        <dsp:cNvSpPr/>
      </dsp:nvSpPr>
      <dsp:spPr>
        <a:xfrm>
          <a:off x="5198768" y="924560"/>
          <a:ext cx="792480" cy="792480"/>
        </a:xfrm>
        <a:prstGeom prst="downArrow">
          <a:avLst>
            <a:gd name="adj1" fmla="val 55000"/>
            <a:gd name="adj2" fmla="val 45000"/>
          </a:avLst>
        </a:prstGeom>
        <a:solidFill>
          <a:schemeClr val="accent2">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s-ES" sz="2800" kern="1200"/>
        </a:p>
      </dsp:txBody>
      <dsp:txXfrm>
        <a:off x="5377076" y="924560"/>
        <a:ext cx="435864" cy="596341"/>
      </dsp:txXfrm>
    </dsp:sp>
    <dsp:sp modelId="{F473FCE4-75BE-457A-9AD0-0B920C0D2AAD}">
      <dsp:nvSpPr>
        <dsp:cNvPr id="0" name=""/>
        <dsp:cNvSpPr/>
      </dsp:nvSpPr>
      <dsp:spPr>
        <a:xfrm>
          <a:off x="5727408" y="2338832"/>
          <a:ext cx="792480" cy="792480"/>
        </a:xfrm>
        <a:prstGeom prst="downArrow">
          <a:avLst>
            <a:gd name="adj1" fmla="val 55000"/>
            <a:gd name="adj2" fmla="val 45000"/>
          </a:avLst>
        </a:prstGeom>
        <a:solidFill>
          <a:schemeClr val="accent3">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s-ES" sz="2800" kern="1200"/>
        </a:p>
      </dsp:txBody>
      <dsp:txXfrm>
        <a:off x="5905716" y="2338832"/>
        <a:ext cx="435864" cy="596341"/>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image" Target="../media/image5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2C0815D1-C666-4C43-A83C-2D826863A0C8}" type="datetimeFigureOut">
              <a:rPr lang="es-ES"/>
              <a:pPr>
                <a:defRPr/>
              </a:pPr>
              <a:t>19/06/2017</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ES" noProof="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4936168B-C56D-46D9-848A-CEEE3DFF7AEB}" type="slidenum">
              <a:rPr lang="es-ES"/>
              <a:pPr>
                <a:defRPr/>
              </a:pPr>
              <a:t>‹Nº›</a:t>
            </a:fld>
            <a:endParaRPr lang="es-E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243715" name="2 Marcador de notas"/>
          <p:cNvSpPr>
            <a:spLocks noGrp="1"/>
          </p:cNvSpPr>
          <p:nvPr>
            <p:ph type="body" idx="1"/>
          </p:nvPr>
        </p:nvSpPr>
        <p:spPr bwMode="auto">
          <a:noFill/>
        </p:spPr>
        <p:txBody>
          <a:bodyPr wrap="square" numCol="1" anchor="t" anchorCtr="0" compatLnSpc="1">
            <a:prstTxWarp prst="textNoShape">
              <a:avLst/>
            </a:prstTxWarp>
          </a:bodyPr>
          <a:lstStyle/>
          <a:p>
            <a:endParaRPr lang="es-ES"/>
          </a:p>
        </p:txBody>
      </p:sp>
      <p:sp>
        <p:nvSpPr>
          <p:cNvPr id="243716" name="3 Marcador de número de diapositiva"/>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97C2F22-8B96-48FF-BECB-D6FF7DF6077A}" type="slidenum">
              <a:rPr lang="es-ES" smtClean="0"/>
              <a:pPr/>
              <a:t>55</a:t>
            </a:fld>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Rot="1" noChangeAspect="1" noTextEdit="1"/>
          </p:cNvSpPr>
          <p:nvPr>
            <p:ph type="sldImg"/>
          </p:nvPr>
        </p:nvSpPr>
        <p:spPr bwMode="auto">
          <a:noFill/>
          <a:ln>
            <a:solidFill>
              <a:srgbClr val="000000"/>
            </a:solidFill>
            <a:miter lim="800000"/>
            <a:headEnd/>
            <a:tailEnd/>
          </a:ln>
        </p:spPr>
      </p:sp>
      <p:sp>
        <p:nvSpPr>
          <p:cNvPr id="244739"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Rot="1" noChangeAspect="1" noTextEdit="1"/>
          </p:cNvSpPr>
          <p:nvPr>
            <p:ph type="sldImg"/>
          </p:nvPr>
        </p:nvSpPr>
        <p:spPr bwMode="auto">
          <a:noFill/>
          <a:ln>
            <a:solidFill>
              <a:srgbClr val="000000"/>
            </a:solidFill>
            <a:miter lim="800000"/>
            <a:headEnd/>
            <a:tailEnd/>
          </a:ln>
        </p:spPr>
      </p:sp>
      <p:sp>
        <p:nvSpPr>
          <p:cNvPr id="245763"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Rot="1" noChangeAspect="1" noTextEdit="1"/>
          </p:cNvSpPr>
          <p:nvPr>
            <p:ph type="sldImg"/>
          </p:nvPr>
        </p:nvSpPr>
        <p:spPr bwMode="auto">
          <a:noFill/>
          <a:ln>
            <a:solidFill>
              <a:srgbClr val="000000"/>
            </a:solidFill>
            <a:miter lim="800000"/>
            <a:headEnd/>
            <a:tailEnd/>
          </a:ln>
        </p:spPr>
      </p:sp>
      <p:sp>
        <p:nvSpPr>
          <p:cNvPr id="246787"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Rot="1" noChangeAspect="1" noTextEdit="1"/>
          </p:cNvSpPr>
          <p:nvPr>
            <p:ph type="sldImg"/>
          </p:nvPr>
        </p:nvSpPr>
        <p:spPr bwMode="auto">
          <a:noFill/>
          <a:ln>
            <a:solidFill>
              <a:srgbClr val="000000"/>
            </a:solidFill>
            <a:miter lim="800000"/>
            <a:headEnd/>
            <a:tailEnd/>
          </a:ln>
        </p:spPr>
      </p:sp>
      <p:sp>
        <p:nvSpPr>
          <p:cNvPr id="247811"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Rot="1" noChangeAspect="1" noTextEdit="1"/>
          </p:cNvSpPr>
          <p:nvPr>
            <p:ph type="sldImg"/>
          </p:nvPr>
        </p:nvSpPr>
        <p:spPr bwMode="auto">
          <a:noFill/>
          <a:ln>
            <a:solidFill>
              <a:srgbClr val="000000"/>
            </a:solidFill>
            <a:miter lim="800000"/>
            <a:headEnd/>
            <a:tailEnd/>
          </a:ln>
        </p:spPr>
      </p:sp>
      <p:sp>
        <p:nvSpPr>
          <p:cNvPr id="248835"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Rot="1" noChangeAspect="1" noTextEdit="1"/>
          </p:cNvSpPr>
          <p:nvPr>
            <p:ph type="sldImg"/>
          </p:nvPr>
        </p:nvSpPr>
        <p:spPr bwMode="auto">
          <a:noFill/>
          <a:ln>
            <a:solidFill>
              <a:srgbClr val="000000"/>
            </a:solidFill>
            <a:miter lim="800000"/>
            <a:headEnd/>
            <a:tailEnd/>
          </a:ln>
        </p:spPr>
      </p:sp>
      <p:sp>
        <p:nvSpPr>
          <p:cNvPr id="249859"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Rot="1" noChangeAspect="1" noTextEdit="1"/>
          </p:cNvSpPr>
          <p:nvPr>
            <p:ph type="sldImg"/>
          </p:nvPr>
        </p:nvSpPr>
        <p:spPr bwMode="auto">
          <a:noFill/>
          <a:ln>
            <a:solidFill>
              <a:srgbClr val="000000"/>
            </a:solidFill>
            <a:miter lim="800000"/>
            <a:headEnd/>
            <a:tailEnd/>
          </a:ln>
        </p:spPr>
      </p:sp>
      <p:sp>
        <p:nvSpPr>
          <p:cNvPr id="250883"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Rot="1" noChangeAspect="1" noTextEdit="1"/>
          </p:cNvSpPr>
          <p:nvPr>
            <p:ph type="sldImg"/>
          </p:nvPr>
        </p:nvSpPr>
        <p:spPr bwMode="auto">
          <a:noFill/>
          <a:ln>
            <a:solidFill>
              <a:srgbClr val="000000"/>
            </a:solidFill>
            <a:miter lim="800000"/>
            <a:headEnd/>
            <a:tailEnd/>
          </a:ln>
        </p:spPr>
      </p:sp>
      <p:sp>
        <p:nvSpPr>
          <p:cNvPr id="251907"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Rot="1" noChangeAspect="1" noTextEdit="1"/>
          </p:cNvSpPr>
          <p:nvPr>
            <p:ph type="sldImg"/>
          </p:nvPr>
        </p:nvSpPr>
        <p:spPr bwMode="auto">
          <a:noFill/>
          <a:ln>
            <a:solidFill>
              <a:srgbClr val="000000"/>
            </a:solidFill>
            <a:miter lim="800000"/>
            <a:headEnd/>
            <a:tailEnd/>
          </a:ln>
        </p:spPr>
      </p:sp>
      <p:sp>
        <p:nvSpPr>
          <p:cNvPr id="252931"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Rot="1" noChangeAspect="1" noTextEdit="1"/>
          </p:cNvSpPr>
          <p:nvPr>
            <p:ph type="sldImg"/>
          </p:nvPr>
        </p:nvSpPr>
        <p:spPr bwMode="auto">
          <a:noFill/>
          <a:ln>
            <a:solidFill>
              <a:srgbClr val="000000"/>
            </a:solidFill>
            <a:miter lim="800000"/>
            <a:headEnd/>
            <a:tailEnd/>
          </a:ln>
        </p:spPr>
      </p:sp>
      <p:sp>
        <p:nvSpPr>
          <p:cNvPr id="253955"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Rot="1" noChangeAspect="1" noTextEdit="1"/>
          </p:cNvSpPr>
          <p:nvPr>
            <p:ph type="sldImg"/>
          </p:nvPr>
        </p:nvSpPr>
        <p:spPr bwMode="auto">
          <a:noFill/>
          <a:ln>
            <a:solidFill>
              <a:srgbClr val="000000"/>
            </a:solidFill>
            <a:miter lim="800000"/>
            <a:headEnd/>
            <a:tailEnd/>
          </a:ln>
        </p:spPr>
      </p:sp>
      <p:sp>
        <p:nvSpPr>
          <p:cNvPr id="254979"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Rot="1" noChangeAspect="1" noTextEdit="1"/>
          </p:cNvSpPr>
          <p:nvPr>
            <p:ph type="sldImg"/>
          </p:nvPr>
        </p:nvSpPr>
        <p:spPr bwMode="auto">
          <a:noFill/>
          <a:ln>
            <a:solidFill>
              <a:srgbClr val="000000"/>
            </a:solidFill>
            <a:miter lim="800000"/>
            <a:headEnd/>
            <a:tailEnd/>
          </a:ln>
        </p:spPr>
      </p:sp>
      <p:sp>
        <p:nvSpPr>
          <p:cNvPr id="256003"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Rot="1" noChangeAspect="1" noTextEdit="1"/>
          </p:cNvSpPr>
          <p:nvPr>
            <p:ph type="sldImg"/>
          </p:nvPr>
        </p:nvSpPr>
        <p:spPr bwMode="auto">
          <a:noFill/>
          <a:ln>
            <a:solidFill>
              <a:srgbClr val="000000"/>
            </a:solidFill>
            <a:miter lim="800000"/>
            <a:headEnd/>
            <a:tailEnd/>
          </a:ln>
        </p:spPr>
      </p:sp>
      <p:sp>
        <p:nvSpPr>
          <p:cNvPr id="257027"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Rot="1" noChangeAspect="1" noTextEdit="1"/>
          </p:cNvSpPr>
          <p:nvPr>
            <p:ph type="sldImg"/>
          </p:nvPr>
        </p:nvSpPr>
        <p:spPr bwMode="auto">
          <a:noFill/>
          <a:ln>
            <a:solidFill>
              <a:srgbClr val="000000"/>
            </a:solidFill>
            <a:miter lim="800000"/>
            <a:headEnd/>
            <a:tailEnd/>
          </a:ln>
        </p:spPr>
      </p:sp>
      <p:sp>
        <p:nvSpPr>
          <p:cNvPr id="258051"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Rot="1" noChangeAspect="1" noTextEdit="1"/>
          </p:cNvSpPr>
          <p:nvPr>
            <p:ph type="sldImg"/>
          </p:nvPr>
        </p:nvSpPr>
        <p:spPr bwMode="auto">
          <a:noFill/>
          <a:ln>
            <a:solidFill>
              <a:srgbClr val="000000"/>
            </a:solidFill>
            <a:miter lim="800000"/>
            <a:headEnd/>
            <a:tailEnd/>
          </a:ln>
        </p:spPr>
      </p:sp>
      <p:sp>
        <p:nvSpPr>
          <p:cNvPr id="259075"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Rot="1" noChangeAspect="1" noTextEdit="1"/>
          </p:cNvSpPr>
          <p:nvPr>
            <p:ph type="sldImg"/>
          </p:nvPr>
        </p:nvSpPr>
        <p:spPr bwMode="auto">
          <a:noFill/>
          <a:ln>
            <a:solidFill>
              <a:srgbClr val="000000"/>
            </a:solidFill>
            <a:miter lim="800000"/>
            <a:headEnd/>
            <a:tailEnd/>
          </a:ln>
        </p:spPr>
      </p:sp>
      <p:sp>
        <p:nvSpPr>
          <p:cNvPr id="260099"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Rot="1" noChangeAspect="1" noTextEdit="1"/>
          </p:cNvSpPr>
          <p:nvPr>
            <p:ph type="sldImg"/>
          </p:nvPr>
        </p:nvSpPr>
        <p:spPr bwMode="auto">
          <a:noFill/>
          <a:ln>
            <a:solidFill>
              <a:srgbClr val="000000"/>
            </a:solidFill>
            <a:miter lim="800000"/>
            <a:headEnd/>
            <a:tailEnd/>
          </a:ln>
        </p:spPr>
      </p:sp>
      <p:sp>
        <p:nvSpPr>
          <p:cNvPr id="261123"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Rot="1" noChangeAspect="1" noTextEdit="1"/>
          </p:cNvSpPr>
          <p:nvPr>
            <p:ph type="sldImg"/>
          </p:nvPr>
        </p:nvSpPr>
        <p:spPr bwMode="auto">
          <a:noFill/>
          <a:ln>
            <a:solidFill>
              <a:srgbClr val="000000"/>
            </a:solidFill>
            <a:miter lim="800000"/>
            <a:headEnd/>
            <a:tailEnd/>
          </a:ln>
        </p:spPr>
      </p:sp>
      <p:sp>
        <p:nvSpPr>
          <p:cNvPr id="262147"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Rot="1" noChangeAspect="1" noTextEdit="1"/>
          </p:cNvSpPr>
          <p:nvPr>
            <p:ph type="sldImg"/>
          </p:nvPr>
        </p:nvSpPr>
        <p:spPr bwMode="auto">
          <a:noFill/>
          <a:ln>
            <a:solidFill>
              <a:srgbClr val="000000"/>
            </a:solidFill>
            <a:miter lim="800000"/>
            <a:headEnd/>
            <a:tailEnd/>
          </a:ln>
        </p:spPr>
      </p:sp>
      <p:sp>
        <p:nvSpPr>
          <p:cNvPr id="263171"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Rot="1" noChangeAspect="1" noTextEdit="1"/>
          </p:cNvSpPr>
          <p:nvPr>
            <p:ph type="sldImg"/>
          </p:nvPr>
        </p:nvSpPr>
        <p:spPr bwMode="auto">
          <a:noFill/>
          <a:ln>
            <a:solidFill>
              <a:srgbClr val="000000"/>
            </a:solidFill>
            <a:miter lim="800000"/>
            <a:headEnd/>
            <a:tailEnd/>
          </a:ln>
        </p:spPr>
      </p:sp>
      <p:sp>
        <p:nvSpPr>
          <p:cNvPr id="264195"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Rot="1" noChangeAspect="1" noTextEdit="1"/>
          </p:cNvSpPr>
          <p:nvPr>
            <p:ph type="sldImg"/>
          </p:nvPr>
        </p:nvSpPr>
        <p:spPr bwMode="auto">
          <a:noFill/>
          <a:ln>
            <a:solidFill>
              <a:srgbClr val="000000"/>
            </a:solidFill>
            <a:miter lim="800000"/>
            <a:headEnd/>
            <a:tailEnd/>
          </a:ln>
        </p:spPr>
      </p:sp>
      <p:sp>
        <p:nvSpPr>
          <p:cNvPr id="265219"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Rot="1" noChangeAspect="1" noTextEdit="1"/>
          </p:cNvSpPr>
          <p:nvPr>
            <p:ph type="sldImg"/>
          </p:nvPr>
        </p:nvSpPr>
        <p:spPr bwMode="auto">
          <a:noFill/>
          <a:ln>
            <a:solidFill>
              <a:srgbClr val="000000"/>
            </a:solidFill>
            <a:miter lim="800000"/>
            <a:headEnd/>
            <a:tailEnd/>
          </a:ln>
        </p:spPr>
      </p:sp>
      <p:sp>
        <p:nvSpPr>
          <p:cNvPr id="266243"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Rot="1" noChangeAspect="1" noTextEdit="1"/>
          </p:cNvSpPr>
          <p:nvPr>
            <p:ph type="sldImg"/>
          </p:nvPr>
        </p:nvSpPr>
        <p:spPr bwMode="auto">
          <a:noFill/>
          <a:ln>
            <a:solidFill>
              <a:srgbClr val="000000"/>
            </a:solidFill>
            <a:miter lim="800000"/>
            <a:headEnd/>
            <a:tailEnd/>
          </a:ln>
        </p:spPr>
      </p:sp>
      <p:sp>
        <p:nvSpPr>
          <p:cNvPr id="267267"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Rot="1" noChangeAspect="1" noTextEdit="1"/>
          </p:cNvSpPr>
          <p:nvPr>
            <p:ph type="sldImg"/>
          </p:nvPr>
        </p:nvSpPr>
        <p:spPr bwMode="auto">
          <a:noFill/>
          <a:ln>
            <a:solidFill>
              <a:srgbClr val="000000"/>
            </a:solidFill>
            <a:miter lim="800000"/>
            <a:headEnd/>
            <a:tailEnd/>
          </a:ln>
        </p:spPr>
      </p:sp>
      <p:sp>
        <p:nvSpPr>
          <p:cNvPr id="268291"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Rot="1" noChangeAspect="1" noTextEdit="1"/>
          </p:cNvSpPr>
          <p:nvPr>
            <p:ph type="sldImg"/>
          </p:nvPr>
        </p:nvSpPr>
        <p:spPr bwMode="auto">
          <a:noFill/>
          <a:ln>
            <a:solidFill>
              <a:srgbClr val="000000"/>
            </a:solidFill>
            <a:miter lim="800000"/>
            <a:headEnd/>
            <a:tailEnd/>
          </a:ln>
        </p:spPr>
      </p:sp>
      <p:sp>
        <p:nvSpPr>
          <p:cNvPr id="269315"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Rot="1" noChangeAspect="1" noTextEdit="1"/>
          </p:cNvSpPr>
          <p:nvPr>
            <p:ph type="sldImg"/>
          </p:nvPr>
        </p:nvSpPr>
        <p:spPr bwMode="auto">
          <a:noFill/>
          <a:ln>
            <a:solidFill>
              <a:srgbClr val="000000"/>
            </a:solidFill>
            <a:miter lim="800000"/>
            <a:headEnd/>
            <a:tailEnd/>
          </a:ln>
        </p:spPr>
      </p:sp>
      <p:sp>
        <p:nvSpPr>
          <p:cNvPr id="270339"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Rot="1" noChangeAspect="1" noTextEdit="1"/>
          </p:cNvSpPr>
          <p:nvPr>
            <p:ph type="sldImg"/>
          </p:nvPr>
        </p:nvSpPr>
        <p:spPr bwMode="auto">
          <a:noFill/>
          <a:ln>
            <a:solidFill>
              <a:srgbClr val="000000"/>
            </a:solidFill>
            <a:miter lim="800000"/>
            <a:headEnd/>
            <a:tailEnd/>
          </a:ln>
        </p:spPr>
      </p:sp>
      <p:sp>
        <p:nvSpPr>
          <p:cNvPr id="271363"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Rot="1" noChangeAspect="1" noTextEdit="1"/>
          </p:cNvSpPr>
          <p:nvPr>
            <p:ph type="sldImg"/>
          </p:nvPr>
        </p:nvSpPr>
        <p:spPr bwMode="auto">
          <a:noFill/>
          <a:ln>
            <a:solidFill>
              <a:srgbClr val="000000"/>
            </a:solidFill>
            <a:miter lim="800000"/>
            <a:headEnd/>
            <a:tailEnd/>
          </a:ln>
        </p:spPr>
      </p:sp>
      <p:sp>
        <p:nvSpPr>
          <p:cNvPr id="272387"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Rot="1" noChangeAspect="1" noTextEdit="1"/>
          </p:cNvSpPr>
          <p:nvPr>
            <p:ph type="sldImg"/>
          </p:nvPr>
        </p:nvSpPr>
        <p:spPr bwMode="auto">
          <a:noFill/>
          <a:ln>
            <a:solidFill>
              <a:srgbClr val="000000"/>
            </a:solidFill>
            <a:miter lim="800000"/>
            <a:headEnd/>
            <a:tailEnd/>
          </a:ln>
        </p:spPr>
      </p:sp>
      <p:sp>
        <p:nvSpPr>
          <p:cNvPr id="273411"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Rot="1" noChangeAspect="1" noTextEdit="1"/>
          </p:cNvSpPr>
          <p:nvPr>
            <p:ph type="sldImg"/>
          </p:nvPr>
        </p:nvSpPr>
        <p:spPr bwMode="auto">
          <a:noFill/>
          <a:ln>
            <a:solidFill>
              <a:srgbClr val="000000"/>
            </a:solidFill>
            <a:miter lim="800000"/>
            <a:headEnd/>
            <a:tailEnd/>
          </a:ln>
        </p:spPr>
      </p:sp>
      <p:sp>
        <p:nvSpPr>
          <p:cNvPr id="274435"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Rot="1" noChangeAspect="1" noTextEdit="1"/>
          </p:cNvSpPr>
          <p:nvPr>
            <p:ph type="sldImg"/>
          </p:nvPr>
        </p:nvSpPr>
        <p:spPr bwMode="auto">
          <a:noFill/>
          <a:ln>
            <a:solidFill>
              <a:srgbClr val="000000"/>
            </a:solidFill>
            <a:miter lim="800000"/>
            <a:headEnd/>
            <a:tailEnd/>
          </a:ln>
        </p:spPr>
      </p:sp>
      <p:sp>
        <p:nvSpPr>
          <p:cNvPr id="275459"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Rot="1" noChangeAspect="1" noTextEdit="1"/>
          </p:cNvSpPr>
          <p:nvPr>
            <p:ph type="sldImg"/>
          </p:nvPr>
        </p:nvSpPr>
        <p:spPr bwMode="auto">
          <a:noFill/>
          <a:ln>
            <a:solidFill>
              <a:srgbClr val="000000"/>
            </a:solidFill>
            <a:miter lim="800000"/>
            <a:headEnd/>
            <a:tailEnd/>
          </a:ln>
        </p:spPr>
      </p:sp>
      <p:sp>
        <p:nvSpPr>
          <p:cNvPr id="276483"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Rot="1" noChangeAspect="1" noTextEdit="1"/>
          </p:cNvSpPr>
          <p:nvPr>
            <p:ph type="sldImg"/>
          </p:nvPr>
        </p:nvSpPr>
        <p:spPr bwMode="auto">
          <a:noFill/>
          <a:ln>
            <a:solidFill>
              <a:srgbClr val="000000"/>
            </a:solidFill>
            <a:miter lim="800000"/>
            <a:headEnd/>
            <a:tailEnd/>
          </a:ln>
        </p:spPr>
      </p:sp>
      <p:sp>
        <p:nvSpPr>
          <p:cNvPr id="277507" name="Rectangle 3"/>
          <p:cNvSpPr>
            <a:spLocks noGrp="1"/>
          </p:cNvSpPr>
          <p:nvPr>
            <p:ph type="body" idx="1"/>
          </p:nvPr>
        </p:nvSpPr>
        <p:spPr bwMode="auto">
          <a:noFill/>
        </p:spPr>
        <p:txBody>
          <a:bodyPr wrap="square" numCol="1" anchor="t" anchorCtr="0" compatLnSpc="1">
            <a:prstTxWarp prst="textNoShape">
              <a:avLst/>
            </a:prstTxWarp>
          </a:bodyPr>
          <a:lstStyle/>
          <a:p>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4" name="3 Triángulo rectángulo"/>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5" name="15 Grupo"/>
          <p:cNvGrpSpPr>
            <a:grpSpLocks/>
          </p:cNvGrpSpPr>
          <p:nvPr/>
        </p:nvGrpSpPr>
        <p:grpSpPr bwMode="auto">
          <a:xfrm>
            <a:off x="-3175" y="4953000"/>
            <a:ext cx="9147175" cy="1911350"/>
            <a:chOff x="-3765" y="4832896"/>
            <a:chExt cx="9147765" cy="2032192"/>
          </a:xfrm>
        </p:grpSpPr>
        <p:sp>
          <p:nvSpPr>
            <p:cNvPr id="6" name="5 Forma libre"/>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7" name="6 Forma libre"/>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8" name="7 Forma libre"/>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0" name="9 Conector recto"/>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8 Título"/>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s-ES"/>
              <a:t>Haga clic para modificar el estilo de título del patrón</a:t>
            </a:r>
            <a:endParaRPr lang="en-US"/>
          </a:p>
        </p:txBody>
      </p:sp>
      <p:sp>
        <p:nvSpPr>
          <p:cNvPr id="17" name="16 Subtítulo"/>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s-ES"/>
              <a:t>Haga clic para modificar el estilo de subtítulo del patrón</a:t>
            </a:r>
            <a:endParaRPr lang="en-US"/>
          </a:p>
        </p:txBody>
      </p:sp>
      <p:sp>
        <p:nvSpPr>
          <p:cNvPr id="11" name="29 Marcador de fecha"/>
          <p:cNvSpPr>
            <a:spLocks noGrp="1"/>
          </p:cNvSpPr>
          <p:nvPr>
            <p:ph type="dt" sz="half" idx="10"/>
          </p:nvPr>
        </p:nvSpPr>
        <p:spPr/>
        <p:txBody>
          <a:bodyPr/>
          <a:lstStyle>
            <a:lvl1pPr>
              <a:defRPr>
                <a:solidFill>
                  <a:srgbClr val="FFFFFF"/>
                </a:solidFill>
              </a:defRPr>
            </a:lvl1pPr>
            <a:extLst/>
          </a:lstStyle>
          <a:p>
            <a:pPr>
              <a:defRPr/>
            </a:pPr>
            <a:fld id="{C7A2D26B-00A7-48C5-90AD-C27B7FAD7696}" type="datetimeFigureOut">
              <a:rPr lang="es-ES"/>
              <a:pPr>
                <a:defRPr/>
              </a:pPr>
              <a:t>19/06/2017</a:t>
            </a:fld>
            <a:endParaRPr lang="es-ES"/>
          </a:p>
        </p:txBody>
      </p:sp>
      <p:sp>
        <p:nvSpPr>
          <p:cNvPr id="12" name="18 Marcador de pie de página"/>
          <p:cNvSpPr>
            <a:spLocks noGrp="1"/>
          </p:cNvSpPr>
          <p:nvPr>
            <p:ph type="ftr" sz="quarter" idx="11"/>
          </p:nvPr>
        </p:nvSpPr>
        <p:spPr/>
        <p:txBody>
          <a:bodyPr/>
          <a:lstStyle>
            <a:lvl1pPr>
              <a:defRPr>
                <a:solidFill>
                  <a:schemeClr val="accent1">
                    <a:tint val="20000"/>
                  </a:schemeClr>
                </a:solidFill>
              </a:defRPr>
            </a:lvl1pPr>
            <a:extLst/>
          </a:lstStyle>
          <a:p>
            <a:pPr>
              <a:defRPr/>
            </a:pPr>
            <a:endParaRPr lang="es-ES"/>
          </a:p>
        </p:txBody>
      </p:sp>
      <p:sp>
        <p:nvSpPr>
          <p:cNvPr id="13" name="26 Marcador de número de diapositiva"/>
          <p:cNvSpPr>
            <a:spLocks noGrp="1"/>
          </p:cNvSpPr>
          <p:nvPr>
            <p:ph type="sldNum" sz="quarter" idx="12"/>
          </p:nvPr>
        </p:nvSpPr>
        <p:spPr/>
        <p:txBody>
          <a:bodyPr/>
          <a:lstStyle>
            <a:lvl1pPr>
              <a:defRPr>
                <a:solidFill>
                  <a:srgbClr val="FFFFFF"/>
                </a:solidFill>
              </a:defRPr>
            </a:lvl1pPr>
            <a:extLst/>
          </a:lstStyle>
          <a:p>
            <a:pPr>
              <a:defRPr/>
            </a:pPr>
            <a:fld id="{FCBAB4F0-C899-4113-9DBA-E5C57C4074D3}" type="slidenum">
              <a:rPr lang="es-ES"/>
              <a:pPr>
                <a:defRPr/>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6 Título"/>
          <p:cNvSpPr>
            <a:spLocks noGrp="1"/>
          </p:cNvSpPr>
          <p:nvPr>
            <p:ph type="title"/>
          </p:nvPr>
        </p:nvSpPr>
        <p:spPr/>
        <p:txBody>
          <a:bodyPr rtlCol="0"/>
          <a:lstStyle/>
          <a:p>
            <a:r>
              <a:rPr lang="es-ES"/>
              <a:t>Haga clic para modificar el estilo de título del patrón</a:t>
            </a:r>
            <a:endParaRPr lang="en-US"/>
          </a:p>
        </p:txBody>
      </p:sp>
      <p:sp>
        <p:nvSpPr>
          <p:cNvPr id="4" name="9 Marcador de fecha"/>
          <p:cNvSpPr>
            <a:spLocks noGrp="1"/>
          </p:cNvSpPr>
          <p:nvPr>
            <p:ph type="dt" sz="half" idx="10"/>
          </p:nvPr>
        </p:nvSpPr>
        <p:spPr/>
        <p:txBody>
          <a:bodyPr/>
          <a:lstStyle>
            <a:lvl1pPr>
              <a:defRPr/>
            </a:lvl1pPr>
          </a:lstStyle>
          <a:p>
            <a:pPr>
              <a:defRPr/>
            </a:pPr>
            <a:fld id="{15F4BB41-85AC-4272-BC25-F289188888FC}" type="datetimeFigureOut">
              <a:rPr lang="es-ES"/>
              <a:pPr>
                <a:defRPr/>
              </a:pPr>
              <a:t>19/06/2017</a:t>
            </a:fld>
            <a:endParaRPr lang="es-ES"/>
          </a:p>
        </p:txBody>
      </p:sp>
      <p:sp>
        <p:nvSpPr>
          <p:cNvPr id="5" name="21 Marcador de pie de página"/>
          <p:cNvSpPr>
            <a:spLocks noGrp="1"/>
          </p:cNvSpPr>
          <p:nvPr>
            <p:ph type="ftr" sz="quarter" idx="11"/>
          </p:nvPr>
        </p:nvSpPr>
        <p:spPr/>
        <p:txBody>
          <a:bodyPr/>
          <a:lstStyle>
            <a:lvl1pPr>
              <a:defRPr/>
            </a:lvl1pPr>
          </a:lstStyle>
          <a:p>
            <a:pPr>
              <a:defRPr/>
            </a:pPr>
            <a:endParaRPr lang="es-ES"/>
          </a:p>
        </p:txBody>
      </p:sp>
      <p:sp>
        <p:nvSpPr>
          <p:cNvPr id="6" name="17 Marcador de número de diapositiva"/>
          <p:cNvSpPr>
            <a:spLocks noGrp="1"/>
          </p:cNvSpPr>
          <p:nvPr>
            <p:ph type="sldNum" sz="quarter" idx="12"/>
          </p:nvPr>
        </p:nvSpPr>
        <p:spPr/>
        <p:txBody>
          <a:bodyPr/>
          <a:lstStyle>
            <a:lvl1pPr>
              <a:defRPr/>
            </a:lvl1pPr>
          </a:lstStyle>
          <a:p>
            <a:pPr>
              <a:defRPr/>
            </a:pPr>
            <a:fld id="{2B0AFEB1-93B6-4565-BBBA-9C57EC864E4A}" type="slidenum">
              <a:rPr lang="es-ES"/>
              <a:pPr>
                <a:defRPr/>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1"/>
      </p:bgRef>
    </p:bg>
    <p:spTree>
      <p:nvGrpSpPr>
        <p:cNvPr id="1" name=""/>
        <p:cNvGrpSpPr/>
        <p:nvPr/>
      </p:nvGrpSpPr>
      <p:grpSpPr>
        <a:xfrm>
          <a:off x="0" y="0"/>
          <a:ext cx="0" cy="0"/>
          <a:chOff x="0" y="0"/>
          <a:chExt cx="0" cy="0"/>
        </a:xfrm>
      </p:grpSpPr>
      <p:sp>
        <p:nvSpPr>
          <p:cNvPr id="4" name="3 Cheurón"/>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a:p>
        </p:txBody>
      </p:sp>
      <p:sp>
        <p:nvSpPr>
          <p:cNvPr id="5" name="4 Cheurón"/>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a:p>
        </p:txBody>
      </p:sp>
      <p:sp>
        <p:nvSpPr>
          <p:cNvPr id="2" name="1 Título"/>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s-ES"/>
              <a:t>Haga clic para modificar el estilo de título del patrón</a:t>
            </a:r>
            <a:endParaRPr lang="en-US"/>
          </a:p>
        </p:txBody>
      </p:sp>
      <p:sp>
        <p:nvSpPr>
          <p:cNvPr id="3" name="2 Marcador de texto"/>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s-ES"/>
              <a:t>Haga clic para modificar el estilo de texto del patrón</a:t>
            </a:r>
          </a:p>
        </p:txBody>
      </p:sp>
      <p:sp>
        <p:nvSpPr>
          <p:cNvPr id="6" name="3 Marcador de fecha"/>
          <p:cNvSpPr>
            <a:spLocks noGrp="1"/>
          </p:cNvSpPr>
          <p:nvPr>
            <p:ph type="dt" sz="half" idx="10"/>
          </p:nvPr>
        </p:nvSpPr>
        <p:spPr/>
        <p:txBody>
          <a:bodyPr/>
          <a:lstStyle>
            <a:lvl1pPr>
              <a:defRPr/>
            </a:lvl1pPr>
            <a:extLst/>
          </a:lstStyle>
          <a:p>
            <a:pPr>
              <a:defRPr/>
            </a:pPr>
            <a:fld id="{3D7E7D49-570E-4E2C-8D87-CE02A8108C28}" type="datetimeFigureOut">
              <a:rPr lang="es-ES"/>
              <a:pPr>
                <a:defRPr/>
              </a:pPr>
              <a:t>19/06/2017</a:t>
            </a:fld>
            <a:endParaRPr lang="es-ES"/>
          </a:p>
        </p:txBody>
      </p:sp>
      <p:sp>
        <p:nvSpPr>
          <p:cNvPr id="7" name="4 Marcador de pie de página"/>
          <p:cNvSpPr>
            <a:spLocks noGrp="1"/>
          </p:cNvSpPr>
          <p:nvPr>
            <p:ph type="ftr" sz="quarter" idx="11"/>
          </p:nvPr>
        </p:nvSpPr>
        <p:spPr/>
        <p:txBody>
          <a:bodyPr/>
          <a:lstStyle>
            <a:lvl1pPr>
              <a:defRPr/>
            </a:lvl1pPr>
            <a:extLst/>
          </a:lstStyle>
          <a:p>
            <a:pPr>
              <a:defRPr/>
            </a:pPr>
            <a:endParaRPr lang="es-ES"/>
          </a:p>
        </p:txBody>
      </p:sp>
      <p:sp>
        <p:nvSpPr>
          <p:cNvPr id="8" name="5 Marcador de número de diapositiva"/>
          <p:cNvSpPr>
            <a:spLocks noGrp="1"/>
          </p:cNvSpPr>
          <p:nvPr>
            <p:ph type="sldNum" sz="quarter" idx="12"/>
          </p:nvPr>
        </p:nvSpPr>
        <p:spPr/>
        <p:txBody>
          <a:bodyPr/>
          <a:lstStyle>
            <a:lvl1pPr>
              <a:defRPr/>
            </a:lvl1pPr>
            <a:extLst/>
          </a:lstStyle>
          <a:p>
            <a:pPr>
              <a:defRPr/>
            </a:pPr>
            <a:fld id="{CFA645F3-4157-4419-838C-1CAD0267CDB9}" type="slidenum">
              <a:rPr lang="es-ES"/>
              <a:pPr>
                <a:defRPr/>
              </a:pPr>
              <a:t>‹Nº›</a:t>
            </a:fld>
            <a:endParaRPr lang="es-E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bg>
      <p:bgRef idx="1002">
        <a:schemeClr val="bg1"/>
      </p:bgRef>
    </p:bg>
    <p:spTree>
      <p:nvGrpSpPr>
        <p:cNvPr id="1" name=""/>
        <p:cNvGrpSpPr/>
        <p:nvPr/>
      </p:nvGrpSpPr>
      <p:grpSpPr>
        <a:xfrm>
          <a:off x="0" y="0"/>
          <a:ext cx="0" cy="0"/>
          <a:chOff x="0" y="0"/>
          <a:chExt cx="0" cy="0"/>
        </a:xfrm>
      </p:grpSpPr>
      <p:sp>
        <p:nvSpPr>
          <p:cNvPr id="3" name="2 Marcador de contenido"/>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3 Marcador de contenido"/>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8" name="7 Título"/>
          <p:cNvSpPr>
            <a:spLocks noGrp="1"/>
          </p:cNvSpPr>
          <p:nvPr>
            <p:ph type="title"/>
          </p:nvPr>
        </p:nvSpPr>
        <p:spPr/>
        <p:txBody>
          <a:bodyPr rtlCol="0"/>
          <a:lstStyle/>
          <a:p>
            <a:r>
              <a:rPr lang="es-ES"/>
              <a:t>Haga clic para modificar el estilo de título del patrón</a:t>
            </a:r>
            <a:endParaRPr lang="en-US"/>
          </a:p>
        </p:txBody>
      </p:sp>
      <p:sp>
        <p:nvSpPr>
          <p:cNvPr id="5" name="4 Marcador de fecha"/>
          <p:cNvSpPr>
            <a:spLocks noGrp="1"/>
          </p:cNvSpPr>
          <p:nvPr>
            <p:ph type="dt" sz="half" idx="10"/>
          </p:nvPr>
        </p:nvSpPr>
        <p:spPr/>
        <p:txBody>
          <a:bodyPr/>
          <a:lstStyle>
            <a:lvl1pPr>
              <a:defRPr/>
            </a:lvl1pPr>
            <a:extLst/>
          </a:lstStyle>
          <a:p>
            <a:pPr>
              <a:defRPr/>
            </a:pPr>
            <a:fld id="{511DEC0D-4E6D-4848-B8B7-0956B455F2A3}" type="datetimeFigureOut">
              <a:rPr lang="es-ES"/>
              <a:pPr>
                <a:defRPr/>
              </a:pPr>
              <a:t>19/06/2017</a:t>
            </a:fld>
            <a:endParaRPr lang="es-ES"/>
          </a:p>
        </p:txBody>
      </p:sp>
      <p:sp>
        <p:nvSpPr>
          <p:cNvPr id="6" name="5 Marcador de pie de página"/>
          <p:cNvSpPr>
            <a:spLocks noGrp="1"/>
          </p:cNvSpPr>
          <p:nvPr>
            <p:ph type="ftr" sz="quarter" idx="11"/>
          </p:nvPr>
        </p:nvSpPr>
        <p:spPr/>
        <p:txBody>
          <a:bodyPr/>
          <a:lstStyle>
            <a:lvl1pPr>
              <a:defRPr/>
            </a:lvl1pPr>
            <a:extLst/>
          </a:lstStyle>
          <a:p>
            <a:pPr>
              <a:defRPr/>
            </a:pPr>
            <a:endParaRPr lang="es-ES"/>
          </a:p>
        </p:txBody>
      </p:sp>
      <p:sp>
        <p:nvSpPr>
          <p:cNvPr id="7" name="6 Marcador de número de diapositiva"/>
          <p:cNvSpPr>
            <a:spLocks noGrp="1"/>
          </p:cNvSpPr>
          <p:nvPr>
            <p:ph type="sldNum" sz="quarter" idx="12"/>
          </p:nvPr>
        </p:nvSpPr>
        <p:spPr/>
        <p:txBody>
          <a:bodyPr/>
          <a:lstStyle>
            <a:lvl1pPr>
              <a:defRPr/>
            </a:lvl1pPr>
            <a:extLst/>
          </a:lstStyle>
          <a:p>
            <a:pPr>
              <a:defRPr/>
            </a:pPr>
            <a:fld id="{B828983E-CD56-4584-83ED-0CBC832DD096}" type="slidenum">
              <a:rPr lang="es-ES"/>
              <a:pPr>
                <a:defRPr/>
              </a:pPr>
              <a:t>‹Nº›</a:t>
            </a:fld>
            <a:endParaRPr lang="es-E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8229600" cy="1143000"/>
          </a:xfrm>
        </p:spPr>
        <p:txBody>
          <a:bodyPr/>
          <a:lstStyle>
            <a:lvl1pPr>
              <a:defRPr/>
            </a:lvl1pPr>
            <a:extLst/>
          </a:lstStyle>
          <a:p>
            <a:r>
              <a:rPr lang="es-ES"/>
              <a:t>Haga clic para modificar el estilo de título del patrón</a:t>
            </a:r>
            <a:endParaRPr lang="en-US"/>
          </a:p>
        </p:txBody>
      </p:sp>
      <p:sp>
        <p:nvSpPr>
          <p:cNvPr id="3" name="2 Marcador de texto"/>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s-ES"/>
              <a:t>Haga clic para modificar el estilo de texto del patrón</a:t>
            </a:r>
          </a:p>
        </p:txBody>
      </p:sp>
      <p:sp>
        <p:nvSpPr>
          <p:cNvPr id="4" name="3 Marcador de texto"/>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s-ES"/>
              <a:t>Haga clic para modificar el estilo de texto del patrón</a:t>
            </a:r>
          </a:p>
        </p:txBody>
      </p:sp>
      <p:sp>
        <p:nvSpPr>
          <p:cNvPr id="5" name="4 Marcador de contenido"/>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5 Marcador de contenido"/>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6 Marcador de fecha"/>
          <p:cNvSpPr>
            <a:spLocks noGrp="1"/>
          </p:cNvSpPr>
          <p:nvPr>
            <p:ph type="dt" sz="half" idx="10"/>
          </p:nvPr>
        </p:nvSpPr>
        <p:spPr/>
        <p:txBody>
          <a:bodyPr/>
          <a:lstStyle>
            <a:lvl1pPr>
              <a:defRPr/>
            </a:lvl1pPr>
            <a:extLst/>
          </a:lstStyle>
          <a:p>
            <a:pPr>
              <a:defRPr/>
            </a:pPr>
            <a:fld id="{A93137F8-0D85-4AC3-8049-7490CB6431A8}" type="datetimeFigureOut">
              <a:rPr lang="es-ES"/>
              <a:pPr>
                <a:defRPr/>
              </a:pPr>
              <a:t>19/06/2017</a:t>
            </a:fld>
            <a:endParaRPr lang="es-ES"/>
          </a:p>
        </p:txBody>
      </p:sp>
      <p:sp>
        <p:nvSpPr>
          <p:cNvPr id="8" name="7 Marcador de pie de página"/>
          <p:cNvSpPr>
            <a:spLocks noGrp="1"/>
          </p:cNvSpPr>
          <p:nvPr>
            <p:ph type="ftr" sz="quarter" idx="11"/>
          </p:nvPr>
        </p:nvSpPr>
        <p:spPr/>
        <p:txBody>
          <a:bodyPr/>
          <a:lstStyle>
            <a:lvl1pPr>
              <a:defRPr/>
            </a:lvl1pPr>
            <a:extLst/>
          </a:lstStyle>
          <a:p>
            <a:pPr>
              <a:defRPr/>
            </a:pPr>
            <a:endParaRPr lang="es-ES"/>
          </a:p>
        </p:txBody>
      </p:sp>
      <p:sp>
        <p:nvSpPr>
          <p:cNvPr id="9" name="8 Marcador de número de diapositiva"/>
          <p:cNvSpPr>
            <a:spLocks noGrp="1"/>
          </p:cNvSpPr>
          <p:nvPr>
            <p:ph type="sldNum" sz="quarter" idx="12"/>
          </p:nvPr>
        </p:nvSpPr>
        <p:spPr/>
        <p:txBody>
          <a:bodyPr/>
          <a:lstStyle>
            <a:lvl1pPr>
              <a:defRPr/>
            </a:lvl1pPr>
            <a:extLst/>
          </a:lstStyle>
          <a:p>
            <a:pPr>
              <a:defRPr/>
            </a:pPr>
            <a:fld id="{06892D8B-72FB-4972-A906-9FDEDFF1A2CD}" type="slidenum">
              <a:rPr lang="es-ES"/>
              <a:pPr>
                <a:defRPr/>
              </a:pPr>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bg>
      <p:bgRef idx="1002">
        <a:schemeClr val="bg1"/>
      </p:bgRef>
    </p:bg>
    <p:spTree>
      <p:nvGrpSpPr>
        <p:cNvPr id="1" name=""/>
        <p:cNvGrpSpPr/>
        <p:nvPr/>
      </p:nvGrpSpPr>
      <p:grpSpPr>
        <a:xfrm>
          <a:off x="0" y="0"/>
          <a:ext cx="0" cy="0"/>
          <a:chOff x="0" y="0"/>
          <a:chExt cx="0" cy="0"/>
        </a:xfrm>
      </p:grpSpPr>
      <p:sp>
        <p:nvSpPr>
          <p:cNvPr id="6" name="5 Título"/>
          <p:cNvSpPr>
            <a:spLocks noGrp="1"/>
          </p:cNvSpPr>
          <p:nvPr>
            <p:ph type="title"/>
          </p:nvPr>
        </p:nvSpPr>
        <p:spPr/>
        <p:txBody>
          <a:bodyPr rtlCol="0"/>
          <a:lstStyle/>
          <a:p>
            <a:r>
              <a:rPr lang="es-ES"/>
              <a:t>Haga clic para modificar el estilo de título del patrón</a:t>
            </a:r>
            <a:endParaRPr lang="en-US"/>
          </a:p>
        </p:txBody>
      </p:sp>
      <p:sp>
        <p:nvSpPr>
          <p:cNvPr id="3" name="2 Marcador de fecha"/>
          <p:cNvSpPr>
            <a:spLocks noGrp="1"/>
          </p:cNvSpPr>
          <p:nvPr>
            <p:ph type="dt" sz="half" idx="10"/>
          </p:nvPr>
        </p:nvSpPr>
        <p:spPr/>
        <p:txBody>
          <a:bodyPr/>
          <a:lstStyle>
            <a:lvl1pPr>
              <a:defRPr/>
            </a:lvl1pPr>
            <a:extLst/>
          </a:lstStyle>
          <a:p>
            <a:pPr>
              <a:defRPr/>
            </a:pPr>
            <a:fld id="{DF27D6E7-46AA-40E4-BA03-830A17400A88}" type="datetimeFigureOut">
              <a:rPr lang="es-ES"/>
              <a:pPr>
                <a:defRPr/>
              </a:pPr>
              <a:t>19/06/2017</a:t>
            </a:fld>
            <a:endParaRPr lang="es-ES"/>
          </a:p>
        </p:txBody>
      </p:sp>
      <p:sp>
        <p:nvSpPr>
          <p:cNvPr id="4" name="3 Marcador de pie de página"/>
          <p:cNvSpPr>
            <a:spLocks noGrp="1"/>
          </p:cNvSpPr>
          <p:nvPr>
            <p:ph type="ftr" sz="quarter" idx="11"/>
          </p:nvPr>
        </p:nvSpPr>
        <p:spPr/>
        <p:txBody>
          <a:bodyPr/>
          <a:lstStyle>
            <a:lvl1pPr>
              <a:defRPr/>
            </a:lvl1pPr>
            <a:extLst/>
          </a:lstStyle>
          <a:p>
            <a:pPr>
              <a:defRPr/>
            </a:pPr>
            <a:endParaRPr lang="es-ES"/>
          </a:p>
        </p:txBody>
      </p:sp>
      <p:sp>
        <p:nvSpPr>
          <p:cNvPr id="5" name="4 Marcador de número de diapositiva"/>
          <p:cNvSpPr>
            <a:spLocks noGrp="1"/>
          </p:cNvSpPr>
          <p:nvPr>
            <p:ph type="sldNum" sz="quarter" idx="12"/>
          </p:nvPr>
        </p:nvSpPr>
        <p:spPr/>
        <p:txBody>
          <a:bodyPr/>
          <a:lstStyle>
            <a:lvl1pPr>
              <a:defRPr/>
            </a:lvl1pPr>
            <a:extLst/>
          </a:lstStyle>
          <a:p>
            <a:pPr>
              <a:defRPr/>
            </a:pPr>
            <a:fld id="{A2349DE8-B6DE-4ACD-94F2-29947A1E22CB}" type="slidenum">
              <a:rPr lang="es-ES"/>
              <a:pPr>
                <a:defRPr/>
              </a:pPr>
              <a:t>‹Nº›</a:t>
            </a:fld>
            <a:endParaRPr lang="es-E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9 Marcador de fecha"/>
          <p:cNvSpPr>
            <a:spLocks noGrp="1"/>
          </p:cNvSpPr>
          <p:nvPr>
            <p:ph type="dt" sz="half" idx="10"/>
          </p:nvPr>
        </p:nvSpPr>
        <p:spPr/>
        <p:txBody>
          <a:bodyPr/>
          <a:lstStyle>
            <a:lvl1pPr>
              <a:defRPr/>
            </a:lvl1pPr>
          </a:lstStyle>
          <a:p>
            <a:pPr>
              <a:defRPr/>
            </a:pPr>
            <a:fld id="{5E4C1422-5145-4FEE-A06E-35C5BFD02CD9}" type="datetimeFigureOut">
              <a:rPr lang="es-ES"/>
              <a:pPr>
                <a:defRPr/>
              </a:pPr>
              <a:t>19/06/2017</a:t>
            </a:fld>
            <a:endParaRPr lang="es-ES"/>
          </a:p>
        </p:txBody>
      </p:sp>
      <p:sp>
        <p:nvSpPr>
          <p:cNvPr id="3" name="21 Marcador de pie de página"/>
          <p:cNvSpPr>
            <a:spLocks noGrp="1"/>
          </p:cNvSpPr>
          <p:nvPr>
            <p:ph type="ftr" sz="quarter" idx="11"/>
          </p:nvPr>
        </p:nvSpPr>
        <p:spPr/>
        <p:txBody>
          <a:bodyPr/>
          <a:lstStyle>
            <a:lvl1pPr>
              <a:defRPr/>
            </a:lvl1pPr>
          </a:lstStyle>
          <a:p>
            <a:pPr>
              <a:defRPr/>
            </a:pPr>
            <a:endParaRPr lang="es-ES"/>
          </a:p>
        </p:txBody>
      </p:sp>
      <p:sp>
        <p:nvSpPr>
          <p:cNvPr id="4" name="17 Marcador de número de diapositiva"/>
          <p:cNvSpPr>
            <a:spLocks noGrp="1"/>
          </p:cNvSpPr>
          <p:nvPr>
            <p:ph type="sldNum" sz="quarter" idx="12"/>
          </p:nvPr>
        </p:nvSpPr>
        <p:spPr/>
        <p:txBody>
          <a:bodyPr/>
          <a:lstStyle>
            <a:lvl1pPr>
              <a:defRPr/>
            </a:lvl1pPr>
          </a:lstStyle>
          <a:p>
            <a:pPr>
              <a:defRPr/>
            </a:pPr>
            <a:fld id="{A7BEF4AB-DEC5-4ED7-93EC-558D9AB76DA8}" type="slidenum">
              <a:rPr lang="es-ES"/>
              <a:pPr>
                <a:defRPr/>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s-ES"/>
              <a:t>Haga clic para modificar el estilo de título del patrón</a:t>
            </a:r>
            <a:endParaRPr lang="en-US"/>
          </a:p>
        </p:txBody>
      </p:sp>
      <p:sp>
        <p:nvSpPr>
          <p:cNvPr id="3" name="2 Marcador de texto"/>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s-ES"/>
              <a:t>Haga clic para modificar el estilo de texto del patrón</a:t>
            </a:r>
          </a:p>
        </p:txBody>
      </p:sp>
      <p:sp>
        <p:nvSpPr>
          <p:cNvPr id="4" name="3 Marcador de contenido"/>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4 Marcador de fecha"/>
          <p:cNvSpPr>
            <a:spLocks noGrp="1"/>
          </p:cNvSpPr>
          <p:nvPr>
            <p:ph type="dt" sz="half" idx="10"/>
          </p:nvPr>
        </p:nvSpPr>
        <p:spPr/>
        <p:txBody>
          <a:bodyPr/>
          <a:lstStyle>
            <a:lvl1pPr>
              <a:defRPr/>
            </a:lvl1pPr>
            <a:extLst/>
          </a:lstStyle>
          <a:p>
            <a:pPr>
              <a:defRPr/>
            </a:pPr>
            <a:fld id="{9CB867EB-9590-4313-9B99-4180FB187F4A}" type="datetimeFigureOut">
              <a:rPr lang="es-ES"/>
              <a:pPr>
                <a:defRPr/>
              </a:pPr>
              <a:t>19/06/2017</a:t>
            </a:fld>
            <a:endParaRPr lang="es-ES"/>
          </a:p>
        </p:txBody>
      </p:sp>
      <p:sp>
        <p:nvSpPr>
          <p:cNvPr id="6" name="5 Marcador de pie de página"/>
          <p:cNvSpPr>
            <a:spLocks noGrp="1"/>
          </p:cNvSpPr>
          <p:nvPr>
            <p:ph type="ftr" sz="quarter" idx="11"/>
          </p:nvPr>
        </p:nvSpPr>
        <p:spPr/>
        <p:txBody>
          <a:bodyPr/>
          <a:lstStyle>
            <a:lvl1pPr>
              <a:defRPr/>
            </a:lvl1pPr>
            <a:extLst/>
          </a:lstStyle>
          <a:p>
            <a:pPr>
              <a:defRPr/>
            </a:pPr>
            <a:endParaRPr lang="es-ES"/>
          </a:p>
        </p:txBody>
      </p:sp>
      <p:sp>
        <p:nvSpPr>
          <p:cNvPr id="7" name="6 Marcador de número de diapositiva"/>
          <p:cNvSpPr>
            <a:spLocks noGrp="1"/>
          </p:cNvSpPr>
          <p:nvPr>
            <p:ph type="sldNum" sz="quarter" idx="12"/>
          </p:nvPr>
        </p:nvSpPr>
        <p:spPr/>
        <p:txBody>
          <a:bodyPr/>
          <a:lstStyle>
            <a:lvl1pPr>
              <a:defRPr/>
            </a:lvl1pPr>
            <a:extLst/>
          </a:lstStyle>
          <a:p>
            <a:pPr>
              <a:defRPr/>
            </a:pPr>
            <a:fld id="{37691B89-CED0-4038-B8C6-235F22649388}" type="slidenum">
              <a:rPr lang="es-ES"/>
              <a:pPr>
                <a:defRPr/>
              </a:pPr>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2">
        <a:schemeClr val="bg1"/>
      </p:bgRef>
    </p:bg>
    <p:spTree>
      <p:nvGrpSpPr>
        <p:cNvPr id="1" name=""/>
        <p:cNvGrpSpPr/>
        <p:nvPr/>
      </p:nvGrpSpPr>
      <p:grpSpPr>
        <a:xfrm>
          <a:off x="0" y="0"/>
          <a:ext cx="0" cy="0"/>
          <a:chOff x="0" y="0"/>
          <a:chExt cx="0" cy="0"/>
        </a:xfrm>
      </p:grpSpPr>
      <p:sp>
        <p:nvSpPr>
          <p:cNvPr id="5" name="4 Forma libre"/>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6" name="5 Forma libre"/>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7" name="6 Triángulo rectángulo"/>
          <p:cNvSpPr>
            <a:spLocks/>
          </p:cNvSpPr>
          <p:nvPr/>
        </p:nvSpPr>
        <p:spPr bwMode="auto">
          <a:xfrm>
            <a:off x="-6042" y="5791253"/>
            <a:ext cx="3402314" cy="1080868"/>
          </a:xfrm>
          <a:prstGeom prst="rtTriangle">
            <a:avLst/>
          </a:prstGeom>
          <a:blipFill>
            <a:blip r:embed="rId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8" name="7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8 Cheurón"/>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a:p>
        </p:txBody>
      </p:sp>
      <p:sp>
        <p:nvSpPr>
          <p:cNvPr id="10" name="9 Cheurón"/>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a:p>
        </p:txBody>
      </p:sp>
      <p:sp>
        <p:nvSpPr>
          <p:cNvPr id="4" name="3 Marcador de texto"/>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s-ES"/>
              <a:t>Haga clic para modificar el estilo de texto del patrón</a:t>
            </a:r>
          </a:p>
        </p:txBody>
      </p:sp>
      <p:sp>
        <p:nvSpPr>
          <p:cNvPr id="3" name="2 Marcador de posición de imagen"/>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s-ES" noProof="0"/>
              <a:t>Haga clic en el icono para agregar una imagen</a:t>
            </a:r>
            <a:endParaRPr lang="en-US" noProof="0" dirty="0"/>
          </a:p>
        </p:txBody>
      </p:sp>
      <p:sp>
        <p:nvSpPr>
          <p:cNvPr id="2" name="1 Título"/>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s-ES"/>
              <a:t>Haga clic para modificar el estilo de título del patrón</a:t>
            </a:r>
            <a:endParaRPr lang="en-US"/>
          </a:p>
        </p:txBody>
      </p:sp>
      <p:sp>
        <p:nvSpPr>
          <p:cNvPr id="11" name="4 Marcador de fecha"/>
          <p:cNvSpPr>
            <a:spLocks noGrp="1"/>
          </p:cNvSpPr>
          <p:nvPr>
            <p:ph type="dt" sz="half" idx="10"/>
          </p:nvPr>
        </p:nvSpPr>
        <p:spPr/>
        <p:txBody>
          <a:bodyPr/>
          <a:lstStyle>
            <a:lvl1pPr>
              <a:defRPr>
                <a:solidFill>
                  <a:schemeClr val="tx1"/>
                </a:solidFill>
              </a:defRPr>
            </a:lvl1pPr>
            <a:extLst/>
          </a:lstStyle>
          <a:p>
            <a:pPr>
              <a:defRPr/>
            </a:pPr>
            <a:fld id="{BE73297F-EBF2-4C7C-9C97-C8448A857F0E}" type="datetimeFigureOut">
              <a:rPr lang="es-ES"/>
              <a:pPr>
                <a:defRPr/>
              </a:pPr>
              <a:t>19/06/2017</a:t>
            </a:fld>
            <a:endParaRPr lang="es-ES"/>
          </a:p>
        </p:txBody>
      </p:sp>
      <p:sp>
        <p:nvSpPr>
          <p:cNvPr id="12" name="5 Marcador de pie de página"/>
          <p:cNvSpPr>
            <a:spLocks noGrp="1"/>
          </p:cNvSpPr>
          <p:nvPr>
            <p:ph type="ftr" sz="quarter" idx="11"/>
          </p:nvPr>
        </p:nvSpPr>
        <p:spPr/>
        <p:txBody>
          <a:bodyPr/>
          <a:lstStyle>
            <a:lvl1pPr>
              <a:defRPr>
                <a:solidFill>
                  <a:schemeClr val="tx1"/>
                </a:solidFill>
              </a:defRPr>
            </a:lvl1pPr>
            <a:extLst/>
          </a:lstStyle>
          <a:p>
            <a:pPr>
              <a:defRPr/>
            </a:pPr>
            <a:endParaRPr lang="es-ES"/>
          </a:p>
        </p:txBody>
      </p:sp>
      <p:sp>
        <p:nvSpPr>
          <p:cNvPr id="13" name="6 Marcador de número de diapositiva"/>
          <p:cNvSpPr>
            <a:spLocks noGrp="1"/>
          </p:cNvSpPr>
          <p:nvPr>
            <p:ph type="sldNum" sz="quarter" idx="12"/>
          </p:nvPr>
        </p:nvSpPr>
        <p:spPr/>
        <p:txBody>
          <a:bodyPr/>
          <a:lstStyle>
            <a:lvl1pPr>
              <a:defRPr>
                <a:solidFill>
                  <a:schemeClr val="tx1"/>
                </a:solidFill>
              </a:defRPr>
            </a:lvl1pPr>
            <a:extLst/>
          </a:lstStyle>
          <a:p>
            <a:pPr>
              <a:defRPr/>
            </a:pPr>
            <a:fld id="{7A3E2FF7-7016-4E80-8807-C6D698E6925C}" type="slidenum">
              <a:rPr lang="es-ES"/>
              <a:pPr>
                <a:defRPr/>
              </a:pPr>
              <a:t>‹Nº›</a:t>
            </a:fld>
            <a:endParaRPr lang="es-E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n-US"/>
          </a:p>
        </p:txBody>
      </p:sp>
      <p:sp>
        <p:nvSpPr>
          <p:cNvPr id="3" name="2 Marcador de texto vertical"/>
          <p:cNvSpPr>
            <a:spLocks noGrp="1"/>
          </p:cNvSpPr>
          <p:nvPr>
            <p:ph type="body" orient="vert" idx="1"/>
          </p:nvPr>
        </p:nvSpPr>
        <p:spPr>
          <a:xfrm>
            <a:off x="457200" y="1481329"/>
            <a:ext cx="8229600" cy="4386071"/>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9 Marcador de fecha"/>
          <p:cNvSpPr>
            <a:spLocks noGrp="1"/>
          </p:cNvSpPr>
          <p:nvPr>
            <p:ph type="dt" sz="half" idx="10"/>
          </p:nvPr>
        </p:nvSpPr>
        <p:spPr/>
        <p:txBody>
          <a:bodyPr/>
          <a:lstStyle>
            <a:lvl1pPr>
              <a:defRPr/>
            </a:lvl1pPr>
          </a:lstStyle>
          <a:p>
            <a:pPr>
              <a:defRPr/>
            </a:pPr>
            <a:fld id="{73A7C07F-40D0-4243-B95D-0204A92CB1A9}" type="datetimeFigureOut">
              <a:rPr lang="es-ES"/>
              <a:pPr>
                <a:defRPr/>
              </a:pPr>
              <a:t>19/06/2017</a:t>
            </a:fld>
            <a:endParaRPr lang="es-ES"/>
          </a:p>
        </p:txBody>
      </p:sp>
      <p:sp>
        <p:nvSpPr>
          <p:cNvPr id="5" name="21 Marcador de pie de página"/>
          <p:cNvSpPr>
            <a:spLocks noGrp="1"/>
          </p:cNvSpPr>
          <p:nvPr>
            <p:ph type="ftr" sz="quarter" idx="11"/>
          </p:nvPr>
        </p:nvSpPr>
        <p:spPr/>
        <p:txBody>
          <a:bodyPr/>
          <a:lstStyle>
            <a:lvl1pPr>
              <a:defRPr/>
            </a:lvl1pPr>
          </a:lstStyle>
          <a:p>
            <a:pPr>
              <a:defRPr/>
            </a:pPr>
            <a:endParaRPr lang="es-ES"/>
          </a:p>
        </p:txBody>
      </p:sp>
      <p:sp>
        <p:nvSpPr>
          <p:cNvPr id="6" name="17 Marcador de número de diapositiva"/>
          <p:cNvSpPr>
            <a:spLocks noGrp="1"/>
          </p:cNvSpPr>
          <p:nvPr>
            <p:ph type="sldNum" sz="quarter" idx="12"/>
          </p:nvPr>
        </p:nvSpPr>
        <p:spPr/>
        <p:txBody>
          <a:bodyPr/>
          <a:lstStyle>
            <a:lvl1pPr>
              <a:defRPr/>
            </a:lvl1pPr>
          </a:lstStyle>
          <a:p>
            <a:pPr>
              <a:defRPr/>
            </a:pPr>
            <a:fld id="{D11FA00B-6681-44BE-99CA-6328735A45A5}" type="slidenum">
              <a:rPr lang="es-ES"/>
              <a:pPr>
                <a:defRPr/>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844013" y="274640"/>
            <a:ext cx="1777470" cy="5592761"/>
          </a:xfrm>
        </p:spPr>
        <p:txBody>
          <a:bodyPr vert="eaVert"/>
          <a:lstStyle/>
          <a:p>
            <a:r>
              <a:rPr lang="es-ES"/>
              <a:t>Haga clic para modificar el estilo de título del patrón</a:t>
            </a:r>
            <a:endParaRPr lang="en-US"/>
          </a:p>
        </p:txBody>
      </p:sp>
      <p:sp>
        <p:nvSpPr>
          <p:cNvPr id="3" name="2 Marcador de texto vertical"/>
          <p:cNvSpPr>
            <a:spLocks noGrp="1"/>
          </p:cNvSpPr>
          <p:nvPr>
            <p:ph type="body" orient="vert" idx="1"/>
          </p:nvPr>
        </p:nvSpPr>
        <p:spPr>
          <a:xfrm>
            <a:off x="457200" y="274641"/>
            <a:ext cx="6324600" cy="5592760"/>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9 Marcador de fecha"/>
          <p:cNvSpPr>
            <a:spLocks noGrp="1"/>
          </p:cNvSpPr>
          <p:nvPr>
            <p:ph type="dt" sz="half" idx="10"/>
          </p:nvPr>
        </p:nvSpPr>
        <p:spPr/>
        <p:txBody>
          <a:bodyPr/>
          <a:lstStyle>
            <a:lvl1pPr>
              <a:defRPr/>
            </a:lvl1pPr>
          </a:lstStyle>
          <a:p>
            <a:pPr>
              <a:defRPr/>
            </a:pPr>
            <a:fld id="{79958A17-A487-46B4-9942-296CC71A9735}" type="datetimeFigureOut">
              <a:rPr lang="es-ES"/>
              <a:pPr>
                <a:defRPr/>
              </a:pPr>
              <a:t>19/06/2017</a:t>
            </a:fld>
            <a:endParaRPr lang="es-ES"/>
          </a:p>
        </p:txBody>
      </p:sp>
      <p:sp>
        <p:nvSpPr>
          <p:cNvPr id="5" name="21 Marcador de pie de página"/>
          <p:cNvSpPr>
            <a:spLocks noGrp="1"/>
          </p:cNvSpPr>
          <p:nvPr>
            <p:ph type="ftr" sz="quarter" idx="11"/>
          </p:nvPr>
        </p:nvSpPr>
        <p:spPr/>
        <p:txBody>
          <a:bodyPr/>
          <a:lstStyle>
            <a:lvl1pPr>
              <a:defRPr/>
            </a:lvl1pPr>
          </a:lstStyle>
          <a:p>
            <a:pPr>
              <a:defRPr/>
            </a:pPr>
            <a:endParaRPr lang="es-ES"/>
          </a:p>
        </p:txBody>
      </p:sp>
      <p:sp>
        <p:nvSpPr>
          <p:cNvPr id="6" name="17 Marcador de número de diapositiva"/>
          <p:cNvSpPr>
            <a:spLocks noGrp="1"/>
          </p:cNvSpPr>
          <p:nvPr>
            <p:ph type="sldNum" sz="quarter" idx="12"/>
          </p:nvPr>
        </p:nvSpPr>
        <p:spPr/>
        <p:txBody>
          <a:bodyPr/>
          <a:lstStyle>
            <a:lvl1pPr>
              <a:defRPr/>
            </a:lvl1pPr>
          </a:lstStyle>
          <a:p>
            <a:pPr>
              <a:defRPr/>
            </a:pPr>
            <a:fld id="{F277C38B-DFC8-4F3E-A300-95FAD986AC6A}" type="slidenum">
              <a:rPr lang="es-ES"/>
              <a:pPr>
                <a:defRPr/>
              </a:pPr>
              <a:t>‹Nº›</a:t>
            </a:fld>
            <a:endParaRPr lang="es-E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
        <p:nvSpPr>
          <p:cNvPr id="4" name="9 Marcador de fecha"/>
          <p:cNvSpPr>
            <a:spLocks noGrp="1"/>
          </p:cNvSpPr>
          <p:nvPr>
            <p:ph type="dt" sz="half" idx="10"/>
          </p:nvPr>
        </p:nvSpPr>
        <p:spPr/>
        <p:txBody>
          <a:bodyPr/>
          <a:lstStyle>
            <a:lvl1pPr>
              <a:defRPr/>
            </a:lvl1pPr>
          </a:lstStyle>
          <a:p>
            <a:pPr>
              <a:defRPr/>
            </a:pPr>
            <a:fld id="{C3028C30-92B6-48CA-9820-6C94C135BBFA}" type="datetimeFigureOut">
              <a:rPr lang="es-ES"/>
              <a:pPr>
                <a:defRPr/>
              </a:pPr>
              <a:t>19/06/2017</a:t>
            </a:fld>
            <a:endParaRPr lang="es-ES"/>
          </a:p>
        </p:txBody>
      </p:sp>
      <p:sp>
        <p:nvSpPr>
          <p:cNvPr id="5" name="21 Marcador de pie de página"/>
          <p:cNvSpPr>
            <a:spLocks noGrp="1"/>
          </p:cNvSpPr>
          <p:nvPr>
            <p:ph type="ftr" sz="quarter" idx="11"/>
          </p:nvPr>
        </p:nvSpPr>
        <p:spPr/>
        <p:txBody>
          <a:bodyPr/>
          <a:lstStyle>
            <a:lvl1pPr>
              <a:defRPr/>
            </a:lvl1pPr>
          </a:lstStyle>
          <a:p>
            <a:pPr>
              <a:defRPr/>
            </a:pPr>
            <a:endParaRPr lang="es-ES"/>
          </a:p>
        </p:txBody>
      </p:sp>
      <p:sp>
        <p:nvSpPr>
          <p:cNvPr id="6" name="17 Marcador de número de diapositiva"/>
          <p:cNvSpPr>
            <a:spLocks noGrp="1"/>
          </p:cNvSpPr>
          <p:nvPr>
            <p:ph type="sldNum" sz="quarter" idx="12"/>
          </p:nvPr>
        </p:nvSpPr>
        <p:spPr/>
        <p:txBody>
          <a:bodyPr/>
          <a:lstStyle>
            <a:lvl1pPr>
              <a:defRPr/>
            </a:lvl1pPr>
          </a:lstStyle>
          <a:p>
            <a:pPr>
              <a:defRPr/>
            </a:pPr>
            <a:fld id="{8D27793D-9C27-4275-9A29-60945BC289A3}" type="slidenum">
              <a:rPr lang="es-ES"/>
              <a:pPr>
                <a:defRPr/>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12 Forma libre"/>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2" name="11 Forma libre"/>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4" name="13 Triángulo rectángulo"/>
          <p:cNvSpPr>
            <a:spLocks/>
          </p:cNvSpPr>
          <p:nvPr/>
        </p:nvSpPr>
        <p:spPr bwMode="auto">
          <a:xfrm>
            <a:off x="-6042" y="5791253"/>
            <a:ext cx="3402314" cy="1080868"/>
          </a:xfrm>
          <a:prstGeom prst="rtTriangle">
            <a:avLst/>
          </a:prstGeom>
          <a:blipFill>
            <a:blip r:embed="rId1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5" name="14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8 Marcador de título"/>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s-ES"/>
              <a:t>Haga clic para modificar el estilo de título del patrón</a:t>
            </a:r>
            <a:endParaRPr lang="en-US"/>
          </a:p>
        </p:txBody>
      </p:sp>
      <p:sp>
        <p:nvSpPr>
          <p:cNvPr id="3081" name="29 Marcador de texto"/>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0" name="9 Marcador de fecha"/>
          <p:cNvSpPr>
            <a:spLocks noGrp="1"/>
          </p:cNvSpPr>
          <p:nvPr>
            <p:ph type="dt" sz="half" idx="2"/>
          </p:nvPr>
        </p:nvSpPr>
        <p:spPr>
          <a:xfrm>
            <a:off x="6727825" y="6408738"/>
            <a:ext cx="1919288" cy="365125"/>
          </a:xfrm>
          <a:prstGeom prst="rect">
            <a:avLst/>
          </a:prstGeom>
        </p:spPr>
        <p:txBody>
          <a:bodyPr vert="horz" anchor="b"/>
          <a:lstStyle>
            <a:lvl1pPr algn="l" eaLnBrk="1" fontAlgn="auto" latinLnBrk="0" hangingPunct="1">
              <a:spcBef>
                <a:spcPts val="0"/>
              </a:spcBef>
              <a:spcAft>
                <a:spcPts val="0"/>
              </a:spcAft>
              <a:defRPr kumimoji="0" sz="1000">
                <a:solidFill>
                  <a:schemeClr val="tx1"/>
                </a:solidFill>
                <a:latin typeface="+mn-lt"/>
              </a:defRPr>
            </a:lvl1pPr>
            <a:extLst/>
          </a:lstStyle>
          <a:p>
            <a:pPr>
              <a:defRPr/>
            </a:pPr>
            <a:fld id="{537F8049-FB6A-4109-A884-EA5868266F6C}" type="datetimeFigureOut">
              <a:rPr lang="es-ES"/>
              <a:pPr>
                <a:defRPr/>
              </a:pPr>
              <a:t>19/06/2017</a:t>
            </a:fld>
            <a:endParaRPr lang="es-ES"/>
          </a:p>
        </p:txBody>
      </p:sp>
      <p:sp>
        <p:nvSpPr>
          <p:cNvPr id="22" name="21 Marcador de pie de página"/>
          <p:cNvSpPr>
            <a:spLocks noGrp="1"/>
          </p:cNvSpPr>
          <p:nvPr>
            <p:ph type="ftr" sz="quarter" idx="3"/>
          </p:nvPr>
        </p:nvSpPr>
        <p:spPr>
          <a:xfrm>
            <a:off x="4379913" y="6408738"/>
            <a:ext cx="2351087" cy="365125"/>
          </a:xfrm>
          <a:prstGeom prst="rect">
            <a:avLst/>
          </a:prstGeom>
        </p:spPr>
        <p:txBody>
          <a:bodyPr vert="horz" anchor="b"/>
          <a:lstStyle>
            <a:lvl1pPr algn="r" eaLnBrk="1" fontAlgn="auto" latinLnBrk="0" hangingPunct="1">
              <a:spcBef>
                <a:spcPts val="0"/>
              </a:spcBef>
              <a:spcAft>
                <a:spcPts val="0"/>
              </a:spcAft>
              <a:defRPr kumimoji="0" sz="1000">
                <a:solidFill>
                  <a:schemeClr val="tx1"/>
                </a:solidFill>
                <a:latin typeface="+mn-lt"/>
              </a:defRPr>
            </a:lvl1pPr>
            <a:extLst/>
          </a:lstStyle>
          <a:p>
            <a:pPr>
              <a:defRPr/>
            </a:pPr>
            <a:endParaRPr lang="es-ES"/>
          </a:p>
        </p:txBody>
      </p:sp>
      <p:sp>
        <p:nvSpPr>
          <p:cNvPr id="18" name="17 Marcador de número de diapositiva"/>
          <p:cNvSpPr>
            <a:spLocks noGrp="1"/>
          </p:cNvSpPr>
          <p:nvPr>
            <p:ph type="sldNum" sz="quarter" idx="4"/>
          </p:nvPr>
        </p:nvSpPr>
        <p:spPr>
          <a:xfrm>
            <a:off x="8647113" y="6408738"/>
            <a:ext cx="366712" cy="365125"/>
          </a:xfrm>
          <a:prstGeom prst="rect">
            <a:avLst/>
          </a:prstGeom>
        </p:spPr>
        <p:txBody>
          <a:bodyPr vert="horz" anchor="b"/>
          <a:lstStyle>
            <a:lvl1pPr algn="r" eaLnBrk="1" fontAlgn="auto" latinLnBrk="0" hangingPunct="1">
              <a:spcBef>
                <a:spcPts val="0"/>
              </a:spcBef>
              <a:spcAft>
                <a:spcPts val="0"/>
              </a:spcAft>
              <a:defRPr kumimoji="0" sz="1000" b="0">
                <a:solidFill>
                  <a:schemeClr val="tx1"/>
                </a:solidFill>
                <a:latin typeface="+mn-lt"/>
              </a:defRPr>
            </a:lvl1pPr>
            <a:extLst/>
          </a:lstStyle>
          <a:p>
            <a:pPr>
              <a:defRPr/>
            </a:pPr>
            <a:fld id="{B0096852-FE8B-4128-A0FF-5574202A0E9C}" type="slidenum">
              <a:rPr lang="es-ES"/>
              <a:pPr>
                <a:defRPr/>
              </a:pPr>
              <a:t>‹Nº›</a:t>
            </a:fld>
            <a:endParaRPr lang="es-ES"/>
          </a:p>
        </p:txBody>
      </p:sp>
    </p:spTree>
  </p:cSld>
  <p:clrMap bg1="lt1" tx1="dk1" bg2="lt2" tx2="dk2" accent1="accent1" accent2="accent2" accent3="accent3" accent4="accent4" accent5="accent5" accent6="accent6" hlink="hlink" folHlink="folHlink"/>
  <p:sldLayoutIdLst>
    <p:sldLayoutId id="2147484185" r:id="rId1"/>
    <p:sldLayoutId id="2147484180" r:id="rId2"/>
    <p:sldLayoutId id="2147484186" r:id="rId3"/>
    <p:sldLayoutId id="2147484187" r:id="rId4"/>
    <p:sldLayoutId id="2147484188" r:id="rId5"/>
    <p:sldLayoutId id="2147484189" r:id="rId6"/>
    <p:sldLayoutId id="2147484181" r:id="rId7"/>
    <p:sldLayoutId id="2147484190" r:id="rId8"/>
    <p:sldLayoutId id="2147484191" r:id="rId9"/>
    <p:sldLayoutId id="2147484182" r:id="rId10"/>
    <p:sldLayoutId id="2147484183" r:id="rId11"/>
    <p:sldLayoutId id="2147484184" r:id="rId12"/>
  </p:sldLayoutIdLst>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itchFamily="34" charset="0"/>
        </a:defRPr>
      </a:lvl2pPr>
      <a:lvl3pPr algn="l" rtl="0" eaLnBrk="0" fontAlgn="base" hangingPunct="0">
        <a:spcBef>
          <a:spcPct val="0"/>
        </a:spcBef>
        <a:spcAft>
          <a:spcPct val="0"/>
        </a:spcAft>
        <a:defRPr sz="4100" b="1">
          <a:solidFill>
            <a:schemeClr val="tx2"/>
          </a:solidFill>
          <a:latin typeface="Lucida Sans Unicode" pitchFamily="34" charset="0"/>
        </a:defRPr>
      </a:lvl3pPr>
      <a:lvl4pPr algn="l" rtl="0" eaLnBrk="0" fontAlgn="base" hangingPunct="0">
        <a:spcBef>
          <a:spcPct val="0"/>
        </a:spcBef>
        <a:spcAft>
          <a:spcPct val="0"/>
        </a:spcAft>
        <a:defRPr sz="4100" b="1">
          <a:solidFill>
            <a:schemeClr val="tx2"/>
          </a:solidFill>
          <a:latin typeface="Lucida Sans Unicode" pitchFamily="34" charset="0"/>
        </a:defRPr>
      </a:lvl4pPr>
      <a:lvl5pPr algn="l" rtl="0" eaLnBrk="0" fontAlgn="base" hangingPunct="0">
        <a:spcBef>
          <a:spcPct val="0"/>
        </a:spcBef>
        <a:spcAft>
          <a:spcPct val="0"/>
        </a:spcAft>
        <a:defRPr sz="4100" b="1">
          <a:solidFill>
            <a:schemeClr val="tx2"/>
          </a:solidFill>
          <a:latin typeface="Lucida Sans Unicode" pitchFamily="34" charset="0"/>
        </a:defRPr>
      </a:lvl5pPr>
      <a:lvl6pPr marL="457200" algn="l" rtl="0" fontAlgn="base">
        <a:spcBef>
          <a:spcPct val="0"/>
        </a:spcBef>
        <a:spcAft>
          <a:spcPct val="0"/>
        </a:spcAft>
        <a:defRPr sz="4100" b="1">
          <a:solidFill>
            <a:schemeClr val="tx2"/>
          </a:solidFill>
          <a:latin typeface="Lucida Sans Unicode" pitchFamily="34" charset="0"/>
        </a:defRPr>
      </a:lvl6pPr>
      <a:lvl7pPr marL="914400" algn="l" rtl="0" fontAlgn="base">
        <a:spcBef>
          <a:spcPct val="0"/>
        </a:spcBef>
        <a:spcAft>
          <a:spcPct val="0"/>
        </a:spcAft>
        <a:defRPr sz="4100" b="1">
          <a:solidFill>
            <a:schemeClr val="tx2"/>
          </a:solidFill>
          <a:latin typeface="Lucida Sans Unicode" pitchFamily="34" charset="0"/>
        </a:defRPr>
      </a:lvl7pPr>
      <a:lvl8pPr marL="1371600" algn="l" rtl="0" fontAlgn="base">
        <a:spcBef>
          <a:spcPct val="0"/>
        </a:spcBef>
        <a:spcAft>
          <a:spcPct val="0"/>
        </a:spcAft>
        <a:defRPr sz="4100" b="1">
          <a:solidFill>
            <a:schemeClr val="tx2"/>
          </a:solidFill>
          <a:latin typeface="Lucida Sans Unicode" pitchFamily="34" charset="0"/>
        </a:defRPr>
      </a:lvl8pPr>
      <a:lvl9pPr marL="1828800" algn="l" rtl="0" fontAlgn="base">
        <a:spcBef>
          <a:spcPct val="0"/>
        </a:spcBef>
        <a:spcAft>
          <a:spcPct val="0"/>
        </a:spcAft>
        <a:defRPr sz="4100" b="1">
          <a:solidFill>
            <a:schemeClr val="tx2"/>
          </a:solidFill>
          <a:latin typeface="Lucida Sans Unicode" pitchFamily="34"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0" fontAlgn="base" hangingPunct="0">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es.wikipedia.org/wiki/Estructura_de_datos" TargetMode="External"/><Relationship Id="rId2" Type="http://schemas.openxmlformats.org/officeDocument/2006/relationships/hyperlink" Target="http://es.wikipedia.org/wiki/Base_de_Datos" TargetMode="External"/><Relationship Id="rId1" Type="http://schemas.openxmlformats.org/officeDocument/2006/relationships/slideLayout" Target="../slideLayouts/slideLayout7.xml"/><Relationship Id="rId4" Type="http://schemas.openxmlformats.org/officeDocument/2006/relationships/hyperlink" Target="http://es.wikipedia.org/w/index.php?title=Restricciones_de_integridad&amp;action=edit&amp;redlink=1"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es.wikipedia.org/wiki/SGBD" TargetMode="External"/><Relationship Id="rId7" Type="http://schemas.openxmlformats.org/officeDocument/2006/relationships/hyperlink" Target="http://es.wikipedia.org/wiki/Hash" TargetMode="External"/><Relationship Id="rId2" Type="http://schemas.openxmlformats.org/officeDocument/2006/relationships/hyperlink" Target="http://es.wikipedia.org/wiki/Modelo_entidad-relaci%C3%B3n" TargetMode="External"/><Relationship Id="rId1" Type="http://schemas.openxmlformats.org/officeDocument/2006/relationships/slideLayout" Target="../slideLayouts/slideLayout7.xml"/><Relationship Id="rId6" Type="http://schemas.openxmlformats.org/officeDocument/2006/relationships/hyperlink" Target="http://es.wikipedia.org/wiki/%C3%81rbol-B+" TargetMode="External"/><Relationship Id="rId5" Type="http://schemas.openxmlformats.org/officeDocument/2006/relationships/hyperlink" Target="http://es.wikipedia.org/wiki/Normalizaci%C3%B3n_de_bases_de_datos" TargetMode="External"/><Relationship Id="rId4" Type="http://schemas.openxmlformats.org/officeDocument/2006/relationships/hyperlink" Target="http://es.wikipedia.org/wiki/Modelo_relaciona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0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51.emf"/><Relationship Id="rId5" Type="http://schemas.openxmlformats.org/officeDocument/2006/relationships/oleObject" Target="../embeddings/oleObject2.bin"/><Relationship Id="rId4" Type="http://schemas.openxmlformats.org/officeDocument/2006/relationships/image" Target="../media/image50.emf"/></Relationships>
</file>

<file path=ppt/slides/_rels/slide21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52.emf"/><Relationship Id="rId4" Type="http://schemas.openxmlformats.org/officeDocument/2006/relationships/oleObject" Target="../embeddings/oleObject3.bin"/></Relationships>
</file>

<file path=ppt/slides/_rels/slide21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1 Rectángulo"/>
          <p:cNvSpPr>
            <a:spLocks noChangeArrowheads="1"/>
          </p:cNvSpPr>
          <p:nvPr/>
        </p:nvSpPr>
        <p:spPr bwMode="auto">
          <a:xfrm>
            <a:off x="714375" y="1785938"/>
            <a:ext cx="7858125" cy="3170237"/>
          </a:xfrm>
          <a:prstGeom prst="rect">
            <a:avLst/>
          </a:prstGeom>
          <a:noFill/>
          <a:ln w="9525">
            <a:noFill/>
            <a:miter lim="800000"/>
            <a:headEnd/>
            <a:tailEnd/>
          </a:ln>
        </p:spPr>
        <p:txBody>
          <a:bodyPr>
            <a:spAutoFit/>
          </a:bodyPr>
          <a:lstStyle/>
          <a:p>
            <a:pPr marL="800100" lvl="1" indent="-342900">
              <a:lnSpc>
                <a:spcPct val="200000"/>
              </a:lnSpc>
              <a:buFont typeface="Arial" charset="0"/>
              <a:buChar char="•"/>
            </a:pPr>
            <a:r>
              <a:rPr lang="es-ES_tradnl" sz="2000"/>
              <a:t>Introducción a las Bases de Datos</a:t>
            </a:r>
          </a:p>
          <a:p>
            <a:pPr marL="800100" lvl="1" indent="-342900">
              <a:lnSpc>
                <a:spcPct val="200000"/>
              </a:lnSpc>
              <a:buFont typeface="Arial" charset="0"/>
              <a:buChar char="•"/>
            </a:pPr>
            <a:r>
              <a:rPr lang="es-ES_tradnl" sz="2000"/>
              <a:t>Funciones de los Sistemas Gestores de Bases de Datos</a:t>
            </a:r>
          </a:p>
          <a:p>
            <a:pPr marL="800100" lvl="1" indent="-342900">
              <a:lnSpc>
                <a:spcPct val="200000"/>
              </a:lnSpc>
              <a:buFont typeface="Arial" charset="0"/>
              <a:buChar char="•"/>
            </a:pPr>
            <a:r>
              <a:rPr lang="es-ES_tradnl" sz="2000"/>
              <a:t>Actores en los Sistemas Gestores de Bases de Datos</a:t>
            </a:r>
          </a:p>
          <a:p>
            <a:pPr marL="800100" lvl="1" indent="-342900">
              <a:lnSpc>
                <a:spcPct val="200000"/>
              </a:lnSpc>
              <a:buFont typeface="Arial" charset="0"/>
              <a:buChar char="•"/>
            </a:pPr>
            <a:r>
              <a:rPr lang="es-ES_tradnl" sz="2000"/>
              <a:t>Ventajas de utilizar un Sistema Gestor de Bases de Datos</a:t>
            </a:r>
          </a:p>
          <a:p>
            <a:pPr marL="800100" lvl="1" indent="-342900">
              <a:lnSpc>
                <a:spcPct val="200000"/>
              </a:lnSpc>
              <a:buFont typeface="Arial" charset="0"/>
              <a:buChar char="•"/>
            </a:pPr>
            <a:r>
              <a:rPr lang="es-ES_tradnl" sz="2000"/>
              <a:t>Estructura Global de un Sistema Gestor de Bases de Datos</a:t>
            </a:r>
            <a:endParaRPr lang="es-MX" sz="3200"/>
          </a:p>
        </p:txBody>
      </p:sp>
      <p:sp>
        <p:nvSpPr>
          <p:cNvPr id="21507" name="2 CuadroTexto"/>
          <p:cNvSpPr txBox="1">
            <a:spLocks noChangeArrowheads="1"/>
          </p:cNvSpPr>
          <p:nvPr/>
        </p:nvSpPr>
        <p:spPr bwMode="auto">
          <a:xfrm>
            <a:off x="214313" y="131763"/>
            <a:ext cx="5959475" cy="461962"/>
          </a:xfrm>
          <a:prstGeom prst="rect">
            <a:avLst/>
          </a:prstGeom>
          <a:noFill/>
          <a:ln w="9525">
            <a:noFill/>
            <a:miter lim="800000"/>
            <a:headEnd/>
            <a:tailEnd/>
          </a:ln>
        </p:spPr>
        <p:txBody>
          <a:bodyPr wrap="none">
            <a:spAutoFit/>
          </a:bodyPr>
          <a:lstStyle/>
          <a:p>
            <a:pPr marL="342900" indent="-342900">
              <a:buFont typeface="Lucida Sans Unicode" pitchFamily="34" charset="0"/>
              <a:buAutoNum type="romanUcPeriod"/>
            </a:pPr>
            <a:r>
              <a:rPr lang="es-ES_tradnl" sz="2400" b="1"/>
              <a:t>INTRODUCCIÓN Y GENERALIDADES</a:t>
            </a:r>
            <a:endParaRPr lang="es-MX" sz="24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1 Rectángulo"/>
          <p:cNvSpPr>
            <a:spLocks noChangeArrowheads="1"/>
          </p:cNvSpPr>
          <p:nvPr/>
        </p:nvSpPr>
        <p:spPr bwMode="auto">
          <a:xfrm>
            <a:off x="1285875" y="1354138"/>
            <a:ext cx="6572250" cy="1200150"/>
          </a:xfrm>
          <a:prstGeom prst="rect">
            <a:avLst/>
          </a:prstGeom>
          <a:noFill/>
          <a:ln w="9525">
            <a:noFill/>
            <a:miter lim="800000"/>
            <a:headEnd/>
            <a:tailEnd/>
          </a:ln>
        </p:spPr>
        <p:txBody>
          <a:bodyPr>
            <a:spAutoFit/>
          </a:bodyPr>
          <a:lstStyle/>
          <a:p>
            <a:pPr marL="358775" indent="-358775" algn="just">
              <a:buFont typeface="Arial" charset="0"/>
              <a:buChar char="•"/>
            </a:pPr>
            <a:r>
              <a:rPr lang="es-MX"/>
              <a:t>Colección compartida de datos relacionados desde el punto de vista lógico, junto con una descripción de esos datos (metadatos), diseñada para satisfacer las necesidades de información de una organización.</a:t>
            </a:r>
          </a:p>
        </p:txBody>
      </p:sp>
      <p:sp>
        <p:nvSpPr>
          <p:cNvPr id="22531" name="2 Rectángulo"/>
          <p:cNvSpPr>
            <a:spLocks noChangeArrowheads="1"/>
          </p:cNvSpPr>
          <p:nvPr/>
        </p:nvSpPr>
        <p:spPr bwMode="auto">
          <a:xfrm>
            <a:off x="1285875" y="3140075"/>
            <a:ext cx="6572250" cy="1477963"/>
          </a:xfrm>
          <a:prstGeom prst="rect">
            <a:avLst/>
          </a:prstGeom>
          <a:noFill/>
          <a:ln w="9525">
            <a:noFill/>
            <a:miter lim="800000"/>
            <a:headEnd/>
            <a:tailEnd/>
          </a:ln>
        </p:spPr>
        <p:txBody>
          <a:bodyPr>
            <a:spAutoFit/>
          </a:bodyPr>
          <a:lstStyle/>
          <a:p>
            <a:pPr marL="358775" indent="-358775" algn="just">
              <a:buFont typeface="Arial" charset="0"/>
              <a:buChar char="•"/>
            </a:pPr>
            <a:r>
              <a:rPr lang="es-MX"/>
              <a:t>Conjunto exhaustivo y no redundante de datos estructurados, organizados de forma independiente a su utilización o implantación en máquina, accesibles en tiempo real y compatibles con usuarios concurrentes y sus respectivas necesidades (peticiones) de información.</a:t>
            </a:r>
          </a:p>
        </p:txBody>
      </p:sp>
      <p:sp>
        <p:nvSpPr>
          <p:cNvPr id="22532" name="3 CuadroTexto"/>
          <p:cNvSpPr txBox="1">
            <a:spLocks noChangeArrowheads="1"/>
          </p:cNvSpPr>
          <p:nvPr/>
        </p:nvSpPr>
        <p:spPr bwMode="auto">
          <a:xfrm>
            <a:off x="1285875" y="5140325"/>
            <a:ext cx="6572250" cy="646113"/>
          </a:xfrm>
          <a:prstGeom prst="rect">
            <a:avLst/>
          </a:prstGeom>
          <a:noFill/>
          <a:ln w="9525">
            <a:noFill/>
            <a:miter lim="800000"/>
            <a:headEnd/>
            <a:tailEnd/>
          </a:ln>
        </p:spPr>
        <p:txBody>
          <a:bodyPr>
            <a:spAutoFit/>
          </a:bodyPr>
          <a:lstStyle/>
          <a:p>
            <a:pPr marL="358775" indent="-358775" algn="just">
              <a:buFont typeface="Arial" charset="0"/>
              <a:buChar char="•"/>
            </a:pPr>
            <a:r>
              <a:rPr lang="es-ES_tradnl"/>
              <a:t>Las Bases de Datos sirven para almacenar, procesar y extraer datos</a:t>
            </a:r>
            <a:endParaRPr lang="es-MX"/>
          </a:p>
        </p:txBody>
      </p:sp>
      <p:sp>
        <p:nvSpPr>
          <p:cNvPr id="22533" name="4 CuadroTexto"/>
          <p:cNvSpPr txBox="1">
            <a:spLocks noChangeArrowheads="1"/>
          </p:cNvSpPr>
          <p:nvPr/>
        </p:nvSpPr>
        <p:spPr bwMode="auto">
          <a:xfrm>
            <a:off x="214313" y="131763"/>
            <a:ext cx="4424362" cy="461962"/>
          </a:xfrm>
          <a:prstGeom prst="rect">
            <a:avLst/>
          </a:prstGeom>
          <a:noFill/>
          <a:ln w="9525">
            <a:noFill/>
            <a:miter lim="800000"/>
            <a:headEnd/>
            <a:tailEnd/>
          </a:ln>
        </p:spPr>
        <p:txBody>
          <a:bodyPr wrap="none">
            <a:spAutoFit/>
          </a:bodyPr>
          <a:lstStyle/>
          <a:p>
            <a:pPr marL="342900" indent="-342900"/>
            <a:r>
              <a:rPr lang="es-ES_tradnl" sz="2400" b="1"/>
              <a:t>¿Qué es una Base de Datos?</a:t>
            </a:r>
            <a:endParaRPr lang="es-MX" sz="24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1 Rectángulo"/>
          <p:cNvSpPr>
            <a:spLocks noChangeArrowheads="1"/>
          </p:cNvSpPr>
          <p:nvPr/>
        </p:nvSpPr>
        <p:spPr bwMode="auto">
          <a:xfrm>
            <a:off x="1285875" y="928688"/>
            <a:ext cx="6572250" cy="4800600"/>
          </a:xfrm>
          <a:prstGeom prst="rect">
            <a:avLst/>
          </a:prstGeom>
          <a:noFill/>
          <a:ln w="9525">
            <a:noFill/>
            <a:miter lim="800000"/>
            <a:headEnd/>
            <a:tailEnd/>
          </a:ln>
        </p:spPr>
        <p:txBody>
          <a:bodyPr>
            <a:spAutoFit/>
          </a:bodyPr>
          <a:lstStyle/>
          <a:p>
            <a:pPr marL="360000" indent="-360000" algn="just">
              <a:buFont typeface="Arial" pitchFamily="34" charset="0"/>
              <a:buChar char="•"/>
              <a:defRPr/>
            </a:pPr>
            <a:r>
              <a:rPr lang="es-ES_tradnl" dirty="0"/>
              <a:t>Una </a:t>
            </a:r>
            <a:r>
              <a:rPr lang="es-ES_tradnl" b="1" dirty="0"/>
              <a:t>base de datos</a:t>
            </a:r>
            <a:r>
              <a:rPr lang="es-ES_tradnl" dirty="0"/>
              <a:t> es una colección de información organizada de forma que un programa de ordenador pueda seleccionar rápidamente los fragmentos de datos que necesite. Una base de datos es un sistema de archivos electrónico. </a:t>
            </a:r>
          </a:p>
          <a:p>
            <a:pPr marL="360000" indent="-360000" algn="just">
              <a:buFont typeface="Arial" pitchFamily="34" charset="0"/>
              <a:buChar char="•"/>
              <a:defRPr/>
            </a:pPr>
            <a:endParaRPr lang="es-ES_tradnl" dirty="0"/>
          </a:p>
          <a:p>
            <a:pPr marL="360000" indent="-360000" algn="just">
              <a:buFont typeface="Arial" pitchFamily="34" charset="0"/>
              <a:buChar char="•"/>
              <a:defRPr/>
            </a:pPr>
            <a:r>
              <a:rPr lang="es-ES_tradnl" dirty="0"/>
              <a:t>Las bases de datos se organizan por campos, registros y archivos. Un </a:t>
            </a:r>
            <a:r>
              <a:rPr lang="es-ES_tradnl" b="1" dirty="0"/>
              <a:t>campo</a:t>
            </a:r>
            <a:r>
              <a:rPr lang="es-ES_tradnl" dirty="0"/>
              <a:t> es una pieza única de información; un </a:t>
            </a:r>
            <a:r>
              <a:rPr lang="es-ES_tradnl" b="1" dirty="0"/>
              <a:t>registro</a:t>
            </a:r>
            <a:r>
              <a:rPr lang="es-ES_tradnl" dirty="0"/>
              <a:t> es un sistema completo de campos; y un </a:t>
            </a:r>
            <a:r>
              <a:rPr lang="es-ES_tradnl" b="1" dirty="0"/>
              <a:t>archivo</a:t>
            </a:r>
            <a:r>
              <a:rPr lang="es-ES_tradnl" dirty="0"/>
              <a:t> es una colección de registros. Por ejemplo, una guía de teléfono es análoga a un archivo. Contiene una lista de registros, cada uno de los cuales consiste en tres campos: nombre, dirección, y número de teléfono. </a:t>
            </a:r>
          </a:p>
          <a:p>
            <a:pPr marL="360000" indent="-360000" algn="just">
              <a:buFont typeface="Arial" pitchFamily="34" charset="0"/>
              <a:buChar char="•"/>
              <a:defRPr/>
            </a:pPr>
            <a:endParaRPr lang="es-ES_tradnl" dirty="0"/>
          </a:p>
          <a:p>
            <a:pPr marL="360000" indent="-360000" algn="just">
              <a:buFont typeface="Arial" pitchFamily="34" charset="0"/>
              <a:buChar char="•"/>
              <a:defRPr/>
            </a:pPr>
            <a:r>
              <a:rPr lang="es-ES_tradnl" dirty="0"/>
              <a:t>A veces se utiliza DB, de </a:t>
            </a:r>
            <a:r>
              <a:rPr lang="es-ES_tradnl" i="1" dirty="0" err="1"/>
              <a:t>database</a:t>
            </a:r>
            <a:r>
              <a:rPr lang="es-ES_tradnl" dirty="0"/>
              <a:t> en inglés, para referirse a las bases de datos. </a:t>
            </a:r>
          </a:p>
          <a:p>
            <a:pPr algn="just">
              <a:buFont typeface="Arial" pitchFamily="34" charset="0"/>
              <a:buChar char="•"/>
              <a:defRPr/>
            </a:pPr>
            <a:endParaRPr lang="es-MX" dirty="0"/>
          </a:p>
        </p:txBody>
      </p:sp>
      <p:sp>
        <p:nvSpPr>
          <p:cNvPr id="23555" name="4 CuadroTexto"/>
          <p:cNvSpPr txBox="1">
            <a:spLocks noChangeArrowheads="1"/>
          </p:cNvSpPr>
          <p:nvPr/>
        </p:nvSpPr>
        <p:spPr bwMode="auto">
          <a:xfrm>
            <a:off x="214313" y="131763"/>
            <a:ext cx="4424362" cy="461962"/>
          </a:xfrm>
          <a:prstGeom prst="rect">
            <a:avLst/>
          </a:prstGeom>
          <a:noFill/>
          <a:ln w="9525">
            <a:noFill/>
            <a:miter lim="800000"/>
            <a:headEnd/>
            <a:tailEnd/>
          </a:ln>
        </p:spPr>
        <p:txBody>
          <a:bodyPr wrap="none">
            <a:spAutoFit/>
          </a:bodyPr>
          <a:lstStyle/>
          <a:p>
            <a:pPr marL="342900" indent="-342900"/>
            <a:r>
              <a:rPr lang="es-ES_tradnl" sz="2400" b="1"/>
              <a:t>¿Qué es una Base de Datos?</a:t>
            </a:r>
            <a:endParaRPr lang="es-MX" sz="24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1 CuadroTexto"/>
          <p:cNvSpPr txBox="1">
            <a:spLocks noChangeArrowheads="1"/>
          </p:cNvSpPr>
          <p:nvPr/>
        </p:nvSpPr>
        <p:spPr bwMode="auto">
          <a:xfrm>
            <a:off x="214313" y="0"/>
            <a:ext cx="8929687" cy="831850"/>
          </a:xfrm>
          <a:prstGeom prst="rect">
            <a:avLst/>
          </a:prstGeom>
          <a:noFill/>
          <a:ln w="9525">
            <a:noFill/>
            <a:miter lim="800000"/>
            <a:headEnd/>
            <a:tailEnd/>
          </a:ln>
        </p:spPr>
        <p:txBody>
          <a:bodyPr>
            <a:spAutoFit/>
          </a:bodyPr>
          <a:lstStyle/>
          <a:p>
            <a:pPr marL="342900" indent="-342900"/>
            <a:r>
              <a:rPr lang="es-ES_tradnl" sz="2400" b="1"/>
              <a:t>¿En qué se diferencia una Base de Datos de los archivos tradicionales?</a:t>
            </a:r>
            <a:endParaRPr lang="es-MX" sz="2400" b="1"/>
          </a:p>
        </p:txBody>
      </p:sp>
      <p:sp>
        <p:nvSpPr>
          <p:cNvPr id="24579" name="2 Rectángulo"/>
          <p:cNvSpPr>
            <a:spLocks noChangeArrowheads="1"/>
          </p:cNvSpPr>
          <p:nvPr/>
        </p:nvSpPr>
        <p:spPr bwMode="auto">
          <a:xfrm>
            <a:off x="1000125" y="1571625"/>
            <a:ext cx="7072313" cy="3832225"/>
          </a:xfrm>
          <a:prstGeom prst="rect">
            <a:avLst/>
          </a:prstGeom>
          <a:noFill/>
          <a:ln w="9525">
            <a:noFill/>
            <a:miter lim="800000"/>
            <a:headEnd/>
            <a:tailEnd/>
          </a:ln>
        </p:spPr>
        <p:txBody>
          <a:bodyPr>
            <a:spAutoFit/>
          </a:bodyPr>
          <a:lstStyle/>
          <a:p>
            <a:pPr algn="just">
              <a:lnSpc>
                <a:spcPct val="150000"/>
              </a:lnSpc>
            </a:pPr>
            <a:r>
              <a:rPr lang="es-ES"/>
              <a:t>Una base de datos es un archivo, existen diferentes tipos de archivos, cómo de texto, imágenes, pistas de audio, video, entre otras junto con los archivos de bases de datos. Cada tipo de archivo tiene sus característica únicas que los diferencian y programas específicos que nos permiten hacer uso de ellos.</a:t>
            </a:r>
          </a:p>
          <a:p>
            <a:pPr algn="just">
              <a:lnSpc>
                <a:spcPct val="150000"/>
              </a:lnSpc>
            </a:pPr>
            <a:br>
              <a:rPr lang="es-ES"/>
            </a:br>
            <a:r>
              <a:rPr lang="es-ES"/>
              <a:t>En el caso de las bases de datos, tienen un estructura organizacional que permite contener de forma ordenada datos de diferentes tipos.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1 CuadroTexto"/>
          <p:cNvSpPr txBox="1">
            <a:spLocks noChangeArrowheads="1"/>
          </p:cNvSpPr>
          <p:nvPr/>
        </p:nvSpPr>
        <p:spPr bwMode="auto">
          <a:xfrm>
            <a:off x="214313" y="0"/>
            <a:ext cx="8929687" cy="831850"/>
          </a:xfrm>
          <a:prstGeom prst="rect">
            <a:avLst/>
          </a:prstGeom>
          <a:noFill/>
          <a:ln w="9525">
            <a:noFill/>
            <a:miter lim="800000"/>
            <a:headEnd/>
            <a:tailEnd/>
          </a:ln>
        </p:spPr>
        <p:txBody>
          <a:bodyPr>
            <a:spAutoFit/>
          </a:bodyPr>
          <a:lstStyle/>
          <a:p>
            <a:pPr marL="342900" indent="-342900"/>
            <a:r>
              <a:rPr lang="es-ES_tradnl" sz="2400" b="1"/>
              <a:t>¿En qué se diferencia una Base de Datos de los archivos tradicionales?</a:t>
            </a:r>
            <a:endParaRPr lang="es-MX" sz="2400" b="1"/>
          </a:p>
        </p:txBody>
      </p:sp>
      <p:sp>
        <p:nvSpPr>
          <p:cNvPr id="8" name="7 Disco magnético"/>
          <p:cNvSpPr/>
          <p:nvPr/>
        </p:nvSpPr>
        <p:spPr>
          <a:xfrm>
            <a:off x="6357950" y="2500306"/>
            <a:ext cx="1714512" cy="1571636"/>
          </a:xfrm>
          <a:prstGeom prst="flowChartMagneticDisk">
            <a:avLst/>
          </a:prstGeom>
          <a:ln w="3175"/>
          <a:effectLst>
            <a:outerShdw blurRad="76200" dir="18900000" sy="23000" kx="-1200000" algn="bl" rotWithShape="0">
              <a:prstClr val="black">
                <a:alpha val="2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MX"/>
          </a:p>
        </p:txBody>
      </p:sp>
      <p:sp>
        <p:nvSpPr>
          <p:cNvPr id="25606" name="8 CuadroTexto"/>
          <p:cNvSpPr txBox="1">
            <a:spLocks noChangeArrowheads="1"/>
          </p:cNvSpPr>
          <p:nvPr/>
        </p:nvSpPr>
        <p:spPr bwMode="auto">
          <a:xfrm rot="-5400000">
            <a:off x="-1376363" y="3340101"/>
            <a:ext cx="3484563" cy="461962"/>
          </a:xfrm>
          <a:prstGeom prst="rect">
            <a:avLst/>
          </a:prstGeom>
          <a:noFill/>
          <a:ln w="9525">
            <a:noFill/>
            <a:miter lim="800000"/>
            <a:headEnd/>
            <a:tailEnd/>
          </a:ln>
        </p:spPr>
        <p:txBody>
          <a:bodyPr wrap="none">
            <a:spAutoFit/>
          </a:bodyPr>
          <a:lstStyle/>
          <a:p>
            <a:r>
              <a:rPr lang="es-ES_tradnl" sz="2400" b="1">
                <a:solidFill>
                  <a:schemeClr val="accent1"/>
                </a:solidFill>
              </a:rPr>
              <a:t>Archivos tradicionales</a:t>
            </a:r>
            <a:endParaRPr lang="es-MX" sz="2400" b="1">
              <a:solidFill>
                <a:schemeClr val="accent1"/>
              </a:solidFill>
            </a:endParaRPr>
          </a:p>
        </p:txBody>
      </p:sp>
      <p:sp>
        <p:nvSpPr>
          <p:cNvPr id="10" name="9 CuadroTexto"/>
          <p:cNvSpPr txBox="1"/>
          <p:nvPr/>
        </p:nvSpPr>
        <p:spPr>
          <a:xfrm>
            <a:off x="3736975" y="1252538"/>
            <a:ext cx="854075" cy="400050"/>
          </a:xfrm>
          <a:prstGeom prst="rect">
            <a:avLst/>
          </a:prstGeom>
          <a:noFill/>
        </p:spPr>
        <p:txBody>
          <a:bodyPr wrap="none">
            <a:spAutoFit/>
          </a:bodyPr>
          <a:lstStyle/>
          <a:p>
            <a:pPr>
              <a:defRPr/>
            </a:pPr>
            <a:r>
              <a:rPr lang="es-ES_tradnl" sz="2000" b="1" dirty="0">
                <a:solidFill>
                  <a:schemeClr val="accent3"/>
                </a:solidFill>
              </a:rPr>
              <a:t>Excel</a:t>
            </a:r>
            <a:endParaRPr lang="es-MX" sz="2000" b="1" dirty="0">
              <a:solidFill>
                <a:schemeClr val="accent3"/>
              </a:solidFill>
            </a:endParaRPr>
          </a:p>
        </p:txBody>
      </p:sp>
      <p:sp>
        <p:nvSpPr>
          <p:cNvPr id="23564" name="10 CuadroTexto"/>
          <p:cNvSpPr txBox="1">
            <a:spLocks noChangeArrowheads="1"/>
          </p:cNvSpPr>
          <p:nvPr/>
        </p:nvSpPr>
        <p:spPr bwMode="auto">
          <a:xfrm>
            <a:off x="3736975" y="2038350"/>
            <a:ext cx="835025" cy="400050"/>
          </a:xfrm>
          <a:prstGeom prst="rect">
            <a:avLst/>
          </a:prstGeom>
          <a:noFill/>
          <a:ln w="9525">
            <a:noFill/>
            <a:miter lim="800000"/>
            <a:headEnd/>
            <a:tailEnd/>
          </a:ln>
        </p:spPr>
        <p:txBody>
          <a:bodyPr wrap="none">
            <a:spAutoFit/>
          </a:bodyPr>
          <a:lstStyle/>
          <a:p>
            <a:r>
              <a:rPr lang="es-ES_tradnl" sz="2000" b="1">
                <a:solidFill>
                  <a:schemeClr val="accent1"/>
                </a:solidFill>
              </a:rPr>
              <a:t>Word</a:t>
            </a:r>
            <a:endParaRPr lang="es-MX" sz="2000" b="1">
              <a:solidFill>
                <a:schemeClr val="accent1"/>
              </a:solidFill>
            </a:endParaRPr>
          </a:p>
        </p:txBody>
      </p:sp>
      <p:sp>
        <p:nvSpPr>
          <p:cNvPr id="12" name="11 CuadroTexto"/>
          <p:cNvSpPr txBox="1"/>
          <p:nvPr/>
        </p:nvSpPr>
        <p:spPr>
          <a:xfrm>
            <a:off x="3736975" y="2824163"/>
            <a:ext cx="1665288" cy="400050"/>
          </a:xfrm>
          <a:prstGeom prst="rect">
            <a:avLst/>
          </a:prstGeom>
          <a:noFill/>
        </p:spPr>
        <p:txBody>
          <a:bodyPr wrap="none">
            <a:spAutoFit/>
          </a:bodyPr>
          <a:lstStyle/>
          <a:p>
            <a:pPr>
              <a:defRPr/>
            </a:pPr>
            <a:r>
              <a:rPr lang="es-ES_tradnl" sz="2000" b="1" dirty="0" err="1">
                <a:solidFill>
                  <a:schemeClr val="accent6"/>
                </a:solidFill>
              </a:rPr>
              <a:t>Power</a:t>
            </a:r>
            <a:r>
              <a:rPr lang="es-ES_tradnl" sz="2000" b="1" dirty="0">
                <a:solidFill>
                  <a:schemeClr val="accent6"/>
                </a:solidFill>
              </a:rPr>
              <a:t> Point</a:t>
            </a:r>
            <a:endParaRPr lang="es-MX" sz="2000" b="1" dirty="0">
              <a:solidFill>
                <a:schemeClr val="accent6"/>
              </a:solidFill>
            </a:endParaRPr>
          </a:p>
        </p:txBody>
      </p:sp>
      <p:sp>
        <p:nvSpPr>
          <p:cNvPr id="13" name="12 CuadroTexto"/>
          <p:cNvSpPr txBox="1"/>
          <p:nvPr/>
        </p:nvSpPr>
        <p:spPr>
          <a:xfrm>
            <a:off x="3736975" y="3609975"/>
            <a:ext cx="2008188" cy="400050"/>
          </a:xfrm>
          <a:prstGeom prst="rect">
            <a:avLst/>
          </a:prstGeom>
          <a:noFill/>
        </p:spPr>
        <p:txBody>
          <a:bodyPr wrap="none">
            <a:spAutoFit/>
          </a:bodyPr>
          <a:lstStyle/>
          <a:p>
            <a:pPr>
              <a:defRPr/>
            </a:pPr>
            <a:r>
              <a:rPr lang="es-ES_tradnl" sz="2000" b="1" dirty="0">
                <a:solidFill>
                  <a:schemeClr val="accent1">
                    <a:lumMod val="60000"/>
                    <a:lumOff val="40000"/>
                  </a:schemeClr>
                </a:solidFill>
              </a:rPr>
              <a:t>Block de notas</a:t>
            </a:r>
            <a:endParaRPr lang="es-MX" sz="2000" b="1" dirty="0">
              <a:solidFill>
                <a:schemeClr val="accent1">
                  <a:lumMod val="60000"/>
                  <a:lumOff val="40000"/>
                </a:schemeClr>
              </a:solidFill>
            </a:endParaRPr>
          </a:p>
        </p:txBody>
      </p:sp>
      <p:sp>
        <p:nvSpPr>
          <p:cNvPr id="23567" name="13 CuadroTexto"/>
          <p:cNvSpPr txBox="1">
            <a:spLocks noChangeArrowheads="1"/>
          </p:cNvSpPr>
          <p:nvPr/>
        </p:nvSpPr>
        <p:spPr bwMode="auto">
          <a:xfrm rot="5400000">
            <a:off x="7407275" y="3030538"/>
            <a:ext cx="2478088" cy="461962"/>
          </a:xfrm>
          <a:prstGeom prst="rect">
            <a:avLst/>
          </a:prstGeom>
          <a:noFill/>
          <a:ln w="9525">
            <a:noFill/>
            <a:miter lim="800000"/>
            <a:headEnd/>
            <a:tailEnd/>
          </a:ln>
        </p:spPr>
        <p:txBody>
          <a:bodyPr wrap="none">
            <a:spAutoFit/>
          </a:bodyPr>
          <a:lstStyle/>
          <a:p>
            <a:r>
              <a:rPr lang="es-ES_tradnl" sz="2400" b="1">
                <a:solidFill>
                  <a:schemeClr val="accent1"/>
                </a:solidFill>
              </a:rPr>
              <a:t>Bases de Datos</a:t>
            </a:r>
            <a:endParaRPr lang="es-MX" sz="2400" b="1">
              <a:solidFill>
                <a:schemeClr val="accent1"/>
              </a:solidFill>
            </a:endParaRPr>
          </a:p>
        </p:txBody>
      </p:sp>
      <p:sp>
        <p:nvSpPr>
          <p:cNvPr id="16" name="15 CuadroTexto"/>
          <p:cNvSpPr txBox="1"/>
          <p:nvPr/>
        </p:nvSpPr>
        <p:spPr>
          <a:xfrm>
            <a:off x="3736975" y="4429125"/>
            <a:ext cx="2190750" cy="400050"/>
          </a:xfrm>
          <a:prstGeom prst="rect">
            <a:avLst/>
          </a:prstGeom>
          <a:noFill/>
        </p:spPr>
        <p:txBody>
          <a:bodyPr wrap="none">
            <a:spAutoFit/>
          </a:bodyPr>
          <a:lstStyle/>
          <a:p>
            <a:pPr>
              <a:defRPr/>
            </a:pPr>
            <a:r>
              <a:rPr lang="es-ES_tradnl" sz="2000" b="1" dirty="0" err="1">
                <a:solidFill>
                  <a:schemeClr val="accent3"/>
                </a:solidFill>
              </a:rPr>
              <a:t>Paint</a:t>
            </a:r>
            <a:r>
              <a:rPr lang="es-ES_tradnl" sz="2000" b="1" dirty="0">
                <a:solidFill>
                  <a:schemeClr val="accent3"/>
                </a:solidFill>
              </a:rPr>
              <a:t>, Corel, etc.</a:t>
            </a:r>
            <a:endParaRPr lang="es-MX" sz="2000" b="1" dirty="0">
              <a:solidFill>
                <a:schemeClr val="accent3"/>
              </a:solidFill>
            </a:endParaRPr>
          </a:p>
        </p:txBody>
      </p:sp>
      <p:sp>
        <p:nvSpPr>
          <p:cNvPr id="23571" name="17 CuadroTexto"/>
          <p:cNvSpPr txBox="1">
            <a:spLocks noChangeArrowheads="1"/>
          </p:cNvSpPr>
          <p:nvPr/>
        </p:nvSpPr>
        <p:spPr bwMode="auto">
          <a:xfrm>
            <a:off x="3736975" y="5386388"/>
            <a:ext cx="5149850" cy="400050"/>
          </a:xfrm>
          <a:prstGeom prst="rect">
            <a:avLst/>
          </a:prstGeom>
          <a:noFill/>
          <a:ln w="9525">
            <a:noFill/>
            <a:miter lim="800000"/>
            <a:headEnd/>
            <a:tailEnd/>
          </a:ln>
        </p:spPr>
        <p:txBody>
          <a:bodyPr wrap="none">
            <a:spAutoFit/>
          </a:bodyPr>
          <a:lstStyle/>
          <a:p>
            <a:r>
              <a:rPr lang="es-ES_tradnl" sz="2000" b="1">
                <a:solidFill>
                  <a:schemeClr val="accent2"/>
                </a:solidFill>
              </a:rPr>
              <a:t>Reproductor de Windows, Winamp, etc.</a:t>
            </a:r>
            <a:endParaRPr lang="es-MX" sz="2000" b="1">
              <a:solidFill>
                <a:schemeClr val="accent2"/>
              </a:solidFill>
            </a:endParaRPr>
          </a:p>
        </p:txBody>
      </p:sp>
      <p:sp>
        <p:nvSpPr>
          <p:cNvPr id="25614" name="18 CuadroTexto"/>
          <p:cNvSpPr txBox="1">
            <a:spLocks noChangeArrowheads="1"/>
          </p:cNvSpPr>
          <p:nvPr/>
        </p:nvSpPr>
        <p:spPr bwMode="auto">
          <a:xfrm>
            <a:off x="836613" y="1273175"/>
            <a:ext cx="1878012" cy="369888"/>
          </a:xfrm>
          <a:prstGeom prst="rect">
            <a:avLst/>
          </a:prstGeom>
          <a:noFill/>
          <a:ln w="9525">
            <a:noFill/>
            <a:miter lim="800000"/>
            <a:headEnd/>
            <a:tailEnd/>
          </a:ln>
        </p:spPr>
        <p:txBody>
          <a:bodyPr wrap="none">
            <a:spAutoFit/>
          </a:bodyPr>
          <a:lstStyle/>
          <a:p>
            <a:pPr algn="r"/>
            <a:r>
              <a:rPr lang="es-ES"/>
              <a:t>Hojas de cálculo</a:t>
            </a:r>
          </a:p>
        </p:txBody>
      </p:sp>
      <p:sp>
        <p:nvSpPr>
          <p:cNvPr id="25615" name="19 CuadroTexto"/>
          <p:cNvSpPr txBox="1">
            <a:spLocks noChangeArrowheads="1"/>
          </p:cNvSpPr>
          <p:nvPr/>
        </p:nvSpPr>
        <p:spPr bwMode="auto">
          <a:xfrm>
            <a:off x="1235075" y="2058988"/>
            <a:ext cx="1479550" cy="369887"/>
          </a:xfrm>
          <a:prstGeom prst="rect">
            <a:avLst/>
          </a:prstGeom>
          <a:noFill/>
          <a:ln w="9525">
            <a:noFill/>
            <a:miter lim="800000"/>
            <a:headEnd/>
            <a:tailEnd/>
          </a:ln>
        </p:spPr>
        <p:txBody>
          <a:bodyPr wrap="none">
            <a:spAutoFit/>
          </a:bodyPr>
          <a:lstStyle/>
          <a:p>
            <a:pPr algn="r"/>
            <a:r>
              <a:rPr lang="es-ES"/>
              <a:t>Documentos</a:t>
            </a:r>
          </a:p>
        </p:txBody>
      </p:sp>
      <p:sp>
        <p:nvSpPr>
          <p:cNvPr id="25616" name="20 CuadroTexto"/>
          <p:cNvSpPr txBox="1">
            <a:spLocks noChangeArrowheads="1"/>
          </p:cNvSpPr>
          <p:nvPr/>
        </p:nvSpPr>
        <p:spPr bwMode="auto">
          <a:xfrm>
            <a:off x="939800" y="2857500"/>
            <a:ext cx="1774825" cy="369888"/>
          </a:xfrm>
          <a:prstGeom prst="rect">
            <a:avLst/>
          </a:prstGeom>
          <a:noFill/>
          <a:ln w="9525">
            <a:noFill/>
            <a:miter lim="800000"/>
            <a:headEnd/>
            <a:tailEnd/>
          </a:ln>
        </p:spPr>
        <p:txBody>
          <a:bodyPr wrap="none">
            <a:spAutoFit/>
          </a:bodyPr>
          <a:lstStyle/>
          <a:p>
            <a:pPr algn="r"/>
            <a:r>
              <a:rPr lang="es-ES"/>
              <a:t>Presentaciones</a:t>
            </a:r>
          </a:p>
        </p:txBody>
      </p:sp>
      <p:sp>
        <p:nvSpPr>
          <p:cNvPr id="25617" name="20 CuadroTexto"/>
          <p:cNvSpPr txBox="1">
            <a:spLocks noChangeArrowheads="1"/>
          </p:cNvSpPr>
          <p:nvPr/>
        </p:nvSpPr>
        <p:spPr bwMode="auto">
          <a:xfrm>
            <a:off x="760413" y="3630613"/>
            <a:ext cx="1954212" cy="369887"/>
          </a:xfrm>
          <a:prstGeom prst="rect">
            <a:avLst/>
          </a:prstGeom>
          <a:noFill/>
          <a:ln w="9525">
            <a:noFill/>
            <a:miter lim="800000"/>
            <a:headEnd/>
            <a:tailEnd/>
          </a:ln>
        </p:spPr>
        <p:txBody>
          <a:bodyPr wrap="none">
            <a:spAutoFit/>
          </a:bodyPr>
          <a:lstStyle/>
          <a:p>
            <a:pPr algn="r"/>
            <a:r>
              <a:rPr lang="es-ES"/>
              <a:t>Archivos de texto</a:t>
            </a:r>
          </a:p>
        </p:txBody>
      </p:sp>
      <p:sp>
        <p:nvSpPr>
          <p:cNvPr id="25618" name="21 CuadroTexto"/>
          <p:cNvSpPr txBox="1">
            <a:spLocks noChangeArrowheads="1"/>
          </p:cNvSpPr>
          <p:nvPr/>
        </p:nvSpPr>
        <p:spPr bwMode="auto">
          <a:xfrm>
            <a:off x="863600" y="4429125"/>
            <a:ext cx="1851025" cy="369888"/>
          </a:xfrm>
          <a:prstGeom prst="rect">
            <a:avLst/>
          </a:prstGeom>
          <a:noFill/>
          <a:ln w="9525">
            <a:noFill/>
            <a:miter lim="800000"/>
            <a:headEnd/>
            <a:tailEnd/>
          </a:ln>
        </p:spPr>
        <p:txBody>
          <a:bodyPr wrap="none">
            <a:spAutoFit/>
          </a:bodyPr>
          <a:lstStyle/>
          <a:p>
            <a:pPr algn="r"/>
            <a:r>
              <a:rPr lang="es-ES"/>
              <a:t>Editar imágenes</a:t>
            </a:r>
          </a:p>
        </p:txBody>
      </p:sp>
      <p:sp>
        <p:nvSpPr>
          <p:cNvPr id="25619" name="22 CuadroTexto"/>
          <p:cNvSpPr txBox="1">
            <a:spLocks noChangeArrowheads="1"/>
          </p:cNvSpPr>
          <p:nvPr/>
        </p:nvSpPr>
        <p:spPr bwMode="auto">
          <a:xfrm>
            <a:off x="695325" y="5357813"/>
            <a:ext cx="2019300" cy="369887"/>
          </a:xfrm>
          <a:prstGeom prst="rect">
            <a:avLst/>
          </a:prstGeom>
          <a:noFill/>
          <a:ln w="9525">
            <a:noFill/>
            <a:miter lim="800000"/>
            <a:headEnd/>
            <a:tailEnd/>
          </a:ln>
        </p:spPr>
        <p:txBody>
          <a:bodyPr wrap="none">
            <a:spAutoFit/>
          </a:bodyPr>
          <a:lstStyle/>
          <a:p>
            <a:pPr algn="r"/>
            <a:r>
              <a:rPr lang="es-ES"/>
              <a:t>Archivos de audio</a:t>
            </a:r>
          </a:p>
        </p:txBody>
      </p:sp>
      <p:pic>
        <p:nvPicPr>
          <p:cNvPr id="24" name="Picture 2"/>
          <p:cNvPicPr>
            <a:picLocks noChangeAspect="1" noChangeArrowheads="1"/>
          </p:cNvPicPr>
          <p:nvPr/>
        </p:nvPicPr>
        <p:blipFill>
          <a:blip r:embed="rId2" cstate="print"/>
          <a:srcRect/>
          <a:stretch>
            <a:fillRect/>
          </a:stretch>
        </p:blipFill>
        <p:spPr bwMode="auto">
          <a:xfrm>
            <a:off x="3000364" y="1983415"/>
            <a:ext cx="651372" cy="616163"/>
          </a:xfrm>
          <a:prstGeom prst="rect">
            <a:avLst/>
          </a:prstGeom>
          <a:noFill/>
          <a:ln w="9525">
            <a:noFill/>
            <a:miter lim="800000"/>
            <a:headEnd/>
            <a:tailEnd/>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pic>
      <p:pic>
        <p:nvPicPr>
          <p:cNvPr id="25" name="Picture 4"/>
          <p:cNvPicPr>
            <a:picLocks noChangeAspect="1" noChangeArrowheads="1"/>
          </p:cNvPicPr>
          <p:nvPr/>
        </p:nvPicPr>
        <p:blipFill>
          <a:blip r:embed="rId3" cstate="print"/>
          <a:srcRect/>
          <a:stretch>
            <a:fillRect/>
          </a:stretch>
        </p:blipFill>
        <p:spPr bwMode="auto">
          <a:xfrm>
            <a:off x="3000364" y="2776859"/>
            <a:ext cx="651372" cy="599948"/>
          </a:xfrm>
          <a:prstGeom prst="rect">
            <a:avLst/>
          </a:prstGeom>
          <a:noFill/>
          <a:ln w="9525">
            <a:noFill/>
            <a:miter lim="800000"/>
            <a:headEnd/>
            <a:tailEnd/>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pic>
      <p:pic>
        <p:nvPicPr>
          <p:cNvPr id="26" name="Picture 5"/>
          <p:cNvPicPr>
            <a:picLocks noChangeAspect="1" noChangeArrowheads="1"/>
          </p:cNvPicPr>
          <p:nvPr/>
        </p:nvPicPr>
        <p:blipFill>
          <a:blip r:embed="rId4" cstate="print"/>
          <a:srcRect/>
          <a:stretch>
            <a:fillRect/>
          </a:stretch>
        </p:blipFill>
        <p:spPr bwMode="auto">
          <a:xfrm>
            <a:off x="3000364" y="1193771"/>
            <a:ext cx="651372" cy="651372"/>
          </a:xfrm>
          <a:prstGeom prst="rect">
            <a:avLst/>
          </a:prstGeom>
          <a:noFill/>
          <a:ln w="9525">
            <a:noFill/>
            <a:miter lim="800000"/>
            <a:headEnd/>
            <a:tailEnd/>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pic>
      <p:pic>
        <p:nvPicPr>
          <p:cNvPr id="27" name="Picture 6"/>
          <p:cNvPicPr>
            <a:picLocks noChangeAspect="1" noChangeArrowheads="1"/>
          </p:cNvPicPr>
          <p:nvPr/>
        </p:nvPicPr>
        <p:blipFill>
          <a:blip r:embed="rId5" cstate="print"/>
          <a:srcRect/>
          <a:stretch>
            <a:fillRect/>
          </a:stretch>
        </p:blipFill>
        <p:spPr bwMode="auto">
          <a:xfrm>
            <a:off x="3000364" y="3541742"/>
            <a:ext cx="651372" cy="669466"/>
          </a:xfrm>
          <a:prstGeom prst="rect">
            <a:avLst/>
          </a:prstGeom>
          <a:noFill/>
          <a:ln w="9525">
            <a:noFill/>
            <a:miter lim="800000"/>
            <a:headEnd/>
            <a:tailEnd/>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pic>
      <p:pic>
        <p:nvPicPr>
          <p:cNvPr id="28" name="Picture 17"/>
          <p:cNvPicPr>
            <a:picLocks noChangeArrowheads="1"/>
          </p:cNvPicPr>
          <p:nvPr/>
        </p:nvPicPr>
        <p:blipFill>
          <a:blip r:embed="rId6" cstate="print"/>
          <a:srcRect/>
          <a:stretch>
            <a:fillRect/>
          </a:stretch>
        </p:blipFill>
        <p:spPr bwMode="auto">
          <a:xfrm>
            <a:off x="3000364" y="4391029"/>
            <a:ext cx="651600" cy="669600"/>
          </a:xfrm>
          <a:prstGeom prst="rect">
            <a:avLst/>
          </a:prstGeom>
          <a:noFill/>
          <a:ln w="9525">
            <a:noFill/>
            <a:miter lim="800000"/>
            <a:headEnd/>
            <a:tailEnd/>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pic>
      <p:pic>
        <p:nvPicPr>
          <p:cNvPr id="29" name="Picture 18"/>
          <p:cNvPicPr>
            <a:picLocks noChangeArrowheads="1"/>
          </p:cNvPicPr>
          <p:nvPr/>
        </p:nvPicPr>
        <p:blipFill>
          <a:blip r:embed="rId7" cstate="print"/>
          <a:srcRect/>
          <a:stretch>
            <a:fillRect/>
          </a:stretch>
        </p:blipFill>
        <p:spPr bwMode="auto">
          <a:xfrm>
            <a:off x="3000364" y="5286388"/>
            <a:ext cx="651600" cy="669600"/>
          </a:xfrm>
          <a:prstGeom prst="rect">
            <a:avLst/>
          </a:prstGeom>
          <a:noFill/>
          <a:ln w="9525">
            <a:noFill/>
            <a:miter lim="800000"/>
            <a:headEnd/>
            <a:tailEnd/>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pic>
      <p:sp>
        <p:nvSpPr>
          <p:cNvPr id="30" name="29 CuadroTexto"/>
          <p:cNvSpPr txBox="1">
            <a:spLocks noChangeArrowheads="1"/>
          </p:cNvSpPr>
          <p:nvPr/>
        </p:nvSpPr>
        <p:spPr bwMode="auto">
          <a:xfrm>
            <a:off x="6572250" y="1071563"/>
            <a:ext cx="1320800" cy="1384300"/>
          </a:xfrm>
          <a:prstGeom prst="rect">
            <a:avLst/>
          </a:prstGeom>
          <a:noFill/>
          <a:ln w="9525">
            <a:noFill/>
            <a:miter lim="800000"/>
            <a:headEnd/>
            <a:tailEnd/>
          </a:ln>
        </p:spPr>
        <p:txBody>
          <a:bodyPr wrap="none">
            <a:spAutoFit/>
          </a:bodyPr>
          <a:lstStyle/>
          <a:p>
            <a:pPr algn="ctr"/>
            <a:r>
              <a:rPr lang="es-ES" sz="2800" b="1">
                <a:solidFill>
                  <a:schemeClr val="accent2"/>
                </a:solidFill>
              </a:rPr>
              <a:t>SGBD </a:t>
            </a:r>
          </a:p>
          <a:p>
            <a:pPr algn="ctr"/>
            <a:r>
              <a:rPr lang="es-ES" sz="2800" b="1">
                <a:solidFill>
                  <a:schemeClr val="accent2"/>
                </a:solidFill>
              </a:rPr>
              <a:t>ó </a:t>
            </a:r>
          </a:p>
          <a:p>
            <a:pPr algn="ctr"/>
            <a:r>
              <a:rPr lang="es-ES" sz="2800" b="1">
                <a:solidFill>
                  <a:schemeClr val="accent2"/>
                </a:solidFill>
              </a:rPr>
              <a:t>DBMS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1+#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additive="base">
                                        <p:cTn id="17" dur="500" fill="hold"/>
                                        <p:tgtEl>
                                          <p:spTgt spid="24"/>
                                        </p:tgtEl>
                                        <p:attrNameLst>
                                          <p:attrName>ppt_x</p:attrName>
                                        </p:attrNameLst>
                                      </p:cBhvr>
                                      <p:tavLst>
                                        <p:tav tm="0">
                                          <p:val>
                                            <p:strVal val="1+#ppt_w/2"/>
                                          </p:val>
                                        </p:tav>
                                        <p:tav tm="100000">
                                          <p:val>
                                            <p:strVal val="#ppt_x"/>
                                          </p:val>
                                        </p:tav>
                                      </p:tavLst>
                                    </p:anim>
                                    <p:anim calcmode="lin" valueType="num">
                                      <p:cBhvr additive="base">
                                        <p:cTn id="18" dur="500" fill="hold"/>
                                        <p:tgtEl>
                                          <p:spTgt spid="24"/>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23564"/>
                                        </p:tgtEl>
                                        <p:attrNameLst>
                                          <p:attrName>style.visibility</p:attrName>
                                        </p:attrNameLst>
                                      </p:cBhvr>
                                      <p:to>
                                        <p:strVal val="visible"/>
                                      </p:to>
                                    </p:set>
                                    <p:anim calcmode="lin" valueType="num">
                                      <p:cBhvr additive="base">
                                        <p:cTn id="21" dur="500" fill="hold"/>
                                        <p:tgtEl>
                                          <p:spTgt spid="23564"/>
                                        </p:tgtEl>
                                        <p:attrNameLst>
                                          <p:attrName>ppt_x</p:attrName>
                                        </p:attrNameLst>
                                      </p:cBhvr>
                                      <p:tavLst>
                                        <p:tav tm="0">
                                          <p:val>
                                            <p:strVal val="1+#ppt_w/2"/>
                                          </p:val>
                                        </p:tav>
                                        <p:tav tm="100000">
                                          <p:val>
                                            <p:strVal val="#ppt_x"/>
                                          </p:val>
                                        </p:tav>
                                      </p:tavLst>
                                    </p:anim>
                                    <p:anim calcmode="lin" valueType="num">
                                      <p:cBhvr additive="base">
                                        <p:cTn id="22" dur="500" fill="hold"/>
                                        <p:tgtEl>
                                          <p:spTgt spid="23564"/>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1+#ppt_w/2"/>
                                          </p:val>
                                        </p:tav>
                                        <p:tav tm="100000">
                                          <p:val>
                                            <p:strVal val="#ppt_x"/>
                                          </p:val>
                                        </p:tav>
                                      </p:tavLst>
                                    </p:anim>
                                    <p:anim calcmode="lin" valueType="num">
                                      <p:cBhvr additive="base">
                                        <p:cTn id="28" dur="500" fill="hold"/>
                                        <p:tgtEl>
                                          <p:spTgt spid="25"/>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1+#ppt_w/2"/>
                                          </p:val>
                                        </p:tav>
                                        <p:tav tm="100000">
                                          <p:val>
                                            <p:strVal val="#ppt_x"/>
                                          </p:val>
                                        </p:tav>
                                      </p:tavLst>
                                    </p:anim>
                                    <p:anim calcmode="lin" valueType="num">
                                      <p:cBhvr additive="base">
                                        <p:cTn id="32"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 calcmode="lin" valueType="num">
                                      <p:cBhvr additive="base">
                                        <p:cTn id="37" dur="500" fill="hold"/>
                                        <p:tgtEl>
                                          <p:spTgt spid="27"/>
                                        </p:tgtEl>
                                        <p:attrNameLst>
                                          <p:attrName>ppt_x</p:attrName>
                                        </p:attrNameLst>
                                      </p:cBhvr>
                                      <p:tavLst>
                                        <p:tav tm="0">
                                          <p:val>
                                            <p:strVal val="1+#ppt_w/2"/>
                                          </p:val>
                                        </p:tav>
                                        <p:tav tm="100000">
                                          <p:val>
                                            <p:strVal val="#ppt_x"/>
                                          </p:val>
                                        </p:tav>
                                      </p:tavLst>
                                    </p:anim>
                                    <p:anim calcmode="lin" valueType="num">
                                      <p:cBhvr additive="base">
                                        <p:cTn id="38" dur="500" fill="hold"/>
                                        <p:tgtEl>
                                          <p:spTgt spid="27"/>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1+#ppt_w/2"/>
                                          </p:val>
                                        </p:tav>
                                        <p:tav tm="100000">
                                          <p:val>
                                            <p:strVal val="#ppt_x"/>
                                          </p:val>
                                        </p:tav>
                                      </p:tavLst>
                                    </p:anim>
                                    <p:anim calcmode="lin" valueType="num">
                                      <p:cBhvr additive="base">
                                        <p:cTn id="42"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 calcmode="lin" valueType="num">
                                      <p:cBhvr additive="base">
                                        <p:cTn id="47" dur="500" fill="hold"/>
                                        <p:tgtEl>
                                          <p:spTgt spid="28"/>
                                        </p:tgtEl>
                                        <p:attrNameLst>
                                          <p:attrName>ppt_x</p:attrName>
                                        </p:attrNameLst>
                                      </p:cBhvr>
                                      <p:tavLst>
                                        <p:tav tm="0">
                                          <p:val>
                                            <p:strVal val="1+#ppt_w/2"/>
                                          </p:val>
                                        </p:tav>
                                        <p:tav tm="100000">
                                          <p:val>
                                            <p:strVal val="#ppt_x"/>
                                          </p:val>
                                        </p:tav>
                                      </p:tavLst>
                                    </p:anim>
                                    <p:anim calcmode="lin" valueType="num">
                                      <p:cBhvr additive="base">
                                        <p:cTn id="48" dur="500" fill="hold"/>
                                        <p:tgtEl>
                                          <p:spTgt spid="28"/>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00" fill="hold"/>
                                        <p:tgtEl>
                                          <p:spTgt spid="16"/>
                                        </p:tgtEl>
                                        <p:attrNameLst>
                                          <p:attrName>ppt_x</p:attrName>
                                        </p:attrNameLst>
                                      </p:cBhvr>
                                      <p:tavLst>
                                        <p:tav tm="0">
                                          <p:val>
                                            <p:strVal val="1+#ppt_w/2"/>
                                          </p:val>
                                        </p:tav>
                                        <p:tav tm="100000">
                                          <p:val>
                                            <p:strVal val="#ppt_x"/>
                                          </p:val>
                                        </p:tav>
                                      </p:tavLst>
                                    </p:anim>
                                    <p:anim calcmode="lin" valueType="num">
                                      <p:cBhvr additive="base">
                                        <p:cTn id="52"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nodeType="clickEffect">
                                  <p:stCondLst>
                                    <p:cond delay="0"/>
                                  </p:stCondLst>
                                  <p:childTnLst>
                                    <p:set>
                                      <p:cBhvr>
                                        <p:cTn id="56" dur="1" fill="hold">
                                          <p:stCondLst>
                                            <p:cond delay="0"/>
                                          </p:stCondLst>
                                        </p:cTn>
                                        <p:tgtEl>
                                          <p:spTgt spid="29"/>
                                        </p:tgtEl>
                                        <p:attrNameLst>
                                          <p:attrName>style.visibility</p:attrName>
                                        </p:attrNameLst>
                                      </p:cBhvr>
                                      <p:to>
                                        <p:strVal val="visible"/>
                                      </p:to>
                                    </p:set>
                                    <p:anim calcmode="lin" valueType="num">
                                      <p:cBhvr additive="base">
                                        <p:cTn id="57" dur="500" fill="hold"/>
                                        <p:tgtEl>
                                          <p:spTgt spid="29"/>
                                        </p:tgtEl>
                                        <p:attrNameLst>
                                          <p:attrName>ppt_x</p:attrName>
                                        </p:attrNameLst>
                                      </p:cBhvr>
                                      <p:tavLst>
                                        <p:tav tm="0">
                                          <p:val>
                                            <p:strVal val="1+#ppt_w/2"/>
                                          </p:val>
                                        </p:tav>
                                        <p:tav tm="100000">
                                          <p:val>
                                            <p:strVal val="#ppt_x"/>
                                          </p:val>
                                        </p:tav>
                                      </p:tavLst>
                                    </p:anim>
                                    <p:anim calcmode="lin" valueType="num">
                                      <p:cBhvr additive="base">
                                        <p:cTn id="58" dur="500" fill="hold"/>
                                        <p:tgtEl>
                                          <p:spTgt spid="29"/>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0"/>
                                  </p:stCondLst>
                                  <p:childTnLst>
                                    <p:set>
                                      <p:cBhvr>
                                        <p:cTn id="60" dur="1" fill="hold">
                                          <p:stCondLst>
                                            <p:cond delay="0"/>
                                          </p:stCondLst>
                                        </p:cTn>
                                        <p:tgtEl>
                                          <p:spTgt spid="23571"/>
                                        </p:tgtEl>
                                        <p:attrNameLst>
                                          <p:attrName>style.visibility</p:attrName>
                                        </p:attrNameLst>
                                      </p:cBhvr>
                                      <p:to>
                                        <p:strVal val="visible"/>
                                      </p:to>
                                    </p:set>
                                    <p:anim calcmode="lin" valueType="num">
                                      <p:cBhvr additive="base">
                                        <p:cTn id="61" dur="500" fill="hold"/>
                                        <p:tgtEl>
                                          <p:spTgt spid="23571"/>
                                        </p:tgtEl>
                                        <p:attrNameLst>
                                          <p:attrName>ppt_x</p:attrName>
                                        </p:attrNameLst>
                                      </p:cBhvr>
                                      <p:tavLst>
                                        <p:tav tm="0">
                                          <p:val>
                                            <p:strVal val="1+#ppt_w/2"/>
                                          </p:val>
                                        </p:tav>
                                        <p:tav tm="100000">
                                          <p:val>
                                            <p:strVal val="#ppt_x"/>
                                          </p:val>
                                        </p:tav>
                                      </p:tavLst>
                                    </p:anim>
                                    <p:anim calcmode="lin" valueType="num">
                                      <p:cBhvr additive="base">
                                        <p:cTn id="62" dur="500" fill="hold"/>
                                        <p:tgtEl>
                                          <p:spTgt spid="23571"/>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8"/>
                                        </p:tgtEl>
                                        <p:attrNameLst>
                                          <p:attrName>style.visibility</p:attrName>
                                        </p:attrNameLst>
                                      </p:cBhvr>
                                      <p:to>
                                        <p:strVal val="visible"/>
                                      </p:to>
                                    </p:set>
                                    <p:anim calcmode="lin" valueType="num">
                                      <p:cBhvr additive="base">
                                        <p:cTn id="67" dur="500" fill="hold"/>
                                        <p:tgtEl>
                                          <p:spTgt spid="8"/>
                                        </p:tgtEl>
                                        <p:attrNameLst>
                                          <p:attrName>ppt_x</p:attrName>
                                        </p:attrNameLst>
                                      </p:cBhvr>
                                      <p:tavLst>
                                        <p:tav tm="0">
                                          <p:val>
                                            <p:strVal val="#ppt_x"/>
                                          </p:val>
                                        </p:tav>
                                        <p:tav tm="100000">
                                          <p:val>
                                            <p:strVal val="#ppt_x"/>
                                          </p:val>
                                        </p:tav>
                                      </p:tavLst>
                                    </p:anim>
                                    <p:anim calcmode="lin" valueType="num">
                                      <p:cBhvr additive="base">
                                        <p:cTn id="68" dur="500" fill="hold"/>
                                        <p:tgtEl>
                                          <p:spTgt spid="8"/>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3567"/>
                                        </p:tgtEl>
                                        <p:attrNameLst>
                                          <p:attrName>style.visibility</p:attrName>
                                        </p:attrNameLst>
                                      </p:cBhvr>
                                      <p:to>
                                        <p:strVal val="visible"/>
                                      </p:to>
                                    </p:set>
                                    <p:anim calcmode="lin" valueType="num">
                                      <p:cBhvr additive="base">
                                        <p:cTn id="71" dur="500" fill="hold"/>
                                        <p:tgtEl>
                                          <p:spTgt spid="23567"/>
                                        </p:tgtEl>
                                        <p:attrNameLst>
                                          <p:attrName>ppt_x</p:attrName>
                                        </p:attrNameLst>
                                      </p:cBhvr>
                                      <p:tavLst>
                                        <p:tav tm="0">
                                          <p:val>
                                            <p:strVal val="#ppt_x"/>
                                          </p:val>
                                        </p:tav>
                                        <p:tav tm="100000">
                                          <p:val>
                                            <p:strVal val="#ppt_x"/>
                                          </p:val>
                                        </p:tav>
                                      </p:tavLst>
                                    </p:anim>
                                    <p:anim calcmode="lin" valueType="num">
                                      <p:cBhvr additive="base">
                                        <p:cTn id="72" dur="500" fill="hold"/>
                                        <p:tgtEl>
                                          <p:spTgt spid="23567"/>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1" fill="hold" grpId="0" nodeType="clickEffect">
                                  <p:stCondLst>
                                    <p:cond delay="0"/>
                                  </p:stCondLst>
                                  <p:childTnLst>
                                    <p:set>
                                      <p:cBhvr>
                                        <p:cTn id="76" dur="1" fill="hold">
                                          <p:stCondLst>
                                            <p:cond delay="0"/>
                                          </p:stCondLst>
                                        </p:cTn>
                                        <p:tgtEl>
                                          <p:spTgt spid="30"/>
                                        </p:tgtEl>
                                        <p:attrNameLst>
                                          <p:attrName>style.visibility</p:attrName>
                                        </p:attrNameLst>
                                      </p:cBhvr>
                                      <p:to>
                                        <p:strVal val="visible"/>
                                      </p:to>
                                    </p:set>
                                    <p:anim calcmode="lin" valueType="num">
                                      <p:cBhvr additive="base">
                                        <p:cTn id="77" dur="500" fill="hold"/>
                                        <p:tgtEl>
                                          <p:spTgt spid="30"/>
                                        </p:tgtEl>
                                        <p:attrNameLst>
                                          <p:attrName>ppt_x</p:attrName>
                                        </p:attrNameLst>
                                      </p:cBhvr>
                                      <p:tavLst>
                                        <p:tav tm="0">
                                          <p:val>
                                            <p:strVal val="#ppt_x"/>
                                          </p:val>
                                        </p:tav>
                                        <p:tav tm="100000">
                                          <p:val>
                                            <p:strVal val="#ppt_x"/>
                                          </p:val>
                                        </p:tav>
                                      </p:tavLst>
                                    </p:anim>
                                    <p:anim calcmode="lin" valueType="num">
                                      <p:cBhvr additive="base">
                                        <p:cTn id="78" dur="500" fill="hold"/>
                                        <p:tgtEl>
                                          <p:spTgt spid="3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3564" grpId="0"/>
      <p:bldP spid="12" grpId="0"/>
      <p:bldP spid="13" grpId="0"/>
      <p:bldP spid="23567" grpId="0"/>
      <p:bldP spid="16" grpId="0"/>
      <p:bldP spid="23571"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4 CuadroTexto"/>
          <p:cNvSpPr txBox="1">
            <a:spLocks noChangeArrowheads="1"/>
          </p:cNvSpPr>
          <p:nvPr/>
        </p:nvSpPr>
        <p:spPr bwMode="auto">
          <a:xfrm>
            <a:off x="214313" y="131763"/>
            <a:ext cx="7040562" cy="461962"/>
          </a:xfrm>
          <a:prstGeom prst="rect">
            <a:avLst/>
          </a:prstGeom>
          <a:noFill/>
          <a:ln w="9525">
            <a:noFill/>
            <a:miter lim="800000"/>
            <a:headEnd/>
            <a:tailEnd/>
          </a:ln>
        </p:spPr>
        <p:txBody>
          <a:bodyPr wrap="none">
            <a:spAutoFit/>
          </a:bodyPr>
          <a:lstStyle/>
          <a:p>
            <a:pPr marL="342900" indent="-342900"/>
            <a:r>
              <a:rPr lang="es-ES_tradnl" sz="2400" b="1"/>
              <a:t>¿Qué es un Sistema Gestor de Base de Datos?</a:t>
            </a:r>
            <a:endParaRPr lang="es-MX" sz="2400" b="1"/>
          </a:p>
        </p:txBody>
      </p:sp>
      <p:sp>
        <p:nvSpPr>
          <p:cNvPr id="26627" name="19 Rectángulo"/>
          <p:cNvSpPr>
            <a:spLocks noChangeArrowheads="1"/>
          </p:cNvSpPr>
          <p:nvPr/>
        </p:nvSpPr>
        <p:spPr bwMode="auto">
          <a:xfrm>
            <a:off x="1285875" y="1893888"/>
            <a:ext cx="6929438" cy="2678112"/>
          </a:xfrm>
          <a:prstGeom prst="rect">
            <a:avLst/>
          </a:prstGeom>
          <a:noFill/>
          <a:ln w="9525">
            <a:noFill/>
            <a:miter lim="800000"/>
            <a:headEnd/>
            <a:tailEnd/>
          </a:ln>
        </p:spPr>
        <p:txBody>
          <a:bodyPr>
            <a:spAutoFit/>
          </a:bodyPr>
          <a:lstStyle/>
          <a:p>
            <a:pPr algn="just"/>
            <a:r>
              <a:rPr lang="es-ES" sz="2400"/>
              <a:t>Sistema Gestor de Bases de Datos (SGBD). Es un software que proporciona servicios para la </a:t>
            </a:r>
            <a:r>
              <a:rPr lang="es-ES" sz="2400" b="1">
                <a:solidFill>
                  <a:schemeClr val="accent2"/>
                </a:solidFill>
              </a:rPr>
              <a:t>creación</a:t>
            </a:r>
            <a:r>
              <a:rPr lang="es-ES" sz="2400"/>
              <a:t>, el </a:t>
            </a:r>
            <a:r>
              <a:rPr lang="es-ES" sz="2400" b="1">
                <a:solidFill>
                  <a:schemeClr val="accent2"/>
                </a:solidFill>
              </a:rPr>
              <a:t>almacenamiento</a:t>
            </a:r>
            <a:r>
              <a:rPr lang="es-ES" sz="2400"/>
              <a:t>, el </a:t>
            </a:r>
            <a:r>
              <a:rPr lang="es-ES" sz="2400" b="1">
                <a:solidFill>
                  <a:schemeClr val="accent2"/>
                </a:solidFill>
              </a:rPr>
              <a:t>procesamiento</a:t>
            </a:r>
            <a:r>
              <a:rPr lang="es-ES" sz="2400"/>
              <a:t> y la </a:t>
            </a:r>
            <a:r>
              <a:rPr lang="es-ES" sz="2400" b="1">
                <a:solidFill>
                  <a:schemeClr val="accent2"/>
                </a:solidFill>
              </a:rPr>
              <a:t>consulta</a:t>
            </a:r>
            <a:r>
              <a:rPr lang="es-ES" sz="2400"/>
              <a:t> de la información almacenada en base de datos de forma segura y eficiente.  Un SGBD actúa como un intermediario entre las aplicaciones y los datos.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4 CuadroTexto"/>
          <p:cNvSpPr txBox="1">
            <a:spLocks noChangeArrowheads="1"/>
          </p:cNvSpPr>
          <p:nvPr/>
        </p:nvSpPr>
        <p:spPr bwMode="auto">
          <a:xfrm>
            <a:off x="214313" y="131763"/>
            <a:ext cx="7996237" cy="461962"/>
          </a:xfrm>
          <a:prstGeom prst="rect">
            <a:avLst/>
          </a:prstGeom>
          <a:noFill/>
          <a:ln w="9525">
            <a:noFill/>
            <a:miter lim="800000"/>
            <a:headEnd/>
            <a:tailEnd/>
          </a:ln>
        </p:spPr>
        <p:txBody>
          <a:bodyPr wrap="none">
            <a:spAutoFit/>
          </a:bodyPr>
          <a:lstStyle/>
          <a:p>
            <a:pPr marL="342900" indent="-342900"/>
            <a:r>
              <a:rPr lang="es-ES_tradnl" sz="2400" b="1"/>
              <a:t>¿Funciones de un Sistema Gestor de Base de Datos?</a:t>
            </a:r>
            <a:endParaRPr lang="es-MX" sz="2400" b="1"/>
          </a:p>
        </p:txBody>
      </p:sp>
      <p:sp>
        <p:nvSpPr>
          <p:cNvPr id="5" name="4 Rectángulo"/>
          <p:cNvSpPr>
            <a:spLocks noChangeArrowheads="1"/>
          </p:cNvSpPr>
          <p:nvPr/>
        </p:nvSpPr>
        <p:spPr bwMode="auto">
          <a:xfrm>
            <a:off x="642938" y="928688"/>
            <a:ext cx="7858125" cy="4708525"/>
          </a:xfrm>
          <a:prstGeom prst="rect">
            <a:avLst/>
          </a:prstGeom>
          <a:noFill/>
          <a:ln w="9525">
            <a:noFill/>
            <a:miter lim="800000"/>
            <a:headEnd/>
            <a:tailEnd/>
          </a:ln>
        </p:spPr>
        <p:txBody>
          <a:bodyPr>
            <a:spAutoFit/>
          </a:bodyPr>
          <a:lstStyle/>
          <a:p>
            <a:pPr algn="just"/>
            <a:r>
              <a:rPr lang="es-ES" sz="2000"/>
              <a:t>Los SGBD pueden considerarse como intermediarios entre las aplicaciones y la representación de los datos. Así, los desarrolladores ven los datos desde una perspectiva de más alto nivel. Esa perspectiva es la del </a:t>
            </a:r>
            <a:r>
              <a:rPr lang="es-ES" sz="2000" b="1">
                <a:solidFill>
                  <a:schemeClr val="accent2"/>
                </a:solidFill>
              </a:rPr>
              <a:t>modelo de bases </a:t>
            </a:r>
            <a:r>
              <a:rPr lang="es-ES" sz="2000"/>
              <a:t>de datos utilizado.</a:t>
            </a:r>
          </a:p>
          <a:p>
            <a:pPr algn="just"/>
            <a:endParaRPr lang="es-ES" sz="2000"/>
          </a:p>
          <a:p>
            <a:pPr algn="just"/>
            <a:r>
              <a:rPr lang="es-ES" sz="2000"/>
              <a:t>Proporcionar </a:t>
            </a:r>
            <a:r>
              <a:rPr lang="es-ES" sz="2000" b="1">
                <a:solidFill>
                  <a:schemeClr val="accent2"/>
                </a:solidFill>
              </a:rPr>
              <a:t>independencia de los datos y las aplicaciones</a:t>
            </a:r>
            <a:r>
              <a:rPr lang="es-ES" sz="2000"/>
              <a:t>. Así, se puede diseñar la base de datos incluso antes que las aplicaciones, y ese diseño permitirá que se desarrollen múltiples aplicaciones posteriormente.</a:t>
            </a:r>
          </a:p>
          <a:p>
            <a:pPr algn="just"/>
            <a:endParaRPr lang="es-ES" sz="2000"/>
          </a:p>
          <a:p>
            <a:pPr algn="just"/>
            <a:r>
              <a:rPr lang="es-ES" sz="2000" b="1">
                <a:solidFill>
                  <a:schemeClr val="accent2"/>
                </a:solidFill>
              </a:rPr>
              <a:t>Niveles</a:t>
            </a:r>
            <a:r>
              <a:rPr lang="es-ES" sz="2000"/>
              <a:t>:</a:t>
            </a:r>
          </a:p>
          <a:p>
            <a:pPr lvl="1" algn="just">
              <a:buFont typeface="Arial" charset="0"/>
              <a:buChar char="•"/>
            </a:pPr>
            <a:r>
              <a:rPr lang="es-ES" sz="2000"/>
              <a:t>Físico</a:t>
            </a:r>
          </a:p>
          <a:p>
            <a:pPr lvl="1" algn="just">
              <a:buFont typeface="Arial" charset="0"/>
              <a:buChar char="•"/>
            </a:pPr>
            <a:r>
              <a:rPr lang="es-ES" sz="2000"/>
              <a:t>Lógico</a:t>
            </a:r>
          </a:p>
          <a:p>
            <a:pPr lvl="1" algn="just">
              <a:buFont typeface="Arial" charset="0"/>
              <a:buChar char="•"/>
            </a:pPr>
            <a:r>
              <a:rPr lang="es-ES" sz="2000"/>
              <a:t>Vistas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4 CuadroTexto"/>
          <p:cNvSpPr txBox="1">
            <a:spLocks noChangeArrowheads="1"/>
          </p:cNvSpPr>
          <p:nvPr/>
        </p:nvSpPr>
        <p:spPr bwMode="auto">
          <a:xfrm>
            <a:off x="214313" y="131763"/>
            <a:ext cx="7996237" cy="461962"/>
          </a:xfrm>
          <a:prstGeom prst="rect">
            <a:avLst/>
          </a:prstGeom>
          <a:noFill/>
          <a:ln w="9525">
            <a:noFill/>
            <a:miter lim="800000"/>
            <a:headEnd/>
            <a:tailEnd/>
          </a:ln>
        </p:spPr>
        <p:txBody>
          <a:bodyPr wrap="none">
            <a:spAutoFit/>
          </a:bodyPr>
          <a:lstStyle/>
          <a:p>
            <a:pPr marL="342900" indent="-342900"/>
            <a:r>
              <a:rPr lang="es-ES_tradnl" sz="2400" b="1"/>
              <a:t>¿Funciones de un Sistema Gestor de Base de Datos?</a:t>
            </a:r>
            <a:endParaRPr lang="es-MX" sz="2400" b="1"/>
          </a:p>
        </p:txBody>
      </p:sp>
      <p:sp>
        <p:nvSpPr>
          <p:cNvPr id="8" name="7 Rectángulo"/>
          <p:cNvSpPr>
            <a:spLocks noChangeArrowheads="1"/>
          </p:cNvSpPr>
          <p:nvPr/>
        </p:nvSpPr>
        <p:spPr bwMode="auto">
          <a:xfrm>
            <a:off x="357188" y="857250"/>
            <a:ext cx="3857625" cy="5016500"/>
          </a:xfrm>
          <a:prstGeom prst="rect">
            <a:avLst/>
          </a:prstGeom>
          <a:noFill/>
          <a:ln w="9525">
            <a:noFill/>
            <a:miter lim="800000"/>
            <a:headEnd/>
            <a:tailEnd/>
          </a:ln>
        </p:spPr>
        <p:txBody>
          <a:bodyPr>
            <a:spAutoFit/>
          </a:bodyPr>
          <a:lstStyle/>
          <a:p>
            <a:pPr algn="just"/>
            <a:r>
              <a:rPr lang="es-ES" sz="2000" b="1">
                <a:solidFill>
                  <a:schemeClr val="accent2"/>
                </a:solidFill>
              </a:rPr>
              <a:t>Restricciones</a:t>
            </a:r>
            <a:r>
              <a:rPr lang="es-ES" sz="2000"/>
              <a:t>:</a:t>
            </a:r>
          </a:p>
          <a:p>
            <a:pPr lvl="1" algn="just">
              <a:buFont typeface="Arial" charset="0"/>
              <a:buChar char="•"/>
            </a:pPr>
            <a:r>
              <a:rPr lang="es-ES" sz="2000"/>
              <a:t>Unicidad</a:t>
            </a:r>
          </a:p>
          <a:p>
            <a:pPr lvl="1" algn="just">
              <a:buFont typeface="Arial" charset="0"/>
              <a:buChar char="•"/>
            </a:pPr>
            <a:r>
              <a:rPr lang="es-ES" sz="2000"/>
              <a:t>Valores nulos</a:t>
            </a:r>
          </a:p>
          <a:p>
            <a:pPr lvl="1" algn="just">
              <a:buFont typeface="Arial" charset="0"/>
              <a:buChar char="•"/>
            </a:pPr>
            <a:r>
              <a:rPr lang="es-ES" sz="2000"/>
              <a:t>Tipo de dato almacenado</a:t>
            </a:r>
          </a:p>
          <a:p>
            <a:pPr lvl="1" algn="just">
              <a:buFont typeface="Arial" charset="0"/>
              <a:buChar char="•"/>
            </a:pPr>
            <a:r>
              <a:rPr lang="es-ES" sz="2000"/>
              <a:t>Tamaño</a:t>
            </a:r>
          </a:p>
          <a:p>
            <a:pPr algn="just"/>
            <a:endParaRPr lang="es-ES" sz="2000" b="1">
              <a:solidFill>
                <a:schemeClr val="accent2"/>
              </a:solidFill>
            </a:endParaRPr>
          </a:p>
          <a:p>
            <a:pPr algn="just"/>
            <a:r>
              <a:rPr lang="es-ES" sz="2000" b="1">
                <a:solidFill>
                  <a:schemeClr val="accent2"/>
                </a:solidFill>
              </a:rPr>
              <a:t>Mecanismos de recuperación</a:t>
            </a:r>
          </a:p>
          <a:p>
            <a:pPr lvl="1" algn="just">
              <a:buFont typeface="Arial" charset="0"/>
              <a:buChar char="•"/>
            </a:pPr>
            <a:r>
              <a:rPr lang="es-ES" sz="2000"/>
              <a:t>Transacciones</a:t>
            </a:r>
          </a:p>
          <a:p>
            <a:pPr algn="just"/>
            <a:endParaRPr lang="es-ES" sz="2000" b="1">
              <a:solidFill>
                <a:schemeClr val="accent2"/>
              </a:solidFill>
            </a:endParaRPr>
          </a:p>
          <a:p>
            <a:pPr algn="just"/>
            <a:r>
              <a:rPr lang="es-ES" sz="2000" b="1">
                <a:solidFill>
                  <a:schemeClr val="accent2"/>
                </a:solidFill>
              </a:rPr>
              <a:t>Control de concurrencia</a:t>
            </a:r>
          </a:p>
          <a:p>
            <a:pPr lvl="1" algn="just">
              <a:buFont typeface="Arial" charset="0"/>
              <a:buChar char="•"/>
            </a:pPr>
            <a:r>
              <a:rPr lang="es-ES" sz="2000"/>
              <a:t>Bloqueo</a:t>
            </a:r>
          </a:p>
          <a:p>
            <a:pPr lvl="1" algn="just">
              <a:buFont typeface="Arial" charset="0"/>
              <a:buChar char="•"/>
            </a:pPr>
            <a:r>
              <a:rPr lang="es-ES" sz="2000"/>
              <a:t>Serialización</a:t>
            </a:r>
          </a:p>
          <a:p>
            <a:pPr algn="just"/>
            <a:endParaRPr lang="es-ES" sz="2000"/>
          </a:p>
          <a:p>
            <a:pPr algn="just"/>
            <a:r>
              <a:rPr lang="es-ES" sz="2000" b="1">
                <a:solidFill>
                  <a:schemeClr val="accent2"/>
                </a:solidFill>
              </a:rPr>
              <a:t>Control de acceso</a:t>
            </a:r>
          </a:p>
          <a:p>
            <a:pPr lvl="1" algn="just">
              <a:buFont typeface="Arial" charset="0"/>
              <a:buChar char="•"/>
            </a:pPr>
            <a:r>
              <a:rPr lang="es-ES" sz="2000"/>
              <a:t>Usuarios</a:t>
            </a:r>
          </a:p>
          <a:p>
            <a:pPr lvl="1" algn="just">
              <a:buFont typeface="Arial" charset="0"/>
              <a:buChar char="•"/>
            </a:pPr>
            <a:r>
              <a:rPr lang="es-ES" sz="2000"/>
              <a:t>Privilegios</a:t>
            </a:r>
          </a:p>
        </p:txBody>
      </p:sp>
      <p:sp>
        <p:nvSpPr>
          <p:cNvPr id="10" name="9 Rectángulo"/>
          <p:cNvSpPr>
            <a:spLocks noChangeArrowheads="1"/>
          </p:cNvSpPr>
          <p:nvPr/>
        </p:nvSpPr>
        <p:spPr bwMode="auto">
          <a:xfrm>
            <a:off x="5000625" y="857250"/>
            <a:ext cx="3857625" cy="1631950"/>
          </a:xfrm>
          <a:prstGeom prst="rect">
            <a:avLst/>
          </a:prstGeom>
          <a:noFill/>
          <a:ln w="9525">
            <a:noFill/>
            <a:miter lim="800000"/>
            <a:headEnd/>
            <a:tailEnd/>
          </a:ln>
        </p:spPr>
        <p:txBody>
          <a:bodyPr>
            <a:spAutoFit/>
          </a:bodyPr>
          <a:lstStyle/>
          <a:p>
            <a:pPr algn="just"/>
            <a:r>
              <a:rPr lang="es-ES" sz="2000" b="1">
                <a:solidFill>
                  <a:schemeClr val="accent2"/>
                </a:solidFill>
              </a:rPr>
              <a:t>Otras funciones</a:t>
            </a:r>
            <a:endParaRPr lang="es-ES" sz="2000"/>
          </a:p>
          <a:p>
            <a:pPr lvl="1" algn="just">
              <a:buFont typeface="Arial" charset="0"/>
              <a:buChar char="•"/>
            </a:pPr>
            <a:r>
              <a:rPr lang="es-ES" sz="2000"/>
              <a:t>Backup</a:t>
            </a:r>
          </a:p>
          <a:p>
            <a:pPr lvl="1" algn="just">
              <a:buFont typeface="Arial" charset="0"/>
              <a:buChar char="•"/>
            </a:pPr>
            <a:r>
              <a:rPr lang="es-ES" sz="2000"/>
              <a:t>Compresión de datos</a:t>
            </a:r>
          </a:p>
          <a:p>
            <a:pPr lvl="1" algn="just">
              <a:buFont typeface="Arial" charset="0"/>
              <a:buChar char="•"/>
            </a:pPr>
            <a:r>
              <a:rPr lang="es-ES" sz="2000"/>
              <a:t>Importar datos</a:t>
            </a:r>
          </a:p>
          <a:p>
            <a:pPr lvl="1" algn="just">
              <a:buFont typeface="Arial" charset="0"/>
              <a:buChar char="•"/>
            </a:pPr>
            <a:r>
              <a:rPr lang="es-ES" sz="2000"/>
              <a:t>Exportar datos</a:t>
            </a:r>
          </a:p>
        </p:txBody>
      </p:sp>
      <p:sp>
        <p:nvSpPr>
          <p:cNvPr id="11" name="10 Rectángulo"/>
          <p:cNvSpPr>
            <a:spLocks noChangeArrowheads="1"/>
          </p:cNvSpPr>
          <p:nvPr/>
        </p:nvSpPr>
        <p:spPr bwMode="auto">
          <a:xfrm>
            <a:off x="5072063" y="3214688"/>
            <a:ext cx="3500437" cy="2370137"/>
          </a:xfrm>
          <a:prstGeom prst="rect">
            <a:avLst/>
          </a:prstGeom>
          <a:noFill/>
          <a:ln w="9525">
            <a:noFill/>
            <a:miter lim="800000"/>
            <a:headEnd/>
            <a:tailEnd/>
          </a:ln>
        </p:spPr>
        <p:txBody>
          <a:bodyPr>
            <a:spAutoFit/>
          </a:bodyPr>
          <a:lstStyle/>
          <a:p>
            <a:pPr algn="ctr"/>
            <a:r>
              <a:rPr lang="es-ES" sz="3200" b="1">
                <a:solidFill>
                  <a:schemeClr val="accent2"/>
                </a:solidFill>
              </a:rPr>
              <a:t>LO QUE NO HACE UN SGBD</a:t>
            </a:r>
          </a:p>
          <a:p>
            <a:pPr algn="just"/>
            <a:endParaRPr lang="es-ES" sz="2800" b="1">
              <a:solidFill>
                <a:schemeClr val="accent2"/>
              </a:solidFill>
            </a:endParaRPr>
          </a:p>
          <a:p>
            <a:pPr algn="ctr"/>
            <a:r>
              <a:rPr lang="es-ES" sz="2800" i="1"/>
              <a:t>Un buen diseño de la base de datos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xEl>
                                              <p:pRg st="14" end="1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
                                            <p:txEl>
                                              <p:pRg st="15" end="1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5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770" decel="100000"/>
                                        <p:tgtEl>
                                          <p:spTgt spid="11"/>
                                        </p:tgtEl>
                                      </p:cBhvr>
                                    </p:animEffect>
                                    <p:animScale>
                                      <p:cBhvr>
                                        <p:cTn id="46" dur="770" decel="100000"/>
                                        <p:tgtEl>
                                          <p:spTgt spid="11"/>
                                        </p:tgtEl>
                                      </p:cBhvr>
                                      <p:from x="10000" y="10000"/>
                                      <p:to x="200000" y="450000"/>
                                    </p:animScale>
                                    <p:animScale>
                                      <p:cBhvr>
                                        <p:cTn id="47" dur="1230" accel="100000" fill="hold">
                                          <p:stCondLst>
                                            <p:cond delay="770"/>
                                          </p:stCondLst>
                                        </p:cTn>
                                        <p:tgtEl>
                                          <p:spTgt spid="11"/>
                                        </p:tgtEl>
                                      </p:cBhvr>
                                      <p:from x="200000" y="450000"/>
                                      <p:to x="100000" y="100000"/>
                                    </p:animScale>
                                    <p:set>
                                      <p:cBhvr>
                                        <p:cTn id="48" dur="770" fill="hold"/>
                                        <p:tgtEl>
                                          <p:spTgt spid="11"/>
                                        </p:tgtEl>
                                        <p:attrNameLst>
                                          <p:attrName>ppt_x</p:attrName>
                                        </p:attrNameLst>
                                      </p:cBhvr>
                                      <p:to>
                                        <p:strVal val="(0.5)"/>
                                      </p:to>
                                    </p:set>
                                    <p:anim from="(0.5)" to="(#ppt_x)" calcmode="lin" valueType="num">
                                      <p:cBhvr>
                                        <p:cTn id="49" dur="1230" accel="100000" fill="hold">
                                          <p:stCondLst>
                                            <p:cond delay="770"/>
                                          </p:stCondLst>
                                        </p:cTn>
                                        <p:tgtEl>
                                          <p:spTgt spid="11"/>
                                        </p:tgtEl>
                                        <p:attrNameLst>
                                          <p:attrName>ppt_x</p:attrName>
                                        </p:attrNameLst>
                                      </p:cBhvr>
                                    </p:anim>
                                    <p:set>
                                      <p:cBhvr>
                                        <p:cTn id="50" dur="770" fill="hold"/>
                                        <p:tgtEl>
                                          <p:spTgt spid="11"/>
                                        </p:tgtEl>
                                        <p:attrNameLst>
                                          <p:attrName>ppt_y</p:attrName>
                                        </p:attrNameLst>
                                      </p:cBhvr>
                                      <p:to>
                                        <p:strVal val="(#ppt_y+0.4)"/>
                                      </p:to>
                                    </p:set>
                                    <p:anim from="(#ppt_y+0.4)" to="(#ppt_y)" calcmode="lin" valueType="num">
                                      <p:cBhvr>
                                        <p:cTn id="51" dur="1230" accel="100000" fill="hold">
                                          <p:stCondLst>
                                            <p:cond delay="770"/>
                                          </p:stCondLst>
                                        </p:cTn>
                                        <p:tgtEl>
                                          <p:spTgt spid="11"/>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0"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4 CuadroTexto"/>
          <p:cNvSpPr txBox="1">
            <a:spLocks noChangeArrowheads="1"/>
          </p:cNvSpPr>
          <p:nvPr/>
        </p:nvSpPr>
        <p:spPr bwMode="auto">
          <a:xfrm>
            <a:off x="214313" y="142875"/>
            <a:ext cx="7418387" cy="461963"/>
          </a:xfrm>
          <a:prstGeom prst="rect">
            <a:avLst/>
          </a:prstGeom>
          <a:noFill/>
          <a:ln w="9525">
            <a:noFill/>
            <a:miter lim="800000"/>
            <a:headEnd/>
            <a:tailEnd/>
          </a:ln>
        </p:spPr>
        <p:txBody>
          <a:bodyPr wrap="none">
            <a:spAutoFit/>
          </a:bodyPr>
          <a:lstStyle/>
          <a:p>
            <a:pPr marL="342900" indent="-342900"/>
            <a:r>
              <a:rPr lang="es-ES_tradnl" sz="2400" b="1"/>
              <a:t>Actores en un Sistema Gestor de Base de Datos</a:t>
            </a:r>
            <a:endParaRPr lang="es-MX" sz="2400" b="1"/>
          </a:p>
        </p:txBody>
      </p:sp>
      <p:sp>
        <p:nvSpPr>
          <p:cNvPr id="29699" name="2 Rectángulo"/>
          <p:cNvSpPr>
            <a:spLocks noChangeArrowheads="1"/>
          </p:cNvSpPr>
          <p:nvPr/>
        </p:nvSpPr>
        <p:spPr bwMode="auto">
          <a:xfrm>
            <a:off x="214313" y="1143000"/>
            <a:ext cx="8643937" cy="4246563"/>
          </a:xfrm>
          <a:prstGeom prst="rect">
            <a:avLst/>
          </a:prstGeom>
          <a:noFill/>
          <a:ln w="9525">
            <a:noFill/>
            <a:miter lim="800000"/>
            <a:headEnd/>
            <a:tailEnd/>
          </a:ln>
        </p:spPr>
        <p:txBody>
          <a:bodyPr>
            <a:spAutoFit/>
          </a:bodyPr>
          <a:lstStyle/>
          <a:p>
            <a:pPr algn="just"/>
            <a:r>
              <a:rPr lang="es-ES" b="1"/>
              <a:t>El gestor de la base de datos</a:t>
            </a:r>
            <a:r>
              <a:rPr lang="es-ES"/>
              <a:t> </a:t>
            </a:r>
          </a:p>
          <a:p>
            <a:pPr algn="just"/>
            <a:br>
              <a:rPr lang="es-ES"/>
            </a:br>
            <a:r>
              <a:rPr lang="es-ES"/>
              <a:t>Se trata de un conjunto de programas no visibles al usuario final que se encargan de la privacidad, la integridad, la seguridad de los datos y la interacción con el sistema operativo. Proporciona una interfaz entre los datos, los programas que los manejan y los usuarios finales.</a:t>
            </a:r>
          </a:p>
          <a:p>
            <a:pPr algn="just"/>
            <a:r>
              <a:rPr lang="es-ES"/>
              <a:t> </a:t>
            </a:r>
            <a:br>
              <a:rPr lang="es-ES"/>
            </a:br>
            <a:r>
              <a:rPr lang="es-ES"/>
              <a:t>Cualquier operación que el usuario hace contra la base de datos está controlada por el gestor.</a:t>
            </a:r>
          </a:p>
          <a:p>
            <a:pPr algn="just"/>
            <a:r>
              <a:rPr lang="es-ES"/>
              <a:t> </a:t>
            </a:r>
            <a:br>
              <a:rPr lang="es-ES"/>
            </a:br>
            <a:r>
              <a:rPr lang="es-ES"/>
              <a:t>El gestor almacena una descripción de datos en lo que llamamos diccionario de datos, así como los usuarios permitidos y los permisos.</a:t>
            </a:r>
          </a:p>
          <a:p>
            <a:pPr algn="just"/>
            <a:r>
              <a:rPr lang="es-ES"/>
              <a:t> </a:t>
            </a:r>
            <a:br>
              <a:rPr lang="es-ES"/>
            </a:br>
            <a:r>
              <a:rPr lang="es-ES"/>
              <a:t>Tiene que haber un usuario administrador encargado de centralizar todas estas tareas.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4 CuadroTexto"/>
          <p:cNvSpPr txBox="1">
            <a:spLocks noChangeArrowheads="1"/>
          </p:cNvSpPr>
          <p:nvPr/>
        </p:nvSpPr>
        <p:spPr bwMode="auto">
          <a:xfrm>
            <a:off x="214313" y="131763"/>
            <a:ext cx="7418387" cy="461962"/>
          </a:xfrm>
          <a:prstGeom prst="rect">
            <a:avLst/>
          </a:prstGeom>
          <a:noFill/>
          <a:ln w="9525">
            <a:noFill/>
            <a:miter lim="800000"/>
            <a:headEnd/>
            <a:tailEnd/>
          </a:ln>
        </p:spPr>
        <p:txBody>
          <a:bodyPr wrap="none">
            <a:spAutoFit/>
          </a:bodyPr>
          <a:lstStyle/>
          <a:p>
            <a:pPr marL="342900" indent="-342900"/>
            <a:r>
              <a:rPr lang="es-ES_tradnl" sz="2400" b="1"/>
              <a:t>Actores en un Sistema Gestor de Base de Datos</a:t>
            </a:r>
            <a:endParaRPr lang="es-MX" sz="2400" b="1"/>
          </a:p>
        </p:txBody>
      </p:sp>
      <p:sp>
        <p:nvSpPr>
          <p:cNvPr id="30723" name="2 Rectángulo"/>
          <p:cNvSpPr>
            <a:spLocks noChangeArrowheads="1"/>
          </p:cNvSpPr>
          <p:nvPr/>
        </p:nvSpPr>
        <p:spPr bwMode="auto">
          <a:xfrm>
            <a:off x="714375" y="1860550"/>
            <a:ext cx="7715250" cy="3140075"/>
          </a:xfrm>
          <a:prstGeom prst="rect">
            <a:avLst/>
          </a:prstGeom>
          <a:noFill/>
          <a:ln w="9525">
            <a:noFill/>
            <a:miter lim="800000"/>
            <a:headEnd/>
            <a:tailEnd/>
          </a:ln>
        </p:spPr>
        <p:txBody>
          <a:bodyPr>
            <a:spAutoFit/>
          </a:bodyPr>
          <a:lstStyle/>
          <a:p>
            <a:pPr algn="just"/>
            <a:r>
              <a:rPr lang="es-ES" b="1"/>
              <a:t>Diccionario de datos</a:t>
            </a:r>
            <a:r>
              <a:rPr lang="es-ES"/>
              <a:t> </a:t>
            </a:r>
          </a:p>
          <a:p>
            <a:pPr algn="just"/>
            <a:br>
              <a:rPr lang="es-ES"/>
            </a:br>
            <a:r>
              <a:rPr lang="es-ES"/>
              <a:t>Es una base de datos donde se guardan todas las propiedades de la base de datos, descripción de la estructura, relaciones entre los datos, etc. </a:t>
            </a:r>
            <a:br>
              <a:rPr lang="es-ES"/>
            </a:br>
            <a:r>
              <a:rPr lang="es-ES"/>
              <a:t>El diccionario debe contener: </a:t>
            </a:r>
          </a:p>
          <a:p>
            <a:pPr algn="just"/>
            <a:endParaRPr lang="es-ES"/>
          </a:p>
          <a:p>
            <a:pPr lvl="2" indent="-457200" algn="just">
              <a:buFont typeface="Arial" charset="0"/>
              <a:buChar char="•"/>
            </a:pPr>
            <a:r>
              <a:rPr lang="es-ES"/>
              <a:t>La descripción externa, conceptual e interna de la base de datos </a:t>
            </a:r>
          </a:p>
          <a:p>
            <a:pPr lvl="2" indent="-457200" algn="just">
              <a:buFont typeface="Arial" charset="0"/>
              <a:buChar char="•"/>
            </a:pPr>
            <a:r>
              <a:rPr lang="es-ES"/>
              <a:t>Las restricciones sobre los datos </a:t>
            </a:r>
          </a:p>
          <a:p>
            <a:pPr lvl="2" indent="-457200" algn="just">
              <a:buFont typeface="Arial" charset="0"/>
              <a:buChar char="•"/>
            </a:pPr>
            <a:r>
              <a:rPr lang="es-ES"/>
              <a:t>El acceso a los datos </a:t>
            </a:r>
          </a:p>
          <a:p>
            <a:pPr lvl="2" indent="-457200" algn="just">
              <a:buFont typeface="Arial" charset="0"/>
              <a:buChar char="•"/>
            </a:pPr>
            <a:r>
              <a:rPr lang="es-ES"/>
              <a:t>Las descripciones de las cuentas de usuario </a:t>
            </a:r>
          </a:p>
          <a:p>
            <a:pPr lvl="2" indent="-457200" algn="just">
              <a:buFont typeface="Arial" charset="0"/>
              <a:buChar char="•"/>
            </a:pPr>
            <a:r>
              <a:rPr lang="es-ES"/>
              <a:t>Los permisos de los usuarios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1 Rectángulo"/>
          <p:cNvSpPr>
            <a:spLocks noChangeArrowheads="1"/>
          </p:cNvSpPr>
          <p:nvPr/>
        </p:nvSpPr>
        <p:spPr bwMode="auto">
          <a:xfrm>
            <a:off x="1143000" y="1931988"/>
            <a:ext cx="7215188" cy="3140075"/>
          </a:xfrm>
          <a:prstGeom prst="rect">
            <a:avLst/>
          </a:prstGeom>
          <a:noFill/>
          <a:ln w="9525">
            <a:noFill/>
            <a:miter lim="800000"/>
            <a:headEnd/>
            <a:tailEnd/>
          </a:ln>
        </p:spPr>
        <p:txBody>
          <a:bodyPr>
            <a:spAutoFit/>
          </a:bodyPr>
          <a:lstStyle/>
          <a:p>
            <a:r>
              <a:rPr lang="es-MX" b="1"/>
              <a:t>Usuarios</a:t>
            </a:r>
            <a:r>
              <a:rPr lang="en-US" b="1"/>
              <a:t> de los SGBD</a:t>
            </a:r>
          </a:p>
          <a:p>
            <a:endParaRPr lang="en-US"/>
          </a:p>
          <a:p>
            <a:pPr marL="1016000" lvl="1" indent="-457200">
              <a:lnSpc>
                <a:spcPct val="150000"/>
              </a:lnSpc>
              <a:buFont typeface="Arial" charset="0"/>
              <a:buChar char="•"/>
            </a:pPr>
            <a:r>
              <a:rPr lang="es-MX"/>
              <a:t>Usuarios de la categoría </a:t>
            </a:r>
            <a:r>
              <a:rPr lang="es-MX" b="1">
                <a:solidFill>
                  <a:schemeClr val="accent2"/>
                </a:solidFill>
              </a:rPr>
              <a:t>DBA</a:t>
            </a:r>
            <a:r>
              <a:rPr lang="es-MX"/>
              <a:t> (administradores)</a:t>
            </a:r>
          </a:p>
          <a:p>
            <a:pPr marL="1016000" lvl="1" indent="-457200">
              <a:lnSpc>
                <a:spcPct val="150000"/>
              </a:lnSpc>
              <a:buFont typeface="Arial" charset="0"/>
              <a:buChar char="•"/>
            </a:pPr>
            <a:r>
              <a:rPr lang="es-MX"/>
              <a:t>Usuarios de tipo </a:t>
            </a:r>
            <a:r>
              <a:rPr lang="es-MX" b="1">
                <a:solidFill>
                  <a:schemeClr val="accent2"/>
                </a:solidFill>
              </a:rPr>
              <a:t>RESOURCE</a:t>
            </a:r>
            <a:r>
              <a:rPr lang="es-MX"/>
              <a:t>, que pueden crear sus propios objetos y tener acceso a los objetos sobre los que se les ha concedido permisos.</a:t>
            </a:r>
          </a:p>
          <a:p>
            <a:pPr marL="1016000" lvl="1" indent="-457200">
              <a:lnSpc>
                <a:spcPct val="150000"/>
              </a:lnSpc>
              <a:buFont typeface="Arial" charset="0"/>
              <a:buChar char="•"/>
            </a:pPr>
            <a:r>
              <a:rPr lang="es-MX"/>
              <a:t>Usuarios de tipo </a:t>
            </a:r>
            <a:r>
              <a:rPr lang="es-MX" b="1">
                <a:solidFill>
                  <a:schemeClr val="accent2"/>
                </a:solidFill>
              </a:rPr>
              <a:t>CONNECT</a:t>
            </a:r>
            <a:r>
              <a:rPr lang="es-MX"/>
              <a:t>, que solamente pueden utilizar los objetos a los que se les ha concedido permiso</a:t>
            </a:r>
          </a:p>
        </p:txBody>
      </p:sp>
      <p:sp>
        <p:nvSpPr>
          <p:cNvPr id="31747" name="4 CuadroTexto"/>
          <p:cNvSpPr txBox="1">
            <a:spLocks noChangeArrowheads="1"/>
          </p:cNvSpPr>
          <p:nvPr/>
        </p:nvSpPr>
        <p:spPr bwMode="auto">
          <a:xfrm>
            <a:off x="214313" y="131763"/>
            <a:ext cx="7418387" cy="461962"/>
          </a:xfrm>
          <a:prstGeom prst="rect">
            <a:avLst/>
          </a:prstGeom>
          <a:noFill/>
          <a:ln w="9525">
            <a:noFill/>
            <a:miter lim="800000"/>
            <a:headEnd/>
            <a:tailEnd/>
          </a:ln>
        </p:spPr>
        <p:txBody>
          <a:bodyPr wrap="none">
            <a:spAutoFit/>
          </a:bodyPr>
          <a:lstStyle/>
          <a:p>
            <a:pPr marL="342900" indent="-342900"/>
            <a:r>
              <a:rPr lang="es-ES_tradnl" sz="2400" b="1"/>
              <a:t>Actores en un Sistema Gestor de Base de Datos</a:t>
            </a:r>
            <a:endParaRPr lang="es-MX" sz="2400"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4 CuadroTexto"/>
          <p:cNvSpPr txBox="1">
            <a:spLocks noChangeArrowheads="1"/>
          </p:cNvSpPr>
          <p:nvPr/>
        </p:nvSpPr>
        <p:spPr bwMode="auto">
          <a:xfrm>
            <a:off x="214313" y="131763"/>
            <a:ext cx="7418387" cy="461962"/>
          </a:xfrm>
          <a:prstGeom prst="rect">
            <a:avLst/>
          </a:prstGeom>
          <a:noFill/>
          <a:ln w="9525">
            <a:noFill/>
            <a:miter lim="800000"/>
            <a:headEnd/>
            <a:tailEnd/>
          </a:ln>
        </p:spPr>
        <p:txBody>
          <a:bodyPr wrap="none">
            <a:spAutoFit/>
          </a:bodyPr>
          <a:lstStyle/>
          <a:p>
            <a:pPr marL="342900" indent="-342900"/>
            <a:r>
              <a:rPr lang="es-ES_tradnl" sz="2400" b="1"/>
              <a:t>Actores en un Sistema Gestor de Base de Datos</a:t>
            </a:r>
            <a:endParaRPr lang="es-MX" sz="2400" b="1"/>
          </a:p>
        </p:txBody>
      </p:sp>
      <p:sp>
        <p:nvSpPr>
          <p:cNvPr id="32771" name="2 Rectángulo"/>
          <p:cNvSpPr>
            <a:spLocks noChangeArrowheads="1"/>
          </p:cNvSpPr>
          <p:nvPr/>
        </p:nvSpPr>
        <p:spPr bwMode="auto">
          <a:xfrm>
            <a:off x="785813" y="1665288"/>
            <a:ext cx="7786687" cy="3692525"/>
          </a:xfrm>
          <a:prstGeom prst="rect">
            <a:avLst/>
          </a:prstGeom>
          <a:noFill/>
          <a:ln w="9525">
            <a:noFill/>
            <a:miter lim="800000"/>
            <a:headEnd/>
            <a:tailEnd/>
          </a:ln>
        </p:spPr>
        <p:txBody>
          <a:bodyPr>
            <a:spAutoFit/>
          </a:bodyPr>
          <a:lstStyle/>
          <a:p>
            <a:pPr algn="just"/>
            <a:r>
              <a:rPr lang="es-ES" b="1"/>
              <a:t>El administrador de la base de datos (</a:t>
            </a:r>
            <a:r>
              <a:rPr lang="es-ES" b="1">
                <a:solidFill>
                  <a:schemeClr val="accent2"/>
                </a:solidFill>
              </a:rPr>
              <a:t>DBA</a:t>
            </a:r>
            <a:r>
              <a:rPr lang="es-ES" b="1"/>
              <a:t>)</a:t>
            </a:r>
            <a:r>
              <a:rPr lang="es-ES"/>
              <a:t> </a:t>
            </a:r>
          </a:p>
          <a:p>
            <a:pPr algn="just"/>
            <a:br>
              <a:rPr lang="es-ES"/>
            </a:br>
            <a:r>
              <a:rPr lang="es-ES"/>
              <a:t>Es una persona responsable del control del sistema gestor de base de datos.</a:t>
            </a:r>
          </a:p>
          <a:p>
            <a:pPr algn="just"/>
            <a:r>
              <a:rPr lang="es-ES"/>
              <a:t> </a:t>
            </a:r>
            <a:br>
              <a:rPr lang="es-ES"/>
            </a:br>
            <a:r>
              <a:rPr lang="es-ES"/>
              <a:t>Las </a:t>
            </a:r>
            <a:r>
              <a:rPr lang="es-ES" b="1">
                <a:solidFill>
                  <a:schemeClr val="accent2"/>
                </a:solidFill>
              </a:rPr>
              <a:t>principales</a:t>
            </a:r>
            <a:r>
              <a:rPr lang="es-ES"/>
              <a:t> </a:t>
            </a:r>
            <a:r>
              <a:rPr lang="es-ES" b="1">
                <a:solidFill>
                  <a:schemeClr val="accent2"/>
                </a:solidFill>
              </a:rPr>
              <a:t>tareas</a:t>
            </a:r>
            <a:r>
              <a:rPr lang="es-ES"/>
              <a:t> de un </a:t>
            </a:r>
            <a:r>
              <a:rPr lang="es-ES" b="1">
                <a:solidFill>
                  <a:schemeClr val="accent2"/>
                </a:solidFill>
              </a:rPr>
              <a:t>DBA</a:t>
            </a:r>
            <a:r>
              <a:rPr lang="es-ES"/>
              <a:t> son: </a:t>
            </a:r>
          </a:p>
          <a:p>
            <a:pPr algn="just"/>
            <a:endParaRPr lang="es-ES"/>
          </a:p>
          <a:p>
            <a:pPr lvl="2" indent="-457200" algn="just">
              <a:buFont typeface="Arial" charset="0"/>
              <a:buChar char="•"/>
            </a:pPr>
            <a:r>
              <a:rPr lang="es-ES"/>
              <a:t>La definición del esquema lógico y físico de la base de datos </a:t>
            </a:r>
          </a:p>
          <a:p>
            <a:pPr lvl="2" indent="-457200" algn="just">
              <a:buFont typeface="Arial" charset="0"/>
              <a:buChar char="•"/>
            </a:pPr>
            <a:r>
              <a:rPr lang="es-ES"/>
              <a:t>La definición de las vistas de usuario </a:t>
            </a:r>
          </a:p>
          <a:p>
            <a:pPr lvl="2" indent="-457200" algn="just">
              <a:buFont typeface="Arial" charset="0"/>
              <a:buChar char="•"/>
            </a:pPr>
            <a:r>
              <a:rPr lang="es-ES"/>
              <a:t>La creación de usuarios</a:t>
            </a:r>
          </a:p>
          <a:p>
            <a:pPr lvl="2" indent="-457200" algn="just">
              <a:buFont typeface="Arial" charset="0"/>
              <a:buChar char="•"/>
            </a:pPr>
            <a:r>
              <a:rPr lang="es-ES"/>
              <a:t>La asignación y edición de permisos para los usuarios </a:t>
            </a:r>
          </a:p>
          <a:p>
            <a:pPr lvl="2" indent="-457200" algn="just">
              <a:buFont typeface="Arial" charset="0"/>
              <a:buChar char="•"/>
            </a:pPr>
            <a:r>
              <a:rPr lang="es-ES"/>
              <a:t>Mantenimiento y seguimiento de la seguridad en la base de datos </a:t>
            </a:r>
          </a:p>
          <a:p>
            <a:pPr lvl="2" indent="-457200" algn="just">
              <a:buFont typeface="Arial" charset="0"/>
              <a:buChar char="•"/>
            </a:pPr>
            <a:r>
              <a:rPr lang="es-ES"/>
              <a:t>Mantenimiento general del sistema gestor de base de datos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71500" y="1304925"/>
            <a:ext cx="7858125" cy="3694113"/>
          </a:xfrm>
          <a:prstGeom prst="rect">
            <a:avLst/>
          </a:prstGeom>
        </p:spPr>
        <p:txBody>
          <a:bodyPr>
            <a:spAutoFit/>
          </a:bodyPr>
          <a:lstStyle/>
          <a:p>
            <a:pPr algn="just">
              <a:defRPr/>
            </a:pPr>
            <a:r>
              <a:rPr lang="es-ES" b="1" dirty="0"/>
              <a:t>Los lenguajes</a:t>
            </a:r>
            <a:r>
              <a:rPr lang="es-ES" dirty="0"/>
              <a:t> </a:t>
            </a:r>
          </a:p>
          <a:p>
            <a:pPr algn="just">
              <a:defRPr/>
            </a:pPr>
            <a:br>
              <a:rPr lang="es-ES" dirty="0"/>
            </a:br>
            <a:r>
              <a:rPr lang="es-ES" dirty="0"/>
              <a:t>Un sistema gestor de base de datos debe proporcionar una serie de lenguajes para la definición y manipulación de la base de datos. Estos lenguajes son los siguientes: </a:t>
            </a:r>
          </a:p>
          <a:p>
            <a:pPr algn="just">
              <a:defRPr/>
            </a:pPr>
            <a:endParaRPr lang="es-ES" dirty="0"/>
          </a:p>
          <a:p>
            <a:pPr algn="just">
              <a:defRPr/>
            </a:pPr>
            <a:endParaRPr lang="es-ES" dirty="0"/>
          </a:p>
          <a:p>
            <a:pPr marL="360000" indent="-360000" algn="just">
              <a:buFont typeface="Arial" pitchFamily="34" charset="0"/>
              <a:buChar char="•"/>
              <a:defRPr/>
            </a:pPr>
            <a:r>
              <a:rPr lang="es-ES" dirty="0"/>
              <a:t>Lenguaje de definición de datos (</a:t>
            </a:r>
            <a:r>
              <a:rPr lang="es-ES" b="1" dirty="0">
                <a:solidFill>
                  <a:schemeClr val="accent2"/>
                </a:solidFill>
              </a:rPr>
              <a:t>DDL</a:t>
            </a:r>
            <a:r>
              <a:rPr lang="es-ES" dirty="0"/>
              <a:t>). Para definir los esquemas de la base de datos </a:t>
            </a:r>
          </a:p>
          <a:p>
            <a:pPr marL="360000" indent="-360000" algn="just">
              <a:buFont typeface="Arial" pitchFamily="34" charset="0"/>
              <a:buChar char="•"/>
              <a:defRPr/>
            </a:pPr>
            <a:r>
              <a:rPr lang="es-ES" dirty="0"/>
              <a:t>Lenguaje de manipulación de datos (</a:t>
            </a:r>
            <a:r>
              <a:rPr lang="es-ES" b="1" dirty="0">
                <a:solidFill>
                  <a:schemeClr val="accent2"/>
                </a:solidFill>
              </a:rPr>
              <a:t>DML</a:t>
            </a:r>
            <a:r>
              <a:rPr lang="es-ES" dirty="0"/>
              <a:t>). Para manipular los datos de la base de datos </a:t>
            </a:r>
          </a:p>
          <a:p>
            <a:pPr marL="360000" indent="-360000" algn="just">
              <a:buFont typeface="Arial" pitchFamily="34" charset="0"/>
              <a:buChar char="•"/>
              <a:defRPr/>
            </a:pPr>
            <a:r>
              <a:rPr lang="es-ES" dirty="0"/>
              <a:t>Lenguaje de control de datos (</a:t>
            </a:r>
            <a:r>
              <a:rPr lang="es-ES" b="1" dirty="0">
                <a:solidFill>
                  <a:schemeClr val="accent2"/>
                </a:solidFill>
              </a:rPr>
              <a:t>DCL</a:t>
            </a:r>
            <a:r>
              <a:rPr lang="es-ES" dirty="0"/>
              <a:t>). Para la administración de usuarios y seguridad en la base de datos. </a:t>
            </a:r>
          </a:p>
        </p:txBody>
      </p:sp>
      <p:sp>
        <p:nvSpPr>
          <p:cNvPr id="33795" name="4 CuadroTexto"/>
          <p:cNvSpPr txBox="1">
            <a:spLocks noChangeArrowheads="1"/>
          </p:cNvSpPr>
          <p:nvPr/>
        </p:nvSpPr>
        <p:spPr bwMode="auto">
          <a:xfrm>
            <a:off x="214313" y="131763"/>
            <a:ext cx="7418387" cy="461962"/>
          </a:xfrm>
          <a:prstGeom prst="rect">
            <a:avLst/>
          </a:prstGeom>
          <a:noFill/>
          <a:ln w="9525">
            <a:noFill/>
            <a:miter lim="800000"/>
            <a:headEnd/>
            <a:tailEnd/>
          </a:ln>
        </p:spPr>
        <p:txBody>
          <a:bodyPr wrap="none">
            <a:spAutoFit/>
          </a:bodyPr>
          <a:lstStyle/>
          <a:p>
            <a:pPr marL="342900" indent="-342900"/>
            <a:r>
              <a:rPr lang="es-ES_tradnl" sz="2400" b="1"/>
              <a:t>Actores en un Sistema Gestor de Base de Datos</a:t>
            </a:r>
            <a:endParaRPr lang="es-MX" sz="2400"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4 CuadroTexto"/>
          <p:cNvSpPr txBox="1">
            <a:spLocks noChangeArrowheads="1"/>
          </p:cNvSpPr>
          <p:nvPr/>
        </p:nvSpPr>
        <p:spPr bwMode="auto">
          <a:xfrm>
            <a:off x="214313" y="131763"/>
            <a:ext cx="8408987" cy="461962"/>
          </a:xfrm>
          <a:prstGeom prst="rect">
            <a:avLst/>
          </a:prstGeom>
          <a:noFill/>
          <a:ln w="9525">
            <a:noFill/>
            <a:miter lim="800000"/>
            <a:headEnd/>
            <a:tailEnd/>
          </a:ln>
        </p:spPr>
        <p:txBody>
          <a:bodyPr wrap="none">
            <a:spAutoFit/>
          </a:bodyPr>
          <a:lstStyle/>
          <a:p>
            <a:pPr marL="342900" indent="-342900"/>
            <a:r>
              <a:rPr lang="es-ES_tradnl" sz="2400" b="1"/>
              <a:t>Ventajas de utilizar un Sistema Gestor de Base de Datos</a:t>
            </a:r>
            <a:endParaRPr lang="es-MX" sz="2400" b="1"/>
          </a:p>
        </p:txBody>
      </p:sp>
      <p:sp>
        <p:nvSpPr>
          <p:cNvPr id="34819" name="2 CuadroTexto"/>
          <p:cNvSpPr txBox="1">
            <a:spLocks noChangeArrowheads="1"/>
          </p:cNvSpPr>
          <p:nvPr/>
        </p:nvSpPr>
        <p:spPr bwMode="auto">
          <a:xfrm>
            <a:off x="1258888" y="1928813"/>
            <a:ext cx="6172200" cy="2563812"/>
          </a:xfrm>
          <a:prstGeom prst="rect">
            <a:avLst/>
          </a:prstGeom>
          <a:noFill/>
          <a:ln w="9525">
            <a:noFill/>
            <a:miter lim="800000"/>
            <a:headEnd/>
            <a:tailEnd/>
          </a:ln>
        </p:spPr>
        <p:txBody>
          <a:bodyPr>
            <a:spAutoFit/>
          </a:bodyPr>
          <a:lstStyle/>
          <a:p>
            <a:pPr marL="342900" indent="-342900">
              <a:buFont typeface="Lucida Sans Unicode" pitchFamily="34" charset="0"/>
              <a:buAutoNum type="arabicPeriod"/>
            </a:pPr>
            <a:r>
              <a:rPr lang="es-ES"/>
              <a:t>Seguridad de los datos</a:t>
            </a:r>
          </a:p>
          <a:p>
            <a:pPr marL="342900" indent="-342900">
              <a:buFont typeface="Lucida Sans Unicode" pitchFamily="34" charset="0"/>
              <a:buAutoNum type="arabicPeriod"/>
            </a:pPr>
            <a:r>
              <a:rPr lang="es-ES"/>
              <a:t>Control o manipulación de datos</a:t>
            </a:r>
          </a:p>
          <a:p>
            <a:pPr marL="342900" indent="-342900">
              <a:buFont typeface="Lucida Sans Unicode" pitchFamily="34" charset="0"/>
              <a:buAutoNum type="arabicPeriod"/>
            </a:pPr>
            <a:r>
              <a:rPr lang="es-ES"/>
              <a:t>Actualización de los datos en línea</a:t>
            </a:r>
          </a:p>
          <a:p>
            <a:pPr marL="342900" indent="-342900">
              <a:buFont typeface="Lucida Sans Unicode" pitchFamily="34" charset="0"/>
              <a:buAutoNum type="arabicPeriod"/>
            </a:pPr>
            <a:r>
              <a:rPr lang="es-ES"/>
              <a:t>Reducción de tiempos</a:t>
            </a:r>
          </a:p>
          <a:p>
            <a:pPr marL="342900" indent="-342900">
              <a:buFont typeface="Lucida Sans Unicode" pitchFamily="34" charset="0"/>
              <a:buAutoNum type="arabicPeriod"/>
            </a:pPr>
            <a:r>
              <a:rPr lang="es-ES"/>
              <a:t>Mantener organización coherente de los datos</a:t>
            </a:r>
          </a:p>
          <a:p>
            <a:pPr marL="342900" indent="-342900">
              <a:buFont typeface="Lucida Sans Unicode" pitchFamily="34" charset="0"/>
              <a:buAutoNum type="arabicPeriod"/>
            </a:pPr>
            <a:r>
              <a:rPr lang="es-ES"/>
              <a:t>Simplificación del trabajo</a:t>
            </a:r>
          </a:p>
          <a:p>
            <a:pPr marL="342900" indent="-342900">
              <a:buFont typeface="Lucida Sans Unicode" pitchFamily="34" charset="0"/>
              <a:buAutoNum type="arabicPeriod"/>
            </a:pPr>
            <a:r>
              <a:rPr lang="es-ES"/>
              <a:t>Generación de informes a partir de los datos</a:t>
            </a:r>
          </a:p>
          <a:p>
            <a:pPr marL="342900" indent="-342900">
              <a:buFont typeface="Lucida Sans Unicode" pitchFamily="34" charset="0"/>
              <a:buAutoNum type="arabicPeriod"/>
            </a:pPr>
            <a:r>
              <a:rPr lang="es-ES"/>
              <a:t>Accesos concurrentes a las BD</a:t>
            </a:r>
          </a:p>
          <a:p>
            <a:pPr marL="342900" indent="-342900">
              <a:buFont typeface="Lucida Sans Unicode" pitchFamily="34" charset="0"/>
              <a:buNone/>
            </a:pPr>
            <a:endParaRPr lang="es-E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mhtml:file://C:\_IsabelMayo2009\CLASES%20TIC\100509\pagina%20completa%202\2_4_%20Sistemas%20de%20gestión%20de%20bases%20de%20datos.mht!http://tramullas.com/documatica/2-2.gif"/>
          <p:cNvPicPr>
            <a:picLocks noChangeAspect="1" noChangeArrowheads="1"/>
          </p:cNvPicPr>
          <p:nvPr/>
        </p:nvPicPr>
        <p:blipFill>
          <a:blip r:embed="rId2" cstate="print"/>
          <a:srcRect/>
          <a:stretch>
            <a:fillRect/>
          </a:stretch>
        </p:blipFill>
        <p:spPr bwMode="auto">
          <a:xfrm>
            <a:off x="1714500" y="901700"/>
            <a:ext cx="6715125" cy="5099050"/>
          </a:xfrm>
          <a:prstGeom prst="rect">
            <a:avLst/>
          </a:prstGeom>
          <a:noFill/>
          <a:ln w="9525">
            <a:noFill/>
            <a:miter lim="800000"/>
            <a:headEnd/>
            <a:tailEnd/>
          </a:ln>
        </p:spPr>
      </p:pic>
      <p:sp>
        <p:nvSpPr>
          <p:cNvPr id="35843" name="4 CuadroTexto"/>
          <p:cNvSpPr txBox="1">
            <a:spLocks noChangeArrowheads="1"/>
          </p:cNvSpPr>
          <p:nvPr/>
        </p:nvSpPr>
        <p:spPr bwMode="auto">
          <a:xfrm>
            <a:off x="214313" y="131763"/>
            <a:ext cx="8836025" cy="461962"/>
          </a:xfrm>
          <a:prstGeom prst="rect">
            <a:avLst/>
          </a:prstGeom>
          <a:noFill/>
          <a:ln w="9525">
            <a:noFill/>
            <a:miter lim="800000"/>
            <a:headEnd/>
            <a:tailEnd/>
          </a:ln>
        </p:spPr>
        <p:txBody>
          <a:bodyPr wrap="none">
            <a:spAutoFit/>
          </a:bodyPr>
          <a:lstStyle/>
          <a:p>
            <a:pPr marL="342900" indent="-342900"/>
            <a:r>
              <a:rPr lang="es-ES_tradnl" sz="2400" b="1"/>
              <a:t>Estructura Global de un Sistema Gestor de Bases de Datos</a:t>
            </a:r>
            <a:endParaRPr lang="es-MX" sz="2400"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1 Rectángulo"/>
          <p:cNvSpPr>
            <a:spLocks noChangeArrowheads="1"/>
          </p:cNvSpPr>
          <p:nvPr/>
        </p:nvSpPr>
        <p:spPr bwMode="auto">
          <a:xfrm>
            <a:off x="785813" y="1571625"/>
            <a:ext cx="7786687" cy="3832225"/>
          </a:xfrm>
          <a:prstGeom prst="rect">
            <a:avLst/>
          </a:prstGeom>
          <a:noFill/>
          <a:ln w="9525">
            <a:noFill/>
            <a:miter lim="800000"/>
            <a:headEnd/>
            <a:tailEnd/>
          </a:ln>
        </p:spPr>
        <p:txBody>
          <a:bodyPr>
            <a:spAutoFit/>
          </a:bodyPr>
          <a:lstStyle/>
          <a:p>
            <a:pPr marL="342900" indent="-342900">
              <a:lnSpc>
                <a:spcPct val="150000"/>
              </a:lnSpc>
              <a:buFont typeface="Lucida Sans Unicode" pitchFamily="34" charset="0"/>
              <a:buAutoNum type="arabicPeriod"/>
            </a:pPr>
            <a:r>
              <a:rPr lang="es-ES"/>
              <a:t>Petición de la aplicación del usuario.</a:t>
            </a:r>
          </a:p>
          <a:p>
            <a:pPr marL="342900" indent="-342900">
              <a:lnSpc>
                <a:spcPct val="150000"/>
              </a:lnSpc>
              <a:buFont typeface="Lucida Sans Unicode" pitchFamily="34" charset="0"/>
              <a:buAutoNum type="arabicPeriod"/>
            </a:pPr>
            <a:r>
              <a:rPr lang="es-ES"/>
              <a:t>Examen de la petición en el marco del esquema externo del usuario.</a:t>
            </a:r>
          </a:p>
          <a:p>
            <a:pPr marL="342900" indent="-342900">
              <a:lnSpc>
                <a:spcPct val="150000"/>
              </a:lnSpc>
              <a:buFont typeface="Lucida Sans Unicode" pitchFamily="34" charset="0"/>
              <a:buAutoNum type="arabicPeriod"/>
            </a:pPr>
            <a:r>
              <a:rPr lang="es-ES"/>
              <a:t>Transformación del esquema externo al conceptual (lógico).</a:t>
            </a:r>
          </a:p>
          <a:p>
            <a:pPr marL="342900" indent="-342900">
              <a:lnSpc>
                <a:spcPct val="150000"/>
              </a:lnSpc>
              <a:buFont typeface="Lucida Sans Unicode" pitchFamily="34" charset="0"/>
              <a:buAutoNum type="arabicPeriod"/>
            </a:pPr>
            <a:r>
              <a:rPr lang="es-ES"/>
              <a:t>Transformación del esquema conceptual (lógico) al interno (físico).</a:t>
            </a:r>
          </a:p>
          <a:p>
            <a:pPr marL="342900" indent="-342900">
              <a:lnSpc>
                <a:spcPct val="150000"/>
              </a:lnSpc>
              <a:buFont typeface="Lucida Sans Unicode" pitchFamily="34" charset="0"/>
              <a:buAutoNum type="arabicPeriod"/>
            </a:pPr>
            <a:r>
              <a:rPr lang="es-ES"/>
              <a:t>Interacción con el almacenamiento interno (físico).</a:t>
            </a:r>
          </a:p>
          <a:p>
            <a:pPr marL="342900" indent="-342900">
              <a:lnSpc>
                <a:spcPct val="150000"/>
              </a:lnSpc>
              <a:buFont typeface="Lucida Sans Unicode" pitchFamily="34" charset="0"/>
              <a:buAutoNum type="arabicPeriod"/>
            </a:pPr>
            <a:r>
              <a:rPr lang="es-ES"/>
              <a:t>Envío de los datos a los buffers del SGBD.</a:t>
            </a:r>
          </a:p>
          <a:p>
            <a:pPr marL="342900" indent="-342900">
              <a:lnSpc>
                <a:spcPct val="150000"/>
              </a:lnSpc>
              <a:buFont typeface="Lucida Sans Unicode" pitchFamily="34" charset="0"/>
              <a:buAutoNum type="arabicPeriod"/>
            </a:pPr>
            <a:r>
              <a:rPr lang="es-ES"/>
              <a:t>Transformaciones de los datos entre el esquema conceptual (lógico) y el externo.</a:t>
            </a:r>
          </a:p>
          <a:p>
            <a:pPr marL="342900" indent="-342900">
              <a:lnSpc>
                <a:spcPct val="150000"/>
              </a:lnSpc>
              <a:buFont typeface="Lucida Sans Unicode" pitchFamily="34" charset="0"/>
              <a:buAutoNum type="arabicPeriod"/>
            </a:pPr>
            <a:r>
              <a:rPr lang="es-ES"/>
              <a:t>Transferencia de los datos necesarios al área de trabajo del usuario.</a:t>
            </a:r>
          </a:p>
        </p:txBody>
      </p:sp>
      <p:sp>
        <p:nvSpPr>
          <p:cNvPr id="36867" name="4 CuadroTexto"/>
          <p:cNvSpPr txBox="1">
            <a:spLocks noChangeArrowheads="1"/>
          </p:cNvSpPr>
          <p:nvPr/>
        </p:nvSpPr>
        <p:spPr bwMode="auto">
          <a:xfrm>
            <a:off x="214313" y="142875"/>
            <a:ext cx="6457950" cy="461963"/>
          </a:xfrm>
          <a:prstGeom prst="rect">
            <a:avLst/>
          </a:prstGeom>
          <a:noFill/>
          <a:ln w="9525">
            <a:noFill/>
            <a:miter lim="800000"/>
            <a:headEnd/>
            <a:tailEnd/>
          </a:ln>
        </p:spPr>
        <p:txBody>
          <a:bodyPr wrap="none">
            <a:spAutoFit/>
          </a:bodyPr>
          <a:lstStyle/>
          <a:p>
            <a:pPr marL="342900" indent="-342900"/>
            <a:r>
              <a:rPr lang="es-ES_tradnl" sz="2400" b="1"/>
              <a:t>Ejecución de una tarea por parte del SGBD</a:t>
            </a:r>
            <a:endParaRPr lang="es-MX" sz="2400"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4 CuadroTexto"/>
          <p:cNvSpPr txBox="1">
            <a:spLocks noChangeArrowheads="1"/>
          </p:cNvSpPr>
          <p:nvPr/>
        </p:nvSpPr>
        <p:spPr bwMode="auto">
          <a:xfrm>
            <a:off x="214313" y="131763"/>
            <a:ext cx="4356100" cy="461962"/>
          </a:xfrm>
          <a:prstGeom prst="rect">
            <a:avLst/>
          </a:prstGeom>
          <a:noFill/>
          <a:ln w="9525">
            <a:noFill/>
            <a:miter lim="800000"/>
            <a:headEnd/>
            <a:tailEnd/>
          </a:ln>
        </p:spPr>
        <p:txBody>
          <a:bodyPr wrap="none">
            <a:spAutoFit/>
          </a:bodyPr>
          <a:lstStyle/>
          <a:p>
            <a:pPr marL="342900" indent="-342900"/>
            <a:r>
              <a:rPr lang="es-ES_tradnl" sz="2400" b="1"/>
              <a:t>Participación de la UNIDAD I</a:t>
            </a:r>
            <a:endParaRPr lang="es-MX" sz="2400" b="1"/>
          </a:p>
        </p:txBody>
      </p:sp>
      <p:sp>
        <p:nvSpPr>
          <p:cNvPr id="37891" name="3 Rectángulo"/>
          <p:cNvSpPr>
            <a:spLocks noChangeArrowheads="1"/>
          </p:cNvSpPr>
          <p:nvPr/>
        </p:nvSpPr>
        <p:spPr bwMode="auto">
          <a:xfrm>
            <a:off x="642938" y="1057275"/>
            <a:ext cx="7858125" cy="4800600"/>
          </a:xfrm>
          <a:prstGeom prst="rect">
            <a:avLst/>
          </a:prstGeom>
          <a:noFill/>
          <a:ln w="9525">
            <a:noFill/>
            <a:miter lim="800000"/>
            <a:headEnd/>
            <a:tailEnd/>
          </a:ln>
        </p:spPr>
        <p:txBody>
          <a:bodyPr>
            <a:spAutoFit/>
          </a:bodyPr>
          <a:lstStyle/>
          <a:p>
            <a:pPr marL="342900" indent="-342900" algn="just">
              <a:buFont typeface="Lucida Sans Unicode" pitchFamily="34" charset="0"/>
              <a:buAutoNum type="arabicPeriod"/>
            </a:pPr>
            <a:r>
              <a:rPr lang="es-ES"/>
              <a:t>¿Para que me sirve una Base de Datos?</a:t>
            </a:r>
          </a:p>
          <a:p>
            <a:pPr marL="342900" indent="-342900" algn="just">
              <a:buFont typeface="Lucida Sans Unicode" pitchFamily="34" charset="0"/>
              <a:buAutoNum type="arabicPeriod"/>
            </a:pPr>
            <a:endParaRPr lang="es-ES"/>
          </a:p>
          <a:p>
            <a:pPr marL="342900" indent="-342900" algn="just">
              <a:buFont typeface="Lucida Sans Unicode" pitchFamily="34" charset="0"/>
              <a:buAutoNum type="arabicPeriod"/>
            </a:pPr>
            <a:r>
              <a:rPr lang="es-ES"/>
              <a:t>¿Cuales son los componentes de una Base de Datos?</a:t>
            </a:r>
          </a:p>
          <a:p>
            <a:pPr marL="342900" indent="-342900" algn="just">
              <a:buFont typeface="Lucida Sans Unicode" pitchFamily="34" charset="0"/>
              <a:buAutoNum type="arabicPeriod"/>
            </a:pPr>
            <a:endParaRPr lang="es-ES"/>
          </a:p>
          <a:p>
            <a:pPr marL="342900" indent="-342900" algn="just">
              <a:buFont typeface="Lucida Sans Unicode" pitchFamily="34" charset="0"/>
              <a:buAutoNum type="arabicPeriod"/>
            </a:pPr>
            <a:r>
              <a:rPr lang="es-ES"/>
              <a:t>¿Cuáles son los programas que me permiten trabajar (crear, manipular, consultar) las Bases de Datos?, Menciona 2 nombres de este tipo de programas.</a:t>
            </a:r>
          </a:p>
          <a:p>
            <a:pPr marL="342900" indent="-342900" algn="just">
              <a:buFont typeface="Lucida Sans Unicode" pitchFamily="34" charset="0"/>
              <a:buAutoNum type="arabicPeriod"/>
            </a:pPr>
            <a:endParaRPr lang="es-ES"/>
          </a:p>
          <a:p>
            <a:pPr marL="342900" indent="-342900" algn="just">
              <a:buFont typeface="Lucida Sans Unicode" pitchFamily="34" charset="0"/>
              <a:buAutoNum type="arabicPeriod"/>
            </a:pPr>
            <a:r>
              <a:rPr lang="es-ES"/>
              <a:t>Menciona y explica 3 funciones de los SGBD.</a:t>
            </a:r>
          </a:p>
          <a:p>
            <a:pPr marL="342900" indent="-342900" algn="just">
              <a:buFont typeface="Lucida Sans Unicode" pitchFamily="34" charset="0"/>
              <a:buAutoNum type="arabicPeriod"/>
            </a:pPr>
            <a:endParaRPr lang="es-ES"/>
          </a:p>
          <a:p>
            <a:pPr marL="342900" indent="-342900" algn="just">
              <a:buFont typeface="Lucida Sans Unicode" pitchFamily="34" charset="0"/>
              <a:buAutoNum type="arabicPeriod"/>
            </a:pPr>
            <a:r>
              <a:rPr lang="es-ES"/>
              <a:t>¿Cuáles son los actores principales en un SGB?</a:t>
            </a:r>
          </a:p>
          <a:p>
            <a:pPr marL="342900" indent="-342900" algn="just">
              <a:buFont typeface="Lucida Sans Unicode" pitchFamily="34" charset="0"/>
              <a:buAutoNum type="arabicPeriod"/>
            </a:pPr>
            <a:endParaRPr lang="es-ES"/>
          </a:p>
          <a:p>
            <a:pPr marL="342900" indent="-342900" algn="just">
              <a:buFont typeface="Lucida Sans Unicode" pitchFamily="34" charset="0"/>
              <a:buAutoNum type="arabicPeriod"/>
            </a:pPr>
            <a:r>
              <a:rPr lang="es-ES"/>
              <a:t>¿Cuáles son los lenguajes que se utiliza en un SGBD?</a:t>
            </a:r>
          </a:p>
          <a:p>
            <a:pPr marL="342900" indent="-342900" algn="just">
              <a:buFont typeface="Lucida Sans Unicode" pitchFamily="34" charset="0"/>
              <a:buAutoNum type="arabicPeriod"/>
            </a:pPr>
            <a:endParaRPr lang="es-ES"/>
          </a:p>
          <a:p>
            <a:pPr marL="342900" indent="-342900" algn="just">
              <a:buFont typeface="Lucida Sans Unicode" pitchFamily="34" charset="0"/>
              <a:buAutoNum type="arabicPeriod"/>
            </a:pPr>
            <a:r>
              <a:rPr lang="es-ES"/>
              <a:t>De los actores que intervienen en un SGBD ¿Cuál serías tú? y menciona 3 de las funciones básicas que tendrías que realizar.</a:t>
            </a:r>
          </a:p>
          <a:p>
            <a:pPr marL="342900" indent="-342900" algn="just">
              <a:buFont typeface="Lucida Sans Unicode" pitchFamily="34" charset="0"/>
              <a:buAutoNum type="arabicPeriod"/>
            </a:pPr>
            <a:endParaRPr lang="es-E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4 CuadroTexto"/>
          <p:cNvSpPr txBox="1">
            <a:spLocks noChangeArrowheads="1"/>
          </p:cNvSpPr>
          <p:nvPr/>
        </p:nvSpPr>
        <p:spPr bwMode="auto">
          <a:xfrm>
            <a:off x="214313" y="131763"/>
            <a:ext cx="8304212" cy="708025"/>
          </a:xfrm>
          <a:prstGeom prst="rect">
            <a:avLst/>
          </a:prstGeom>
          <a:noFill/>
          <a:ln w="9525">
            <a:noFill/>
            <a:miter lim="800000"/>
            <a:headEnd/>
            <a:tailEnd/>
          </a:ln>
        </p:spPr>
        <p:txBody>
          <a:bodyPr wrap="none">
            <a:spAutoFit/>
          </a:bodyPr>
          <a:lstStyle/>
          <a:p>
            <a:pPr marL="342900" indent="-342900"/>
            <a:r>
              <a:rPr lang="es-ES_tradnl" sz="2400" b="1"/>
              <a:t>Definición del Proyecto Final </a:t>
            </a:r>
          </a:p>
          <a:p>
            <a:pPr marL="342900" indent="-342900"/>
            <a:r>
              <a:rPr lang="es-ES_tradnl" sz="1600" b="1">
                <a:solidFill>
                  <a:schemeClr val="accent2"/>
                </a:solidFill>
              </a:rPr>
              <a:t>(Enviar un mail por equipo con la propuesta de proyecto el día Viernes 22 de Mayo)</a:t>
            </a:r>
            <a:endParaRPr lang="es-MX" sz="2400" b="1">
              <a:solidFill>
                <a:schemeClr val="accent2"/>
              </a:solidFill>
            </a:endParaRPr>
          </a:p>
        </p:txBody>
      </p:sp>
      <p:sp>
        <p:nvSpPr>
          <p:cNvPr id="38915" name="1 Rectángulo"/>
          <p:cNvSpPr>
            <a:spLocks noChangeArrowheads="1"/>
          </p:cNvSpPr>
          <p:nvPr/>
        </p:nvSpPr>
        <p:spPr bwMode="auto">
          <a:xfrm>
            <a:off x="812800" y="1357313"/>
            <a:ext cx="7902575" cy="4246562"/>
          </a:xfrm>
          <a:prstGeom prst="rect">
            <a:avLst/>
          </a:prstGeom>
          <a:noFill/>
          <a:ln w="9525">
            <a:noFill/>
            <a:miter lim="800000"/>
            <a:headEnd/>
            <a:tailEnd/>
          </a:ln>
        </p:spPr>
        <p:txBody>
          <a:bodyPr>
            <a:spAutoFit/>
          </a:bodyPr>
          <a:lstStyle/>
          <a:p>
            <a:pPr marL="342900" indent="-342900">
              <a:lnSpc>
                <a:spcPct val="150000"/>
              </a:lnSpc>
              <a:buFont typeface="Arial" charset="0"/>
              <a:buChar char="•"/>
            </a:pPr>
            <a:r>
              <a:rPr lang="es-ES_tradnl" sz="2000" b="1">
                <a:solidFill>
                  <a:schemeClr val="accent2"/>
                </a:solidFill>
              </a:rPr>
              <a:t>Elegir una situación que requiera el diseño de una BD</a:t>
            </a:r>
          </a:p>
          <a:p>
            <a:pPr marL="342900" indent="-342900">
              <a:lnSpc>
                <a:spcPct val="150000"/>
              </a:lnSpc>
              <a:buFont typeface="Arial" charset="0"/>
              <a:buChar char="•"/>
            </a:pPr>
            <a:r>
              <a:rPr lang="es-ES_tradnl" sz="2000"/>
              <a:t>Hacer el análisis de requerimientos para el diseño de la BD</a:t>
            </a:r>
          </a:p>
          <a:p>
            <a:pPr marL="342900" indent="-342900">
              <a:lnSpc>
                <a:spcPct val="150000"/>
              </a:lnSpc>
              <a:buFont typeface="Arial" charset="0"/>
              <a:buChar char="•"/>
            </a:pPr>
            <a:r>
              <a:rPr lang="es-ES_tradnl" sz="2000"/>
              <a:t>Diseñar la BD (Modelo de datos)</a:t>
            </a:r>
          </a:p>
          <a:p>
            <a:pPr marL="342900" indent="-342900">
              <a:lnSpc>
                <a:spcPct val="150000"/>
              </a:lnSpc>
              <a:buFont typeface="Arial" charset="0"/>
              <a:buChar char="•"/>
            </a:pPr>
            <a:r>
              <a:rPr lang="es-ES_tradnl" sz="2000"/>
              <a:t>Crear la BD</a:t>
            </a:r>
          </a:p>
          <a:p>
            <a:pPr marL="342900" indent="-342900">
              <a:lnSpc>
                <a:spcPct val="150000"/>
              </a:lnSpc>
              <a:buFont typeface="Arial" charset="0"/>
              <a:buChar char="•"/>
            </a:pPr>
            <a:r>
              <a:rPr lang="es-ES_tradnl" sz="2000"/>
              <a:t>Crear usuarios de acuerdo a los requerimientos</a:t>
            </a:r>
          </a:p>
          <a:p>
            <a:pPr marL="342900" indent="-342900">
              <a:lnSpc>
                <a:spcPct val="150000"/>
              </a:lnSpc>
              <a:buFont typeface="Arial" charset="0"/>
              <a:buChar char="•"/>
            </a:pPr>
            <a:r>
              <a:rPr lang="es-ES_tradnl" sz="2000"/>
              <a:t>Crear permisos a los usuarios</a:t>
            </a:r>
          </a:p>
          <a:p>
            <a:pPr marL="342900" indent="-342900">
              <a:lnSpc>
                <a:spcPct val="150000"/>
              </a:lnSpc>
              <a:buFont typeface="Arial" charset="0"/>
              <a:buChar char="•"/>
            </a:pPr>
            <a:r>
              <a:rPr lang="es-ES_tradnl" sz="2000"/>
              <a:t>Crear vistas para los usuarios finales</a:t>
            </a:r>
          </a:p>
          <a:p>
            <a:pPr marL="342900" indent="-342900">
              <a:lnSpc>
                <a:spcPct val="150000"/>
              </a:lnSpc>
              <a:buFont typeface="Arial" charset="0"/>
              <a:buChar char="•"/>
            </a:pPr>
            <a:r>
              <a:rPr lang="es-ES_tradnl" sz="2000"/>
              <a:t>Crear interfaces de usuarios</a:t>
            </a:r>
          </a:p>
          <a:p>
            <a:pPr marL="342900" indent="-342900">
              <a:lnSpc>
                <a:spcPct val="150000"/>
              </a:lnSpc>
              <a:buFont typeface="Arial" charset="0"/>
              <a:buChar char="•"/>
            </a:pPr>
            <a:r>
              <a:rPr lang="es-ES_tradnl" sz="2000"/>
              <a:t>Operaciones con la BD (Algebra relacional)</a:t>
            </a:r>
            <a:endParaRPr lang="es-MX" sz="2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1 Rectángulo"/>
          <p:cNvSpPr>
            <a:spLocks noChangeArrowheads="1"/>
          </p:cNvSpPr>
          <p:nvPr/>
        </p:nvSpPr>
        <p:spPr bwMode="auto">
          <a:xfrm>
            <a:off x="617538" y="857250"/>
            <a:ext cx="7902575" cy="4921250"/>
          </a:xfrm>
          <a:prstGeom prst="rect">
            <a:avLst/>
          </a:prstGeom>
          <a:noFill/>
          <a:ln w="9525">
            <a:noFill/>
            <a:miter lim="800000"/>
            <a:headEnd/>
            <a:tailEnd/>
          </a:ln>
        </p:spPr>
        <p:txBody>
          <a:bodyPr>
            <a:spAutoFit/>
          </a:bodyPr>
          <a:lstStyle/>
          <a:p>
            <a:pPr marL="800100" lvl="1" indent="-342900">
              <a:lnSpc>
                <a:spcPct val="200000"/>
              </a:lnSpc>
              <a:buFont typeface="Arial" charset="0"/>
              <a:buChar char="•"/>
            </a:pPr>
            <a:r>
              <a:rPr lang="es-ES_tradnl" sz="2000"/>
              <a:t>Categorías de los modelos de datos</a:t>
            </a:r>
          </a:p>
          <a:p>
            <a:pPr marL="800100" lvl="1" indent="-342900">
              <a:lnSpc>
                <a:spcPct val="200000"/>
              </a:lnSpc>
              <a:buFont typeface="Arial" charset="0"/>
              <a:buChar char="•"/>
            </a:pPr>
            <a:r>
              <a:rPr lang="es-ES_tradnl" sz="2000"/>
              <a:t>Modelo de datos utilizando Entidad-Relación</a:t>
            </a:r>
          </a:p>
          <a:p>
            <a:pPr marL="800100" lvl="1" indent="-342900">
              <a:lnSpc>
                <a:spcPct val="200000"/>
              </a:lnSpc>
              <a:buFont typeface="Arial" charset="0"/>
              <a:buChar char="•"/>
            </a:pPr>
            <a:r>
              <a:rPr lang="es-ES_tradnl" sz="2000"/>
              <a:t>Modelo Entidad-Relación extendido y Modelado de Objetos</a:t>
            </a:r>
          </a:p>
          <a:p>
            <a:pPr marL="800100" lvl="1" indent="-342900">
              <a:lnSpc>
                <a:spcPct val="200000"/>
              </a:lnSpc>
              <a:buFont typeface="Arial" charset="0"/>
              <a:buChar char="•"/>
            </a:pPr>
            <a:r>
              <a:rPr lang="es-ES_tradnl" sz="2000"/>
              <a:t>Herencia, Generalización, Restricciones y Características de la Especialización y Generalización.</a:t>
            </a:r>
          </a:p>
          <a:p>
            <a:pPr marL="800100" lvl="1" indent="-342900">
              <a:lnSpc>
                <a:spcPct val="200000"/>
              </a:lnSpc>
              <a:buFont typeface="Arial" charset="0"/>
              <a:buChar char="•"/>
            </a:pPr>
            <a:r>
              <a:rPr lang="es-ES_tradnl" sz="2000"/>
              <a:t>Modelado Conceptual de Objetos mediante diagramas de clase UML</a:t>
            </a:r>
          </a:p>
          <a:p>
            <a:pPr marL="800100" lvl="1" indent="-342900">
              <a:lnSpc>
                <a:spcPct val="200000"/>
              </a:lnSpc>
              <a:buFont typeface="Arial" charset="0"/>
              <a:buChar char="•"/>
            </a:pPr>
            <a:r>
              <a:rPr lang="es-ES_tradnl" sz="2000"/>
              <a:t>Tipos de relación de grado superior a dos</a:t>
            </a:r>
            <a:endParaRPr lang="es-MX" sz="2000"/>
          </a:p>
        </p:txBody>
      </p:sp>
      <p:sp>
        <p:nvSpPr>
          <p:cNvPr id="39939"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2"/>
            </a:pPr>
            <a:r>
              <a:rPr lang="es-ES_tradnl" sz="2400" b="1"/>
              <a:t>MODELOS DE BASE DE DATOS</a:t>
            </a:r>
            <a:endParaRPr lang="es-MX" sz="2400"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4 CuadroTexto"/>
          <p:cNvSpPr txBox="1">
            <a:spLocks noChangeArrowheads="1"/>
          </p:cNvSpPr>
          <p:nvPr/>
        </p:nvSpPr>
        <p:spPr bwMode="auto">
          <a:xfrm>
            <a:off x="214313" y="142875"/>
            <a:ext cx="4303712" cy="461963"/>
          </a:xfrm>
          <a:prstGeom prst="rect">
            <a:avLst/>
          </a:prstGeom>
          <a:noFill/>
          <a:ln w="9525">
            <a:noFill/>
            <a:miter lim="800000"/>
            <a:headEnd/>
            <a:tailEnd/>
          </a:ln>
        </p:spPr>
        <p:txBody>
          <a:bodyPr wrap="none">
            <a:spAutoFit/>
          </a:bodyPr>
          <a:lstStyle/>
          <a:p>
            <a:pPr marL="342900" indent="-342900"/>
            <a:r>
              <a:rPr lang="es-ES_tradnl" sz="2400" b="1"/>
              <a:t>Fases del Diseño de una BD</a:t>
            </a:r>
            <a:endParaRPr lang="es-MX" sz="2400" b="1"/>
          </a:p>
        </p:txBody>
      </p:sp>
      <p:graphicFrame>
        <p:nvGraphicFramePr>
          <p:cNvPr id="3" name="2 Diagrama"/>
          <p:cNvGraphicFramePr/>
          <p:nvPr/>
        </p:nvGraphicFramePr>
        <p:xfrm>
          <a:off x="1071538" y="1397000"/>
          <a:ext cx="7048528"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4 CuadroTexto"/>
          <p:cNvSpPr txBox="1">
            <a:spLocks noChangeArrowheads="1"/>
          </p:cNvSpPr>
          <p:nvPr/>
        </p:nvSpPr>
        <p:spPr bwMode="auto">
          <a:xfrm>
            <a:off x="214313" y="142875"/>
            <a:ext cx="3438525" cy="461963"/>
          </a:xfrm>
          <a:prstGeom prst="rect">
            <a:avLst/>
          </a:prstGeom>
          <a:noFill/>
          <a:ln w="9525">
            <a:noFill/>
            <a:miter lim="800000"/>
            <a:headEnd/>
            <a:tailEnd/>
          </a:ln>
        </p:spPr>
        <p:txBody>
          <a:bodyPr wrap="none">
            <a:spAutoFit/>
          </a:bodyPr>
          <a:lstStyle/>
          <a:p>
            <a:pPr marL="342900" indent="-342900"/>
            <a:r>
              <a:rPr lang="es-ES_tradnl" sz="2400" b="1"/>
              <a:t>¿Qué es Abstracción?</a:t>
            </a:r>
            <a:endParaRPr lang="es-MX" sz="2400" b="1"/>
          </a:p>
        </p:txBody>
      </p:sp>
      <p:sp>
        <p:nvSpPr>
          <p:cNvPr id="5" name="4 Elipse"/>
          <p:cNvSpPr/>
          <p:nvPr/>
        </p:nvSpPr>
        <p:spPr>
          <a:xfrm>
            <a:off x="714348" y="1052736"/>
            <a:ext cx="2643206" cy="2643205"/>
          </a:xfrm>
          <a:prstGeom prst="ellipse">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dirty="0"/>
              <a:t>Objeto</a:t>
            </a:r>
          </a:p>
        </p:txBody>
      </p:sp>
      <p:sp>
        <p:nvSpPr>
          <p:cNvPr id="6" name="5 Rectángulo"/>
          <p:cNvSpPr/>
          <p:nvPr/>
        </p:nvSpPr>
        <p:spPr>
          <a:xfrm>
            <a:off x="6715140" y="1696810"/>
            <a:ext cx="1571636" cy="1356190"/>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dirty="0"/>
              <a:t>Modelo del Objeto</a:t>
            </a:r>
          </a:p>
        </p:txBody>
      </p:sp>
      <p:cxnSp>
        <p:nvCxnSpPr>
          <p:cNvPr id="8" name="7 Conector recto"/>
          <p:cNvCxnSpPr/>
          <p:nvPr/>
        </p:nvCxnSpPr>
        <p:spPr>
          <a:xfrm rot="16200000" flipH="1">
            <a:off x="4445794" y="-1357873"/>
            <a:ext cx="644525" cy="5465763"/>
          </a:xfrm>
          <a:prstGeom prst="line">
            <a:avLst/>
          </a:prstGeom>
          <a:ln w="285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rot="5400000" flipH="1" flipV="1">
            <a:off x="4446588" y="641583"/>
            <a:ext cx="642937" cy="5465763"/>
          </a:xfrm>
          <a:prstGeom prst="line">
            <a:avLst/>
          </a:prstGeom>
          <a:ln w="28575">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13 CuadroTexto"/>
          <p:cNvSpPr txBox="1">
            <a:spLocks noChangeArrowheads="1"/>
          </p:cNvSpPr>
          <p:nvPr/>
        </p:nvSpPr>
        <p:spPr bwMode="auto">
          <a:xfrm>
            <a:off x="3923928" y="2204864"/>
            <a:ext cx="1517650" cy="369888"/>
          </a:xfrm>
          <a:prstGeom prst="rect">
            <a:avLst/>
          </a:prstGeom>
          <a:noFill/>
          <a:ln w="9525">
            <a:noFill/>
            <a:miter lim="800000"/>
            <a:headEnd/>
            <a:tailEnd/>
          </a:ln>
        </p:spPr>
        <p:txBody>
          <a:bodyPr wrap="none">
            <a:spAutoFit/>
          </a:bodyPr>
          <a:lstStyle/>
          <a:p>
            <a:r>
              <a:rPr lang="es-ES" b="1" dirty="0"/>
              <a:t>Abstracción</a:t>
            </a:r>
          </a:p>
        </p:txBody>
      </p:sp>
      <p:sp>
        <p:nvSpPr>
          <p:cNvPr id="9" name="8 Rectángulo"/>
          <p:cNvSpPr/>
          <p:nvPr/>
        </p:nvSpPr>
        <p:spPr>
          <a:xfrm>
            <a:off x="395536" y="4272677"/>
            <a:ext cx="7848872" cy="1477328"/>
          </a:xfrm>
          <a:prstGeom prst="rect">
            <a:avLst/>
          </a:prstGeom>
        </p:spPr>
        <p:txBody>
          <a:bodyPr wrap="square">
            <a:spAutoFit/>
          </a:bodyPr>
          <a:lstStyle/>
          <a:p>
            <a:pPr algn="just"/>
            <a:r>
              <a:rPr lang="es-CO" dirty="0"/>
              <a:t>La abstracción de datos es la característica de un sistema de bases de datos, que permite al usuario o programador operar con los datos sin necesidad de conocer detalles que para él no son de “importancia”, ofreciendo así una visión abstracta de estos. Para cumplir con tal fin se han definido diferentes niveles de abstracción.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1000"/>
                                        <p:tgtEl>
                                          <p:spTgt spid="8"/>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1000"/>
                                        <p:tgtEl>
                                          <p:spTgt spid="14"/>
                                        </p:tgtEl>
                                      </p:cBhvr>
                                    </p:animEffect>
                                  </p:childTnLst>
                                </p:cTn>
                              </p:par>
                              <p:par>
                                <p:cTn id="21" presetID="22" presetClass="entr" presetSubtype="8"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1785918" y="1371592"/>
            <a:ext cx="914400" cy="91440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dirty="0"/>
              <a:t>Vista 1</a:t>
            </a:r>
          </a:p>
        </p:txBody>
      </p:sp>
      <p:sp>
        <p:nvSpPr>
          <p:cNvPr id="4" name="3 Rectángulo"/>
          <p:cNvSpPr/>
          <p:nvPr/>
        </p:nvSpPr>
        <p:spPr>
          <a:xfrm>
            <a:off x="3714744" y="1371592"/>
            <a:ext cx="914400" cy="914400"/>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dirty="0"/>
              <a:t>Vista 2</a:t>
            </a:r>
          </a:p>
        </p:txBody>
      </p:sp>
      <p:sp>
        <p:nvSpPr>
          <p:cNvPr id="5" name="4 Rectángulo"/>
          <p:cNvSpPr/>
          <p:nvPr/>
        </p:nvSpPr>
        <p:spPr>
          <a:xfrm>
            <a:off x="5800740" y="1371592"/>
            <a:ext cx="914400" cy="914400"/>
          </a:xfrm>
          <a:prstGeom prst="rect">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dirty="0"/>
              <a:t>Vista 3</a:t>
            </a:r>
          </a:p>
        </p:txBody>
      </p:sp>
      <p:sp>
        <p:nvSpPr>
          <p:cNvPr id="6" name="5 Rectángulo"/>
          <p:cNvSpPr/>
          <p:nvPr/>
        </p:nvSpPr>
        <p:spPr>
          <a:xfrm>
            <a:off x="7872442" y="1371592"/>
            <a:ext cx="914400" cy="914400"/>
          </a:xfrm>
          <a:prstGeom prst="rect">
            <a:avLst/>
          </a:prstGeom>
          <a:solidFill>
            <a:schemeClr val="accent4"/>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dirty="0"/>
              <a:t>Vista n</a:t>
            </a:r>
          </a:p>
        </p:txBody>
      </p:sp>
      <p:sp>
        <p:nvSpPr>
          <p:cNvPr id="43022" name="4 CuadroTexto"/>
          <p:cNvSpPr txBox="1">
            <a:spLocks noChangeArrowheads="1"/>
          </p:cNvSpPr>
          <p:nvPr/>
        </p:nvSpPr>
        <p:spPr bwMode="auto">
          <a:xfrm>
            <a:off x="214313" y="142875"/>
            <a:ext cx="3560762" cy="461963"/>
          </a:xfrm>
          <a:prstGeom prst="rect">
            <a:avLst/>
          </a:prstGeom>
          <a:noFill/>
          <a:ln w="9525">
            <a:noFill/>
            <a:miter lim="800000"/>
            <a:headEnd/>
            <a:tailEnd/>
          </a:ln>
        </p:spPr>
        <p:txBody>
          <a:bodyPr wrap="none">
            <a:spAutoFit/>
          </a:bodyPr>
          <a:lstStyle/>
          <a:p>
            <a:pPr marL="342900" indent="-342900"/>
            <a:r>
              <a:rPr lang="es-ES_tradnl" sz="2400" b="1"/>
              <a:t>Niveles de Abstracción</a:t>
            </a:r>
            <a:endParaRPr lang="es-MX" sz="2400" b="1"/>
          </a:p>
        </p:txBody>
      </p:sp>
      <p:sp>
        <p:nvSpPr>
          <p:cNvPr id="8" name="7 CuadroTexto"/>
          <p:cNvSpPr txBox="1">
            <a:spLocks noChangeArrowheads="1"/>
          </p:cNvSpPr>
          <p:nvPr/>
        </p:nvSpPr>
        <p:spPr bwMode="auto">
          <a:xfrm>
            <a:off x="7048500" y="1371600"/>
            <a:ext cx="595313" cy="584200"/>
          </a:xfrm>
          <a:prstGeom prst="rect">
            <a:avLst/>
          </a:prstGeom>
          <a:noFill/>
          <a:ln w="9525">
            <a:noFill/>
            <a:miter lim="800000"/>
            <a:headEnd/>
            <a:tailEnd/>
          </a:ln>
        </p:spPr>
        <p:txBody>
          <a:bodyPr wrap="none">
            <a:spAutoFit/>
          </a:bodyPr>
          <a:lstStyle/>
          <a:p>
            <a:r>
              <a:rPr lang="es-ES" sz="3200" b="1"/>
              <a:t>…</a:t>
            </a:r>
          </a:p>
        </p:txBody>
      </p:sp>
      <p:sp>
        <p:nvSpPr>
          <p:cNvPr id="9" name="8 Rectángulo"/>
          <p:cNvSpPr/>
          <p:nvPr/>
        </p:nvSpPr>
        <p:spPr>
          <a:xfrm>
            <a:off x="3714744" y="3228980"/>
            <a:ext cx="3286148" cy="914400"/>
          </a:xfrm>
          <a:prstGeom prst="rect">
            <a:avLst/>
          </a:prstGeom>
          <a:solidFill>
            <a:schemeClr val="accent6">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dirty="0"/>
              <a:t>Nivel Conceptual</a:t>
            </a:r>
          </a:p>
        </p:txBody>
      </p:sp>
      <p:sp>
        <p:nvSpPr>
          <p:cNvPr id="10" name="9 Rectángulo"/>
          <p:cNvSpPr/>
          <p:nvPr/>
        </p:nvSpPr>
        <p:spPr>
          <a:xfrm>
            <a:off x="3714744" y="4872054"/>
            <a:ext cx="3286148" cy="914400"/>
          </a:xfrm>
          <a:prstGeom prst="rect">
            <a:avLst/>
          </a:prstGeom>
          <a:solidFill>
            <a:schemeClr val="tx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dirty="0"/>
              <a:t>Nivel Físico</a:t>
            </a:r>
          </a:p>
        </p:txBody>
      </p:sp>
      <p:sp>
        <p:nvSpPr>
          <p:cNvPr id="11" name="10 CuadroTexto"/>
          <p:cNvSpPr txBox="1">
            <a:spLocks noChangeArrowheads="1"/>
          </p:cNvSpPr>
          <p:nvPr/>
        </p:nvSpPr>
        <p:spPr bwMode="auto">
          <a:xfrm>
            <a:off x="190500" y="1500188"/>
            <a:ext cx="1171575" cy="646112"/>
          </a:xfrm>
          <a:prstGeom prst="rect">
            <a:avLst/>
          </a:prstGeom>
          <a:noFill/>
          <a:ln w="9525">
            <a:noFill/>
            <a:miter lim="800000"/>
            <a:headEnd/>
            <a:tailEnd/>
          </a:ln>
        </p:spPr>
        <p:txBody>
          <a:bodyPr wrap="none">
            <a:spAutoFit/>
          </a:bodyPr>
          <a:lstStyle/>
          <a:p>
            <a:pPr algn="ctr"/>
            <a:r>
              <a:rPr lang="es-ES" b="1">
                <a:solidFill>
                  <a:schemeClr val="accent1"/>
                </a:solidFill>
              </a:rPr>
              <a:t>Usuarios</a:t>
            </a:r>
          </a:p>
          <a:p>
            <a:pPr algn="ctr"/>
            <a:r>
              <a:rPr lang="es-ES" b="1">
                <a:solidFill>
                  <a:schemeClr val="accent1"/>
                </a:solidFill>
              </a:rPr>
              <a:t>Finales</a:t>
            </a:r>
          </a:p>
        </p:txBody>
      </p:sp>
      <p:sp>
        <p:nvSpPr>
          <p:cNvPr id="12" name="11 CuadroTexto"/>
          <p:cNvSpPr txBox="1">
            <a:spLocks noChangeArrowheads="1"/>
          </p:cNvSpPr>
          <p:nvPr/>
        </p:nvSpPr>
        <p:spPr bwMode="auto">
          <a:xfrm>
            <a:off x="458788" y="3354388"/>
            <a:ext cx="684212" cy="369887"/>
          </a:xfrm>
          <a:prstGeom prst="rect">
            <a:avLst/>
          </a:prstGeom>
          <a:noFill/>
          <a:ln w="9525">
            <a:noFill/>
            <a:miter lim="800000"/>
            <a:headEnd/>
            <a:tailEnd/>
          </a:ln>
        </p:spPr>
        <p:txBody>
          <a:bodyPr wrap="none">
            <a:spAutoFit/>
          </a:bodyPr>
          <a:lstStyle/>
          <a:p>
            <a:pPr algn="ctr"/>
            <a:r>
              <a:rPr lang="es-ES" b="1">
                <a:solidFill>
                  <a:schemeClr val="accent1"/>
                </a:solidFill>
              </a:rPr>
              <a:t>DBA</a:t>
            </a:r>
          </a:p>
        </p:txBody>
      </p:sp>
      <p:sp>
        <p:nvSpPr>
          <p:cNvPr id="13" name="12 CuadroTexto"/>
          <p:cNvSpPr txBox="1">
            <a:spLocks noChangeArrowheads="1"/>
          </p:cNvSpPr>
          <p:nvPr/>
        </p:nvSpPr>
        <p:spPr bwMode="auto">
          <a:xfrm>
            <a:off x="434975" y="5130800"/>
            <a:ext cx="850900" cy="369888"/>
          </a:xfrm>
          <a:prstGeom prst="rect">
            <a:avLst/>
          </a:prstGeom>
          <a:noFill/>
          <a:ln w="9525">
            <a:noFill/>
            <a:miter lim="800000"/>
            <a:headEnd/>
            <a:tailEnd/>
          </a:ln>
        </p:spPr>
        <p:txBody>
          <a:bodyPr wrap="none">
            <a:spAutoFit/>
          </a:bodyPr>
          <a:lstStyle/>
          <a:p>
            <a:pPr algn="ctr"/>
            <a:r>
              <a:rPr lang="es-ES" b="1">
                <a:solidFill>
                  <a:schemeClr val="accent1"/>
                </a:solidFill>
              </a:rPr>
              <a:t>SGBD</a:t>
            </a:r>
          </a:p>
        </p:txBody>
      </p:sp>
      <p:cxnSp>
        <p:nvCxnSpPr>
          <p:cNvPr id="15" name="14 Conector recto"/>
          <p:cNvCxnSpPr/>
          <p:nvPr/>
        </p:nvCxnSpPr>
        <p:spPr>
          <a:xfrm>
            <a:off x="0" y="2928938"/>
            <a:ext cx="1643063" cy="15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a:off x="0" y="4427538"/>
            <a:ext cx="1643063" cy="158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17 Conector recto"/>
          <p:cNvCxnSpPr>
            <a:stCxn id="0" idx="2"/>
            <a:endCxn id="0" idx="0"/>
          </p:cNvCxnSpPr>
          <p:nvPr/>
        </p:nvCxnSpPr>
        <p:spPr>
          <a:xfrm rot="16200000" flipH="1">
            <a:off x="3328988" y="1200150"/>
            <a:ext cx="942975" cy="3114675"/>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18 Conector recto"/>
          <p:cNvCxnSpPr>
            <a:stCxn id="0" idx="2"/>
            <a:endCxn id="0" idx="0"/>
          </p:cNvCxnSpPr>
          <p:nvPr/>
        </p:nvCxnSpPr>
        <p:spPr>
          <a:xfrm rot="16200000" flipH="1">
            <a:off x="4293394" y="2164556"/>
            <a:ext cx="942975" cy="118586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21 Conector recto"/>
          <p:cNvCxnSpPr>
            <a:stCxn id="0" idx="2"/>
            <a:endCxn id="0" idx="0"/>
          </p:cNvCxnSpPr>
          <p:nvPr/>
        </p:nvCxnSpPr>
        <p:spPr>
          <a:xfrm rot="5400000">
            <a:off x="5336381" y="2307432"/>
            <a:ext cx="942975" cy="90011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 name="24 Conector recto"/>
          <p:cNvCxnSpPr>
            <a:stCxn id="0" idx="2"/>
            <a:endCxn id="0" idx="0"/>
          </p:cNvCxnSpPr>
          <p:nvPr/>
        </p:nvCxnSpPr>
        <p:spPr>
          <a:xfrm rot="5400000">
            <a:off x="6372225" y="1271588"/>
            <a:ext cx="942975" cy="297180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28 Conector recto"/>
          <p:cNvCxnSpPr>
            <a:stCxn id="0" idx="2"/>
            <a:endCxn id="0" idx="0"/>
          </p:cNvCxnSpPr>
          <p:nvPr/>
        </p:nvCxnSpPr>
        <p:spPr>
          <a:xfrm rot="5400000">
            <a:off x="4994276" y="4508500"/>
            <a:ext cx="728662" cy="158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down)">
                                      <p:cBhvr>
                                        <p:cTn id="10" dur="500"/>
                                        <p:tgtEl>
                                          <p:spTgt spid="13"/>
                                        </p:tgtEl>
                                      </p:cBhvr>
                                    </p:animEffect>
                                  </p:childTnLst>
                                </p:cTn>
                              </p:par>
                              <p:par>
                                <p:cTn id="11" presetID="22" presetClass="entr" presetSubtype="4"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down)">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wipe(down)">
                                      <p:cBhvr>
                                        <p:cTn id="18" dur="500"/>
                                        <p:tgtEl>
                                          <p:spTgt spid="29"/>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500"/>
                                        <p:tgtEl>
                                          <p:spTgt spid="9"/>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down)">
                                      <p:cBhvr>
                                        <p:cTn id="24" dur="500"/>
                                        <p:tgtEl>
                                          <p:spTgt spid="12"/>
                                        </p:tgtEl>
                                      </p:cBhvr>
                                    </p:animEffect>
                                  </p:childTnLst>
                                </p:cTn>
                              </p:par>
                              <p:par>
                                <p:cTn id="25" presetID="22" presetClass="entr" presetSubtype="4"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down)">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down)">
                                      <p:cBhvr>
                                        <p:cTn id="32" dur="500"/>
                                        <p:tgtEl>
                                          <p:spTgt spid="25"/>
                                        </p:tgtEl>
                                      </p:cBhvr>
                                    </p:animEffect>
                                  </p:childTnLst>
                                </p:cTn>
                              </p:par>
                              <p:par>
                                <p:cTn id="33" presetID="22" presetClass="entr" presetSubtype="4" fill="hold"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down)">
                                      <p:cBhvr>
                                        <p:cTn id="35" dur="500"/>
                                        <p:tgtEl>
                                          <p:spTgt spid="3"/>
                                        </p:tgtEl>
                                      </p:cBhvr>
                                    </p:animEffect>
                                  </p:childTnLst>
                                </p:cTn>
                              </p:par>
                              <p:par>
                                <p:cTn id="36" presetID="22" presetClass="entr" presetSubtype="4" fill="hold" nodeType="with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par>
                                <p:cTn id="39" presetID="22" presetClass="entr" presetSubtype="4" fill="hold" nodeType="with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down)">
                                      <p:cBhvr>
                                        <p:cTn id="41" dur="500"/>
                                        <p:tgtEl>
                                          <p:spTgt spid="5"/>
                                        </p:tgtEl>
                                      </p:cBhvr>
                                    </p:animEffect>
                                  </p:childTnLst>
                                </p:cTn>
                              </p:par>
                              <p:par>
                                <p:cTn id="42" presetID="22" presetClass="entr" presetSubtype="4" fill="hold" nodeType="with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wipe(down)">
                                      <p:cBhvr>
                                        <p:cTn id="44" dur="500"/>
                                        <p:tgtEl>
                                          <p:spTgt spid="6"/>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down)">
                                      <p:cBhvr>
                                        <p:cTn id="47" dur="500"/>
                                        <p:tgtEl>
                                          <p:spTgt spid="8"/>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down)">
                                      <p:cBhvr>
                                        <p:cTn id="50" dur="500"/>
                                        <p:tgtEl>
                                          <p:spTgt spid="11"/>
                                        </p:tgtEl>
                                      </p:cBhvr>
                                    </p:animEffect>
                                  </p:childTnLst>
                                </p:cTn>
                              </p:par>
                              <p:par>
                                <p:cTn id="51" presetID="22" presetClass="entr" presetSubtype="4" fill="hold"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down)">
                                      <p:cBhvr>
                                        <p:cTn id="53" dur="500"/>
                                        <p:tgtEl>
                                          <p:spTgt spid="15"/>
                                        </p:tgtEl>
                                      </p:cBhvr>
                                    </p:animEffect>
                                  </p:childTnLst>
                                </p:cTn>
                              </p:par>
                              <p:par>
                                <p:cTn id="54" presetID="22" presetClass="entr" presetSubtype="4" fill="hold"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down)">
                                      <p:cBhvr>
                                        <p:cTn id="56" dur="500"/>
                                        <p:tgtEl>
                                          <p:spTgt spid="18"/>
                                        </p:tgtEl>
                                      </p:cBhvr>
                                    </p:animEffect>
                                  </p:childTnLst>
                                </p:cTn>
                              </p:par>
                              <p:par>
                                <p:cTn id="57" presetID="22" presetClass="entr" presetSubtype="4"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wipe(down)">
                                      <p:cBhvr>
                                        <p:cTn id="59" dur="500"/>
                                        <p:tgtEl>
                                          <p:spTgt spid="19"/>
                                        </p:tgtEl>
                                      </p:cBhvr>
                                    </p:animEffect>
                                  </p:childTnLst>
                                </p:cTn>
                              </p:par>
                              <p:par>
                                <p:cTn id="60" presetID="22" presetClass="entr" presetSubtype="4"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wipe(down)">
                                      <p:cBhvr>
                                        <p:cTn id="6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2"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77 Grupo"/>
          <p:cNvGrpSpPr>
            <a:grpSpLocks/>
          </p:cNvGrpSpPr>
          <p:nvPr/>
        </p:nvGrpSpPr>
        <p:grpSpPr bwMode="auto">
          <a:xfrm>
            <a:off x="357188" y="714375"/>
            <a:ext cx="6429375" cy="5786438"/>
            <a:chOff x="1197075" y="500042"/>
            <a:chExt cx="6803949" cy="6072230"/>
          </a:xfrm>
        </p:grpSpPr>
        <p:grpSp>
          <p:nvGrpSpPr>
            <p:cNvPr id="44069" name="34 Grupo"/>
            <p:cNvGrpSpPr>
              <a:grpSpLocks/>
            </p:cNvGrpSpPr>
            <p:nvPr/>
          </p:nvGrpSpPr>
          <p:grpSpPr bwMode="auto">
            <a:xfrm>
              <a:off x="1857356" y="500042"/>
              <a:ext cx="6143668" cy="6072230"/>
              <a:chOff x="3600450" y="2601913"/>
              <a:chExt cx="2462213" cy="2463800"/>
            </a:xfrm>
          </p:grpSpPr>
          <p:sp>
            <p:nvSpPr>
              <p:cNvPr id="44071" name="Freeform 14"/>
              <p:cNvSpPr>
                <a:spLocks/>
              </p:cNvSpPr>
              <p:nvPr/>
            </p:nvSpPr>
            <p:spPr bwMode="auto">
              <a:xfrm>
                <a:off x="3862388" y="2765425"/>
                <a:ext cx="2200275" cy="2300288"/>
              </a:xfrm>
              <a:custGeom>
                <a:avLst/>
                <a:gdLst>
                  <a:gd name="T0" fmla="*/ 2147483647 w 1386"/>
                  <a:gd name="T1" fmla="*/ 2147483647 h 1449"/>
                  <a:gd name="T2" fmla="*/ 2147483647 w 1386"/>
                  <a:gd name="T3" fmla="*/ 2147483647 h 1449"/>
                  <a:gd name="T4" fmla="*/ 2147483647 w 1386"/>
                  <a:gd name="T5" fmla="*/ 2147483647 h 1449"/>
                  <a:gd name="T6" fmla="*/ 2147483647 w 1386"/>
                  <a:gd name="T7" fmla="*/ 2147483647 h 1449"/>
                  <a:gd name="T8" fmla="*/ 2147483647 w 1386"/>
                  <a:gd name="T9" fmla="*/ 2147483647 h 1449"/>
                  <a:gd name="T10" fmla="*/ 2147483647 w 1386"/>
                  <a:gd name="T11" fmla="*/ 2147483647 h 1449"/>
                  <a:gd name="T12" fmla="*/ 2147483647 w 1386"/>
                  <a:gd name="T13" fmla="*/ 2147483647 h 1449"/>
                  <a:gd name="T14" fmla="*/ 2147483647 w 1386"/>
                  <a:gd name="T15" fmla="*/ 2147483647 h 1449"/>
                  <a:gd name="T16" fmla="*/ 2147483647 w 1386"/>
                  <a:gd name="T17" fmla="*/ 2147483647 h 1449"/>
                  <a:gd name="T18" fmla="*/ 2147483647 w 1386"/>
                  <a:gd name="T19" fmla="*/ 2147483647 h 1449"/>
                  <a:gd name="T20" fmla="*/ 2147483647 w 1386"/>
                  <a:gd name="T21" fmla="*/ 2147483647 h 1449"/>
                  <a:gd name="T22" fmla="*/ 2147483647 w 1386"/>
                  <a:gd name="T23" fmla="*/ 2147483647 h 1449"/>
                  <a:gd name="T24" fmla="*/ 2147483647 w 1386"/>
                  <a:gd name="T25" fmla="*/ 2147483647 h 1449"/>
                  <a:gd name="T26" fmla="*/ 2147483647 w 1386"/>
                  <a:gd name="T27" fmla="*/ 2147483647 h 1449"/>
                  <a:gd name="T28" fmla="*/ 2147483647 w 1386"/>
                  <a:gd name="T29" fmla="*/ 2147483647 h 1449"/>
                  <a:gd name="T30" fmla="*/ 2147483647 w 1386"/>
                  <a:gd name="T31" fmla="*/ 2147483647 h 1449"/>
                  <a:gd name="T32" fmla="*/ 2147483647 w 1386"/>
                  <a:gd name="T33" fmla="*/ 2147483647 h 1449"/>
                  <a:gd name="T34" fmla="*/ 2147483647 w 1386"/>
                  <a:gd name="T35" fmla="*/ 2147483647 h 1449"/>
                  <a:gd name="T36" fmla="*/ 2147483647 w 1386"/>
                  <a:gd name="T37" fmla="*/ 2147483647 h 1449"/>
                  <a:gd name="T38" fmla="*/ 2147483647 w 1386"/>
                  <a:gd name="T39" fmla="*/ 2147483647 h 1449"/>
                  <a:gd name="T40" fmla="*/ 2147483647 w 1386"/>
                  <a:gd name="T41" fmla="*/ 2147483647 h 1449"/>
                  <a:gd name="T42" fmla="*/ 2147483647 w 1386"/>
                  <a:gd name="T43" fmla="*/ 2147483647 h 1449"/>
                  <a:gd name="T44" fmla="*/ 2147483647 w 1386"/>
                  <a:gd name="T45" fmla="*/ 2147483647 h 1449"/>
                  <a:gd name="T46" fmla="*/ 2147483647 w 1386"/>
                  <a:gd name="T47" fmla="*/ 2147483647 h 1449"/>
                  <a:gd name="T48" fmla="*/ 2147483647 w 1386"/>
                  <a:gd name="T49" fmla="*/ 2147483647 h 1449"/>
                  <a:gd name="T50" fmla="*/ 2147483647 w 1386"/>
                  <a:gd name="T51" fmla="*/ 2147483647 h 1449"/>
                  <a:gd name="T52" fmla="*/ 2147483647 w 1386"/>
                  <a:gd name="T53" fmla="*/ 2147483647 h 1449"/>
                  <a:gd name="T54" fmla="*/ 2147483647 w 1386"/>
                  <a:gd name="T55" fmla="*/ 2147483647 h 1449"/>
                  <a:gd name="T56" fmla="*/ 2147483647 w 1386"/>
                  <a:gd name="T57" fmla="*/ 2147483647 h 1449"/>
                  <a:gd name="T58" fmla="*/ 2147483647 w 1386"/>
                  <a:gd name="T59" fmla="*/ 2147483647 h 1449"/>
                  <a:gd name="T60" fmla="*/ 2147483647 w 1386"/>
                  <a:gd name="T61" fmla="*/ 2147483647 h 1449"/>
                  <a:gd name="T62" fmla="*/ 2147483647 w 1386"/>
                  <a:gd name="T63" fmla="*/ 2147483647 h 144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386"/>
                  <a:gd name="T97" fmla="*/ 0 h 1449"/>
                  <a:gd name="T98" fmla="*/ 1386 w 1386"/>
                  <a:gd name="T99" fmla="*/ 1449 h 144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386" h="1449">
                    <a:moveTo>
                      <a:pt x="1379" y="776"/>
                    </a:moveTo>
                    <a:lnTo>
                      <a:pt x="1386" y="658"/>
                    </a:lnTo>
                    <a:lnTo>
                      <a:pt x="1375" y="541"/>
                    </a:lnTo>
                    <a:lnTo>
                      <a:pt x="1350" y="431"/>
                    </a:lnTo>
                    <a:lnTo>
                      <a:pt x="1305" y="328"/>
                    </a:lnTo>
                    <a:lnTo>
                      <a:pt x="1247" y="228"/>
                    </a:lnTo>
                    <a:lnTo>
                      <a:pt x="1177" y="140"/>
                    </a:lnTo>
                    <a:lnTo>
                      <a:pt x="1096" y="66"/>
                    </a:lnTo>
                    <a:lnTo>
                      <a:pt x="1000" y="0"/>
                    </a:lnTo>
                    <a:lnTo>
                      <a:pt x="1044" y="63"/>
                    </a:lnTo>
                    <a:lnTo>
                      <a:pt x="1081" y="129"/>
                    </a:lnTo>
                    <a:lnTo>
                      <a:pt x="1114" y="199"/>
                    </a:lnTo>
                    <a:lnTo>
                      <a:pt x="1136" y="272"/>
                    </a:lnTo>
                    <a:lnTo>
                      <a:pt x="1155" y="346"/>
                    </a:lnTo>
                    <a:lnTo>
                      <a:pt x="1162" y="423"/>
                    </a:lnTo>
                    <a:lnTo>
                      <a:pt x="1162" y="500"/>
                    </a:lnTo>
                    <a:lnTo>
                      <a:pt x="1155" y="581"/>
                    </a:lnTo>
                    <a:lnTo>
                      <a:pt x="1140" y="658"/>
                    </a:lnTo>
                    <a:lnTo>
                      <a:pt x="1118" y="732"/>
                    </a:lnTo>
                    <a:lnTo>
                      <a:pt x="1088" y="806"/>
                    </a:lnTo>
                    <a:lnTo>
                      <a:pt x="1055" y="872"/>
                    </a:lnTo>
                    <a:lnTo>
                      <a:pt x="1015" y="934"/>
                    </a:lnTo>
                    <a:lnTo>
                      <a:pt x="967" y="993"/>
                    </a:lnTo>
                    <a:lnTo>
                      <a:pt x="916" y="1045"/>
                    </a:lnTo>
                    <a:lnTo>
                      <a:pt x="857" y="1092"/>
                    </a:lnTo>
                    <a:lnTo>
                      <a:pt x="794" y="1137"/>
                    </a:lnTo>
                    <a:lnTo>
                      <a:pt x="732" y="1173"/>
                    </a:lnTo>
                    <a:lnTo>
                      <a:pt x="662" y="1203"/>
                    </a:lnTo>
                    <a:lnTo>
                      <a:pt x="588" y="1225"/>
                    </a:lnTo>
                    <a:lnTo>
                      <a:pt x="515" y="1243"/>
                    </a:lnTo>
                    <a:lnTo>
                      <a:pt x="441" y="1251"/>
                    </a:lnTo>
                    <a:lnTo>
                      <a:pt x="360" y="1254"/>
                    </a:lnTo>
                    <a:lnTo>
                      <a:pt x="283" y="1247"/>
                    </a:lnTo>
                    <a:lnTo>
                      <a:pt x="246" y="1239"/>
                    </a:lnTo>
                    <a:lnTo>
                      <a:pt x="206" y="1232"/>
                    </a:lnTo>
                    <a:lnTo>
                      <a:pt x="169" y="1221"/>
                    </a:lnTo>
                    <a:lnTo>
                      <a:pt x="136" y="1210"/>
                    </a:lnTo>
                    <a:lnTo>
                      <a:pt x="99" y="1195"/>
                    </a:lnTo>
                    <a:lnTo>
                      <a:pt x="66" y="1181"/>
                    </a:lnTo>
                    <a:lnTo>
                      <a:pt x="33" y="1166"/>
                    </a:lnTo>
                    <a:lnTo>
                      <a:pt x="0" y="1148"/>
                    </a:lnTo>
                    <a:lnTo>
                      <a:pt x="48" y="1203"/>
                    </a:lnTo>
                    <a:lnTo>
                      <a:pt x="99" y="1254"/>
                    </a:lnTo>
                    <a:lnTo>
                      <a:pt x="158" y="1302"/>
                    </a:lnTo>
                    <a:lnTo>
                      <a:pt x="221" y="1342"/>
                    </a:lnTo>
                    <a:lnTo>
                      <a:pt x="283" y="1376"/>
                    </a:lnTo>
                    <a:lnTo>
                      <a:pt x="353" y="1405"/>
                    </a:lnTo>
                    <a:lnTo>
                      <a:pt x="427" y="1427"/>
                    </a:lnTo>
                    <a:lnTo>
                      <a:pt x="504" y="1442"/>
                    </a:lnTo>
                    <a:lnTo>
                      <a:pt x="585" y="1449"/>
                    </a:lnTo>
                    <a:lnTo>
                      <a:pt x="662" y="1449"/>
                    </a:lnTo>
                    <a:lnTo>
                      <a:pt x="739" y="1438"/>
                    </a:lnTo>
                    <a:lnTo>
                      <a:pt x="813" y="1423"/>
                    </a:lnTo>
                    <a:lnTo>
                      <a:pt x="883" y="1398"/>
                    </a:lnTo>
                    <a:lnTo>
                      <a:pt x="952" y="1368"/>
                    </a:lnTo>
                    <a:lnTo>
                      <a:pt x="1019" y="1331"/>
                    </a:lnTo>
                    <a:lnTo>
                      <a:pt x="1081" y="1291"/>
                    </a:lnTo>
                    <a:lnTo>
                      <a:pt x="1136" y="1243"/>
                    </a:lnTo>
                    <a:lnTo>
                      <a:pt x="1188" y="1188"/>
                    </a:lnTo>
                    <a:lnTo>
                      <a:pt x="1236" y="1133"/>
                    </a:lnTo>
                    <a:lnTo>
                      <a:pt x="1276" y="1067"/>
                    </a:lnTo>
                    <a:lnTo>
                      <a:pt x="1313" y="1000"/>
                    </a:lnTo>
                    <a:lnTo>
                      <a:pt x="1342" y="931"/>
                    </a:lnTo>
                    <a:lnTo>
                      <a:pt x="1364" y="853"/>
                    </a:lnTo>
                    <a:lnTo>
                      <a:pt x="1379" y="776"/>
                    </a:lnTo>
                    <a:close/>
                  </a:path>
                </a:pathLst>
              </a:custGeom>
              <a:solidFill>
                <a:srgbClr val="60C6F7"/>
              </a:solidFill>
              <a:ln w="9525">
                <a:noFill/>
                <a:round/>
                <a:headEnd/>
                <a:tailEnd/>
              </a:ln>
            </p:spPr>
            <p:txBody>
              <a:bodyPr/>
              <a:lstStyle/>
              <a:p>
                <a:endParaRPr lang="es-ES"/>
              </a:p>
            </p:txBody>
          </p:sp>
          <p:sp>
            <p:nvSpPr>
              <p:cNvPr id="44072" name="Freeform 15"/>
              <p:cNvSpPr>
                <a:spLocks/>
              </p:cNvSpPr>
              <p:nvPr/>
            </p:nvSpPr>
            <p:spPr bwMode="auto">
              <a:xfrm>
                <a:off x="3600450" y="2601913"/>
                <a:ext cx="2106613" cy="2154238"/>
              </a:xfrm>
              <a:custGeom>
                <a:avLst/>
                <a:gdLst>
                  <a:gd name="T0" fmla="*/ 2147483647 w 1327"/>
                  <a:gd name="T1" fmla="*/ 2147483647 h 1357"/>
                  <a:gd name="T2" fmla="*/ 2147483647 w 1327"/>
                  <a:gd name="T3" fmla="*/ 2147483647 h 1357"/>
                  <a:gd name="T4" fmla="*/ 2147483647 w 1327"/>
                  <a:gd name="T5" fmla="*/ 2147483647 h 1357"/>
                  <a:gd name="T6" fmla="*/ 2147483647 w 1327"/>
                  <a:gd name="T7" fmla="*/ 2147483647 h 1357"/>
                  <a:gd name="T8" fmla="*/ 2147483647 w 1327"/>
                  <a:gd name="T9" fmla="*/ 2147483647 h 1357"/>
                  <a:gd name="T10" fmla="*/ 2147483647 w 1327"/>
                  <a:gd name="T11" fmla="*/ 2147483647 h 1357"/>
                  <a:gd name="T12" fmla="*/ 2147483647 w 1327"/>
                  <a:gd name="T13" fmla="*/ 2147483647 h 1357"/>
                  <a:gd name="T14" fmla="*/ 2147483647 w 1327"/>
                  <a:gd name="T15" fmla="*/ 2147483647 h 1357"/>
                  <a:gd name="T16" fmla="*/ 2147483647 w 1327"/>
                  <a:gd name="T17" fmla="*/ 2147483647 h 1357"/>
                  <a:gd name="T18" fmla="*/ 2147483647 w 1327"/>
                  <a:gd name="T19" fmla="*/ 2147483647 h 1357"/>
                  <a:gd name="T20" fmla="*/ 2147483647 w 1327"/>
                  <a:gd name="T21" fmla="*/ 2147483647 h 1357"/>
                  <a:gd name="T22" fmla="*/ 2147483647 w 1327"/>
                  <a:gd name="T23" fmla="*/ 2147483647 h 1357"/>
                  <a:gd name="T24" fmla="*/ 2147483647 w 1327"/>
                  <a:gd name="T25" fmla="*/ 2147483647 h 1357"/>
                  <a:gd name="T26" fmla="*/ 2147483647 w 1327"/>
                  <a:gd name="T27" fmla="*/ 2147483647 h 1357"/>
                  <a:gd name="T28" fmla="*/ 2147483647 w 1327"/>
                  <a:gd name="T29" fmla="*/ 2147483647 h 1357"/>
                  <a:gd name="T30" fmla="*/ 2147483647 w 1327"/>
                  <a:gd name="T31" fmla="*/ 2147483647 h 1357"/>
                  <a:gd name="T32" fmla="*/ 2147483647 w 1327"/>
                  <a:gd name="T33" fmla="*/ 0 h 1357"/>
                  <a:gd name="T34" fmla="*/ 2147483647 w 1327"/>
                  <a:gd name="T35" fmla="*/ 2147483647 h 1357"/>
                  <a:gd name="T36" fmla="*/ 2147483647 w 1327"/>
                  <a:gd name="T37" fmla="*/ 2147483647 h 1357"/>
                  <a:gd name="T38" fmla="*/ 2147483647 w 1327"/>
                  <a:gd name="T39" fmla="*/ 2147483647 h 1357"/>
                  <a:gd name="T40" fmla="*/ 2147483647 w 1327"/>
                  <a:gd name="T41" fmla="*/ 2147483647 h 1357"/>
                  <a:gd name="T42" fmla="*/ 2147483647 w 1327"/>
                  <a:gd name="T43" fmla="*/ 2147483647 h 1357"/>
                  <a:gd name="T44" fmla="*/ 2147483647 w 1327"/>
                  <a:gd name="T45" fmla="*/ 2147483647 h 1357"/>
                  <a:gd name="T46" fmla="*/ 2147483647 w 1327"/>
                  <a:gd name="T47" fmla="*/ 2147483647 h 1357"/>
                  <a:gd name="T48" fmla="*/ 0 w 1327"/>
                  <a:gd name="T49" fmla="*/ 2147483647 h 1357"/>
                  <a:gd name="T50" fmla="*/ 2147483647 w 1327"/>
                  <a:gd name="T51" fmla="*/ 2147483647 h 1357"/>
                  <a:gd name="T52" fmla="*/ 2147483647 w 1327"/>
                  <a:gd name="T53" fmla="*/ 2147483647 h 1357"/>
                  <a:gd name="T54" fmla="*/ 2147483647 w 1327"/>
                  <a:gd name="T55" fmla="*/ 2147483647 h 1357"/>
                  <a:gd name="T56" fmla="*/ 2147483647 w 1327"/>
                  <a:gd name="T57" fmla="*/ 2147483647 h 1357"/>
                  <a:gd name="T58" fmla="*/ 2147483647 w 1327"/>
                  <a:gd name="T59" fmla="*/ 2147483647 h 1357"/>
                  <a:gd name="T60" fmla="*/ 2147483647 w 1327"/>
                  <a:gd name="T61" fmla="*/ 2147483647 h 1357"/>
                  <a:gd name="T62" fmla="*/ 2147483647 w 1327"/>
                  <a:gd name="T63" fmla="*/ 2147483647 h 13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327"/>
                  <a:gd name="T97" fmla="*/ 0 h 1357"/>
                  <a:gd name="T98" fmla="*/ 1327 w 1327"/>
                  <a:gd name="T99" fmla="*/ 1357 h 13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327" h="1357">
                    <a:moveTo>
                      <a:pt x="448" y="1350"/>
                    </a:moveTo>
                    <a:lnTo>
                      <a:pt x="525" y="1357"/>
                    </a:lnTo>
                    <a:lnTo>
                      <a:pt x="606" y="1354"/>
                    </a:lnTo>
                    <a:lnTo>
                      <a:pt x="680" y="1346"/>
                    </a:lnTo>
                    <a:lnTo>
                      <a:pt x="753" y="1328"/>
                    </a:lnTo>
                    <a:lnTo>
                      <a:pt x="827" y="1306"/>
                    </a:lnTo>
                    <a:lnTo>
                      <a:pt x="897" y="1276"/>
                    </a:lnTo>
                    <a:lnTo>
                      <a:pt x="959" y="1240"/>
                    </a:lnTo>
                    <a:lnTo>
                      <a:pt x="1022" y="1195"/>
                    </a:lnTo>
                    <a:lnTo>
                      <a:pt x="1081" y="1148"/>
                    </a:lnTo>
                    <a:lnTo>
                      <a:pt x="1132" y="1096"/>
                    </a:lnTo>
                    <a:lnTo>
                      <a:pt x="1180" y="1037"/>
                    </a:lnTo>
                    <a:lnTo>
                      <a:pt x="1220" y="975"/>
                    </a:lnTo>
                    <a:lnTo>
                      <a:pt x="1253" y="909"/>
                    </a:lnTo>
                    <a:lnTo>
                      <a:pt x="1283" y="835"/>
                    </a:lnTo>
                    <a:lnTo>
                      <a:pt x="1305" y="761"/>
                    </a:lnTo>
                    <a:lnTo>
                      <a:pt x="1320" y="684"/>
                    </a:lnTo>
                    <a:lnTo>
                      <a:pt x="1327" y="603"/>
                    </a:lnTo>
                    <a:lnTo>
                      <a:pt x="1327" y="526"/>
                    </a:lnTo>
                    <a:lnTo>
                      <a:pt x="1320" y="449"/>
                    </a:lnTo>
                    <a:lnTo>
                      <a:pt x="1301" y="375"/>
                    </a:lnTo>
                    <a:lnTo>
                      <a:pt x="1279" y="302"/>
                    </a:lnTo>
                    <a:lnTo>
                      <a:pt x="1246" y="232"/>
                    </a:lnTo>
                    <a:lnTo>
                      <a:pt x="1209" y="166"/>
                    </a:lnTo>
                    <a:lnTo>
                      <a:pt x="1165" y="103"/>
                    </a:lnTo>
                    <a:lnTo>
                      <a:pt x="1132" y="85"/>
                    </a:lnTo>
                    <a:lnTo>
                      <a:pt x="1099" y="70"/>
                    </a:lnTo>
                    <a:lnTo>
                      <a:pt x="1066" y="55"/>
                    </a:lnTo>
                    <a:lnTo>
                      <a:pt x="1029" y="41"/>
                    </a:lnTo>
                    <a:lnTo>
                      <a:pt x="992" y="30"/>
                    </a:lnTo>
                    <a:lnTo>
                      <a:pt x="956" y="19"/>
                    </a:lnTo>
                    <a:lnTo>
                      <a:pt x="919" y="11"/>
                    </a:lnTo>
                    <a:lnTo>
                      <a:pt x="878" y="8"/>
                    </a:lnTo>
                    <a:lnTo>
                      <a:pt x="801" y="0"/>
                    </a:lnTo>
                    <a:lnTo>
                      <a:pt x="724" y="0"/>
                    </a:lnTo>
                    <a:lnTo>
                      <a:pt x="647" y="11"/>
                    </a:lnTo>
                    <a:lnTo>
                      <a:pt x="573" y="26"/>
                    </a:lnTo>
                    <a:lnTo>
                      <a:pt x="503" y="48"/>
                    </a:lnTo>
                    <a:lnTo>
                      <a:pt x="433" y="81"/>
                    </a:lnTo>
                    <a:lnTo>
                      <a:pt x="367" y="114"/>
                    </a:lnTo>
                    <a:lnTo>
                      <a:pt x="308" y="158"/>
                    </a:lnTo>
                    <a:lnTo>
                      <a:pt x="250" y="206"/>
                    </a:lnTo>
                    <a:lnTo>
                      <a:pt x="198" y="258"/>
                    </a:lnTo>
                    <a:lnTo>
                      <a:pt x="150" y="317"/>
                    </a:lnTo>
                    <a:lnTo>
                      <a:pt x="110" y="379"/>
                    </a:lnTo>
                    <a:lnTo>
                      <a:pt x="73" y="445"/>
                    </a:lnTo>
                    <a:lnTo>
                      <a:pt x="44" y="515"/>
                    </a:lnTo>
                    <a:lnTo>
                      <a:pt x="22" y="589"/>
                    </a:lnTo>
                    <a:lnTo>
                      <a:pt x="7" y="666"/>
                    </a:lnTo>
                    <a:lnTo>
                      <a:pt x="0" y="747"/>
                    </a:lnTo>
                    <a:lnTo>
                      <a:pt x="3" y="828"/>
                    </a:lnTo>
                    <a:lnTo>
                      <a:pt x="11" y="905"/>
                    </a:lnTo>
                    <a:lnTo>
                      <a:pt x="29" y="978"/>
                    </a:lnTo>
                    <a:lnTo>
                      <a:pt x="51" y="1052"/>
                    </a:lnTo>
                    <a:lnTo>
                      <a:pt x="84" y="1122"/>
                    </a:lnTo>
                    <a:lnTo>
                      <a:pt x="121" y="1188"/>
                    </a:lnTo>
                    <a:lnTo>
                      <a:pt x="165" y="1251"/>
                    </a:lnTo>
                    <a:lnTo>
                      <a:pt x="198" y="1269"/>
                    </a:lnTo>
                    <a:lnTo>
                      <a:pt x="231" y="1284"/>
                    </a:lnTo>
                    <a:lnTo>
                      <a:pt x="264" y="1298"/>
                    </a:lnTo>
                    <a:lnTo>
                      <a:pt x="301" y="1313"/>
                    </a:lnTo>
                    <a:lnTo>
                      <a:pt x="334" y="1324"/>
                    </a:lnTo>
                    <a:lnTo>
                      <a:pt x="371" y="1335"/>
                    </a:lnTo>
                    <a:lnTo>
                      <a:pt x="411" y="1342"/>
                    </a:lnTo>
                    <a:lnTo>
                      <a:pt x="448" y="1350"/>
                    </a:lnTo>
                    <a:close/>
                  </a:path>
                </a:pathLst>
              </a:custGeom>
              <a:solidFill>
                <a:srgbClr val="9BEDFF"/>
              </a:solidFill>
              <a:ln w="9525">
                <a:noFill/>
                <a:round/>
                <a:headEnd/>
                <a:tailEnd/>
              </a:ln>
            </p:spPr>
            <p:txBody>
              <a:bodyPr/>
              <a:lstStyle/>
              <a:p>
                <a:endParaRPr lang="es-ES"/>
              </a:p>
            </p:txBody>
          </p:sp>
          <p:sp>
            <p:nvSpPr>
              <p:cNvPr id="44073" name="Freeform 16"/>
              <p:cNvSpPr>
                <a:spLocks/>
              </p:cNvSpPr>
              <p:nvPr/>
            </p:nvSpPr>
            <p:spPr bwMode="auto">
              <a:xfrm>
                <a:off x="4941888" y="2689225"/>
                <a:ext cx="309563" cy="409575"/>
              </a:xfrm>
              <a:custGeom>
                <a:avLst/>
                <a:gdLst>
                  <a:gd name="T0" fmla="*/ 2147483647 w 195"/>
                  <a:gd name="T1" fmla="*/ 2147483647 h 258"/>
                  <a:gd name="T2" fmla="*/ 2147483647 w 195"/>
                  <a:gd name="T3" fmla="*/ 2147483647 h 258"/>
                  <a:gd name="T4" fmla="*/ 2147483647 w 195"/>
                  <a:gd name="T5" fmla="*/ 2147483647 h 258"/>
                  <a:gd name="T6" fmla="*/ 2147483647 w 195"/>
                  <a:gd name="T7" fmla="*/ 2147483647 h 258"/>
                  <a:gd name="T8" fmla="*/ 2147483647 w 195"/>
                  <a:gd name="T9" fmla="*/ 2147483647 h 258"/>
                  <a:gd name="T10" fmla="*/ 2147483647 w 195"/>
                  <a:gd name="T11" fmla="*/ 2147483647 h 258"/>
                  <a:gd name="T12" fmla="*/ 2147483647 w 195"/>
                  <a:gd name="T13" fmla="*/ 2147483647 h 258"/>
                  <a:gd name="T14" fmla="*/ 2147483647 w 195"/>
                  <a:gd name="T15" fmla="*/ 2147483647 h 258"/>
                  <a:gd name="T16" fmla="*/ 2147483647 w 195"/>
                  <a:gd name="T17" fmla="*/ 2147483647 h 258"/>
                  <a:gd name="T18" fmla="*/ 2147483647 w 195"/>
                  <a:gd name="T19" fmla="*/ 2147483647 h 258"/>
                  <a:gd name="T20" fmla="*/ 2147483647 w 195"/>
                  <a:gd name="T21" fmla="*/ 2147483647 h 258"/>
                  <a:gd name="T22" fmla="*/ 2147483647 w 195"/>
                  <a:gd name="T23" fmla="*/ 2147483647 h 258"/>
                  <a:gd name="T24" fmla="*/ 2147483647 w 195"/>
                  <a:gd name="T25" fmla="*/ 2147483647 h 258"/>
                  <a:gd name="T26" fmla="*/ 2147483647 w 195"/>
                  <a:gd name="T27" fmla="*/ 2147483647 h 258"/>
                  <a:gd name="T28" fmla="*/ 2147483647 w 195"/>
                  <a:gd name="T29" fmla="*/ 2147483647 h 258"/>
                  <a:gd name="T30" fmla="*/ 2147483647 w 195"/>
                  <a:gd name="T31" fmla="*/ 2147483647 h 258"/>
                  <a:gd name="T32" fmla="*/ 2147483647 w 195"/>
                  <a:gd name="T33" fmla="*/ 2147483647 h 258"/>
                  <a:gd name="T34" fmla="*/ 2147483647 w 195"/>
                  <a:gd name="T35" fmla="*/ 2147483647 h 258"/>
                  <a:gd name="T36" fmla="*/ 2147483647 w 195"/>
                  <a:gd name="T37" fmla="*/ 2147483647 h 258"/>
                  <a:gd name="T38" fmla="*/ 2147483647 w 195"/>
                  <a:gd name="T39" fmla="*/ 2147483647 h 258"/>
                  <a:gd name="T40" fmla="*/ 2147483647 w 195"/>
                  <a:gd name="T41" fmla="*/ 2147483647 h 258"/>
                  <a:gd name="T42" fmla="*/ 2147483647 w 195"/>
                  <a:gd name="T43" fmla="*/ 2147483647 h 258"/>
                  <a:gd name="T44" fmla="*/ 0 w 195"/>
                  <a:gd name="T45" fmla="*/ 2147483647 h 258"/>
                  <a:gd name="T46" fmla="*/ 0 w 195"/>
                  <a:gd name="T47" fmla="*/ 2147483647 h 258"/>
                  <a:gd name="T48" fmla="*/ 2147483647 w 195"/>
                  <a:gd name="T49" fmla="*/ 2147483647 h 258"/>
                  <a:gd name="T50" fmla="*/ 2147483647 w 195"/>
                  <a:gd name="T51" fmla="*/ 2147483647 h 258"/>
                  <a:gd name="T52" fmla="*/ 2147483647 w 195"/>
                  <a:gd name="T53" fmla="*/ 2147483647 h 258"/>
                  <a:gd name="T54" fmla="*/ 2147483647 w 195"/>
                  <a:gd name="T55" fmla="*/ 2147483647 h 258"/>
                  <a:gd name="T56" fmla="*/ 2147483647 w 195"/>
                  <a:gd name="T57" fmla="*/ 0 h 258"/>
                  <a:gd name="T58" fmla="*/ 2147483647 w 195"/>
                  <a:gd name="T59" fmla="*/ 2147483647 h 25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95"/>
                  <a:gd name="T91" fmla="*/ 0 h 258"/>
                  <a:gd name="T92" fmla="*/ 195 w 195"/>
                  <a:gd name="T93" fmla="*/ 258 h 25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95" h="258">
                    <a:moveTo>
                      <a:pt x="100" y="8"/>
                    </a:moveTo>
                    <a:lnTo>
                      <a:pt x="107" y="11"/>
                    </a:lnTo>
                    <a:lnTo>
                      <a:pt x="122" y="23"/>
                    </a:lnTo>
                    <a:lnTo>
                      <a:pt x="144" y="37"/>
                    </a:lnTo>
                    <a:lnTo>
                      <a:pt x="166" y="56"/>
                    </a:lnTo>
                    <a:lnTo>
                      <a:pt x="184" y="81"/>
                    </a:lnTo>
                    <a:lnTo>
                      <a:pt x="195" y="103"/>
                    </a:lnTo>
                    <a:lnTo>
                      <a:pt x="192" y="129"/>
                    </a:lnTo>
                    <a:lnTo>
                      <a:pt x="173" y="151"/>
                    </a:lnTo>
                    <a:lnTo>
                      <a:pt x="147" y="173"/>
                    </a:lnTo>
                    <a:lnTo>
                      <a:pt x="140" y="195"/>
                    </a:lnTo>
                    <a:lnTo>
                      <a:pt x="136" y="217"/>
                    </a:lnTo>
                    <a:lnTo>
                      <a:pt x="125" y="243"/>
                    </a:lnTo>
                    <a:lnTo>
                      <a:pt x="103" y="258"/>
                    </a:lnTo>
                    <a:lnTo>
                      <a:pt x="78" y="251"/>
                    </a:lnTo>
                    <a:lnTo>
                      <a:pt x="59" y="225"/>
                    </a:lnTo>
                    <a:lnTo>
                      <a:pt x="67" y="192"/>
                    </a:lnTo>
                    <a:lnTo>
                      <a:pt x="81" y="159"/>
                    </a:lnTo>
                    <a:lnTo>
                      <a:pt x="85" y="129"/>
                    </a:lnTo>
                    <a:lnTo>
                      <a:pt x="70" y="111"/>
                    </a:lnTo>
                    <a:lnTo>
                      <a:pt x="30" y="103"/>
                    </a:lnTo>
                    <a:lnTo>
                      <a:pt x="11" y="100"/>
                    </a:lnTo>
                    <a:lnTo>
                      <a:pt x="0" y="89"/>
                    </a:lnTo>
                    <a:lnTo>
                      <a:pt x="0" y="70"/>
                    </a:lnTo>
                    <a:lnTo>
                      <a:pt x="11" y="52"/>
                    </a:lnTo>
                    <a:lnTo>
                      <a:pt x="26" y="30"/>
                    </a:lnTo>
                    <a:lnTo>
                      <a:pt x="44" y="15"/>
                    </a:lnTo>
                    <a:lnTo>
                      <a:pt x="67" y="4"/>
                    </a:lnTo>
                    <a:lnTo>
                      <a:pt x="89" y="0"/>
                    </a:lnTo>
                    <a:lnTo>
                      <a:pt x="100" y="8"/>
                    </a:lnTo>
                    <a:close/>
                  </a:path>
                </a:pathLst>
              </a:custGeom>
              <a:solidFill>
                <a:srgbClr val="8C6021"/>
              </a:solidFill>
              <a:ln w="9525">
                <a:noFill/>
                <a:round/>
                <a:headEnd/>
                <a:tailEnd/>
              </a:ln>
            </p:spPr>
            <p:txBody>
              <a:bodyPr/>
              <a:lstStyle/>
              <a:p>
                <a:endParaRPr lang="es-ES"/>
              </a:p>
            </p:txBody>
          </p:sp>
          <p:sp>
            <p:nvSpPr>
              <p:cNvPr id="44074" name="Freeform 17"/>
              <p:cNvSpPr>
                <a:spLocks/>
              </p:cNvSpPr>
              <p:nvPr/>
            </p:nvSpPr>
            <p:spPr bwMode="auto">
              <a:xfrm>
                <a:off x="4697413" y="2743200"/>
                <a:ext cx="180975" cy="168275"/>
              </a:xfrm>
              <a:custGeom>
                <a:avLst/>
                <a:gdLst>
                  <a:gd name="T0" fmla="*/ 2147483647 w 114"/>
                  <a:gd name="T1" fmla="*/ 2147483647 h 106"/>
                  <a:gd name="T2" fmla="*/ 2147483647 w 114"/>
                  <a:gd name="T3" fmla="*/ 2147483647 h 106"/>
                  <a:gd name="T4" fmla="*/ 2147483647 w 114"/>
                  <a:gd name="T5" fmla="*/ 2147483647 h 106"/>
                  <a:gd name="T6" fmla="*/ 2147483647 w 114"/>
                  <a:gd name="T7" fmla="*/ 2147483647 h 106"/>
                  <a:gd name="T8" fmla="*/ 2147483647 w 114"/>
                  <a:gd name="T9" fmla="*/ 2147483647 h 106"/>
                  <a:gd name="T10" fmla="*/ 2147483647 w 114"/>
                  <a:gd name="T11" fmla="*/ 2147483647 h 106"/>
                  <a:gd name="T12" fmla="*/ 2147483647 w 114"/>
                  <a:gd name="T13" fmla="*/ 2147483647 h 106"/>
                  <a:gd name="T14" fmla="*/ 2147483647 w 114"/>
                  <a:gd name="T15" fmla="*/ 2147483647 h 106"/>
                  <a:gd name="T16" fmla="*/ 2147483647 w 114"/>
                  <a:gd name="T17" fmla="*/ 2147483647 h 106"/>
                  <a:gd name="T18" fmla="*/ 2147483647 w 114"/>
                  <a:gd name="T19" fmla="*/ 0 h 106"/>
                  <a:gd name="T20" fmla="*/ 2147483647 w 114"/>
                  <a:gd name="T21" fmla="*/ 0 h 106"/>
                  <a:gd name="T22" fmla="*/ 0 w 114"/>
                  <a:gd name="T23" fmla="*/ 2147483647 h 106"/>
                  <a:gd name="T24" fmla="*/ 2147483647 w 114"/>
                  <a:gd name="T25" fmla="*/ 2147483647 h 106"/>
                  <a:gd name="T26" fmla="*/ 2147483647 w 114"/>
                  <a:gd name="T27" fmla="*/ 2147483647 h 106"/>
                  <a:gd name="T28" fmla="*/ 2147483647 w 114"/>
                  <a:gd name="T29" fmla="*/ 2147483647 h 106"/>
                  <a:gd name="T30" fmla="*/ 2147483647 w 114"/>
                  <a:gd name="T31" fmla="*/ 2147483647 h 106"/>
                  <a:gd name="T32" fmla="*/ 2147483647 w 114"/>
                  <a:gd name="T33" fmla="*/ 2147483647 h 10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4"/>
                  <a:gd name="T52" fmla="*/ 0 h 106"/>
                  <a:gd name="T53" fmla="*/ 114 w 114"/>
                  <a:gd name="T54" fmla="*/ 106 h 10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4" h="106">
                    <a:moveTo>
                      <a:pt x="44" y="58"/>
                    </a:moveTo>
                    <a:lnTo>
                      <a:pt x="40" y="62"/>
                    </a:lnTo>
                    <a:lnTo>
                      <a:pt x="40" y="77"/>
                    </a:lnTo>
                    <a:lnTo>
                      <a:pt x="48" y="91"/>
                    </a:lnTo>
                    <a:lnTo>
                      <a:pt x="73" y="106"/>
                    </a:lnTo>
                    <a:lnTo>
                      <a:pt x="103" y="103"/>
                    </a:lnTo>
                    <a:lnTo>
                      <a:pt x="114" y="77"/>
                    </a:lnTo>
                    <a:lnTo>
                      <a:pt x="107" y="44"/>
                    </a:lnTo>
                    <a:lnTo>
                      <a:pt x="81" y="14"/>
                    </a:lnTo>
                    <a:lnTo>
                      <a:pt x="44" y="0"/>
                    </a:lnTo>
                    <a:lnTo>
                      <a:pt x="15" y="0"/>
                    </a:lnTo>
                    <a:lnTo>
                      <a:pt x="0" y="11"/>
                    </a:lnTo>
                    <a:lnTo>
                      <a:pt x="4" y="18"/>
                    </a:lnTo>
                    <a:lnTo>
                      <a:pt x="22" y="25"/>
                    </a:lnTo>
                    <a:lnTo>
                      <a:pt x="37" y="33"/>
                    </a:lnTo>
                    <a:lnTo>
                      <a:pt x="48" y="44"/>
                    </a:lnTo>
                    <a:lnTo>
                      <a:pt x="44" y="58"/>
                    </a:lnTo>
                    <a:close/>
                  </a:path>
                </a:pathLst>
              </a:custGeom>
              <a:solidFill>
                <a:srgbClr val="8C6021"/>
              </a:solidFill>
              <a:ln w="9525">
                <a:noFill/>
                <a:round/>
                <a:headEnd/>
                <a:tailEnd/>
              </a:ln>
            </p:spPr>
            <p:txBody>
              <a:bodyPr/>
              <a:lstStyle/>
              <a:p>
                <a:endParaRPr lang="es-ES"/>
              </a:p>
            </p:txBody>
          </p:sp>
          <p:sp>
            <p:nvSpPr>
              <p:cNvPr id="44075" name="Freeform 18"/>
              <p:cNvSpPr>
                <a:spLocks/>
              </p:cNvSpPr>
              <p:nvPr/>
            </p:nvSpPr>
            <p:spPr bwMode="auto">
              <a:xfrm>
                <a:off x="4540250" y="2713038"/>
                <a:ext cx="104775" cy="41275"/>
              </a:xfrm>
              <a:custGeom>
                <a:avLst/>
                <a:gdLst>
                  <a:gd name="T0" fmla="*/ 2147483647 w 66"/>
                  <a:gd name="T1" fmla="*/ 2147483647 h 26"/>
                  <a:gd name="T2" fmla="*/ 2147483647 w 66"/>
                  <a:gd name="T3" fmla="*/ 2147483647 h 26"/>
                  <a:gd name="T4" fmla="*/ 2147483647 w 66"/>
                  <a:gd name="T5" fmla="*/ 2147483647 h 26"/>
                  <a:gd name="T6" fmla="*/ 2147483647 w 66"/>
                  <a:gd name="T7" fmla="*/ 0 h 26"/>
                  <a:gd name="T8" fmla="*/ 2147483647 w 66"/>
                  <a:gd name="T9" fmla="*/ 2147483647 h 26"/>
                  <a:gd name="T10" fmla="*/ 0 w 66"/>
                  <a:gd name="T11" fmla="*/ 2147483647 h 26"/>
                  <a:gd name="T12" fmla="*/ 2147483647 w 66"/>
                  <a:gd name="T13" fmla="*/ 2147483647 h 26"/>
                  <a:gd name="T14" fmla="*/ 2147483647 w 66"/>
                  <a:gd name="T15" fmla="*/ 2147483647 h 26"/>
                  <a:gd name="T16" fmla="*/ 2147483647 w 66"/>
                  <a:gd name="T17" fmla="*/ 2147483647 h 26"/>
                  <a:gd name="T18" fmla="*/ 2147483647 w 66"/>
                  <a:gd name="T19" fmla="*/ 2147483647 h 26"/>
                  <a:gd name="T20" fmla="*/ 2147483647 w 66"/>
                  <a:gd name="T21" fmla="*/ 2147483647 h 26"/>
                  <a:gd name="T22" fmla="*/ 2147483647 w 66"/>
                  <a:gd name="T23" fmla="*/ 2147483647 h 26"/>
                  <a:gd name="T24" fmla="*/ 2147483647 w 66"/>
                  <a:gd name="T25" fmla="*/ 2147483647 h 2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6"/>
                  <a:gd name="T40" fmla="*/ 0 h 26"/>
                  <a:gd name="T41" fmla="*/ 66 w 66"/>
                  <a:gd name="T42" fmla="*/ 26 h 2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6" h="26">
                    <a:moveTo>
                      <a:pt x="58" y="11"/>
                    </a:moveTo>
                    <a:lnTo>
                      <a:pt x="55" y="8"/>
                    </a:lnTo>
                    <a:lnTo>
                      <a:pt x="40" y="4"/>
                    </a:lnTo>
                    <a:lnTo>
                      <a:pt x="22" y="0"/>
                    </a:lnTo>
                    <a:lnTo>
                      <a:pt x="3" y="4"/>
                    </a:lnTo>
                    <a:lnTo>
                      <a:pt x="0" y="8"/>
                    </a:lnTo>
                    <a:lnTo>
                      <a:pt x="7" y="15"/>
                    </a:lnTo>
                    <a:lnTo>
                      <a:pt x="22" y="19"/>
                    </a:lnTo>
                    <a:lnTo>
                      <a:pt x="36" y="22"/>
                    </a:lnTo>
                    <a:lnTo>
                      <a:pt x="51" y="26"/>
                    </a:lnTo>
                    <a:lnTo>
                      <a:pt x="62" y="26"/>
                    </a:lnTo>
                    <a:lnTo>
                      <a:pt x="66" y="22"/>
                    </a:lnTo>
                    <a:lnTo>
                      <a:pt x="58" y="11"/>
                    </a:lnTo>
                    <a:close/>
                  </a:path>
                </a:pathLst>
              </a:custGeom>
              <a:solidFill>
                <a:srgbClr val="8C6021"/>
              </a:solidFill>
              <a:ln w="9525">
                <a:noFill/>
                <a:round/>
                <a:headEnd/>
                <a:tailEnd/>
              </a:ln>
            </p:spPr>
            <p:txBody>
              <a:bodyPr/>
              <a:lstStyle/>
              <a:p>
                <a:endParaRPr lang="es-ES"/>
              </a:p>
            </p:txBody>
          </p:sp>
          <p:sp>
            <p:nvSpPr>
              <p:cNvPr id="44076" name="Freeform 19"/>
              <p:cNvSpPr>
                <a:spLocks/>
              </p:cNvSpPr>
              <p:nvPr/>
            </p:nvSpPr>
            <p:spPr bwMode="auto">
              <a:xfrm>
                <a:off x="3897313" y="2771775"/>
                <a:ext cx="1062038" cy="2130425"/>
              </a:xfrm>
              <a:custGeom>
                <a:avLst/>
                <a:gdLst>
                  <a:gd name="T0" fmla="*/ 2147483647 w 669"/>
                  <a:gd name="T1" fmla="*/ 2147483647 h 1342"/>
                  <a:gd name="T2" fmla="*/ 2147483647 w 669"/>
                  <a:gd name="T3" fmla="*/ 2147483647 h 1342"/>
                  <a:gd name="T4" fmla="*/ 2147483647 w 669"/>
                  <a:gd name="T5" fmla="*/ 2147483647 h 1342"/>
                  <a:gd name="T6" fmla="*/ 2147483647 w 669"/>
                  <a:gd name="T7" fmla="*/ 2147483647 h 1342"/>
                  <a:gd name="T8" fmla="*/ 2147483647 w 669"/>
                  <a:gd name="T9" fmla="*/ 2147483647 h 1342"/>
                  <a:gd name="T10" fmla="*/ 2147483647 w 669"/>
                  <a:gd name="T11" fmla="*/ 2147483647 h 1342"/>
                  <a:gd name="T12" fmla="*/ 2147483647 w 669"/>
                  <a:gd name="T13" fmla="*/ 2147483647 h 1342"/>
                  <a:gd name="T14" fmla="*/ 2147483647 w 669"/>
                  <a:gd name="T15" fmla="*/ 2147483647 h 1342"/>
                  <a:gd name="T16" fmla="*/ 2147483647 w 669"/>
                  <a:gd name="T17" fmla="*/ 2147483647 h 1342"/>
                  <a:gd name="T18" fmla="*/ 2147483647 w 669"/>
                  <a:gd name="T19" fmla="*/ 2147483647 h 1342"/>
                  <a:gd name="T20" fmla="*/ 2147483647 w 669"/>
                  <a:gd name="T21" fmla="*/ 2147483647 h 1342"/>
                  <a:gd name="T22" fmla="*/ 2147483647 w 669"/>
                  <a:gd name="T23" fmla="*/ 2147483647 h 1342"/>
                  <a:gd name="T24" fmla="*/ 2147483647 w 669"/>
                  <a:gd name="T25" fmla="*/ 2147483647 h 1342"/>
                  <a:gd name="T26" fmla="*/ 2147483647 w 669"/>
                  <a:gd name="T27" fmla="*/ 2147483647 h 1342"/>
                  <a:gd name="T28" fmla="*/ 2147483647 w 669"/>
                  <a:gd name="T29" fmla="*/ 2147483647 h 1342"/>
                  <a:gd name="T30" fmla="*/ 2147483647 w 669"/>
                  <a:gd name="T31" fmla="*/ 2147483647 h 1342"/>
                  <a:gd name="T32" fmla="*/ 2147483647 w 669"/>
                  <a:gd name="T33" fmla="*/ 2147483647 h 1342"/>
                  <a:gd name="T34" fmla="*/ 2147483647 w 669"/>
                  <a:gd name="T35" fmla="*/ 2147483647 h 1342"/>
                  <a:gd name="T36" fmla="*/ 2147483647 w 669"/>
                  <a:gd name="T37" fmla="*/ 2147483647 h 1342"/>
                  <a:gd name="T38" fmla="*/ 2147483647 w 669"/>
                  <a:gd name="T39" fmla="*/ 2147483647 h 1342"/>
                  <a:gd name="T40" fmla="*/ 2147483647 w 669"/>
                  <a:gd name="T41" fmla="*/ 2147483647 h 1342"/>
                  <a:gd name="T42" fmla="*/ 2147483647 w 669"/>
                  <a:gd name="T43" fmla="*/ 2147483647 h 1342"/>
                  <a:gd name="T44" fmla="*/ 2147483647 w 669"/>
                  <a:gd name="T45" fmla="*/ 2147483647 h 1342"/>
                  <a:gd name="T46" fmla="*/ 2147483647 w 669"/>
                  <a:gd name="T47" fmla="*/ 2147483647 h 1342"/>
                  <a:gd name="T48" fmla="*/ 2147483647 w 669"/>
                  <a:gd name="T49" fmla="*/ 2147483647 h 1342"/>
                  <a:gd name="T50" fmla="*/ 2147483647 w 669"/>
                  <a:gd name="T51" fmla="*/ 2147483647 h 1342"/>
                  <a:gd name="T52" fmla="*/ 2147483647 w 669"/>
                  <a:gd name="T53" fmla="*/ 2147483647 h 1342"/>
                  <a:gd name="T54" fmla="*/ 2147483647 w 669"/>
                  <a:gd name="T55" fmla="*/ 2147483647 h 1342"/>
                  <a:gd name="T56" fmla="*/ 2147483647 w 669"/>
                  <a:gd name="T57" fmla="*/ 2147483647 h 1342"/>
                  <a:gd name="T58" fmla="*/ 2147483647 w 669"/>
                  <a:gd name="T59" fmla="*/ 2147483647 h 1342"/>
                  <a:gd name="T60" fmla="*/ 2147483647 w 669"/>
                  <a:gd name="T61" fmla="*/ 2147483647 h 1342"/>
                  <a:gd name="T62" fmla="*/ 2147483647 w 669"/>
                  <a:gd name="T63" fmla="*/ 2147483647 h 1342"/>
                  <a:gd name="T64" fmla="*/ 2147483647 w 669"/>
                  <a:gd name="T65" fmla="*/ 2147483647 h 1342"/>
                  <a:gd name="T66" fmla="*/ 2147483647 w 669"/>
                  <a:gd name="T67" fmla="*/ 2147483647 h 1342"/>
                  <a:gd name="T68" fmla="*/ 2147483647 w 669"/>
                  <a:gd name="T69" fmla="*/ 2147483647 h 1342"/>
                  <a:gd name="T70" fmla="*/ 2147483647 w 669"/>
                  <a:gd name="T71" fmla="*/ 2147483647 h 1342"/>
                  <a:gd name="T72" fmla="*/ 2147483647 w 669"/>
                  <a:gd name="T73" fmla="*/ 2147483647 h 1342"/>
                  <a:gd name="T74" fmla="*/ 2147483647 w 669"/>
                  <a:gd name="T75" fmla="*/ 2147483647 h 1342"/>
                  <a:gd name="T76" fmla="*/ 2147483647 w 669"/>
                  <a:gd name="T77" fmla="*/ 2147483647 h 1342"/>
                  <a:gd name="T78" fmla="*/ 2147483647 w 669"/>
                  <a:gd name="T79" fmla="*/ 2147483647 h 1342"/>
                  <a:gd name="T80" fmla="*/ 2147483647 w 669"/>
                  <a:gd name="T81" fmla="*/ 2147483647 h 1342"/>
                  <a:gd name="T82" fmla="*/ 2147483647 w 669"/>
                  <a:gd name="T83" fmla="*/ 2147483647 h 1342"/>
                  <a:gd name="T84" fmla="*/ 2147483647 w 669"/>
                  <a:gd name="T85" fmla="*/ 2147483647 h 1342"/>
                  <a:gd name="T86" fmla="*/ 2147483647 w 669"/>
                  <a:gd name="T87" fmla="*/ 2147483647 h 1342"/>
                  <a:gd name="T88" fmla="*/ 2147483647 w 669"/>
                  <a:gd name="T89" fmla="*/ 2147483647 h 1342"/>
                  <a:gd name="T90" fmla="*/ 2147483647 w 669"/>
                  <a:gd name="T91" fmla="*/ 2147483647 h 1342"/>
                  <a:gd name="T92" fmla="*/ 2147483647 w 669"/>
                  <a:gd name="T93" fmla="*/ 2147483647 h 1342"/>
                  <a:gd name="T94" fmla="*/ 2147483647 w 669"/>
                  <a:gd name="T95" fmla="*/ 2147483647 h 1342"/>
                  <a:gd name="T96" fmla="*/ 2147483647 w 669"/>
                  <a:gd name="T97" fmla="*/ 2147483647 h 1342"/>
                  <a:gd name="T98" fmla="*/ 2147483647 w 669"/>
                  <a:gd name="T99" fmla="*/ 2147483647 h 1342"/>
                  <a:gd name="T100" fmla="*/ 2147483647 w 669"/>
                  <a:gd name="T101" fmla="*/ 2147483647 h 1342"/>
                  <a:gd name="T102" fmla="*/ 2147483647 w 669"/>
                  <a:gd name="T103" fmla="*/ 2147483647 h 1342"/>
                  <a:gd name="T104" fmla="*/ 2147483647 w 669"/>
                  <a:gd name="T105" fmla="*/ 2147483647 h 1342"/>
                  <a:gd name="T106" fmla="*/ 2147483647 w 669"/>
                  <a:gd name="T107" fmla="*/ 2147483647 h 1342"/>
                  <a:gd name="T108" fmla="*/ 2147483647 w 669"/>
                  <a:gd name="T109" fmla="*/ 0 h 1342"/>
                  <a:gd name="T110" fmla="*/ 2147483647 w 669"/>
                  <a:gd name="T111" fmla="*/ 2147483647 h 1342"/>
                  <a:gd name="T112" fmla="*/ 2147483647 w 669"/>
                  <a:gd name="T113" fmla="*/ 2147483647 h 1342"/>
                  <a:gd name="T114" fmla="*/ 2147483647 w 669"/>
                  <a:gd name="T115" fmla="*/ 2147483647 h 1342"/>
                  <a:gd name="T116" fmla="*/ 2147483647 w 669"/>
                  <a:gd name="T117" fmla="*/ 2147483647 h 1342"/>
                  <a:gd name="T118" fmla="*/ 2147483647 w 669"/>
                  <a:gd name="T119" fmla="*/ 2147483647 h 1342"/>
                  <a:gd name="T120" fmla="*/ 2147483647 w 669"/>
                  <a:gd name="T121" fmla="*/ 2147483647 h 1342"/>
                  <a:gd name="T122" fmla="*/ 2147483647 w 669"/>
                  <a:gd name="T123" fmla="*/ 2147483647 h 1342"/>
                  <a:gd name="T124" fmla="*/ 2147483647 w 669"/>
                  <a:gd name="T125" fmla="*/ 2147483647 h 134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669"/>
                  <a:gd name="T190" fmla="*/ 0 h 1342"/>
                  <a:gd name="T191" fmla="*/ 669 w 669"/>
                  <a:gd name="T192" fmla="*/ 1342 h 134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669" h="1342">
                    <a:moveTo>
                      <a:pt x="41" y="246"/>
                    </a:moveTo>
                    <a:lnTo>
                      <a:pt x="0" y="309"/>
                    </a:lnTo>
                    <a:lnTo>
                      <a:pt x="7" y="364"/>
                    </a:lnTo>
                    <a:lnTo>
                      <a:pt x="26" y="401"/>
                    </a:lnTo>
                    <a:lnTo>
                      <a:pt x="41" y="415"/>
                    </a:lnTo>
                    <a:lnTo>
                      <a:pt x="41" y="445"/>
                    </a:lnTo>
                    <a:lnTo>
                      <a:pt x="41" y="471"/>
                    </a:lnTo>
                    <a:lnTo>
                      <a:pt x="44" y="496"/>
                    </a:lnTo>
                    <a:lnTo>
                      <a:pt x="55" y="518"/>
                    </a:lnTo>
                    <a:lnTo>
                      <a:pt x="70" y="540"/>
                    </a:lnTo>
                    <a:lnTo>
                      <a:pt x="88" y="559"/>
                    </a:lnTo>
                    <a:lnTo>
                      <a:pt x="114" y="574"/>
                    </a:lnTo>
                    <a:lnTo>
                      <a:pt x="147" y="585"/>
                    </a:lnTo>
                    <a:lnTo>
                      <a:pt x="191" y="614"/>
                    </a:lnTo>
                    <a:lnTo>
                      <a:pt x="206" y="640"/>
                    </a:lnTo>
                    <a:lnTo>
                      <a:pt x="217" y="666"/>
                    </a:lnTo>
                    <a:lnTo>
                      <a:pt x="243" y="677"/>
                    </a:lnTo>
                    <a:lnTo>
                      <a:pt x="276" y="680"/>
                    </a:lnTo>
                    <a:lnTo>
                      <a:pt x="291" y="688"/>
                    </a:lnTo>
                    <a:lnTo>
                      <a:pt x="283" y="706"/>
                    </a:lnTo>
                    <a:lnTo>
                      <a:pt x="250" y="732"/>
                    </a:lnTo>
                    <a:lnTo>
                      <a:pt x="232" y="750"/>
                    </a:lnTo>
                    <a:lnTo>
                      <a:pt x="224" y="780"/>
                    </a:lnTo>
                    <a:lnTo>
                      <a:pt x="224" y="809"/>
                    </a:lnTo>
                    <a:lnTo>
                      <a:pt x="232" y="838"/>
                    </a:lnTo>
                    <a:lnTo>
                      <a:pt x="243" y="868"/>
                    </a:lnTo>
                    <a:lnTo>
                      <a:pt x="258" y="897"/>
                    </a:lnTo>
                    <a:lnTo>
                      <a:pt x="280" y="923"/>
                    </a:lnTo>
                    <a:lnTo>
                      <a:pt x="302" y="938"/>
                    </a:lnTo>
                    <a:lnTo>
                      <a:pt x="327" y="985"/>
                    </a:lnTo>
                    <a:lnTo>
                      <a:pt x="327" y="1063"/>
                    </a:lnTo>
                    <a:lnTo>
                      <a:pt x="320" y="1158"/>
                    </a:lnTo>
                    <a:lnTo>
                      <a:pt x="324" y="1250"/>
                    </a:lnTo>
                    <a:lnTo>
                      <a:pt x="342" y="1313"/>
                    </a:lnTo>
                    <a:lnTo>
                      <a:pt x="375" y="1338"/>
                    </a:lnTo>
                    <a:lnTo>
                      <a:pt x="401" y="1342"/>
                    </a:lnTo>
                    <a:lnTo>
                      <a:pt x="412" y="1342"/>
                    </a:lnTo>
                    <a:lnTo>
                      <a:pt x="405" y="1316"/>
                    </a:lnTo>
                    <a:lnTo>
                      <a:pt x="390" y="1272"/>
                    </a:lnTo>
                    <a:lnTo>
                      <a:pt x="394" y="1224"/>
                    </a:lnTo>
                    <a:lnTo>
                      <a:pt x="430" y="1195"/>
                    </a:lnTo>
                    <a:lnTo>
                      <a:pt x="456" y="1184"/>
                    </a:lnTo>
                    <a:lnTo>
                      <a:pt x="471" y="1166"/>
                    </a:lnTo>
                    <a:lnTo>
                      <a:pt x="482" y="1144"/>
                    </a:lnTo>
                    <a:lnTo>
                      <a:pt x="493" y="1125"/>
                    </a:lnTo>
                    <a:lnTo>
                      <a:pt x="504" y="1103"/>
                    </a:lnTo>
                    <a:lnTo>
                      <a:pt x="515" y="1081"/>
                    </a:lnTo>
                    <a:lnTo>
                      <a:pt x="530" y="1066"/>
                    </a:lnTo>
                    <a:lnTo>
                      <a:pt x="555" y="1055"/>
                    </a:lnTo>
                    <a:lnTo>
                      <a:pt x="592" y="1033"/>
                    </a:lnTo>
                    <a:lnTo>
                      <a:pt x="607" y="1000"/>
                    </a:lnTo>
                    <a:lnTo>
                      <a:pt x="622" y="960"/>
                    </a:lnTo>
                    <a:lnTo>
                      <a:pt x="655" y="916"/>
                    </a:lnTo>
                    <a:lnTo>
                      <a:pt x="669" y="894"/>
                    </a:lnTo>
                    <a:lnTo>
                      <a:pt x="669" y="875"/>
                    </a:lnTo>
                    <a:lnTo>
                      <a:pt x="658" y="860"/>
                    </a:lnTo>
                    <a:lnTo>
                      <a:pt x="640" y="842"/>
                    </a:lnTo>
                    <a:lnTo>
                      <a:pt x="614" y="827"/>
                    </a:lnTo>
                    <a:lnTo>
                      <a:pt x="592" y="813"/>
                    </a:lnTo>
                    <a:lnTo>
                      <a:pt x="570" y="798"/>
                    </a:lnTo>
                    <a:lnTo>
                      <a:pt x="559" y="780"/>
                    </a:lnTo>
                    <a:lnTo>
                      <a:pt x="537" y="746"/>
                    </a:lnTo>
                    <a:lnTo>
                      <a:pt x="511" y="721"/>
                    </a:lnTo>
                    <a:lnTo>
                      <a:pt x="482" y="699"/>
                    </a:lnTo>
                    <a:lnTo>
                      <a:pt x="460" y="677"/>
                    </a:lnTo>
                    <a:lnTo>
                      <a:pt x="449" y="666"/>
                    </a:lnTo>
                    <a:lnTo>
                      <a:pt x="430" y="658"/>
                    </a:lnTo>
                    <a:lnTo>
                      <a:pt x="405" y="654"/>
                    </a:lnTo>
                    <a:lnTo>
                      <a:pt x="379" y="651"/>
                    </a:lnTo>
                    <a:lnTo>
                      <a:pt x="353" y="651"/>
                    </a:lnTo>
                    <a:lnTo>
                      <a:pt x="327" y="651"/>
                    </a:lnTo>
                    <a:lnTo>
                      <a:pt x="309" y="651"/>
                    </a:lnTo>
                    <a:lnTo>
                      <a:pt x="298" y="654"/>
                    </a:lnTo>
                    <a:lnTo>
                      <a:pt x="280" y="654"/>
                    </a:lnTo>
                    <a:lnTo>
                      <a:pt x="261" y="651"/>
                    </a:lnTo>
                    <a:lnTo>
                      <a:pt x="246" y="640"/>
                    </a:lnTo>
                    <a:lnTo>
                      <a:pt x="246" y="625"/>
                    </a:lnTo>
                    <a:lnTo>
                      <a:pt x="254" y="610"/>
                    </a:lnTo>
                    <a:lnTo>
                      <a:pt x="265" y="596"/>
                    </a:lnTo>
                    <a:lnTo>
                      <a:pt x="269" y="585"/>
                    </a:lnTo>
                    <a:lnTo>
                      <a:pt x="254" y="577"/>
                    </a:lnTo>
                    <a:lnTo>
                      <a:pt x="235" y="574"/>
                    </a:lnTo>
                    <a:lnTo>
                      <a:pt x="232" y="574"/>
                    </a:lnTo>
                    <a:lnTo>
                      <a:pt x="235" y="563"/>
                    </a:lnTo>
                    <a:lnTo>
                      <a:pt x="243" y="537"/>
                    </a:lnTo>
                    <a:lnTo>
                      <a:pt x="243" y="522"/>
                    </a:lnTo>
                    <a:lnTo>
                      <a:pt x="232" y="526"/>
                    </a:lnTo>
                    <a:lnTo>
                      <a:pt x="213" y="540"/>
                    </a:lnTo>
                    <a:lnTo>
                      <a:pt x="184" y="544"/>
                    </a:lnTo>
                    <a:lnTo>
                      <a:pt x="162" y="533"/>
                    </a:lnTo>
                    <a:lnTo>
                      <a:pt x="151" y="511"/>
                    </a:lnTo>
                    <a:lnTo>
                      <a:pt x="158" y="489"/>
                    </a:lnTo>
                    <a:lnTo>
                      <a:pt x="173" y="460"/>
                    </a:lnTo>
                    <a:lnTo>
                      <a:pt x="188" y="449"/>
                    </a:lnTo>
                    <a:lnTo>
                      <a:pt x="202" y="441"/>
                    </a:lnTo>
                    <a:lnTo>
                      <a:pt x="224" y="438"/>
                    </a:lnTo>
                    <a:lnTo>
                      <a:pt x="243" y="438"/>
                    </a:lnTo>
                    <a:lnTo>
                      <a:pt x="261" y="441"/>
                    </a:lnTo>
                    <a:lnTo>
                      <a:pt x="280" y="445"/>
                    </a:lnTo>
                    <a:lnTo>
                      <a:pt x="291" y="452"/>
                    </a:lnTo>
                    <a:lnTo>
                      <a:pt x="298" y="463"/>
                    </a:lnTo>
                    <a:lnTo>
                      <a:pt x="305" y="482"/>
                    </a:lnTo>
                    <a:lnTo>
                      <a:pt x="313" y="496"/>
                    </a:lnTo>
                    <a:lnTo>
                      <a:pt x="324" y="500"/>
                    </a:lnTo>
                    <a:lnTo>
                      <a:pt x="327" y="493"/>
                    </a:lnTo>
                    <a:lnTo>
                      <a:pt x="327" y="474"/>
                    </a:lnTo>
                    <a:lnTo>
                      <a:pt x="331" y="460"/>
                    </a:lnTo>
                    <a:lnTo>
                      <a:pt x="338" y="441"/>
                    </a:lnTo>
                    <a:lnTo>
                      <a:pt x="360" y="427"/>
                    </a:lnTo>
                    <a:lnTo>
                      <a:pt x="386" y="408"/>
                    </a:lnTo>
                    <a:lnTo>
                      <a:pt x="408" y="382"/>
                    </a:lnTo>
                    <a:lnTo>
                      <a:pt x="427" y="360"/>
                    </a:lnTo>
                    <a:lnTo>
                      <a:pt x="456" y="338"/>
                    </a:lnTo>
                    <a:lnTo>
                      <a:pt x="485" y="327"/>
                    </a:lnTo>
                    <a:lnTo>
                      <a:pt x="519" y="324"/>
                    </a:lnTo>
                    <a:lnTo>
                      <a:pt x="541" y="320"/>
                    </a:lnTo>
                    <a:lnTo>
                      <a:pt x="555" y="309"/>
                    </a:lnTo>
                    <a:lnTo>
                      <a:pt x="552" y="290"/>
                    </a:lnTo>
                    <a:lnTo>
                      <a:pt x="548" y="279"/>
                    </a:lnTo>
                    <a:lnTo>
                      <a:pt x="552" y="272"/>
                    </a:lnTo>
                    <a:lnTo>
                      <a:pt x="592" y="272"/>
                    </a:lnTo>
                    <a:lnTo>
                      <a:pt x="633" y="265"/>
                    </a:lnTo>
                    <a:lnTo>
                      <a:pt x="636" y="243"/>
                    </a:lnTo>
                    <a:lnTo>
                      <a:pt x="614" y="210"/>
                    </a:lnTo>
                    <a:lnTo>
                      <a:pt x="588" y="180"/>
                    </a:lnTo>
                    <a:lnTo>
                      <a:pt x="563" y="162"/>
                    </a:lnTo>
                    <a:lnTo>
                      <a:pt x="541" y="158"/>
                    </a:lnTo>
                    <a:lnTo>
                      <a:pt x="515" y="173"/>
                    </a:lnTo>
                    <a:lnTo>
                      <a:pt x="493" y="202"/>
                    </a:lnTo>
                    <a:lnTo>
                      <a:pt x="471" y="228"/>
                    </a:lnTo>
                    <a:lnTo>
                      <a:pt x="456" y="235"/>
                    </a:lnTo>
                    <a:lnTo>
                      <a:pt x="445" y="228"/>
                    </a:lnTo>
                    <a:lnTo>
                      <a:pt x="441" y="202"/>
                    </a:lnTo>
                    <a:lnTo>
                      <a:pt x="430" y="184"/>
                    </a:lnTo>
                    <a:lnTo>
                      <a:pt x="408" y="180"/>
                    </a:lnTo>
                    <a:lnTo>
                      <a:pt x="386" y="180"/>
                    </a:lnTo>
                    <a:lnTo>
                      <a:pt x="375" y="162"/>
                    </a:lnTo>
                    <a:lnTo>
                      <a:pt x="383" y="147"/>
                    </a:lnTo>
                    <a:lnTo>
                      <a:pt x="394" y="136"/>
                    </a:lnTo>
                    <a:lnTo>
                      <a:pt x="416" y="125"/>
                    </a:lnTo>
                    <a:lnTo>
                      <a:pt x="441" y="118"/>
                    </a:lnTo>
                    <a:lnTo>
                      <a:pt x="463" y="114"/>
                    </a:lnTo>
                    <a:lnTo>
                      <a:pt x="485" y="110"/>
                    </a:lnTo>
                    <a:lnTo>
                      <a:pt x="497" y="110"/>
                    </a:lnTo>
                    <a:lnTo>
                      <a:pt x="504" y="110"/>
                    </a:lnTo>
                    <a:lnTo>
                      <a:pt x="522" y="103"/>
                    </a:lnTo>
                    <a:lnTo>
                      <a:pt x="511" y="88"/>
                    </a:lnTo>
                    <a:lnTo>
                      <a:pt x="497" y="73"/>
                    </a:lnTo>
                    <a:lnTo>
                      <a:pt x="493" y="59"/>
                    </a:lnTo>
                    <a:lnTo>
                      <a:pt x="493" y="48"/>
                    </a:lnTo>
                    <a:lnTo>
                      <a:pt x="482" y="40"/>
                    </a:lnTo>
                    <a:lnTo>
                      <a:pt x="467" y="40"/>
                    </a:lnTo>
                    <a:lnTo>
                      <a:pt x="460" y="55"/>
                    </a:lnTo>
                    <a:lnTo>
                      <a:pt x="452" y="70"/>
                    </a:lnTo>
                    <a:lnTo>
                      <a:pt x="438" y="73"/>
                    </a:lnTo>
                    <a:lnTo>
                      <a:pt x="423" y="66"/>
                    </a:lnTo>
                    <a:lnTo>
                      <a:pt x="427" y="51"/>
                    </a:lnTo>
                    <a:lnTo>
                      <a:pt x="430" y="40"/>
                    </a:lnTo>
                    <a:lnTo>
                      <a:pt x="412" y="40"/>
                    </a:lnTo>
                    <a:lnTo>
                      <a:pt x="390" y="37"/>
                    </a:lnTo>
                    <a:lnTo>
                      <a:pt x="371" y="29"/>
                    </a:lnTo>
                    <a:lnTo>
                      <a:pt x="364" y="15"/>
                    </a:lnTo>
                    <a:lnTo>
                      <a:pt x="364" y="7"/>
                    </a:lnTo>
                    <a:lnTo>
                      <a:pt x="353" y="0"/>
                    </a:lnTo>
                    <a:lnTo>
                      <a:pt x="327" y="0"/>
                    </a:lnTo>
                    <a:lnTo>
                      <a:pt x="309" y="7"/>
                    </a:lnTo>
                    <a:lnTo>
                      <a:pt x="305" y="18"/>
                    </a:lnTo>
                    <a:lnTo>
                      <a:pt x="298" y="29"/>
                    </a:lnTo>
                    <a:lnTo>
                      <a:pt x="280" y="37"/>
                    </a:lnTo>
                    <a:lnTo>
                      <a:pt x="269" y="37"/>
                    </a:lnTo>
                    <a:lnTo>
                      <a:pt x="258" y="37"/>
                    </a:lnTo>
                    <a:lnTo>
                      <a:pt x="243" y="37"/>
                    </a:lnTo>
                    <a:lnTo>
                      <a:pt x="228" y="33"/>
                    </a:lnTo>
                    <a:lnTo>
                      <a:pt x="210" y="33"/>
                    </a:lnTo>
                    <a:lnTo>
                      <a:pt x="195" y="29"/>
                    </a:lnTo>
                    <a:lnTo>
                      <a:pt x="177" y="26"/>
                    </a:lnTo>
                    <a:lnTo>
                      <a:pt x="158" y="22"/>
                    </a:lnTo>
                    <a:lnTo>
                      <a:pt x="144" y="33"/>
                    </a:lnTo>
                    <a:lnTo>
                      <a:pt x="129" y="44"/>
                    </a:lnTo>
                    <a:lnTo>
                      <a:pt x="114" y="55"/>
                    </a:lnTo>
                    <a:lnTo>
                      <a:pt x="99" y="66"/>
                    </a:lnTo>
                    <a:lnTo>
                      <a:pt x="88" y="77"/>
                    </a:lnTo>
                    <a:lnTo>
                      <a:pt x="74" y="88"/>
                    </a:lnTo>
                    <a:lnTo>
                      <a:pt x="59" y="103"/>
                    </a:lnTo>
                    <a:lnTo>
                      <a:pt x="48" y="114"/>
                    </a:lnTo>
                    <a:lnTo>
                      <a:pt x="70" y="140"/>
                    </a:lnTo>
                    <a:lnTo>
                      <a:pt x="77" y="173"/>
                    </a:lnTo>
                    <a:lnTo>
                      <a:pt x="70" y="210"/>
                    </a:lnTo>
                    <a:lnTo>
                      <a:pt x="41" y="246"/>
                    </a:lnTo>
                    <a:close/>
                  </a:path>
                </a:pathLst>
              </a:custGeom>
              <a:solidFill>
                <a:srgbClr val="8C6021"/>
              </a:solidFill>
              <a:ln w="9525">
                <a:noFill/>
                <a:round/>
                <a:headEnd/>
                <a:tailEnd/>
              </a:ln>
            </p:spPr>
            <p:txBody>
              <a:bodyPr/>
              <a:lstStyle/>
              <a:p>
                <a:endParaRPr lang="es-ES"/>
              </a:p>
            </p:txBody>
          </p:sp>
          <p:sp>
            <p:nvSpPr>
              <p:cNvPr id="44077" name="Freeform 20"/>
              <p:cNvSpPr>
                <a:spLocks/>
              </p:cNvSpPr>
              <p:nvPr/>
            </p:nvSpPr>
            <p:spPr bwMode="auto">
              <a:xfrm>
                <a:off x="5164138" y="3489325"/>
                <a:ext cx="893763" cy="1249363"/>
              </a:xfrm>
              <a:custGeom>
                <a:avLst/>
                <a:gdLst>
                  <a:gd name="T0" fmla="*/ 2147483647 w 563"/>
                  <a:gd name="T1" fmla="*/ 2147483647 h 787"/>
                  <a:gd name="T2" fmla="*/ 2147483647 w 563"/>
                  <a:gd name="T3" fmla="*/ 2147483647 h 787"/>
                  <a:gd name="T4" fmla="*/ 2147483647 w 563"/>
                  <a:gd name="T5" fmla="*/ 2147483647 h 787"/>
                  <a:gd name="T6" fmla="*/ 2147483647 w 563"/>
                  <a:gd name="T7" fmla="*/ 2147483647 h 787"/>
                  <a:gd name="T8" fmla="*/ 2147483647 w 563"/>
                  <a:gd name="T9" fmla="*/ 2147483647 h 787"/>
                  <a:gd name="T10" fmla="*/ 2147483647 w 563"/>
                  <a:gd name="T11" fmla="*/ 2147483647 h 787"/>
                  <a:gd name="T12" fmla="*/ 2147483647 w 563"/>
                  <a:gd name="T13" fmla="*/ 2147483647 h 787"/>
                  <a:gd name="T14" fmla="*/ 2147483647 w 563"/>
                  <a:gd name="T15" fmla="*/ 2147483647 h 787"/>
                  <a:gd name="T16" fmla="*/ 2147483647 w 563"/>
                  <a:gd name="T17" fmla="*/ 2147483647 h 787"/>
                  <a:gd name="T18" fmla="*/ 2147483647 w 563"/>
                  <a:gd name="T19" fmla="*/ 2147483647 h 787"/>
                  <a:gd name="T20" fmla="*/ 2147483647 w 563"/>
                  <a:gd name="T21" fmla="*/ 2147483647 h 787"/>
                  <a:gd name="T22" fmla="*/ 2147483647 w 563"/>
                  <a:gd name="T23" fmla="*/ 0 h 787"/>
                  <a:gd name="T24" fmla="*/ 2147483647 w 563"/>
                  <a:gd name="T25" fmla="*/ 2147483647 h 787"/>
                  <a:gd name="T26" fmla="*/ 2147483647 w 563"/>
                  <a:gd name="T27" fmla="*/ 2147483647 h 787"/>
                  <a:gd name="T28" fmla="*/ 2147483647 w 563"/>
                  <a:gd name="T29" fmla="*/ 2147483647 h 787"/>
                  <a:gd name="T30" fmla="*/ 2147483647 w 563"/>
                  <a:gd name="T31" fmla="*/ 2147483647 h 787"/>
                  <a:gd name="T32" fmla="*/ 2147483647 w 563"/>
                  <a:gd name="T33" fmla="*/ 2147483647 h 787"/>
                  <a:gd name="T34" fmla="*/ 2147483647 w 563"/>
                  <a:gd name="T35" fmla="*/ 2147483647 h 787"/>
                  <a:gd name="T36" fmla="*/ 2147483647 w 563"/>
                  <a:gd name="T37" fmla="*/ 2147483647 h 787"/>
                  <a:gd name="T38" fmla="*/ 2147483647 w 563"/>
                  <a:gd name="T39" fmla="*/ 2147483647 h 787"/>
                  <a:gd name="T40" fmla="*/ 2147483647 w 563"/>
                  <a:gd name="T41" fmla="*/ 2147483647 h 787"/>
                  <a:gd name="T42" fmla="*/ 2147483647 w 563"/>
                  <a:gd name="T43" fmla="*/ 2147483647 h 787"/>
                  <a:gd name="T44" fmla="*/ 0 w 563"/>
                  <a:gd name="T45" fmla="*/ 2147483647 h 787"/>
                  <a:gd name="T46" fmla="*/ 2147483647 w 563"/>
                  <a:gd name="T47" fmla="*/ 2147483647 h 787"/>
                  <a:gd name="T48" fmla="*/ 2147483647 w 563"/>
                  <a:gd name="T49" fmla="*/ 2147483647 h 787"/>
                  <a:gd name="T50" fmla="*/ 2147483647 w 563"/>
                  <a:gd name="T51" fmla="*/ 2147483647 h 787"/>
                  <a:gd name="T52" fmla="*/ 2147483647 w 563"/>
                  <a:gd name="T53" fmla="*/ 2147483647 h 787"/>
                  <a:gd name="T54" fmla="*/ 2147483647 w 563"/>
                  <a:gd name="T55" fmla="*/ 2147483647 h 787"/>
                  <a:gd name="T56" fmla="*/ 2147483647 w 563"/>
                  <a:gd name="T57" fmla="*/ 2147483647 h 787"/>
                  <a:gd name="T58" fmla="*/ 2147483647 w 563"/>
                  <a:gd name="T59" fmla="*/ 2147483647 h 787"/>
                  <a:gd name="T60" fmla="*/ 2147483647 w 563"/>
                  <a:gd name="T61" fmla="*/ 2147483647 h 787"/>
                  <a:gd name="T62" fmla="*/ 2147483647 w 563"/>
                  <a:gd name="T63" fmla="*/ 2147483647 h 787"/>
                  <a:gd name="T64" fmla="*/ 2147483647 w 563"/>
                  <a:gd name="T65" fmla="*/ 2147483647 h 787"/>
                  <a:gd name="T66" fmla="*/ 2147483647 w 563"/>
                  <a:gd name="T67" fmla="*/ 2147483647 h 787"/>
                  <a:gd name="T68" fmla="*/ 2147483647 w 563"/>
                  <a:gd name="T69" fmla="*/ 2147483647 h 787"/>
                  <a:gd name="T70" fmla="*/ 2147483647 w 563"/>
                  <a:gd name="T71" fmla="*/ 2147483647 h 787"/>
                  <a:gd name="T72" fmla="*/ 2147483647 w 563"/>
                  <a:gd name="T73" fmla="*/ 2147483647 h 787"/>
                  <a:gd name="T74" fmla="*/ 2147483647 w 563"/>
                  <a:gd name="T75" fmla="*/ 2147483647 h 787"/>
                  <a:gd name="T76" fmla="*/ 2147483647 w 563"/>
                  <a:gd name="T77" fmla="*/ 2147483647 h 787"/>
                  <a:gd name="T78" fmla="*/ 2147483647 w 563"/>
                  <a:gd name="T79" fmla="*/ 2147483647 h 787"/>
                  <a:gd name="T80" fmla="*/ 2147483647 w 563"/>
                  <a:gd name="T81" fmla="*/ 2147483647 h 787"/>
                  <a:gd name="T82" fmla="*/ 2147483647 w 563"/>
                  <a:gd name="T83" fmla="*/ 2147483647 h 787"/>
                  <a:gd name="T84" fmla="*/ 2147483647 w 563"/>
                  <a:gd name="T85" fmla="*/ 2147483647 h 787"/>
                  <a:gd name="T86" fmla="*/ 2147483647 w 563"/>
                  <a:gd name="T87" fmla="*/ 2147483647 h 787"/>
                  <a:gd name="T88" fmla="*/ 2147483647 w 563"/>
                  <a:gd name="T89" fmla="*/ 2147483647 h 787"/>
                  <a:gd name="T90" fmla="*/ 2147483647 w 563"/>
                  <a:gd name="T91" fmla="*/ 2147483647 h 787"/>
                  <a:gd name="T92" fmla="*/ 2147483647 w 563"/>
                  <a:gd name="T93" fmla="*/ 2147483647 h 787"/>
                  <a:gd name="T94" fmla="*/ 2147483647 w 563"/>
                  <a:gd name="T95" fmla="*/ 2147483647 h 78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63"/>
                  <a:gd name="T145" fmla="*/ 0 h 787"/>
                  <a:gd name="T146" fmla="*/ 563 w 563"/>
                  <a:gd name="T147" fmla="*/ 787 h 78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63" h="787">
                    <a:moveTo>
                      <a:pt x="508" y="184"/>
                    </a:moveTo>
                    <a:lnTo>
                      <a:pt x="508" y="184"/>
                    </a:lnTo>
                    <a:lnTo>
                      <a:pt x="489" y="166"/>
                    </a:lnTo>
                    <a:lnTo>
                      <a:pt x="482" y="151"/>
                    </a:lnTo>
                    <a:lnTo>
                      <a:pt x="478" y="133"/>
                    </a:lnTo>
                    <a:lnTo>
                      <a:pt x="489" y="118"/>
                    </a:lnTo>
                    <a:lnTo>
                      <a:pt x="474" y="107"/>
                    </a:lnTo>
                    <a:lnTo>
                      <a:pt x="460" y="100"/>
                    </a:lnTo>
                    <a:lnTo>
                      <a:pt x="445" y="92"/>
                    </a:lnTo>
                    <a:lnTo>
                      <a:pt x="427" y="88"/>
                    </a:lnTo>
                    <a:lnTo>
                      <a:pt x="412" y="85"/>
                    </a:lnTo>
                    <a:lnTo>
                      <a:pt x="394" y="85"/>
                    </a:lnTo>
                    <a:lnTo>
                      <a:pt x="375" y="88"/>
                    </a:lnTo>
                    <a:lnTo>
                      <a:pt x="360" y="92"/>
                    </a:lnTo>
                    <a:lnTo>
                      <a:pt x="342" y="92"/>
                    </a:lnTo>
                    <a:lnTo>
                      <a:pt x="327" y="81"/>
                    </a:lnTo>
                    <a:lnTo>
                      <a:pt x="313" y="66"/>
                    </a:lnTo>
                    <a:lnTo>
                      <a:pt x="302" y="44"/>
                    </a:lnTo>
                    <a:lnTo>
                      <a:pt x="283" y="26"/>
                    </a:lnTo>
                    <a:lnTo>
                      <a:pt x="265" y="8"/>
                    </a:lnTo>
                    <a:lnTo>
                      <a:pt x="239" y="0"/>
                    </a:lnTo>
                    <a:lnTo>
                      <a:pt x="206" y="0"/>
                    </a:lnTo>
                    <a:lnTo>
                      <a:pt x="199" y="11"/>
                    </a:lnTo>
                    <a:lnTo>
                      <a:pt x="191" y="22"/>
                    </a:lnTo>
                    <a:lnTo>
                      <a:pt x="180" y="26"/>
                    </a:lnTo>
                    <a:lnTo>
                      <a:pt x="162" y="22"/>
                    </a:lnTo>
                    <a:lnTo>
                      <a:pt x="158" y="22"/>
                    </a:lnTo>
                    <a:lnTo>
                      <a:pt x="154" y="22"/>
                    </a:lnTo>
                    <a:lnTo>
                      <a:pt x="151" y="19"/>
                    </a:lnTo>
                    <a:lnTo>
                      <a:pt x="151" y="22"/>
                    </a:lnTo>
                    <a:lnTo>
                      <a:pt x="147" y="22"/>
                    </a:lnTo>
                    <a:lnTo>
                      <a:pt x="143" y="26"/>
                    </a:lnTo>
                    <a:lnTo>
                      <a:pt x="136" y="30"/>
                    </a:lnTo>
                    <a:lnTo>
                      <a:pt x="121" y="41"/>
                    </a:lnTo>
                    <a:lnTo>
                      <a:pt x="99" y="55"/>
                    </a:lnTo>
                    <a:lnTo>
                      <a:pt x="77" y="77"/>
                    </a:lnTo>
                    <a:lnTo>
                      <a:pt x="52" y="103"/>
                    </a:lnTo>
                    <a:lnTo>
                      <a:pt x="26" y="133"/>
                    </a:lnTo>
                    <a:lnTo>
                      <a:pt x="11" y="166"/>
                    </a:lnTo>
                    <a:lnTo>
                      <a:pt x="0" y="202"/>
                    </a:lnTo>
                    <a:lnTo>
                      <a:pt x="0" y="239"/>
                    </a:lnTo>
                    <a:lnTo>
                      <a:pt x="4" y="269"/>
                    </a:lnTo>
                    <a:lnTo>
                      <a:pt x="15" y="294"/>
                    </a:lnTo>
                    <a:lnTo>
                      <a:pt x="26" y="313"/>
                    </a:lnTo>
                    <a:lnTo>
                      <a:pt x="44" y="328"/>
                    </a:lnTo>
                    <a:lnTo>
                      <a:pt x="66" y="339"/>
                    </a:lnTo>
                    <a:lnTo>
                      <a:pt x="92" y="342"/>
                    </a:lnTo>
                    <a:lnTo>
                      <a:pt x="118" y="342"/>
                    </a:lnTo>
                    <a:lnTo>
                      <a:pt x="143" y="342"/>
                    </a:lnTo>
                    <a:lnTo>
                      <a:pt x="173" y="350"/>
                    </a:lnTo>
                    <a:lnTo>
                      <a:pt x="202" y="364"/>
                    </a:lnTo>
                    <a:lnTo>
                      <a:pt x="224" y="383"/>
                    </a:lnTo>
                    <a:lnTo>
                      <a:pt x="243" y="412"/>
                    </a:lnTo>
                    <a:lnTo>
                      <a:pt x="254" y="442"/>
                    </a:lnTo>
                    <a:lnTo>
                      <a:pt x="254" y="482"/>
                    </a:lnTo>
                    <a:lnTo>
                      <a:pt x="243" y="522"/>
                    </a:lnTo>
                    <a:lnTo>
                      <a:pt x="232" y="563"/>
                    </a:lnTo>
                    <a:lnTo>
                      <a:pt x="228" y="607"/>
                    </a:lnTo>
                    <a:lnTo>
                      <a:pt x="232" y="651"/>
                    </a:lnTo>
                    <a:lnTo>
                      <a:pt x="239" y="695"/>
                    </a:lnTo>
                    <a:lnTo>
                      <a:pt x="254" y="732"/>
                    </a:lnTo>
                    <a:lnTo>
                      <a:pt x="272" y="761"/>
                    </a:lnTo>
                    <a:lnTo>
                      <a:pt x="294" y="780"/>
                    </a:lnTo>
                    <a:lnTo>
                      <a:pt x="316" y="787"/>
                    </a:lnTo>
                    <a:lnTo>
                      <a:pt x="342" y="761"/>
                    </a:lnTo>
                    <a:lnTo>
                      <a:pt x="364" y="739"/>
                    </a:lnTo>
                    <a:lnTo>
                      <a:pt x="386" y="714"/>
                    </a:lnTo>
                    <a:lnTo>
                      <a:pt x="408" y="684"/>
                    </a:lnTo>
                    <a:lnTo>
                      <a:pt x="430" y="658"/>
                    </a:lnTo>
                    <a:lnTo>
                      <a:pt x="449" y="629"/>
                    </a:lnTo>
                    <a:lnTo>
                      <a:pt x="467" y="596"/>
                    </a:lnTo>
                    <a:lnTo>
                      <a:pt x="482" y="567"/>
                    </a:lnTo>
                    <a:lnTo>
                      <a:pt x="485" y="556"/>
                    </a:lnTo>
                    <a:lnTo>
                      <a:pt x="485" y="544"/>
                    </a:lnTo>
                    <a:lnTo>
                      <a:pt x="485" y="533"/>
                    </a:lnTo>
                    <a:lnTo>
                      <a:pt x="482" y="519"/>
                    </a:lnTo>
                    <a:lnTo>
                      <a:pt x="482" y="489"/>
                    </a:lnTo>
                    <a:lnTo>
                      <a:pt x="496" y="464"/>
                    </a:lnTo>
                    <a:lnTo>
                      <a:pt x="515" y="438"/>
                    </a:lnTo>
                    <a:lnTo>
                      <a:pt x="541" y="412"/>
                    </a:lnTo>
                    <a:lnTo>
                      <a:pt x="544" y="390"/>
                    </a:lnTo>
                    <a:lnTo>
                      <a:pt x="552" y="368"/>
                    </a:lnTo>
                    <a:lnTo>
                      <a:pt x="555" y="346"/>
                    </a:lnTo>
                    <a:lnTo>
                      <a:pt x="559" y="320"/>
                    </a:lnTo>
                    <a:lnTo>
                      <a:pt x="559" y="316"/>
                    </a:lnTo>
                    <a:lnTo>
                      <a:pt x="559" y="313"/>
                    </a:lnTo>
                    <a:lnTo>
                      <a:pt x="563" y="313"/>
                    </a:lnTo>
                    <a:lnTo>
                      <a:pt x="541" y="287"/>
                    </a:lnTo>
                    <a:lnTo>
                      <a:pt x="522" y="254"/>
                    </a:lnTo>
                    <a:lnTo>
                      <a:pt x="511" y="221"/>
                    </a:lnTo>
                    <a:lnTo>
                      <a:pt x="508" y="184"/>
                    </a:lnTo>
                    <a:close/>
                  </a:path>
                </a:pathLst>
              </a:custGeom>
              <a:solidFill>
                <a:srgbClr val="8C6021"/>
              </a:solidFill>
              <a:ln w="9525">
                <a:noFill/>
                <a:round/>
                <a:headEnd/>
                <a:tailEnd/>
              </a:ln>
            </p:spPr>
            <p:txBody>
              <a:bodyPr/>
              <a:lstStyle/>
              <a:p>
                <a:endParaRPr lang="es-ES"/>
              </a:p>
            </p:txBody>
          </p:sp>
          <p:sp>
            <p:nvSpPr>
              <p:cNvPr id="44078" name="Freeform 21"/>
              <p:cNvSpPr>
                <a:spLocks/>
              </p:cNvSpPr>
              <p:nvPr/>
            </p:nvSpPr>
            <p:spPr bwMode="auto">
              <a:xfrm>
                <a:off x="5864225" y="3471863"/>
                <a:ext cx="198438" cy="490538"/>
              </a:xfrm>
              <a:custGeom>
                <a:avLst/>
                <a:gdLst>
                  <a:gd name="T0" fmla="*/ 2147483647 w 125"/>
                  <a:gd name="T1" fmla="*/ 2147483647 h 309"/>
                  <a:gd name="T2" fmla="*/ 2147483647 w 125"/>
                  <a:gd name="T3" fmla="*/ 2147483647 h 309"/>
                  <a:gd name="T4" fmla="*/ 2147483647 w 125"/>
                  <a:gd name="T5" fmla="*/ 2147483647 h 309"/>
                  <a:gd name="T6" fmla="*/ 2147483647 w 125"/>
                  <a:gd name="T7" fmla="*/ 2147483647 h 309"/>
                  <a:gd name="T8" fmla="*/ 2147483647 w 125"/>
                  <a:gd name="T9" fmla="*/ 2147483647 h 309"/>
                  <a:gd name="T10" fmla="*/ 2147483647 w 125"/>
                  <a:gd name="T11" fmla="*/ 2147483647 h 309"/>
                  <a:gd name="T12" fmla="*/ 2147483647 w 125"/>
                  <a:gd name="T13" fmla="*/ 2147483647 h 309"/>
                  <a:gd name="T14" fmla="*/ 2147483647 w 125"/>
                  <a:gd name="T15" fmla="*/ 2147483647 h 309"/>
                  <a:gd name="T16" fmla="*/ 2147483647 w 125"/>
                  <a:gd name="T17" fmla="*/ 2147483647 h 309"/>
                  <a:gd name="T18" fmla="*/ 2147483647 w 125"/>
                  <a:gd name="T19" fmla="*/ 2147483647 h 309"/>
                  <a:gd name="T20" fmla="*/ 2147483647 w 125"/>
                  <a:gd name="T21" fmla="*/ 2147483647 h 309"/>
                  <a:gd name="T22" fmla="*/ 2147483647 w 125"/>
                  <a:gd name="T23" fmla="*/ 2147483647 h 309"/>
                  <a:gd name="T24" fmla="*/ 2147483647 w 125"/>
                  <a:gd name="T25" fmla="*/ 2147483647 h 309"/>
                  <a:gd name="T26" fmla="*/ 2147483647 w 125"/>
                  <a:gd name="T27" fmla="*/ 2147483647 h 309"/>
                  <a:gd name="T28" fmla="*/ 2147483647 w 125"/>
                  <a:gd name="T29" fmla="*/ 2147483647 h 309"/>
                  <a:gd name="T30" fmla="*/ 2147483647 w 125"/>
                  <a:gd name="T31" fmla="*/ 2147483647 h 309"/>
                  <a:gd name="T32" fmla="*/ 2147483647 w 125"/>
                  <a:gd name="T33" fmla="*/ 2147483647 h 309"/>
                  <a:gd name="T34" fmla="*/ 2147483647 w 125"/>
                  <a:gd name="T35" fmla="*/ 2147483647 h 309"/>
                  <a:gd name="T36" fmla="*/ 2147483647 w 125"/>
                  <a:gd name="T37" fmla="*/ 2147483647 h 309"/>
                  <a:gd name="T38" fmla="*/ 2147483647 w 125"/>
                  <a:gd name="T39" fmla="*/ 2147483647 h 309"/>
                  <a:gd name="T40" fmla="*/ 2147483647 w 125"/>
                  <a:gd name="T41" fmla="*/ 2147483647 h 309"/>
                  <a:gd name="T42" fmla="*/ 2147483647 w 125"/>
                  <a:gd name="T43" fmla="*/ 2147483647 h 309"/>
                  <a:gd name="T44" fmla="*/ 2147483647 w 125"/>
                  <a:gd name="T45" fmla="*/ 2147483647 h 309"/>
                  <a:gd name="T46" fmla="*/ 2147483647 w 125"/>
                  <a:gd name="T47" fmla="*/ 2147483647 h 309"/>
                  <a:gd name="T48" fmla="*/ 2147483647 w 125"/>
                  <a:gd name="T49" fmla="*/ 0 h 309"/>
                  <a:gd name="T50" fmla="*/ 2147483647 w 125"/>
                  <a:gd name="T51" fmla="*/ 2147483647 h 309"/>
                  <a:gd name="T52" fmla="*/ 2147483647 w 125"/>
                  <a:gd name="T53" fmla="*/ 2147483647 h 309"/>
                  <a:gd name="T54" fmla="*/ 2147483647 w 125"/>
                  <a:gd name="T55" fmla="*/ 2147483647 h 309"/>
                  <a:gd name="T56" fmla="*/ 2147483647 w 125"/>
                  <a:gd name="T57" fmla="*/ 2147483647 h 309"/>
                  <a:gd name="T58" fmla="*/ 2147483647 w 125"/>
                  <a:gd name="T59" fmla="*/ 2147483647 h 309"/>
                  <a:gd name="T60" fmla="*/ 2147483647 w 125"/>
                  <a:gd name="T61" fmla="*/ 2147483647 h 309"/>
                  <a:gd name="T62" fmla="*/ 0 w 125"/>
                  <a:gd name="T63" fmla="*/ 2147483647 h 309"/>
                  <a:gd name="T64" fmla="*/ 2147483647 w 125"/>
                  <a:gd name="T65" fmla="*/ 2147483647 h 30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5"/>
                  <a:gd name="T100" fmla="*/ 0 h 309"/>
                  <a:gd name="T101" fmla="*/ 125 w 125"/>
                  <a:gd name="T102" fmla="*/ 309 h 30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5" h="309">
                    <a:moveTo>
                      <a:pt x="8" y="41"/>
                    </a:moveTo>
                    <a:lnTo>
                      <a:pt x="33" y="66"/>
                    </a:lnTo>
                    <a:lnTo>
                      <a:pt x="52" y="88"/>
                    </a:lnTo>
                    <a:lnTo>
                      <a:pt x="59" y="107"/>
                    </a:lnTo>
                    <a:lnTo>
                      <a:pt x="52" y="125"/>
                    </a:lnTo>
                    <a:lnTo>
                      <a:pt x="48" y="125"/>
                    </a:lnTo>
                    <a:lnTo>
                      <a:pt x="48" y="129"/>
                    </a:lnTo>
                    <a:lnTo>
                      <a:pt x="55" y="136"/>
                    </a:lnTo>
                    <a:lnTo>
                      <a:pt x="63" y="147"/>
                    </a:lnTo>
                    <a:lnTo>
                      <a:pt x="67" y="158"/>
                    </a:lnTo>
                    <a:lnTo>
                      <a:pt x="67" y="173"/>
                    </a:lnTo>
                    <a:lnTo>
                      <a:pt x="67" y="177"/>
                    </a:lnTo>
                    <a:lnTo>
                      <a:pt x="67" y="184"/>
                    </a:lnTo>
                    <a:lnTo>
                      <a:pt x="67" y="188"/>
                    </a:lnTo>
                    <a:lnTo>
                      <a:pt x="67" y="195"/>
                    </a:lnTo>
                    <a:lnTo>
                      <a:pt x="81" y="217"/>
                    </a:lnTo>
                    <a:lnTo>
                      <a:pt x="89" y="247"/>
                    </a:lnTo>
                    <a:lnTo>
                      <a:pt x="103" y="280"/>
                    </a:lnTo>
                    <a:lnTo>
                      <a:pt x="122" y="309"/>
                    </a:lnTo>
                    <a:lnTo>
                      <a:pt x="125" y="228"/>
                    </a:lnTo>
                    <a:lnTo>
                      <a:pt x="122" y="147"/>
                    </a:lnTo>
                    <a:lnTo>
                      <a:pt x="111" y="74"/>
                    </a:lnTo>
                    <a:lnTo>
                      <a:pt x="92" y="0"/>
                    </a:lnTo>
                    <a:lnTo>
                      <a:pt x="85" y="8"/>
                    </a:lnTo>
                    <a:lnTo>
                      <a:pt x="70" y="11"/>
                    </a:lnTo>
                    <a:lnTo>
                      <a:pt x="52" y="15"/>
                    </a:lnTo>
                    <a:lnTo>
                      <a:pt x="33" y="15"/>
                    </a:lnTo>
                    <a:lnTo>
                      <a:pt x="15" y="19"/>
                    </a:lnTo>
                    <a:lnTo>
                      <a:pt x="4" y="22"/>
                    </a:lnTo>
                    <a:lnTo>
                      <a:pt x="0" y="30"/>
                    </a:lnTo>
                    <a:lnTo>
                      <a:pt x="8" y="41"/>
                    </a:lnTo>
                    <a:close/>
                  </a:path>
                </a:pathLst>
              </a:custGeom>
              <a:solidFill>
                <a:srgbClr val="8C6021"/>
              </a:solidFill>
              <a:ln w="9525">
                <a:noFill/>
                <a:round/>
                <a:headEnd/>
                <a:tailEnd/>
              </a:ln>
            </p:spPr>
            <p:txBody>
              <a:bodyPr/>
              <a:lstStyle/>
              <a:p>
                <a:endParaRPr lang="es-ES"/>
              </a:p>
            </p:txBody>
          </p:sp>
          <p:sp>
            <p:nvSpPr>
              <p:cNvPr id="44079" name="Freeform 22"/>
              <p:cNvSpPr>
                <a:spLocks/>
              </p:cNvSpPr>
              <p:nvPr/>
            </p:nvSpPr>
            <p:spPr bwMode="auto">
              <a:xfrm>
                <a:off x="5345113" y="3011488"/>
                <a:ext cx="660400" cy="512763"/>
              </a:xfrm>
              <a:custGeom>
                <a:avLst/>
                <a:gdLst>
                  <a:gd name="T0" fmla="*/ 2147483647 w 416"/>
                  <a:gd name="T1" fmla="*/ 2147483647 h 323"/>
                  <a:gd name="T2" fmla="*/ 2147483647 w 416"/>
                  <a:gd name="T3" fmla="*/ 2147483647 h 323"/>
                  <a:gd name="T4" fmla="*/ 2147483647 w 416"/>
                  <a:gd name="T5" fmla="*/ 2147483647 h 323"/>
                  <a:gd name="T6" fmla="*/ 2147483647 w 416"/>
                  <a:gd name="T7" fmla="*/ 2147483647 h 323"/>
                  <a:gd name="T8" fmla="*/ 2147483647 w 416"/>
                  <a:gd name="T9" fmla="*/ 2147483647 h 323"/>
                  <a:gd name="T10" fmla="*/ 2147483647 w 416"/>
                  <a:gd name="T11" fmla="*/ 2147483647 h 323"/>
                  <a:gd name="T12" fmla="*/ 2147483647 w 416"/>
                  <a:gd name="T13" fmla="*/ 2147483647 h 323"/>
                  <a:gd name="T14" fmla="*/ 2147483647 w 416"/>
                  <a:gd name="T15" fmla="*/ 2147483647 h 323"/>
                  <a:gd name="T16" fmla="*/ 2147483647 w 416"/>
                  <a:gd name="T17" fmla="*/ 2147483647 h 323"/>
                  <a:gd name="T18" fmla="*/ 2147483647 w 416"/>
                  <a:gd name="T19" fmla="*/ 2147483647 h 323"/>
                  <a:gd name="T20" fmla="*/ 2147483647 w 416"/>
                  <a:gd name="T21" fmla="*/ 2147483647 h 323"/>
                  <a:gd name="T22" fmla="*/ 2147483647 w 416"/>
                  <a:gd name="T23" fmla="*/ 2147483647 h 323"/>
                  <a:gd name="T24" fmla="*/ 2147483647 w 416"/>
                  <a:gd name="T25" fmla="*/ 2147483647 h 323"/>
                  <a:gd name="T26" fmla="*/ 2147483647 w 416"/>
                  <a:gd name="T27" fmla="*/ 2147483647 h 323"/>
                  <a:gd name="T28" fmla="*/ 2147483647 w 416"/>
                  <a:gd name="T29" fmla="*/ 2147483647 h 323"/>
                  <a:gd name="T30" fmla="*/ 2147483647 w 416"/>
                  <a:gd name="T31" fmla="*/ 2147483647 h 323"/>
                  <a:gd name="T32" fmla="*/ 2147483647 w 416"/>
                  <a:gd name="T33" fmla="*/ 2147483647 h 323"/>
                  <a:gd name="T34" fmla="*/ 2147483647 w 416"/>
                  <a:gd name="T35" fmla="*/ 2147483647 h 323"/>
                  <a:gd name="T36" fmla="*/ 2147483647 w 416"/>
                  <a:gd name="T37" fmla="*/ 2147483647 h 323"/>
                  <a:gd name="T38" fmla="*/ 2147483647 w 416"/>
                  <a:gd name="T39" fmla="*/ 2147483647 h 323"/>
                  <a:gd name="T40" fmla="*/ 2147483647 w 416"/>
                  <a:gd name="T41" fmla="*/ 2147483647 h 323"/>
                  <a:gd name="T42" fmla="*/ 2147483647 w 416"/>
                  <a:gd name="T43" fmla="*/ 2147483647 h 323"/>
                  <a:gd name="T44" fmla="*/ 2147483647 w 416"/>
                  <a:gd name="T45" fmla="*/ 2147483647 h 323"/>
                  <a:gd name="T46" fmla="*/ 2147483647 w 416"/>
                  <a:gd name="T47" fmla="*/ 2147483647 h 323"/>
                  <a:gd name="T48" fmla="*/ 2147483647 w 416"/>
                  <a:gd name="T49" fmla="*/ 2147483647 h 323"/>
                  <a:gd name="T50" fmla="*/ 2147483647 w 416"/>
                  <a:gd name="T51" fmla="*/ 2147483647 h 323"/>
                  <a:gd name="T52" fmla="*/ 2147483647 w 416"/>
                  <a:gd name="T53" fmla="*/ 2147483647 h 323"/>
                  <a:gd name="T54" fmla="*/ 2147483647 w 416"/>
                  <a:gd name="T55" fmla="*/ 2147483647 h 323"/>
                  <a:gd name="T56" fmla="*/ 2147483647 w 416"/>
                  <a:gd name="T57" fmla="*/ 2147483647 h 323"/>
                  <a:gd name="T58" fmla="*/ 2147483647 w 416"/>
                  <a:gd name="T59" fmla="*/ 2147483647 h 323"/>
                  <a:gd name="T60" fmla="*/ 2147483647 w 416"/>
                  <a:gd name="T61" fmla="*/ 2147483647 h 323"/>
                  <a:gd name="T62" fmla="*/ 2147483647 w 416"/>
                  <a:gd name="T63" fmla="*/ 2147483647 h 32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16"/>
                  <a:gd name="T97" fmla="*/ 0 h 323"/>
                  <a:gd name="T98" fmla="*/ 416 w 416"/>
                  <a:gd name="T99" fmla="*/ 323 h 32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16" h="323">
                    <a:moveTo>
                      <a:pt x="232" y="18"/>
                    </a:moveTo>
                    <a:lnTo>
                      <a:pt x="206" y="51"/>
                    </a:lnTo>
                    <a:lnTo>
                      <a:pt x="177" y="70"/>
                    </a:lnTo>
                    <a:lnTo>
                      <a:pt x="158" y="84"/>
                    </a:lnTo>
                    <a:lnTo>
                      <a:pt x="154" y="103"/>
                    </a:lnTo>
                    <a:lnTo>
                      <a:pt x="173" y="128"/>
                    </a:lnTo>
                    <a:lnTo>
                      <a:pt x="199" y="128"/>
                    </a:lnTo>
                    <a:lnTo>
                      <a:pt x="221" y="117"/>
                    </a:lnTo>
                    <a:lnTo>
                      <a:pt x="232" y="99"/>
                    </a:lnTo>
                    <a:lnTo>
                      <a:pt x="243" y="84"/>
                    </a:lnTo>
                    <a:lnTo>
                      <a:pt x="261" y="81"/>
                    </a:lnTo>
                    <a:lnTo>
                      <a:pt x="280" y="88"/>
                    </a:lnTo>
                    <a:lnTo>
                      <a:pt x="283" y="106"/>
                    </a:lnTo>
                    <a:lnTo>
                      <a:pt x="276" y="128"/>
                    </a:lnTo>
                    <a:lnTo>
                      <a:pt x="257" y="147"/>
                    </a:lnTo>
                    <a:lnTo>
                      <a:pt x="228" y="158"/>
                    </a:lnTo>
                    <a:lnTo>
                      <a:pt x="188" y="154"/>
                    </a:lnTo>
                    <a:lnTo>
                      <a:pt x="154" y="147"/>
                    </a:lnTo>
                    <a:lnTo>
                      <a:pt x="129" y="150"/>
                    </a:lnTo>
                    <a:lnTo>
                      <a:pt x="118" y="154"/>
                    </a:lnTo>
                    <a:lnTo>
                      <a:pt x="114" y="158"/>
                    </a:lnTo>
                    <a:lnTo>
                      <a:pt x="107" y="162"/>
                    </a:lnTo>
                    <a:lnTo>
                      <a:pt x="88" y="169"/>
                    </a:lnTo>
                    <a:lnTo>
                      <a:pt x="70" y="184"/>
                    </a:lnTo>
                    <a:lnTo>
                      <a:pt x="66" y="206"/>
                    </a:lnTo>
                    <a:lnTo>
                      <a:pt x="66" y="224"/>
                    </a:lnTo>
                    <a:lnTo>
                      <a:pt x="63" y="235"/>
                    </a:lnTo>
                    <a:lnTo>
                      <a:pt x="52" y="235"/>
                    </a:lnTo>
                    <a:lnTo>
                      <a:pt x="26" y="231"/>
                    </a:lnTo>
                    <a:lnTo>
                      <a:pt x="4" y="239"/>
                    </a:lnTo>
                    <a:lnTo>
                      <a:pt x="0" y="264"/>
                    </a:lnTo>
                    <a:lnTo>
                      <a:pt x="11" y="298"/>
                    </a:lnTo>
                    <a:lnTo>
                      <a:pt x="37" y="320"/>
                    </a:lnTo>
                    <a:lnTo>
                      <a:pt x="52" y="312"/>
                    </a:lnTo>
                    <a:lnTo>
                      <a:pt x="66" y="309"/>
                    </a:lnTo>
                    <a:lnTo>
                      <a:pt x="81" y="305"/>
                    </a:lnTo>
                    <a:lnTo>
                      <a:pt x="92" y="301"/>
                    </a:lnTo>
                    <a:lnTo>
                      <a:pt x="96" y="290"/>
                    </a:lnTo>
                    <a:lnTo>
                      <a:pt x="103" y="279"/>
                    </a:lnTo>
                    <a:lnTo>
                      <a:pt x="110" y="268"/>
                    </a:lnTo>
                    <a:lnTo>
                      <a:pt x="121" y="261"/>
                    </a:lnTo>
                    <a:lnTo>
                      <a:pt x="151" y="257"/>
                    </a:lnTo>
                    <a:lnTo>
                      <a:pt x="180" y="264"/>
                    </a:lnTo>
                    <a:lnTo>
                      <a:pt x="202" y="279"/>
                    </a:lnTo>
                    <a:lnTo>
                      <a:pt x="221" y="298"/>
                    </a:lnTo>
                    <a:lnTo>
                      <a:pt x="243" y="316"/>
                    </a:lnTo>
                    <a:lnTo>
                      <a:pt x="276" y="323"/>
                    </a:lnTo>
                    <a:lnTo>
                      <a:pt x="305" y="316"/>
                    </a:lnTo>
                    <a:lnTo>
                      <a:pt x="327" y="294"/>
                    </a:lnTo>
                    <a:lnTo>
                      <a:pt x="346" y="276"/>
                    </a:lnTo>
                    <a:lnTo>
                      <a:pt x="371" y="268"/>
                    </a:lnTo>
                    <a:lnTo>
                      <a:pt x="397" y="268"/>
                    </a:lnTo>
                    <a:lnTo>
                      <a:pt x="416" y="276"/>
                    </a:lnTo>
                    <a:lnTo>
                      <a:pt x="401" y="239"/>
                    </a:lnTo>
                    <a:lnTo>
                      <a:pt x="386" y="202"/>
                    </a:lnTo>
                    <a:lnTo>
                      <a:pt x="368" y="165"/>
                    </a:lnTo>
                    <a:lnTo>
                      <a:pt x="349" y="128"/>
                    </a:lnTo>
                    <a:lnTo>
                      <a:pt x="327" y="95"/>
                    </a:lnTo>
                    <a:lnTo>
                      <a:pt x="305" y="62"/>
                    </a:lnTo>
                    <a:lnTo>
                      <a:pt x="280" y="29"/>
                    </a:lnTo>
                    <a:lnTo>
                      <a:pt x="254" y="0"/>
                    </a:lnTo>
                    <a:lnTo>
                      <a:pt x="246" y="3"/>
                    </a:lnTo>
                    <a:lnTo>
                      <a:pt x="239" y="7"/>
                    </a:lnTo>
                    <a:lnTo>
                      <a:pt x="235" y="11"/>
                    </a:lnTo>
                    <a:lnTo>
                      <a:pt x="232" y="18"/>
                    </a:lnTo>
                    <a:close/>
                  </a:path>
                </a:pathLst>
              </a:custGeom>
              <a:solidFill>
                <a:srgbClr val="8C6021"/>
              </a:solidFill>
              <a:ln w="9525">
                <a:noFill/>
                <a:round/>
                <a:headEnd/>
                <a:tailEnd/>
              </a:ln>
            </p:spPr>
            <p:txBody>
              <a:bodyPr/>
              <a:lstStyle/>
              <a:p>
                <a:endParaRPr lang="es-ES"/>
              </a:p>
            </p:txBody>
          </p:sp>
          <p:sp>
            <p:nvSpPr>
              <p:cNvPr id="44080" name="Freeform 23"/>
              <p:cNvSpPr>
                <a:spLocks/>
              </p:cNvSpPr>
              <p:nvPr/>
            </p:nvSpPr>
            <p:spPr bwMode="auto">
              <a:xfrm>
                <a:off x="5922963" y="3676650"/>
                <a:ext cx="47625" cy="104775"/>
              </a:xfrm>
              <a:custGeom>
                <a:avLst/>
                <a:gdLst>
                  <a:gd name="T0" fmla="*/ 2147483647 w 30"/>
                  <a:gd name="T1" fmla="*/ 0 h 66"/>
                  <a:gd name="T2" fmla="*/ 0 w 30"/>
                  <a:gd name="T3" fmla="*/ 2147483647 h 66"/>
                  <a:gd name="T4" fmla="*/ 2147483647 w 30"/>
                  <a:gd name="T5" fmla="*/ 2147483647 h 66"/>
                  <a:gd name="T6" fmla="*/ 2147483647 w 30"/>
                  <a:gd name="T7" fmla="*/ 2147483647 h 66"/>
                  <a:gd name="T8" fmla="*/ 2147483647 w 30"/>
                  <a:gd name="T9" fmla="*/ 2147483647 h 66"/>
                  <a:gd name="T10" fmla="*/ 2147483647 w 30"/>
                  <a:gd name="T11" fmla="*/ 2147483647 h 66"/>
                  <a:gd name="T12" fmla="*/ 2147483647 w 30"/>
                  <a:gd name="T13" fmla="*/ 2147483647 h 66"/>
                  <a:gd name="T14" fmla="*/ 2147483647 w 30"/>
                  <a:gd name="T15" fmla="*/ 2147483647 h 66"/>
                  <a:gd name="T16" fmla="*/ 2147483647 w 30"/>
                  <a:gd name="T17" fmla="*/ 2147483647 h 66"/>
                  <a:gd name="T18" fmla="*/ 2147483647 w 30"/>
                  <a:gd name="T19" fmla="*/ 2147483647 h 66"/>
                  <a:gd name="T20" fmla="*/ 2147483647 w 30"/>
                  <a:gd name="T21" fmla="*/ 2147483647 h 66"/>
                  <a:gd name="T22" fmla="*/ 2147483647 w 30"/>
                  <a:gd name="T23" fmla="*/ 2147483647 h 66"/>
                  <a:gd name="T24" fmla="*/ 2147483647 w 30"/>
                  <a:gd name="T25" fmla="*/ 2147483647 h 66"/>
                  <a:gd name="T26" fmla="*/ 2147483647 w 30"/>
                  <a:gd name="T27" fmla="*/ 2147483647 h 66"/>
                  <a:gd name="T28" fmla="*/ 2147483647 w 30"/>
                  <a:gd name="T29" fmla="*/ 2147483647 h 66"/>
                  <a:gd name="T30" fmla="*/ 2147483647 w 30"/>
                  <a:gd name="T31" fmla="*/ 2147483647 h 66"/>
                  <a:gd name="T32" fmla="*/ 2147483647 w 30"/>
                  <a:gd name="T33" fmla="*/ 0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0"/>
                  <a:gd name="T52" fmla="*/ 0 h 66"/>
                  <a:gd name="T53" fmla="*/ 30 w 30"/>
                  <a:gd name="T54" fmla="*/ 66 h 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0" h="66">
                    <a:moveTo>
                      <a:pt x="11" y="0"/>
                    </a:moveTo>
                    <a:lnTo>
                      <a:pt x="0" y="15"/>
                    </a:lnTo>
                    <a:lnTo>
                      <a:pt x="4" y="33"/>
                    </a:lnTo>
                    <a:lnTo>
                      <a:pt x="11" y="48"/>
                    </a:lnTo>
                    <a:lnTo>
                      <a:pt x="30" y="66"/>
                    </a:lnTo>
                    <a:lnTo>
                      <a:pt x="30" y="59"/>
                    </a:lnTo>
                    <a:lnTo>
                      <a:pt x="30" y="55"/>
                    </a:lnTo>
                    <a:lnTo>
                      <a:pt x="30" y="48"/>
                    </a:lnTo>
                    <a:lnTo>
                      <a:pt x="30" y="44"/>
                    </a:lnTo>
                    <a:lnTo>
                      <a:pt x="30" y="29"/>
                    </a:lnTo>
                    <a:lnTo>
                      <a:pt x="26" y="18"/>
                    </a:lnTo>
                    <a:lnTo>
                      <a:pt x="18" y="7"/>
                    </a:lnTo>
                    <a:lnTo>
                      <a:pt x="11" y="0"/>
                    </a:lnTo>
                    <a:close/>
                  </a:path>
                </a:pathLst>
              </a:custGeom>
              <a:solidFill>
                <a:srgbClr val="8C6021"/>
              </a:solidFill>
              <a:ln w="9525">
                <a:noFill/>
                <a:round/>
                <a:headEnd/>
                <a:tailEnd/>
              </a:ln>
            </p:spPr>
            <p:txBody>
              <a:bodyPr/>
              <a:lstStyle/>
              <a:p>
                <a:endParaRPr lang="es-ES"/>
              </a:p>
            </p:txBody>
          </p:sp>
          <p:sp>
            <p:nvSpPr>
              <p:cNvPr id="44081" name="Freeform 24"/>
              <p:cNvSpPr>
                <a:spLocks/>
              </p:cNvSpPr>
              <p:nvPr/>
            </p:nvSpPr>
            <p:spPr bwMode="auto">
              <a:xfrm>
                <a:off x="5403850" y="3489325"/>
                <a:ext cx="87313" cy="41275"/>
              </a:xfrm>
              <a:custGeom>
                <a:avLst/>
                <a:gdLst>
                  <a:gd name="T0" fmla="*/ 2147483647 w 55"/>
                  <a:gd name="T1" fmla="*/ 2147483647 h 26"/>
                  <a:gd name="T2" fmla="*/ 2147483647 w 55"/>
                  <a:gd name="T3" fmla="*/ 2147483647 h 26"/>
                  <a:gd name="T4" fmla="*/ 2147483647 w 55"/>
                  <a:gd name="T5" fmla="*/ 2147483647 h 26"/>
                  <a:gd name="T6" fmla="*/ 2147483647 w 55"/>
                  <a:gd name="T7" fmla="*/ 2147483647 h 26"/>
                  <a:gd name="T8" fmla="*/ 2147483647 w 55"/>
                  <a:gd name="T9" fmla="*/ 0 h 26"/>
                  <a:gd name="T10" fmla="*/ 2147483647 w 55"/>
                  <a:gd name="T11" fmla="*/ 2147483647 h 26"/>
                  <a:gd name="T12" fmla="*/ 2147483647 w 55"/>
                  <a:gd name="T13" fmla="*/ 2147483647 h 26"/>
                  <a:gd name="T14" fmla="*/ 2147483647 w 55"/>
                  <a:gd name="T15" fmla="*/ 2147483647 h 26"/>
                  <a:gd name="T16" fmla="*/ 0 w 55"/>
                  <a:gd name="T17" fmla="*/ 2147483647 h 26"/>
                  <a:gd name="T18" fmla="*/ 2147483647 w 55"/>
                  <a:gd name="T19" fmla="*/ 2147483647 h 26"/>
                  <a:gd name="T20" fmla="*/ 2147483647 w 55"/>
                  <a:gd name="T21" fmla="*/ 2147483647 h 26"/>
                  <a:gd name="T22" fmla="*/ 2147483647 w 55"/>
                  <a:gd name="T23" fmla="*/ 2147483647 h 26"/>
                  <a:gd name="T24" fmla="*/ 2147483647 w 55"/>
                  <a:gd name="T25" fmla="*/ 2147483647 h 2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26"/>
                  <a:gd name="T41" fmla="*/ 55 w 55"/>
                  <a:gd name="T42" fmla="*/ 26 h 2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26">
                    <a:moveTo>
                      <a:pt x="11" y="22"/>
                    </a:moveTo>
                    <a:lnTo>
                      <a:pt x="29" y="26"/>
                    </a:lnTo>
                    <a:lnTo>
                      <a:pt x="40" y="22"/>
                    </a:lnTo>
                    <a:lnTo>
                      <a:pt x="48" y="11"/>
                    </a:lnTo>
                    <a:lnTo>
                      <a:pt x="55" y="0"/>
                    </a:lnTo>
                    <a:lnTo>
                      <a:pt x="44" y="4"/>
                    </a:lnTo>
                    <a:lnTo>
                      <a:pt x="29" y="8"/>
                    </a:lnTo>
                    <a:lnTo>
                      <a:pt x="15" y="11"/>
                    </a:lnTo>
                    <a:lnTo>
                      <a:pt x="0" y="19"/>
                    </a:lnTo>
                    <a:lnTo>
                      <a:pt x="3" y="22"/>
                    </a:lnTo>
                    <a:lnTo>
                      <a:pt x="7" y="22"/>
                    </a:lnTo>
                    <a:lnTo>
                      <a:pt x="11" y="22"/>
                    </a:lnTo>
                    <a:close/>
                  </a:path>
                </a:pathLst>
              </a:custGeom>
              <a:solidFill>
                <a:srgbClr val="8C6021"/>
              </a:solidFill>
              <a:ln w="9525">
                <a:noFill/>
                <a:round/>
                <a:headEnd/>
                <a:tailEnd/>
              </a:ln>
            </p:spPr>
            <p:txBody>
              <a:bodyPr/>
              <a:lstStyle/>
              <a:p>
                <a:endParaRPr lang="es-ES"/>
              </a:p>
            </p:txBody>
          </p:sp>
          <p:sp>
            <p:nvSpPr>
              <p:cNvPr id="44082" name="Freeform 25"/>
              <p:cNvSpPr>
                <a:spLocks/>
              </p:cNvSpPr>
              <p:nvPr/>
            </p:nvSpPr>
            <p:spPr bwMode="auto">
              <a:xfrm>
                <a:off x="5403850" y="3175000"/>
                <a:ext cx="76200" cy="111125"/>
              </a:xfrm>
              <a:custGeom>
                <a:avLst/>
                <a:gdLst>
                  <a:gd name="T0" fmla="*/ 2147483647 w 48"/>
                  <a:gd name="T1" fmla="*/ 2147483647 h 70"/>
                  <a:gd name="T2" fmla="*/ 2147483647 w 48"/>
                  <a:gd name="T3" fmla="*/ 2147483647 h 70"/>
                  <a:gd name="T4" fmla="*/ 2147483647 w 48"/>
                  <a:gd name="T5" fmla="*/ 2147483647 h 70"/>
                  <a:gd name="T6" fmla="*/ 2147483647 w 48"/>
                  <a:gd name="T7" fmla="*/ 2147483647 h 70"/>
                  <a:gd name="T8" fmla="*/ 2147483647 w 48"/>
                  <a:gd name="T9" fmla="*/ 2147483647 h 70"/>
                  <a:gd name="T10" fmla="*/ 2147483647 w 48"/>
                  <a:gd name="T11" fmla="*/ 2147483647 h 70"/>
                  <a:gd name="T12" fmla="*/ 2147483647 w 48"/>
                  <a:gd name="T13" fmla="*/ 2147483647 h 70"/>
                  <a:gd name="T14" fmla="*/ 0 w 48"/>
                  <a:gd name="T15" fmla="*/ 2147483647 h 70"/>
                  <a:gd name="T16" fmla="*/ 2147483647 w 48"/>
                  <a:gd name="T17" fmla="*/ 2147483647 h 70"/>
                  <a:gd name="T18" fmla="*/ 2147483647 w 48"/>
                  <a:gd name="T19" fmla="*/ 2147483647 h 70"/>
                  <a:gd name="T20" fmla="*/ 2147483647 w 48"/>
                  <a:gd name="T21" fmla="*/ 2147483647 h 70"/>
                  <a:gd name="T22" fmla="*/ 2147483647 w 48"/>
                  <a:gd name="T23" fmla="*/ 0 h 70"/>
                  <a:gd name="T24" fmla="*/ 2147483647 w 48"/>
                  <a:gd name="T25" fmla="*/ 2147483647 h 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
                  <a:gd name="T40" fmla="*/ 0 h 70"/>
                  <a:gd name="T41" fmla="*/ 48 w 48"/>
                  <a:gd name="T42" fmla="*/ 70 h 7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 h="70">
                    <a:moveTo>
                      <a:pt x="48" y="7"/>
                    </a:moveTo>
                    <a:lnTo>
                      <a:pt x="48" y="14"/>
                    </a:lnTo>
                    <a:lnTo>
                      <a:pt x="44" y="33"/>
                    </a:lnTo>
                    <a:lnTo>
                      <a:pt x="40" y="55"/>
                    </a:lnTo>
                    <a:lnTo>
                      <a:pt x="29" y="66"/>
                    </a:lnTo>
                    <a:lnTo>
                      <a:pt x="15" y="70"/>
                    </a:lnTo>
                    <a:lnTo>
                      <a:pt x="3" y="66"/>
                    </a:lnTo>
                    <a:lnTo>
                      <a:pt x="0" y="59"/>
                    </a:lnTo>
                    <a:lnTo>
                      <a:pt x="7" y="44"/>
                    </a:lnTo>
                    <a:lnTo>
                      <a:pt x="22" y="25"/>
                    </a:lnTo>
                    <a:lnTo>
                      <a:pt x="33" y="7"/>
                    </a:lnTo>
                    <a:lnTo>
                      <a:pt x="44" y="0"/>
                    </a:lnTo>
                    <a:lnTo>
                      <a:pt x="48" y="7"/>
                    </a:lnTo>
                    <a:close/>
                  </a:path>
                </a:pathLst>
              </a:custGeom>
              <a:solidFill>
                <a:srgbClr val="8C6021"/>
              </a:solidFill>
              <a:ln w="9525">
                <a:noFill/>
                <a:round/>
                <a:headEnd/>
                <a:tailEnd/>
              </a:ln>
            </p:spPr>
            <p:txBody>
              <a:bodyPr/>
              <a:lstStyle/>
              <a:p>
                <a:endParaRPr lang="es-ES"/>
              </a:p>
            </p:txBody>
          </p:sp>
        </p:grpSp>
        <p:sp>
          <p:nvSpPr>
            <p:cNvPr id="44070" name="76 CuadroTexto"/>
            <p:cNvSpPr txBox="1">
              <a:spLocks noChangeArrowheads="1"/>
            </p:cNvSpPr>
            <p:nvPr/>
          </p:nvSpPr>
          <p:spPr bwMode="auto">
            <a:xfrm>
              <a:off x="1197075" y="949837"/>
              <a:ext cx="1348447" cy="830997"/>
            </a:xfrm>
            <a:prstGeom prst="rect">
              <a:avLst/>
            </a:prstGeom>
            <a:noFill/>
            <a:ln w="9525">
              <a:noFill/>
              <a:miter lim="800000"/>
              <a:headEnd/>
              <a:tailEnd/>
            </a:ln>
          </p:spPr>
          <p:txBody>
            <a:bodyPr wrap="none">
              <a:spAutoFit/>
            </a:bodyPr>
            <a:lstStyle/>
            <a:p>
              <a:pPr algn="ctr"/>
              <a:r>
                <a:rPr lang="es-ES" sz="2400" b="1">
                  <a:solidFill>
                    <a:schemeClr val="tx2"/>
                  </a:solidFill>
                </a:rPr>
                <a:t>MUNDO</a:t>
              </a:r>
            </a:p>
            <a:p>
              <a:pPr algn="ctr"/>
              <a:r>
                <a:rPr lang="es-ES" sz="2400" b="1">
                  <a:solidFill>
                    <a:schemeClr val="tx2"/>
                  </a:solidFill>
                </a:rPr>
                <a:t>REAL</a:t>
              </a:r>
            </a:p>
          </p:txBody>
        </p:sp>
      </p:grpSp>
      <p:pic>
        <p:nvPicPr>
          <p:cNvPr id="56"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3000375" y="3857625"/>
            <a:ext cx="582613" cy="357188"/>
          </a:xfrm>
          <a:prstGeom prst="rect">
            <a:avLst/>
          </a:prstGeom>
          <a:noFill/>
          <a:ln w="9525">
            <a:noFill/>
            <a:miter lim="800000"/>
            <a:headEnd/>
            <a:tailEnd/>
          </a:ln>
        </p:spPr>
      </p:pic>
      <p:pic>
        <p:nvPicPr>
          <p:cNvPr id="57"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2071688" y="1498600"/>
            <a:ext cx="582612" cy="358775"/>
          </a:xfrm>
          <a:prstGeom prst="rect">
            <a:avLst/>
          </a:prstGeom>
          <a:noFill/>
          <a:ln w="9525">
            <a:noFill/>
            <a:miter lim="800000"/>
            <a:headEnd/>
            <a:tailEnd/>
          </a:ln>
        </p:spPr>
      </p:pic>
      <p:pic>
        <p:nvPicPr>
          <p:cNvPr id="58"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3357563" y="4429125"/>
            <a:ext cx="582612" cy="357188"/>
          </a:xfrm>
          <a:prstGeom prst="rect">
            <a:avLst/>
          </a:prstGeom>
          <a:noFill/>
          <a:ln w="9525">
            <a:noFill/>
            <a:miter lim="800000"/>
            <a:headEnd/>
            <a:tailEnd/>
          </a:ln>
        </p:spPr>
      </p:pic>
      <p:pic>
        <p:nvPicPr>
          <p:cNvPr id="59"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2928938" y="4857750"/>
            <a:ext cx="582612" cy="357188"/>
          </a:xfrm>
          <a:prstGeom prst="rect">
            <a:avLst/>
          </a:prstGeom>
          <a:noFill/>
          <a:ln w="9525">
            <a:noFill/>
            <a:miter lim="800000"/>
            <a:headEnd/>
            <a:tailEnd/>
          </a:ln>
        </p:spPr>
      </p:pic>
      <p:pic>
        <p:nvPicPr>
          <p:cNvPr id="60"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2714625" y="1998663"/>
            <a:ext cx="582613" cy="358775"/>
          </a:xfrm>
          <a:prstGeom prst="rect">
            <a:avLst/>
          </a:prstGeom>
          <a:noFill/>
          <a:ln w="9525">
            <a:noFill/>
            <a:miter lim="800000"/>
            <a:headEnd/>
            <a:tailEnd/>
          </a:ln>
        </p:spPr>
      </p:pic>
      <p:pic>
        <p:nvPicPr>
          <p:cNvPr id="61"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1857375" y="2141538"/>
            <a:ext cx="582613" cy="358775"/>
          </a:xfrm>
          <a:prstGeom prst="rect">
            <a:avLst/>
          </a:prstGeom>
          <a:noFill/>
          <a:ln w="9525">
            <a:noFill/>
            <a:miter lim="800000"/>
            <a:headEnd/>
            <a:tailEnd/>
          </a:ln>
        </p:spPr>
      </p:pic>
      <p:pic>
        <p:nvPicPr>
          <p:cNvPr id="62"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1714500" y="2857500"/>
            <a:ext cx="582613" cy="357188"/>
          </a:xfrm>
          <a:prstGeom prst="rect">
            <a:avLst/>
          </a:prstGeom>
          <a:noFill/>
          <a:ln w="9525">
            <a:noFill/>
            <a:miter lim="800000"/>
            <a:headEnd/>
            <a:tailEnd/>
          </a:ln>
        </p:spPr>
      </p:pic>
      <p:pic>
        <p:nvPicPr>
          <p:cNvPr id="63"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2286000" y="3500438"/>
            <a:ext cx="582613" cy="357187"/>
          </a:xfrm>
          <a:prstGeom prst="rect">
            <a:avLst/>
          </a:prstGeom>
          <a:noFill/>
          <a:ln w="9525">
            <a:noFill/>
            <a:miter lim="800000"/>
            <a:headEnd/>
            <a:tailEnd/>
          </a:ln>
        </p:spPr>
      </p:pic>
      <p:pic>
        <p:nvPicPr>
          <p:cNvPr id="64"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2643188" y="4357688"/>
            <a:ext cx="582612" cy="357187"/>
          </a:xfrm>
          <a:prstGeom prst="rect">
            <a:avLst/>
          </a:prstGeom>
          <a:noFill/>
          <a:ln w="9525">
            <a:noFill/>
            <a:miter lim="800000"/>
            <a:headEnd/>
            <a:tailEnd/>
          </a:ln>
        </p:spPr>
      </p:pic>
      <p:pic>
        <p:nvPicPr>
          <p:cNvPr id="65"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2786063" y="5429250"/>
            <a:ext cx="582612" cy="357188"/>
          </a:xfrm>
          <a:prstGeom prst="rect">
            <a:avLst/>
          </a:prstGeom>
          <a:noFill/>
          <a:ln w="9525">
            <a:noFill/>
            <a:miter lim="800000"/>
            <a:headEnd/>
            <a:tailEnd/>
          </a:ln>
        </p:spPr>
      </p:pic>
      <p:pic>
        <p:nvPicPr>
          <p:cNvPr id="66"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5857875" y="2355850"/>
            <a:ext cx="582613" cy="358775"/>
          </a:xfrm>
          <a:prstGeom prst="rect">
            <a:avLst/>
          </a:prstGeom>
          <a:noFill/>
          <a:ln w="9525">
            <a:noFill/>
            <a:miter lim="800000"/>
            <a:headEnd/>
            <a:tailEnd/>
          </a:ln>
        </p:spPr>
      </p:pic>
      <p:pic>
        <p:nvPicPr>
          <p:cNvPr id="67"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5143500" y="2427288"/>
            <a:ext cx="582613" cy="358775"/>
          </a:xfrm>
          <a:prstGeom prst="rect">
            <a:avLst/>
          </a:prstGeom>
          <a:noFill/>
          <a:ln w="9525">
            <a:noFill/>
            <a:miter lim="800000"/>
            <a:headEnd/>
            <a:tailEnd/>
          </a:ln>
        </p:spPr>
      </p:pic>
      <p:pic>
        <p:nvPicPr>
          <p:cNvPr id="68"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5214938" y="3071813"/>
            <a:ext cx="582612" cy="357187"/>
          </a:xfrm>
          <a:prstGeom prst="rect">
            <a:avLst/>
          </a:prstGeom>
          <a:noFill/>
          <a:ln w="9525">
            <a:noFill/>
            <a:miter lim="800000"/>
            <a:headEnd/>
            <a:tailEnd/>
          </a:ln>
        </p:spPr>
      </p:pic>
      <p:pic>
        <p:nvPicPr>
          <p:cNvPr id="69"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4786313" y="3571875"/>
            <a:ext cx="582612" cy="357188"/>
          </a:xfrm>
          <a:prstGeom prst="rect">
            <a:avLst/>
          </a:prstGeom>
          <a:noFill/>
          <a:ln w="9525">
            <a:noFill/>
            <a:miter lim="800000"/>
            <a:headEnd/>
            <a:tailEnd/>
          </a:ln>
        </p:spPr>
      </p:pic>
      <p:pic>
        <p:nvPicPr>
          <p:cNvPr id="70"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5929313" y="3429000"/>
            <a:ext cx="582612" cy="357188"/>
          </a:xfrm>
          <a:prstGeom prst="rect">
            <a:avLst/>
          </a:prstGeom>
          <a:noFill/>
          <a:ln w="9525">
            <a:noFill/>
            <a:miter lim="800000"/>
            <a:headEnd/>
            <a:tailEnd/>
          </a:ln>
        </p:spPr>
      </p:pic>
      <p:pic>
        <p:nvPicPr>
          <p:cNvPr id="71"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5500688" y="3929063"/>
            <a:ext cx="582612" cy="357187"/>
          </a:xfrm>
          <a:prstGeom prst="rect">
            <a:avLst/>
          </a:prstGeom>
          <a:noFill/>
          <a:ln w="9525">
            <a:noFill/>
            <a:miter lim="800000"/>
            <a:headEnd/>
            <a:tailEnd/>
          </a:ln>
        </p:spPr>
      </p:pic>
      <p:pic>
        <p:nvPicPr>
          <p:cNvPr id="72"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5786438" y="4572000"/>
            <a:ext cx="582612" cy="357188"/>
          </a:xfrm>
          <a:prstGeom prst="rect">
            <a:avLst/>
          </a:prstGeom>
          <a:noFill/>
          <a:ln w="9525">
            <a:noFill/>
            <a:miter lim="800000"/>
            <a:headEnd/>
            <a:tailEnd/>
          </a:ln>
        </p:spPr>
      </p:pic>
      <p:pic>
        <p:nvPicPr>
          <p:cNvPr id="73"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5715000" y="5143500"/>
            <a:ext cx="582613" cy="357188"/>
          </a:xfrm>
          <a:prstGeom prst="rect">
            <a:avLst/>
          </a:prstGeom>
          <a:noFill/>
          <a:ln w="9525">
            <a:noFill/>
            <a:miter lim="800000"/>
            <a:headEnd/>
            <a:tailEnd/>
          </a:ln>
        </p:spPr>
      </p:pic>
      <p:pic>
        <p:nvPicPr>
          <p:cNvPr id="74"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6143625" y="3929063"/>
            <a:ext cx="582613" cy="357187"/>
          </a:xfrm>
          <a:prstGeom prst="rect">
            <a:avLst/>
          </a:prstGeom>
          <a:noFill/>
          <a:ln w="9525">
            <a:noFill/>
            <a:miter lim="800000"/>
            <a:headEnd/>
            <a:tailEnd/>
          </a:ln>
        </p:spPr>
      </p:pic>
      <p:sp>
        <p:nvSpPr>
          <p:cNvPr id="44054" name="4 CuadroTexto"/>
          <p:cNvSpPr txBox="1">
            <a:spLocks noChangeArrowheads="1"/>
          </p:cNvSpPr>
          <p:nvPr/>
        </p:nvSpPr>
        <p:spPr bwMode="auto">
          <a:xfrm>
            <a:off x="214313" y="142875"/>
            <a:ext cx="4832350" cy="461963"/>
          </a:xfrm>
          <a:prstGeom prst="rect">
            <a:avLst/>
          </a:prstGeom>
          <a:noFill/>
          <a:ln w="9525">
            <a:noFill/>
            <a:miter lim="800000"/>
            <a:headEnd/>
            <a:tailEnd/>
          </a:ln>
        </p:spPr>
        <p:txBody>
          <a:bodyPr wrap="none">
            <a:spAutoFit/>
          </a:bodyPr>
          <a:lstStyle/>
          <a:p>
            <a:pPr marL="342900" indent="-342900"/>
            <a:r>
              <a:rPr lang="es-ES_tradnl" sz="2400" b="1"/>
              <a:t>¿Qué es el Modelado de Datos?</a:t>
            </a:r>
            <a:endParaRPr lang="es-MX" sz="2400" b="1"/>
          </a:p>
        </p:txBody>
      </p:sp>
      <p:pic>
        <p:nvPicPr>
          <p:cNvPr id="76" name="Picture 224" descr="C:\Archivos de programa\Microsoft Office\MEDIA\CAGCAT10\j0285750.wmf"/>
          <p:cNvPicPr>
            <a:picLocks noChangeAspect="1" noChangeArrowheads="1"/>
          </p:cNvPicPr>
          <p:nvPr/>
        </p:nvPicPr>
        <p:blipFill>
          <a:blip r:embed="rId2" cstate="print"/>
          <a:srcRect/>
          <a:stretch>
            <a:fillRect/>
          </a:stretch>
        </p:blipFill>
        <p:spPr bwMode="auto">
          <a:xfrm>
            <a:off x="4214813" y="1069975"/>
            <a:ext cx="582612" cy="358775"/>
          </a:xfrm>
          <a:prstGeom prst="rect">
            <a:avLst/>
          </a:prstGeom>
          <a:noFill/>
          <a:ln w="9525">
            <a:noFill/>
            <a:miter lim="800000"/>
            <a:headEnd/>
            <a:tailEnd/>
          </a:ln>
        </p:spPr>
      </p:pic>
      <p:sp>
        <p:nvSpPr>
          <p:cNvPr id="79" name="78 CuadroTexto"/>
          <p:cNvSpPr txBox="1">
            <a:spLocks noChangeArrowheads="1"/>
          </p:cNvSpPr>
          <p:nvPr/>
        </p:nvSpPr>
        <p:spPr bwMode="auto">
          <a:xfrm>
            <a:off x="6972300" y="4324350"/>
            <a:ext cx="1895475" cy="461963"/>
          </a:xfrm>
          <a:prstGeom prst="rect">
            <a:avLst/>
          </a:prstGeom>
          <a:noFill/>
          <a:ln w="9525">
            <a:noFill/>
            <a:miter lim="800000"/>
            <a:headEnd/>
            <a:tailEnd/>
          </a:ln>
        </p:spPr>
        <p:txBody>
          <a:bodyPr wrap="none">
            <a:spAutoFit/>
          </a:bodyPr>
          <a:lstStyle/>
          <a:p>
            <a:r>
              <a:rPr lang="es-ES" sz="2400" b="1">
                <a:solidFill>
                  <a:srgbClr val="00B050"/>
                </a:solidFill>
              </a:rPr>
              <a:t>ABSTRAER</a:t>
            </a:r>
            <a:endParaRPr lang="es-ES" sz="2000" b="1">
              <a:solidFill>
                <a:srgbClr val="00B050"/>
              </a:solidFill>
            </a:endParaRPr>
          </a:p>
        </p:txBody>
      </p:sp>
      <p:sp>
        <p:nvSpPr>
          <p:cNvPr id="39" name="38 CuadroTexto"/>
          <p:cNvSpPr txBox="1">
            <a:spLocks noChangeArrowheads="1"/>
          </p:cNvSpPr>
          <p:nvPr/>
        </p:nvSpPr>
        <p:spPr bwMode="auto">
          <a:xfrm>
            <a:off x="7172325" y="1071563"/>
            <a:ext cx="1500188" cy="400050"/>
          </a:xfrm>
          <a:prstGeom prst="rect">
            <a:avLst/>
          </a:prstGeom>
          <a:noFill/>
          <a:ln w="9525">
            <a:noFill/>
            <a:miter lim="800000"/>
            <a:headEnd/>
            <a:tailEnd/>
          </a:ln>
        </p:spPr>
        <p:txBody>
          <a:bodyPr wrap="none">
            <a:spAutoFit/>
          </a:bodyPr>
          <a:lstStyle/>
          <a:p>
            <a:r>
              <a:rPr lang="es-ES" sz="2000" b="1">
                <a:solidFill>
                  <a:schemeClr val="accent2"/>
                </a:solidFill>
              </a:rPr>
              <a:t>ANALIZAR</a:t>
            </a:r>
            <a:endParaRPr lang="es-ES" sz="2000" b="1">
              <a:solidFill>
                <a:schemeClr val="tx2"/>
              </a:solidFill>
            </a:endParaRPr>
          </a:p>
        </p:txBody>
      </p:sp>
      <p:sp>
        <p:nvSpPr>
          <p:cNvPr id="40" name="39 CuadroTexto"/>
          <p:cNvSpPr txBox="1">
            <a:spLocks noChangeArrowheads="1"/>
          </p:cNvSpPr>
          <p:nvPr/>
        </p:nvSpPr>
        <p:spPr bwMode="auto">
          <a:xfrm>
            <a:off x="6932613" y="2600325"/>
            <a:ext cx="1993900" cy="400050"/>
          </a:xfrm>
          <a:prstGeom prst="rect">
            <a:avLst/>
          </a:prstGeom>
          <a:noFill/>
          <a:ln w="9525">
            <a:noFill/>
            <a:miter lim="800000"/>
            <a:headEnd/>
            <a:tailEnd/>
          </a:ln>
        </p:spPr>
        <p:txBody>
          <a:bodyPr wrap="none">
            <a:spAutoFit/>
          </a:bodyPr>
          <a:lstStyle/>
          <a:p>
            <a:r>
              <a:rPr lang="es-ES" sz="2000" b="1">
                <a:solidFill>
                  <a:schemeClr val="accent2"/>
                </a:solidFill>
              </a:rPr>
              <a:t>INTERPRETAR</a:t>
            </a:r>
            <a:endParaRPr lang="es-ES" sz="2000" b="1">
              <a:solidFill>
                <a:schemeClr val="tx2"/>
              </a:solidFill>
            </a:endParaRPr>
          </a:p>
        </p:txBody>
      </p:sp>
      <p:sp>
        <p:nvSpPr>
          <p:cNvPr id="41" name="40 Flecha abajo"/>
          <p:cNvSpPr/>
          <p:nvPr/>
        </p:nvSpPr>
        <p:spPr>
          <a:xfrm>
            <a:off x="7715272" y="1593336"/>
            <a:ext cx="428628" cy="764094"/>
          </a:xfrm>
          <a:prstGeom prst="downArrow">
            <a:avLst/>
          </a:prstGeom>
          <a:solidFill>
            <a:schemeClr val="tx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42" name="41 Flecha abajo"/>
          <p:cNvSpPr/>
          <p:nvPr/>
        </p:nvSpPr>
        <p:spPr>
          <a:xfrm>
            <a:off x="7715272" y="3307848"/>
            <a:ext cx="428628" cy="764094"/>
          </a:xfrm>
          <a:prstGeom prst="downArrow">
            <a:avLst/>
          </a:prstGeom>
          <a:solidFill>
            <a:schemeClr val="tx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43" name="42 CuadroTexto"/>
          <p:cNvSpPr txBox="1">
            <a:spLocks noChangeArrowheads="1"/>
          </p:cNvSpPr>
          <p:nvPr/>
        </p:nvSpPr>
        <p:spPr bwMode="auto">
          <a:xfrm>
            <a:off x="6986588" y="5946775"/>
            <a:ext cx="1893887" cy="522288"/>
          </a:xfrm>
          <a:prstGeom prst="rect">
            <a:avLst/>
          </a:prstGeom>
          <a:noFill/>
          <a:ln w="9525">
            <a:noFill/>
            <a:miter lim="800000"/>
            <a:headEnd/>
            <a:tailEnd/>
          </a:ln>
        </p:spPr>
        <p:txBody>
          <a:bodyPr wrap="none">
            <a:spAutoFit/>
          </a:bodyPr>
          <a:lstStyle/>
          <a:p>
            <a:pPr>
              <a:defRPr/>
            </a:pPr>
            <a:r>
              <a:rPr lang="es-ES" sz="2800" b="1" dirty="0">
                <a:solidFill>
                  <a:schemeClr val="accent6">
                    <a:lumMod val="75000"/>
                  </a:schemeClr>
                </a:solidFill>
                <a:latin typeface="Arial Black" pitchFamily="34" charset="0"/>
              </a:rPr>
              <a:t>MODELO</a:t>
            </a:r>
            <a:endParaRPr lang="es-ES" b="1" dirty="0">
              <a:solidFill>
                <a:schemeClr val="accent6">
                  <a:lumMod val="75000"/>
                </a:schemeClr>
              </a:solidFill>
              <a:latin typeface="Arial Black" pitchFamily="34" charset="0"/>
            </a:endParaRPr>
          </a:p>
        </p:txBody>
      </p:sp>
      <p:sp>
        <p:nvSpPr>
          <p:cNvPr id="44" name="43 Flecha abajo"/>
          <p:cNvSpPr/>
          <p:nvPr/>
        </p:nvSpPr>
        <p:spPr>
          <a:xfrm>
            <a:off x="7728654" y="4929198"/>
            <a:ext cx="428628" cy="764094"/>
          </a:xfrm>
          <a:prstGeom prst="downArrow">
            <a:avLst/>
          </a:prstGeom>
          <a:solidFill>
            <a:schemeClr val="tx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 calcmode="lin" valueType="num">
                                      <p:cBhvr>
                                        <p:cTn id="9" dur="2000" fill="hold"/>
                                        <p:tgtEl>
                                          <p:spTgt spid="2"/>
                                        </p:tgtEl>
                                        <p:attrNameLst>
                                          <p:attrName>style.rotation</p:attrName>
                                        </p:attrNameLst>
                                      </p:cBhvr>
                                      <p:tavLst>
                                        <p:tav tm="0">
                                          <p:val>
                                            <p:fltVal val="90"/>
                                          </p:val>
                                        </p:tav>
                                        <p:tav tm="100000">
                                          <p:val>
                                            <p:fltVal val="0"/>
                                          </p:val>
                                        </p:tav>
                                      </p:tavLst>
                                    </p:anim>
                                    <p:animEffect transition="in" filter="fade">
                                      <p:cBhvr>
                                        <p:cTn id="10" dur="2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fade">
                                      <p:cBhvr>
                                        <p:cTn id="15" dur="200"/>
                                        <p:tgtEl>
                                          <p:spTgt spid="56"/>
                                        </p:tgtEl>
                                      </p:cBhvr>
                                    </p:animEffect>
                                  </p:childTnLst>
                                </p:cTn>
                              </p:par>
                            </p:childTnLst>
                          </p:cTn>
                        </p:par>
                        <p:par>
                          <p:cTn id="16" fill="hold">
                            <p:stCondLst>
                              <p:cond delay="200"/>
                            </p:stCondLst>
                            <p:childTnLst>
                              <p:par>
                                <p:cTn id="17" presetID="10" presetClass="entr" presetSubtype="0" fill="hold" nodeType="after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200"/>
                                        <p:tgtEl>
                                          <p:spTgt spid="57"/>
                                        </p:tgtEl>
                                      </p:cBhvr>
                                    </p:animEffect>
                                  </p:childTnLst>
                                </p:cTn>
                              </p:par>
                            </p:childTnLst>
                          </p:cTn>
                        </p:par>
                        <p:par>
                          <p:cTn id="20" fill="hold">
                            <p:stCondLst>
                              <p:cond delay="400"/>
                            </p:stCondLst>
                            <p:childTnLst>
                              <p:par>
                                <p:cTn id="21" presetID="10" presetClass="entr" presetSubtype="0" fill="hold" nodeType="afterEffect">
                                  <p:stCondLst>
                                    <p:cond delay="0"/>
                                  </p:stCondLst>
                                  <p:childTnLst>
                                    <p:set>
                                      <p:cBhvr>
                                        <p:cTn id="22" dur="1" fill="hold">
                                          <p:stCondLst>
                                            <p:cond delay="0"/>
                                          </p:stCondLst>
                                        </p:cTn>
                                        <p:tgtEl>
                                          <p:spTgt spid="58"/>
                                        </p:tgtEl>
                                        <p:attrNameLst>
                                          <p:attrName>style.visibility</p:attrName>
                                        </p:attrNameLst>
                                      </p:cBhvr>
                                      <p:to>
                                        <p:strVal val="visible"/>
                                      </p:to>
                                    </p:set>
                                    <p:animEffect transition="in" filter="fade">
                                      <p:cBhvr>
                                        <p:cTn id="23" dur="200"/>
                                        <p:tgtEl>
                                          <p:spTgt spid="58"/>
                                        </p:tgtEl>
                                      </p:cBhvr>
                                    </p:animEffect>
                                  </p:childTnLst>
                                </p:cTn>
                              </p:par>
                            </p:childTnLst>
                          </p:cTn>
                        </p:par>
                        <p:par>
                          <p:cTn id="24" fill="hold">
                            <p:stCondLst>
                              <p:cond delay="600"/>
                            </p:stCondLst>
                            <p:childTnLst>
                              <p:par>
                                <p:cTn id="25" presetID="10" presetClass="entr" presetSubtype="0" fill="hold" nodeType="afterEffect">
                                  <p:stCondLst>
                                    <p:cond delay="0"/>
                                  </p:stCondLst>
                                  <p:childTnLst>
                                    <p:set>
                                      <p:cBhvr>
                                        <p:cTn id="26" dur="1" fill="hold">
                                          <p:stCondLst>
                                            <p:cond delay="0"/>
                                          </p:stCondLst>
                                        </p:cTn>
                                        <p:tgtEl>
                                          <p:spTgt spid="59"/>
                                        </p:tgtEl>
                                        <p:attrNameLst>
                                          <p:attrName>style.visibility</p:attrName>
                                        </p:attrNameLst>
                                      </p:cBhvr>
                                      <p:to>
                                        <p:strVal val="visible"/>
                                      </p:to>
                                    </p:set>
                                    <p:animEffect transition="in" filter="fade">
                                      <p:cBhvr>
                                        <p:cTn id="27" dur="200"/>
                                        <p:tgtEl>
                                          <p:spTgt spid="59"/>
                                        </p:tgtEl>
                                      </p:cBhvr>
                                    </p:animEffect>
                                  </p:childTnLst>
                                </p:cTn>
                              </p:par>
                            </p:childTnLst>
                          </p:cTn>
                        </p:par>
                        <p:par>
                          <p:cTn id="28" fill="hold">
                            <p:stCondLst>
                              <p:cond delay="800"/>
                            </p:stCondLst>
                            <p:childTnLst>
                              <p:par>
                                <p:cTn id="29" presetID="10" presetClass="entr" presetSubtype="0" fill="hold" nodeType="afterEffect">
                                  <p:stCondLst>
                                    <p:cond delay="0"/>
                                  </p:stCondLst>
                                  <p:childTnLst>
                                    <p:set>
                                      <p:cBhvr>
                                        <p:cTn id="30" dur="1" fill="hold">
                                          <p:stCondLst>
                                            <p:cond delay="0"/>
                                          </p:stCondLst>
                                        </p:cTn>
                                        <p:tgtEl>
                                          <p:spTgt spid="60"/>
                                        </p:tgtEl>
                                        <p:attrNameLst>
                                          <p:attrName>style.visibility</p:attrName>
                                        </p:attrNameLst>
                                      </p:cBhvr>
                                      <p:to>
                                        <p:strVal val="visible"/>
                                      </p:to>
                                    </p:set>
                                    <p:animEffect transition="in" filter="fade">
                                      <p:cBhvr>
                                        <p:cTn id="31" dur="200"/>
                                        <p:tgtEl>
                                          <p:spTgt spid="60"/>
                                        </p:tgtEl>
                                      </p:cBhvr>
                                    </p:animEffect>
                                  </p:childTnLst>
                                </p:cTn>
                              </p:par>
                            </p:childTnLst>
                          </p:cTn>
                        </p:par>
                        <p:par>
                          <p:cTn id="32" fill="hold">
                            <p:stCondLst>
                              <p:cond delay="1000"/>
                            </p:stCondLst>
                            <p:childTnLst>
                              <p:par>
                                <p:cTn id="33" presetID="10" presetClass="entr" presetSubtype="0" fill="hold" nodeType="afterEffect">
                                  <p:stCondLst>
                                    <p:cond delay="0"/>
                                  </p:stCondLst>
                                  <p:childTnLst>
                                    <p:set>
                                      <p:cBhvr>
                                        <p:cTn id="34" dur="1" fill="hold">
                                          <p:stCondLst>
                                            <p:cond delay="0"/>
                                          </p:stCondLst>
                                        </p:cTn>
                                        <p:tgtEl>
                                          <p:spTgt spid="61"/>
                                        </p:tgtEl>
                                        <p:attrNameLst>
                                          <p:attrName>style.visibility</p:attrName>
                                        </p:attrNameLst>
                                      </p:cBhvr>
                                      <p:to>
                                        <p:strVal val="visible"/>
                                      </p:to>
                                    </p:set>
                                    <p:animEffect transition="in" filter="fade">
                                      <p:cBhvr>
                                        <p:cTn id="35" dur="200"/>
                                        <p:tgtEl>
                                          <p:spTgt spid="61"/>
                                        </p:tgtEl>
                                      </p:cBhvr>
                                    </p:animEffect>
                                  </p:childTnLst>
                                </p:cTn>
                              </p:par>
                            </p:childTnLst>
                          </p:cTn>
                        </p:par>
                        <p:par>
                          <p:cTn id="36" fill="hold">
                            <p:stCondLst>
                              <p:cond delay="1200"/>
                            </p:stCondLst>
                            <p:childTnLst>
                              <p:par>
                                <p:cTn id="37" presetID="10" presetClass="entr" presetSubtype="0" fill="hold" nodeType="after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fade">
                                      <p:cBhvr>
                                        <p:cTn id="39" dur="200"/>
                                        <p:tgtEl>
                                          <p:spTgt spid="62"/>
                                        </p:tgtEl>
                                      </p:cBhvr>
                                    </p:animEffect>
                                  </p:childTnLst>
                                </p:cTn>
                              </p:par>
                            </p:childTnLst>
                          </p:cTn>
                        </p:par>
                        <p:par>
                          <p:cTn id="40" fill="hold">
                            <p:stCondLst>
                              <p:cond delay="1400"/>
                            </p:stCondLst>
                            <p:childTnLst>
                              <p:par>
                                <p:cTn id="41" presetID="10" presetClass="entr" presetSubtype="0" fill="hold" nodeType="afterEffect">
                                  <p:stCondLst>
                                    <p:cond delay="0"/>
                                  </p:stCondLst>
                                  <p:childTnLst>
                                    <p:set>
                                      <p:cBhvr>
                                        <p:cTn id="42" dur="1" fill="hold">
                                          <p:stCondLst>
                                            <p:cond delay="0"/>
                                          </p:stCondLst>
                                        </p:cTn>
                                        <p:tgtEl>
                                          <p:spTgt spid="63"/>
                                        </p:tgtEl>
                                        <p:attrNameLst>
                                          <p:attrName>style.visibility</p:attrName>
                                        </p:attrNameLst>
                                      </p:cBhvr>
                                      <p:to>
                                        <p:strVal val="visible"/>
                                      </p:to>
                                    </p:set>
                                    <p:animEffect transition="in" filter="fade">
                                      <p:cBhvr>
                                        <p:cTn id="43" dur="200"/>
                                        <p:tgtEl>
                                          <p:spTgt spid="63"/>
                                        </p:tgtEl>
                                      </p:cBhvr>
                                    </p:animEffect>
                                  </p:childTnLst>
                                </p:cTn>
                              </p:par>
                            </p:childTnLst>
                          </p:cTn>
                        </p:par>
                        <p:par>
                          <p:cTn id="44" fill="hold">
                            <p:stCondLst>
                              <p:cond delay="1600"/>
                            </p:stCondLst>
                            <p:childTnLst>
                              <p:par>
                                <p:cTn id="45" presetID="10" presetClass="entr" presetSubtype="0" fill="hold" nodeType="afterEffect">
                                  <p:stCondLst>
                                    <p:cond delay="0"/>
                                  </p:stCondLst>
                                  <p:childTnLst>
                                    <p:set>
                                      <p:cBhvr>
                                        <p:cTn id="46" dur="1" fill="hold">
                                          <p:stCondLst>
                                            <p:cond delay="0"/>
                                          </p:stCondLst>
                                        </p:cTn>
                                        <p:tgtEl>
                                          <p:spTgt spid="64"/>
                                        </p:tgtEl>
                                        <p:attrNameLst>
                                          <p:attrName>style.visibility</p:attrName>
                                        </p:attrNameLst>
                                      </p:cBhvr>
                                      <p:to>
                                        <p:strVal val="visible"/>
                                      </p:to>
                                    </p:set>
                                    <p:animEffect transition="in" filter="fade">
                                      <p:cBhvr>
                                        <p:cTn id="47" dur="200"/>
                                        <p:tgtEl>
                                          <p:spTgt spid="64"/>
                                        </p:tgtEl>
                                      </p:cBhvr>
                                    </p:animEffect>
                                  </p:childTnLst>
                                </p:cTn>
                              </p:par>
                            </p:childTnLst>
                          </p:cTn>
                        </p:par>
                        <p:par>
                          <p:cTn id="48" fill="hold">
                            <p:stCondLst>
                              <p:cond delay="1800"/>
                            </p:stCondLst>
                            <p:childTnLst>
                              <p:par>
                                <p:cTn id="49" presetID="10" presetClass="entr" presetSubtype="0" fill="hold" nodeType="afterEffect">
                                  <p:stCondLst>
                                    <p:cond delay="0"/>
                                  </p:stCondLst>
                                  <p:childTnLst>
                                    <p:set>
                                      <p:cBhvr>
                                        <p:cTn id="50" dur="1" fill="hold">
                                          <p:stCondLst>
                                            <p:cond delay="0"/>
                                          </p:stCondLst>
                                        </p:cTn>
                                        <p:tgtEl>
                                          <p:spTgt spid="65"/>
                                        </p:tgtEl>
                                        <p:attrNameLst>
                                          <p:attrName>style.visibility</p:attrName>
                                        </p:attrNameLst>
                                      </p:cBhvr>
                                      <p:to>
                                        <p:strVal val="visible"/>
                                      </p:to>
                                    </p:set>
                                    <p:animEffect transition="in" filter="fade">
                                      <p:cBhvr>
                                        <p:cTn id="51" dur="200"/>
                                        <p:tgtEl>
                                          <p:spTgt spid="65"/>
                                        </p:tgtEl>
                                      </p:cBhvr>
                                    </p:animEffect>
                                  </p:childTnLst>
                                </p:cTn>
                              </p:par>
                            </p:childTnLst>
                          </p:cTn>
                        </p:par>
                        <p:par>
                          <p:cTn id="52" fill="hold">
                            <p:stCondLst>
                              <p:cond delay="2000"/>
                            </p:stCondLst>
                            <p:childTnLst>
                              <p:par>
                                <p:cTn id="53" presetID="10" presetClass="entr" presetSubtype="0" fill="hold" nodeType="afterEffect">
                                  <p:stCondLst>
                                    <p:cond delay="0"/>
                                  </p:stCondLst>
                                  <p:childTnLst>
                                    <p:set>
                                      <p:cBhvr>
                                        <p:cTn id="54" dur="1" fill="hold">
                                          <p:stCondLst>
                                            <p:cond delay="0"/>
                                          </p:stCondLst>
                                        </p:cTn>
                                        <p:tgtEl>
                                          <p:spTgt spid="66"/>
                                        </p:tgtEl>
                                        <p:attrNameLst>
                                          <p:attrName>style.visibility</p:attrName>
                                        </p:attrNameLst>
                                      </p:cBhvr>
                                      <p:to>
                                        <p:strVal val="visible"/>
                                      </p:to>
                                    </p:set>
                                    <p:animEffect transition="in" filter="fade">
                                      <p:cBhvr>
                                        <p:cTn id="55" dur="200"/>
                                        <p:tgtEl>
                                          <p:spTgt spid="66"/>
                                        </p:tgtEl>
                                      </p:cBhvr>
                                    </p:animEffect>
                                  </p:childTnLst>
                                </p:cTn>
                              </p:par>
                            </p:childTnLst>
                          </p:cTn>
                        </p:par>
                        <p:par>
                          <p:cTn id="56" fill="hold">
                            <p:stCondLst>
                              <p:cond delay="2200"/>
                            </p:stCondLst>
                            <p:childTnLst>
                              <p:par>
                                <p:cTn id="57" presetID="10" presetClass="entr" presetSubtype="0" fill="hold" nodeType="afterEffect">
                                  <p:stCondLst>
                                    <p:cond delay="0"/>
                                  </p:stCondLst>
                                  <p:childTnLst>
                                    <p:set>
                                      <p:cBhvr>
                                        <p:cTn id="58" dur="1" fill="hold">
                                          <p:stCondLst>
                                            <p:cond delay="0"/>
                                          </p:stCondLst>
                                        </p:cTn>
                                        <p:tgtEl>
                                          <p:spTgt spid="67"/>
                                        </p:tgtEl>
                                        <p:attrNameLst>
                                          <p:attrName>style.visibility</p:attrName>
                                        </p:attrNameLst>
                                      </p:cBhvr>
                                      <p:to>
                                        <p:strVal val="visible"/>
                                      </p:to>
                                    </p:set>
                                    <p:animEffect transition="in" filter="fade">
                                      <p:cBhvr>
                                        <p:cTn id="59" dur="200"/>
                                        <p:tgtEl>
                                          <p:spTgt spid="67"/>
                                        </p:tgtEl>
                                      </p:cBhvr>
                                    </p:animEffect>
                                  </p:childTnLst>
                                </p:cTn>
                              </p:par>
                            </p:childTnLst>
                          </p:cTn>
                        </p:par>
                        <p:par>
                          <p:cTn id="60" fill="hold">
                            <p:stCondLst>
                              <p:cond delay="2400"/>
                            </p:stCondLst>
                            <p:childTnLst>
                              <p:par>
                                <p:cTn id="61" presetID="10" presetClass="entr" presetSubtype="0" fill="hold" nodeType="afterEffect">
                                  <p:stCondLst>
                                    <p:cond delay="0"/>
                                  </p:stCondLst>
                                  <p:childTnLst>
                                    <p:set>
                                      <p:cBhvr>
                                        <p:cTn id="62" dur="1" fill="hold">
                                          <p:stCondLst>
                                            <p:cond delay="0"/>
                                          </p:stCondLst>
                                        </p:cTn>
                                        <p:tgtEl>
                                          <p:spTgt spid="68"/>
                                        </p:tgtEl>
                                        <p:attrNameLst>
                                          <p:attrName>style.visibility</p:attrName>
                                        </p:attrNameLst>
                                      </p:cBhvr>
                                      <p:to>
                                        <p:strVal val="visible"/>
                                      </p:to>
                                    </p:set>
                                    <p:animEffect transition="in" filter="fade">
                                      <p:cBhvr>
                                        <p:cTn id="63" dur="200"/>
                                        <p:tgtEl>
                                          <p:spTgt spid="68"/>
                                        </p:tgtEl>
                                      </p:cBhvr>
                                    </p:animEffect>
                                  </p:childTnLst>
                                </p:cTn>
                              </p:par>
                            </p:childTnLst>
                          </p:cTn>
                        </p:par>
                        <p:par>
                          <p:cTn id="64" fill="hold">
                            <p:stCondLst>
                              <p:cond delay="2600"/>
                            </p:stCondLst>
                            <p:childTnLst>
                              <p:par>
                                <p:cTn id="65" presetID="10" presetClass="entr" presetSubtype="0" fill="hold" nodeType="afterEffect">
                                  <p:stCondLst>
                                    <p:cond delay="0"/>
                                  </p:stCondLst>
                                  <p:childTnLst>
                                    <p:set>
                                      <p:cBhvr>
                                        <p:cTn id="66" dur="1" fill="hold">
                                          <p:stCondLst>
                                            <p:cond delay="0"/>
                                          </p:stCondLst>
                                        </p:cTn>
                                        <p:tgtEl>
                                          <p:spTgt spid="69"/>
                                        </p:tgtEl>
                                        <p:attrNameLst>
                                          <p:attrName>style.visibility</p:attrName>
                                        </p:attrNameLst>
                                      </p:cBhvr>
                                      <p:to>
                                        <p:strVal val="visible"/>
                                      </p:to>
                                    </p:set>
                                    <p:animEffect transition="in" filter="fade">
                                      <p:cBhvr>
                                        <p:cTn id="67" dur="200"/>
                                        <p:tgtEl>
                                          <p:spTgt spid="69"/>
                                        </p:tgtEl>
                                      </p:cBhvr>
                                    </p:animEffect>
                                  </p:childTnLst>
                                </p:cTn>
                              </p:par>
                            </p:childTnLst>
                          </p:cTn>
                        </p:par>
                        <p:par>
                          <p:cTn id="68" fill="hold">
                            <p:stCondLst>
                              <p:cond delay="2800"/>
                            </p:stCondLst>
                            <p:childTnLst>
                              <p:par>
                                <p:cTn id="69" presetID="10" presetClass="entr" presetSubtype="0" fill="hold" nodeType="afterEffect">
                                  <p:stCondLst>
                                    <p:cond delay="0"/>
                                  </p:stCondLst>
                                  <p:childTnLst>
                                    <p:set>
                                      <p:cBhvr>
                                        <p:cTn id="70" dur="1" fill="hold">
                                          <p:stCondLst>
                                            <p:cond delay="0"/>
                                          </p:stCondLst>
                                        </p:cTn>
                                        <p:tgtEl>
                                          <p:spTgt spid="70"/>
                                        </p:tgtEl>
                                        <p:attrNameLst>
                                          <p:attrName>style.visibility</p:attrName>
                                        </p:attrNameLst>
                                      </p:cBhvr>
                                      <p:to>
                                        <p:strVal val="visible"/>
                                      </p:to>
                                    </p:set>
                                    <p:animEffect transition="in" filter="fade">
                                      <p:cBhvr>
                                        <p:cTn id="71" dur="200"/>
                                        <p:tgtEl>
                                          <p:spTgt spid="70"/>
                                        </p:tgtEl>
                                      </p:cBhvr>
                                    </p:animEffect>
                                  </p:childTnLst>
                                </p:cTn>
                              </p:par>
                            </p:childTnLst>
                          </p:cTn>
                        </p:par>
                        <p:par>
                          <p:cTn id="72" fill="hold">
                            <p:stCondLst>
                              <p:cond delay="3000"/>
                            </p:stCondLst>
                            <p:childTnLst>
                              <p:par>
                                <p:cTn id="73" presetID="10" presetClass="entr" presetSubtype="0" fill="hold" nodeType="afterEffect">
                                  <p:stCondLst>
                                    <p:cond delay="0"/>
                                  </p:stCondLst>
                                  <p:childTnLst>
                                    <p:set>
                                      <p:cBhvr>
                                        <p:cTn id="74" dur="1" fill="hold">
                                          <p:stCondLst>
                                            <p:cond delay="0"/>
                                          </p:stCondLst>
                                        </p:cTn>
                                        <p:tgtEl>
                                          <p:spTgt spid="71"/>
                                        </p:tgtEl>
                                        <p:attrNameLst>
                                          <p:attrName>style.visibility</p:attrName>
                                        </p:attrNameLst>
                                      </p:cBhvr>
                                      <p:to>
                                        <p:strVal val="visible"/>
                                      </p:to>
                                    </p:set>
                                    <p:animEffect transition="in" filter="fade">
                                      <p:cBhvr>
                                        <p:cTn id="75" dur="200"/>
                                        <p:tgtEl>
                                          <p:spTgt spid="71"/>
                                        </p:tgtEl>
                                      </p:cBhvr>
                                    </p:animEffect>
                                  </p:childTnLst>
                                </p:cTn>
                              </p:par>
                            </p:childTnLst>
                          </p:cTn>
                        </p:par>
                        <p:par>
                          <p:cTn id="76" fill="hold">
                            <p:stCondLst>
                              <p:cond delay="3200"/>
                            </p:stCondLst>
                            <p:childTnLst>
                              <p:par>
                                <p:cTn id="77" presetID="10" presetClass="entr" presetSubtype="0" fill="hold" nodeType="afterEffect">
                                  <p:stCondLst>
                                    <p:cond delay="0"/>
                                  </p:stCondLst>
                                  <p:childTnLst>
                                    <p:set>
                                      <p:cBhvr>
                                        <p:cTn id="78" dur="1" fill="hold">
                                          <p:stCondLst>
                                            <p:cond delay="0"/>
                                          </p:stCondLst>
                                        </p:cTn>
                                        <p:tgtEl>
                                          <p:spTgt spid="72"/>
                                        </p:tgtEl>
                                        <p:attrNameLst>
                                          <p:attrName>style.visibility</p:attrName>
                                        </p:attrNameLst>
                                      </p:cBhvr>
                                      <p:to>
                                        <p:strVal val="visible"/>
                                      </p:to>
                                    </p:set>
                                    <p:animEffect transition="in" filter="fade">
                                      <p:cBhvr>
                                        <p:cTn id="79" dur="200"/>
                                        <p:tgtEl>
                                          <p:spTgt spid="72"/>
                                        </p:tgtEl>
                                      </p:cBhvr>
                                    </p:animEffect>
                                  </p:childTnLst>
                                </p:cTn>
                              </p:par>
                            </p:childTnLst>
                          </p:cTn>
                        </p:par>
                        <p:par>
                          <p:cTn id="80" fill="hold">
                            <p:stCondLst>
                              <p:cond delay="3400"/>
                            </p:stCondLst>
                            <p:childTnLst>
                              <p:par>
                                <p:cTn id="81" presetID="10" presetClass="entr" presetSubtype="0" fill="hold" nodeType="afterEffect">
                                  <p:stCondLst>
                                    <p:cond delay="0"/>
                                  </p:stCondLst>
                                  <p:childTnLst>
                                    <p:set>
                                      <p:cBhvr>
                                        <p:cTn id="82" dur="1" fill="hold">
                                          <p:stCondLst>
                                            <p:cond delay="0"/>
                                          </p:stCondLst>
                                        </p:cTn>
                                        <p:tgtEl>
                                          <p:spTgt spid="73"/>
                                        </p:tgtEl>
                                        <p:attrNameLst>
                                          <p:attrName>style.visibility</p:attrName>
                                        </p:attrNameLst>
                                      </p:cBhvr>
                                      <p:to>
                                        <p:strVal val="visible"/>
                                      </p:to>
                                    </p:set>
                                    <p:animEffect transition="in" filter="fade">
                                      <p:cBhvr>
                                        <p:cTn id="83" dur="200"/>
                                        <p:tgtEl>
                                          <p:spTgt spid="73"/>
                                        </p:tgtEl>
                                      </p:cBhvr>
                                    </p:animEffect>
                                  </p:childTnLst>
                                </p:cTn>
                              </p:par>
                            </p:childTnLst>
                          </p:cTn>
                        </p:par>
                        <p:par>
                          <p:cTn id="84" fill="hold">
                            <p:stCondLst>
                              <p:cond delay="3600"/>
                            </p:stCondLst>
                            <p:childTnLst>
                              <p:par>
                                <p:cTn id="85" presetID="10" presetClass="entr" presetSubtype="0" fill="hold" nodeType="afterEffect">
                                  <p:stCondLst>
                                    <p:cond delay="0"/>
                                  </p:stCondLst>
                                  <p:childTnLst>
                                    <p:set>
                                      <p:cBhvr>
                                        <p:cTn id="86" dur="1" fill="hold">
                                          <p:stCondLst>
                                            <p:cond delay="0"/>
                                          </p:stCondLst>
                                        </p:cTn>
                                        <p:tgtEl>
                                          <p:spTgt spid="74"/>
                                        </p:tgtEl>
                                        <p:attrNameLst>
                                          <p:attrName>style.visibility</p:attrName>
                                        </p:attrNameLst>
                                      </p:cBhvr>
                                      <p:to>
                                        <p:strVal val="visible"/>
                                      </p:to>
                                    </p:set>
                                    <p:animEffect transition="in" filter="fade">
                                      <p:cBhvr>
                                        <p:cTn id="87" dur="200"/>
                                        <p:tgtEl>
                                          <p:spTgt spid="74"/>
                                        </p:tgtEl>
                                      </p:cBhvr>
                                    </p:animEffect>
                                  </p:childTnLst>
                                </p:cTn>
                              </p:par>
                            </p:childTnLst>
                          </p:cTn>
                        </p:par>
                        <p:par>
                          <p:cTn id="88" fill="hold">
                            <p:stCondLst>
                              <p:cond delay="3800"/>
                            </p:stCondLst>
                            <p:childTnLst>
                              <p:par>
                                <p:cTn id="89" presetID="10" presetClass="entr" presetSubtype="0" fill="hold" nodeType="afterEffect">
                                  <p:stCondLst>
                                    <p:cond delay="0"/>
                                  </p:stCondLst>
                                  <p:childTnLst>
                                    <p:set>
                                      <p:cBhvr>
                                        <p:cTn id="90" dur="1" fill="hold">
                                          <p:stCondLst>
                                            <p:cond delay="0"/>
                                          </p:stCondLst>
                                        </p:cTn>
                                        <p:tgtEl>
                                          <p:spTgt spid="76"/>
                                        </p:tgtEl>
                                        <p:attrNameLst>
                                          <p:attrName>style.visibility</p:attrName>
                                        </p:attrNameLst>
                                      </p:cBhvr>
                                      <p:to>
                                        <p:strVal val="visible"/>
                                      </p:to>
                                    </p:set>
                                    <p:animEffect transition="in" filter="fade">
                                      <p:cBhvr>
                                        <p:cTn id="91" dur="200"/>
                                        <p:tgtEl>
                                          <p:spTgt spid="76"/>
                                        </p:tgtEl>
                                      </p:cBhvr>
                                    </p:animEffect>
                                  </p:childTnLst>
                                </p:cTn>
                              </p:par>
                            </p:childTnLst>
                          </p:cTn>
                        </p:par>
                      </p:childTnLst>
                    </p:cTn>
                  </p:par>
                  <p:par>
                    <p:cTn id="92" fill="hold">
                      <p:stCondLst>
                        <p:cond delay="indefinite"/>
                      </p:stCondLst>
                      <p:childTnLst>
                        <p:par>
                          <p:cTn id="93" fill="hold">
                            <p:stCondLst>
                              <p:cond delay="0"/>
                            </p:stCondLst>
                            <p:childTnLst>
                              <p:par>
                                <p:cTn id="94" presetID="7" presetClass="entr" presetSubtype="1" fill="hold" grpId="0" nodeType="clickEffect">
                                  <p:stCondLst>
                                    <p:cond delay="0"/>
                                  </p:stCondLst>
                                  <p:childTnLst>
                                    <p:set>
                                      <p:cBhvr>
                                        <p:cTn id="95" dur="1" fill="hold">
                                          <p:stCondLst>
                                            <p:cond delay="0"/>
                                          </p:stCondLst>
                                        </p:cTn>
                                        <p:tgtEl>
                                          <p:spTgt spid="39">
                                            <p:txEl>
                                              <p:pRg st="0" end="0"/>
                                            </p:txEl>
                                          </p:spTgt>
                                        </p:tgtEl>
                                        <p:attrNameLst>
                                          <p:attrName>style.visibility</p:attrName>
                                        </p:attrNameLst>
                                      </p:cBhvr>
                                      <p:to>
                                        <p:strVal val="visible"/>
                                      </p:to>
                                    </p:set>
                                    <p:anim calcmode="lin" valueType="num">
                                      <p:cBhvr additive="base">
                                        <p:cTn id="96" dur="500" fill="hold"/>
                                        <p:tgtEl>
                                          <p:spTgt spid="39">
                                            <p:txEl>
                                              <p:pRg st="0" end="0"/>
                                            </p:txEl>
                                          </p:spTgt>
                                        </p:tgtEl>
                                        <p:attrNameLst>
                                          <p:attrName>ppt_x</p:attrName>
                                        </p:attrNameLst>
                                      </p:cBhvr>
                                      <p:tavLst>
                                        <p:tav tm="0">
                                          <p:val>
                                            <p:strVal val="#ppt_x"/>
                                          </p:val>
                                        </p:tav>
                                        <p:tav tm="100000">
                                          <p:val>
                                            <p:strVal val="#ppt_x"/>
                                          </p:val>
                                        </p:tav>
                                      </p:tavLst>
                                    </p:anim>
                                    <p:anim calcmode="lin" valueType="num">
                                      <p:cBhvr additive="base">
                                        <p:cTn id="97" dur="500" fill="hold"/>
                                        <p:tgtEl>
                                          <p:spTgt spid="39">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7" presetClass="entr" presetSubtype="1" fill="hold" nodeType="clickEffect">
                                  <p:stCondLst>
                                    <p:cond delay="0"/>
                                  </p:stCondLst>
                                  <p:childTnLst>
                                    <p:set>
                                      <p:cBhvr>
                                        <p:cTn id="101" dur="1" fill="hold">
                                          <p:stCondLst>
                                            <p:cond delay="0"/>
                                          </p:stCondLst>
                                        </p:cTn>
                                        <p:tgtEl>
                                          <p:spTgt spid="41"/>
                                        </p:tgtEl>
                                        <p:attrNameLst>
                                          <p:attrName>style.visibility</p:attrName>
                                        </p:attrNameLst>
                                      </p:cBhvr>
                                      <p:to>
                                        <p:strVal val="visible"/>
                                      </p:to>
                                    </p:set>
                                    <p:anim calcmode="lin" valueType="num">
                                      <p:cBhvr additive="base">
                                        <p:cTn id="102" dur="500" fill="hold"/>
                                        <p:tgtEl>
                                          <p:spTgt spid="41"/>
                                        </p:tgtEl>
                                        <p:attrNameLst>
                                          <p:attrName>ppt_x</p:attrName>
                                        </p:attrNameLst>
                                      </p:cBhvr>
                                      <p:tavLst>
                                        <p:tav tm="0">
                                          <p:val>
                                            <p:strVal val="#ppt_x"/>
                                          </p:val>
                                        </p:tav>
                                        <p:tav tm="100000">
                                          <p:val>
                                            <p:strVal val="#ppt_x"/>
                                          </p:val>
                                        </p:tav>
                                      </p:tavLst>
                                    </p:anim>
                                    <p:anim calcmode="lin" valueType="num">
                                      <p:cBhvr additive="base">
                                        <p:cTn id="103" dur="500" fill="hold"/>
                                        <p:tgtEl>
                                          <p:spTgt spid="41"/>
                                        </p:tgtEl>
                                        <p:attrNameLst>
                                          <p:attrName>ppt_y</p:attrName>
                                        </p:attrNameLst>
                                      </p:cBhvr>
                                      <p:tavLst>
                                        <p:tav tm="0">
                                          <p:val>
                                            <p:strVal val="0-#ppt_h/2"/>
                                          </p:val>
                                        </p:tav>
                                        <p:tav tm="100000">
                                          <p:val>
                                            <p:strVal val="#ppt_y"/>
                                          </p:val>
                                        </p:tav>
                                      </p:tavLst>
                                    </p:anim>
                                  </p:childTnLst>
                                </p:cTn>
                              </p:par>
                              <p:par>
                                <p:cTn id="104" presetID="7" presetClass="entr" presetSubtype="1" fill="hold" grpId="0" nodeType="withEffect">
                                  <p:stCondLst>
                                    <p:cond delay="0"/>
                                  </p:stCondLst>
                                  <p:childTnLst>
                                    <p:set>
                                      <p:cBhvr>
                                        <p:cTn id="105" dur="1" fill="hold">
                                          <p:stCondLst>
                                            <p:cond delay="0"/>
                                          </p:stCondLst>
                                        </p:cTn>
                                        <p:tgtEl>
                                          <p:spTgt spid="40">
                                            <p:txEl>
                                              <p:pRg st="0" end="0"/>
                                            </p:txEl>
                                          </p:spTgt>
                                        </p:tgtEl>
                                        <p:attrNameLst>
                                          <p:attrName>style.visibility</p:attrName>
                                        </p:attrNameLst>
                                      </p:cBhvr>
                                      <p:to>
                                        <p:strVal val="visible"/>
                                      </p:to>
                                    </p:set>
                                    <p:anim calcmode="lin" valueType="num">
                                      <p:cBhvr additive="base">
                                        <p:cTn id="106" dur="500" fill="hold"/>
                                        <p:tgtEl>
                                          <p:spTgt spid="40">
                                            <p:txEl>
                                              <p:pRg st="0" end="0"/>
                                            </p:txEl>
                                          </p:spTgt>
                                        </p:tgtEl>
                                        <p:attrNameLst>
                                          <p:attrName>ppt_x</p:attrName>
                                        </p:attrNameLst>
                                      </p:cBhvr>
                                      <p:tavLst>
                                        <p:tav tm="0">
                                          <p:val>
                                            <p:strVal val="#ppt_x"/>
                                          </p:val>
                                        </p:tav>
                                        <p:tav tm="100000">
                                          <p:val>
                                            <p:strVal val="#ppt_x"/>
                                          </p:val>
                                        </p:tav>
                                      </p:tavLst>
                                    </p:anim>
                                    <p:anim calcmode="lin" valueType="num">
                                      <p:cBhvr additive="base">
                                        <p:cTn id="107" dur="500" fill="hold"/>
                                        <p:tgtEl>
                                          <p:spTgt spid="40">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7" presetClass="entr" presetSubtype="1" fill="hold" nodeType="clickEffect">
                                  <p:stCondLst>
                                    <p:cond delay="0"/>
                                  </p:stCondLst>
                                  <p:childTnLst>
                                    <p:set>
                                      <p:cBhvr>
                                        <p:cTn id="111" dur="1" fill="hold">
                                          <p:stCondLst>
                                            <p:cond delay="0"/>
                                          </p:stCondLst>
                                        </p:cTn>
                                        <p:tgtEl>
                                          <p:spTgt spid="42"/>
                                        </p:tgtEl>
                                        <p:attrNameLst>
                                          <p:attrName>style.visibility</p:attrName>
                                        </p:attrNameLst>
                                      </p:cBhvr>
                                      <p:to>
                                        <p:strVal val="visible"/>
                                      </p:to>
                                    </p:set>
                                    <p:anim calcmode="lin" valueType="num">
                                      <p:cBhvr additive="base">
                                        <p:cTn id="112" dur="500" fill="hold"/>
                                        <p:tgtEl>
                                          <p:spTgt spid="42"/>
                                        </p:tgtEl>
                                        <p:attrNameLst>
                                          <p:attrName>ppt_x</p:attrName>
                                        </p:attrNameLst>
                                      </p:cBhvr>
                                      <p:tavLst>
                                        <p:tav tm="0">
                                          <p:val>
                                            <p:strVal val="#ppt_x"/>
                                          </p:val>
                                        </p:tav>
                                        <p:tav tm="100000">
                                          <p:val>
                                            <p:strVal val="#ppt_x"/>
                                          </p:val>
                                        </p:tav>
                                      </p:tavLst>
                                    </p:anim>
                                    <p:anim calcmode="lin" valueType="num">
                                      <p:cBhvr additive="base">
                                        <p:cTn id="113" dur="500" fill="hold"/>
                                        <p:tgtEl>
                                          <p:spTgt spid="42"/>
                                        </p:tgtEl>
                                        <p:attrNameLst>
                                          <p:attrName>ppt_y</p:attrName>
                                        </p:attrNameLst>
                                      </p:cBhvr>
                                      <p:tavLst>
                                        <p:tav tm="0">
                                          <p:val>
                                            <p:strVal val="0-#ppt_h/2"/>
                                          </p:val>
                                        </p:tav>
                                        <p:tav tm="100000">
                                          <p:val>
                                            <p:strVal val="#ppt_y"/>
                                          </p:val>
                                        </p:tav>
                                      </p:tavLst>
                                    </p:anim>
                                  </p:childTnLst>
                                </p:cTn>
                              </p:par>
                              <p:par>
                                <p:cTn id="114" presetID="7" presetClass="entr" presetSubtype="1" fill="hold" grpId="0" nodeType="withEffect">
                                  <p:stCondLst>
                                    <p:cond delay="0"/>
                                  </p:stCondLst>
                                  <p:childTnLst>
                                    <p:set>
                                      <p:cBhvr>
                                        <p:cTn id="115" dur="1" fill="hold">
                                          <p:stCondLst>
                                            <p:cond delay="0"/>
                                          </p:stCondLst>
                                        </p:cTn>
                                        <p:tgtEl>
                                          <p:spTgt spid="79">
                                            <p:txEl>
                                              <p:pRg st="0" end="0"/>
                                            </p:txEl>
                                          </p:spTgt>
                                        </p:tgtEl>
                                        <p:attrNameLst>
                                          <p:attrName>style.visibility</p:attrName>
                                        </p:attrNameLst>
                                      </p:cBhvr>
                                      <p:to>
                                        <p:strVal val="visible"/>
                                      </p:to>
                                    </p:set>
                                    <p:anim calcmode="lin" valueType="num">
                                      <p:cBhvr additive="base">
                                        <p:cTn id="116" dur="500" fill="hold"/>
                                        <p:tgtEl>
                                          <p:spTgt spid="79">
                                            <p:txEl>
                                              <p:pRg st="0" end="0"/>
                                            </p:txEl>
                                          </p:spTgt>
                                        </p:tgtEl>
                                        <p:attrNameLst>
                                          <p:attrName>ppt_x</p:attrName>
                                        </p:attrNameLst>
                                      </p:cBhvr>
                                      <p:tavLst>
                                        <p:tav tm="0">
                                          <p:val>
                                            <p:strVal val="#ppt_x"/>
                                          </p:val>
                                        </p:tav>
                                        <p:tav tm="100000">
                                          <p:val>
                                            <p:strVal val="#ppt_x"/>
                                          </p:val>
                                        </p:tav>
                                      </p:tavLst>
                                    </p:anim>
                                    <p:anim calcmode="lin" valueType="num">
                                      <p:cBhvr additive="base">
                                        <p:cTn id="117" dur="500" fill="hold"/>
                                        <p:tgtEl>
                                          <p:spTgt spid="79">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7" presetClass="entr" presetSubtype="1" fill="hold" nodeType="clickEffect">
                                  <p:stCondLst>
                                    <p:cond delay="0"/>
                                  </p:stCondLst>
                                  <p:childTnLst>
                                    <p:set>
                                      <p:cBhvr>
                                        <p:cTn id="121" dur="1" fill="hold">
                                          <p:stCondLst>
                                            <p:cond delay="0"/>
                                          </p:stCondLst>
                                        </p:cTn>
                                        <p:tgtEl>
                                          <p:spTgt spid="44"/>
                                        </p:tgtEl>
                                        <p:attrNameLst>
                                          <p:attrName>style.visibility</p:attrName>
                                        </p:attrNameLst>
                                      </p:cBhvr>
                                      <p:to>
                                        <p:strVal val="visible"/>
                                      </p:to>
                                    </p:set>
                                    <p:anim calcmode="lin" valueType="num">
                                      <p:cBhvr additive="base">
                                        <p:cTn id="122" dur="500" fill="hold"/>
                                        <p:tgtEl>
                                          <p:spTgt spid="44"/>
                                        </p:tgtEl>
                                        <p:attrNameLst>
                                          <p:attrName>ppt_x</p:attrName>
                                        </p:attrNameLst>
                                      </p:cBhvr>
                                      <p:tavLst>
                                        <p:tav tm="0">
                                          <p:val>
                                            <p:strVal val="#ppt_x"/>
                                          </p:val>
                                        </p:tav>
                                        <p:tav tm="100000">
                                          <p:val>
                                            <p:strVal val="#ppt_x"/>
                                          </p:val>
                                        </p:tav>
                                      </p:tavLst>
                                    </p:anim>
                                    <p:anim calcmode="lin" valueType="num">
                                      <p:cBhvr additive="base">
                                        <p:cTn id="123" dur="500" fill="hold"/>
                                        <p:tgtEl>
                                          <p:spTgt spid="44"/>
                                        </p:tgtEl>
                                        <p:attrNameLst>
                                          <p:attrName>ppt_y</p:attrName>
                                        </p:attrNameLst>
                                      </p:cBhvr>
                                      <p:tavLst>
                                        <p:tav tm="0">
                                          <p:val>
                                            <p:strVal val="0-#ppt_h/2"/>
                                          </p:val>
                                        </p:tav>
                                        <p:tav tm="100000">
                                          <p:val>
                                            <p:strVal val="#ppt_y"/>
                                          </p:val>
                                        </p:tav>
                                      </p:tavLst>
                                    </p:anim>
                                  </p:childTnLst>
                                </p:cTn>
                              </p:par>
                              <p:par>
                                <p:cTn id="124" presetID="7" presetClass="entr" presetSubtype="1" fill="hold" grpId="0" nodeType="withEffect">
                                  <p:stCondLst>
                                    <p:cond delay="0"/>
                                  </p:stCondLst>
                                  <p:childTnLst>
                                    <p:set>
                                      <p:cBhvr>
                                        <p:cTn id="125" dur="1" fill="hold">
                                          <p:stCondLst>
                                            <p:cond delay="0"/>
                                          </p:stCondLst>
                                        </p:cTn>
                                        <p:tgtEl>
                                          <p:spTgt spid="43">
                                            <p:txEl>
                                              <p:pRg st="0" end="0"/>
                                            </p:txEl>
                                          </p:spTgt>
                                        </p:tgtEl>
                                        <p:attrNameLst>
                                          <p:attrName>style.visibility</p:attrName>
                                        </p:attrNameLst>
                                      </p:cBhvr>
                                      <p:to>
                                        <p:strVal val="visible"/>
                                      </p:to>
                                    </p:set>
                                    <p:anim calcmode="lin" valueType="num">
                                      <p:cBhvr additive="base">
                                        <p:cTn id="126" dur="500" fill="hold"/>
                                        <p:tgtEl>
                                          <p:spTgt spid="43">
                                            <p:txEl>
                                              <p:pRg st="0" end="0"/>
                                            </p:txEl>
                                          </p:spTgt>
                                        </p:tgtEl>
                                        <p:attrNameLst>
                                          <p:attrName>ppt_x</p:attrName>
                                        </p:attrNameLst>
                                      </p:cBhvr>
                                      <p:tavLst>
                                        <p:tav tm="0">
                                          <p:val>
                                            <p:strVal val="#ppt_x"/>
                                          </p:val>
                                        </p:tav>
                                        <p:tav tm="100000">
                                          <p:val>
                                            <p:strVal val="#ppt_x"/>
                                          </p:val>
                                        </p:tav>
                                      </p:tavLst>
                                    </p:anim>
                                    <p:anim calcmode="lin" valueType="num">
                                      <p:cBhvr additive="base">
                                        <p:cTn id="127" dur="500" fill="hold"/>
                                        <p:tgtEl>
                                          <p:spTgt spid="43">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build="p"/>
      <p:bldP spid="39" grpId="0" build="p"/>
      <p:bldP spid="40" grpId="0" build="p"/>
      <p:bldP spid="4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1 Rectángulo"/>
          <p:cNvSpPr>
            <a:spLocks noChangeArrowheads="1"/>
          </p:cNvSpPr>
          <p:nvPr/>
        </p:nvSpPr>
        <p:spPr bwMode="auto">
          <a:xfrm>
            <a:off x="642938" y="1274763"/>
            <a:ext cx="7929562" cy="4154487"/>
          </a:xfrm>
          <a:prstGeom prst="rect">
            <a:avLst/>
          </a:prstGeom>
          <a:noFill/>
          <a:ln w="9525">
            <a:noFill/>
            <a:miter lim="800000"/>
            <a:headEnd/>
            <a:tailEnd/>
          </a:ln>
        </p:spPr>
        <p:txBody>
          <a:bodyPr>
            <a:spAutoFit/>
          </a:bodyPr>
          <a:lstStyle/>
          <a:p>
            <a:pPr marL="179388" indent="-179388" algn="just">
              <a:buFont typeface="Arial" charset="0"/>
              <a:buChar char="•"/>
            </a:pPr>
            <a:r>
              <a:rPr lang="es-ES" sz="2400" dirty="0"/>
              <a:t>Es la representación de cosas del mundo real.</a:t>
            </a:r>
          </a:p>
          <a:p>
            <a:pPr marL="179388" indent="-179388" algn="just"/>
            <a:endParaRPr lang="es-ES" sz="2400" dirty="0"/>
          </a:p>
          <a:p>
            <a:pPr marL="179388" indent="-179388" algn="just">
              <a:buFont typeface="Arial" charset="0"/>
              <a:buChar char="•"/>
            </a:pPr>
            <a:r>
              <a:rPr lang="es-ES" sz="2400" dirty="0"/>
              <a:t>Es una representación de la realidad que contiene las características generales de algo que se va a realizar. En base de datos, esta representación la elaboramos de forma gráfica.</a:t>
            </a:r>
          </a:p>
          <a:p>
            <a:pPr marL="179388" indent="-179388" algn="just"/>
            <a:endParaRPr lang="es-ES" sz="2400" dirty="0"/>
          </a:p>
          <a:p>
            <a:pPr marL="179388" indent="-179388" algn="just">
              <a:buFont typeface="Arial" charset="0"/>
              <a:buChar char="•"/>
            </a:pPr>
            <a:r>
              <a:rPr lang="es-ES" sz="2400" dirty="0"/>
              <a:t>Es una colección de herramientas conceptuales para describir los datos, las relaciones que existen entre ellos, semántica asociada a los datos y restricciones de consistencia.</a:t>
            </a:r>
            <a:endParaRPr lang="es-ES" sz="2000" dirty="0"/>
          </a:p>
        </p:txBody>
      </p:sp>
      <p:sp>
        <p:nvSpPr>
          <p:cNvPr id="45059" name="4 CuadroTexto"/>
          <p:cNvSpPr txBox="1">
            <a:spLocks noChangeArrowheads="1"/>
          </p:cNvSpPr>
          <p:nvPr/>
        </p:nvSpPr>
        <p:spPr bwMode="auto">
          <a:xfrm>
            <a:off x="214313" y="131763"/>
            <a:ext cx="4832350" cy="461962"/>
          </a:xfrm>
          <a:prstGeom prst="rect">
            <a:avLst/>
          </a:prstGeom>
          <a:noFill/>
          <a:ln w="9525">
            <a:noFill/>
            <a:miter lim="800000"/>
            <a:headEnd/>
            <a:tailEnd/>
          </a:ln>
        </p:spPr>
        <p:txBody>
          <a:bodyPr wrap="none">
            <a:spAutoFit/>
          </a:bodyPr>
          <a:lstStyle/>
          <a:p>
            <a:pPr marL="342900" indent="-342900"/>
            <a:r>
              <a:rPr lang="es-ES_tradnl" sz="2400" b="1" dirty="0"/>
              <a:t>¿Qué es el Modelado de Datos?</a:t>
            </a:r>
            <a:endParaRPr lang="es-MX" sz="2400"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251520" y="1052736"/>
            <a:ext cx="8640960" cy="4708981"/>
          </a:xfrm>
          <a:prstGeom prst="rect">
            <a:avLst/>
          </a:prstGeom>
        </p:spPr>
        <p:txBody>
          <a:bodyPr wrap="square">
            <a:spAutoFit/>
          </a:bodyPr>
          <a:lstStyle/>
          <a:p>
            <a:pPr algn="just"/>
            <a:r>
              <a:rPr lang="es-CO" sz="2000" dirty="0"/>
              <a:t>Un modelo de datos es un lenguaje orientado a hablar una </a:t>
            </a:r>
            <a:r>
              <a:rPr lang="es-CO" sz="2000" dirty="0">
                <a:hlinkClick r:id="rId2" tooltip="Base de Datos"/>
              </a:rPr>
              <a:t>Base de Datos</a:t>
            </a:r>
            <a:r>
              <a:rPr lang="es-CO" sz="2000" dirty="0"/>
              <a:t>. Típicamente un modelo de datos permite describir:</a:t>
            </a:r>
          </a:p>
          <a:p>
            <a:pPr algn="just">
              <a:buFont typeface="Arial" pitchFamily="34" charset="0"/>
              <a:buChar char="•"/>
            </a:pPr>
            <a:r>
              <a:rPr lang="es-CO" sz="2000" dirty="0"/>
              <a:t>Las </a:t>
            </a:r>
            <a:r>
              <a:rPr lang="es-CO" sz="2000" dirty="0">
                <a:hlinkClick r:id="rId3" tooltip="Estructura de datos"/>
              </a:rPr>
              <a:t>estructuras de datos</a:t>
            </a:r>
            <a:r>
              <a:rPr lang="es-CO" sz="2000" dirty="0"/>
              <a:t> de la base: El tipo de los datos que hay en la base y la forma en que se relacionan.</a:t>
            </a:r>
          </a:p>
          <a:p>
            <a:pPr algn="just">
              <a:buFont typeface="Arial" pitchFamily="34" charset="0"/>
              <a:buChar char="•"/>
            </a:pPr>
            <a:r>
              <a:rPr lang="es-CO" sz="2000" dirty="0"/>
              <a:t>Las </a:t>
            </a:r>
            <a:r>
              <a:rPr lang="es-CO" sz="2000" dirty="0">
                <a:hlinkClick r:id="rId4" tooltip="Restricciones de integridad (aún no redactado)"/>
              </a:rPr>
              <a:t>restricciones de integridad</a:t>
            </a:r>
            <a:r>
              <a:rPr lang="es-CO" sz="2000" dirty="0"/>
              <a:t>: Un conjunto de condiciones que deben cumplir los datos para reflejar correctamente la realidad deseada.</a:t>
            </a:r>
          </a:p>
          <a:p>
            <a:pPr algn="just">
              <a:buFont typeface="Arial" pitchFamily="34" charset="0"/>
              <a:buChar char="•"/>
            </a:pPr>
            <a:r>
              <a:rPr lang="es-CO" sz="2000" dirty="0"/>
              <a:t>Operaciones de manipulación de los datos: típicamente, operaciones de agregado, borrado, modificación y recuperación de los datos de la base.</a:t>
            </a:r>
          </a:p>
          <a:p>
            <a:pPr algn="just">
              <a:buFont typeface="Arial" pitchFamily="34" charset="0"/>
              <a:buChar char="•"/>
            </a:pPr>
            <a:r>
              <a:rPr lang="es-CO" sz="2000" dirty="0"/>
              <a:t>Otro enfoque es pensar que un modelo de datos permite describir los elementos de la realidad que intervienen en un problema dado y la forma en que se relacionan esos elementos entre sí.</a:t>
            </a:r>
          </a:p>
          <a:p>
            <a:pPr algn="just"/>
            <a:endParaRPr lang="es-CO" sz="2000" dirty="0"/>
          </a:p>
          <a:p>
            <a:pPr algn="just"/>
            <a:r>
              <a:rPr lang="es-CO" sz="2000" dirty="0">
                <a:solidFill>
                  <a:srgbClr val="FF0000"/>
                </a:solidFill>
              </a:rPr>
              <a:t>No hay que perder de vista que una </a:t>
            </a:r>
            <a:r>
              <a:rPr lang="es-CO" sz="2000" dirty="0">
                <a:solidFill>
                  <a:srgbClr val="FF0000"/>
                </a:solidFill>
                <a:hlinkClick r:id="rId2" tooltip="Base de Datos"/>
              </a:rPr>
              <a:t>Base de Datos</a:t>
            </a:r>
            <a:r>
              <a:rPr lang="es-CO" sz="2000" dirty="0">
                <a:solidFill>
                  <a:srgbClr val="FF0000"/>
                </a:solidFill>
              </a:rPr>
              <a:t> siempre está orientada a resolver un problema determinado, por lo que los dos enfoques propuestos son necesarios en cualquier desarrollo de software</a:t>
            </a:r>
            <a:r>
              <a:rPr lang="es-CO" sz="2000" dirty="0"/>
              <a:t>.</a:t>
            </a:r>
          </a:p>
        </p:txBody>
      </p:sp>
      <p:sp>
        <p:nvSpPr>
          <p:cNvPr id="3" name="2 Rectángulo"/>
          <p:cNvSpPr/>
          <p:nvPr/>
        </p:nvSpPr>
        <p:spPr>
          <a:xfrm>
            <a:off x="2771800" y="260648"/>
            <a:ext cx="3531736" cy="369332"/>
          </a:xfrm>
          <a:prstGeom prst="rect">
            <a:avLst/>
          </a:prstGeom>
        </p:spPr>
        <p:txBody>
          <a:bodyPr wrap="none">
            <a:spAutoFit/>
          </a:bodyPr>
          <a:lstStyle/>
          <a:p>
            <a:r>
              <a:rPr lang="es-ES_tradnl" b="1" dirty="0"/>
              <a:t>¿Qué es el Modelado de Datos</a:t>
            </a:r>
            <a:endParaRPr lang="es-CO"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4 CuadroTexto"/>
          <p:cNvSpPr txBox="1">
            <a:spLocks noChangeArrowheads="1"/>
          </p:cNvSpPr>
          <p:nvPr/>
        </p:nvSpPr>
        <p:spPr bwMode="auto">
          <a:xfrm>
            <a:off x="214313" y="142875"/>
            <a:ext cx="9040812" cy="461963"/>
          </a:xfrm>
          <a:prstGeom prst="rect">
            <a:avLst/>
          </a:prstGeom>
          <a:noFill/>
          <a:ln w="9525">
            <a:noFill/>
            <a:miter lim="800000"/>
            <a:headEnd/>
            <a:tailEnd/>
          </a:ln>
        </p:spPr>
        <p:txBody>
          <a:bodyPr wrap="none">
            <a:spAutoFit/>
          </a:bodyPr>
          <a:lstStyle/>
          <a:p>
            <a:pPr marL="342900" indent="-342900"/>
            <a:r>
              <a:rPr lang="es-ES" sz="2400" b="1"/>
              <a:t>Categorías de Conceptos que se pueden modelar o abstraer</a:t>
            </a:r>
            <a:endParaRPr lang="es-MX" sz="2400" b="1"/>
          </a:p>
        </p:txBody>
      </p:sp>
      <p:graphicFrame>
        <p:nvGraphicFramePr>
          <p:cNvPr id="5" name="4 Tabla"/>
          <p:cNvGraphicFramePr>
            <a:graphicFrameLocks noGrp="1"/>
          </p:cNvGraphicFramePr>
          <p:nvPr/>
        </p:nvGraphicFramePr>
        <p:xfrm>
          <a:off x="285750" y="1071563"/>
          <a:ext cx="8643998" cy="4959246"/>
        </p:xfrm>
        <a:graphic>
          <a:graphicData uri="http://schemas.openxmlformats.org/drawingml/2006/table">
            <a:tbl>
              <a:tblPr firstRow="1" bandRow="1">
                <a:tableStyleId>{5C22544A-7EE6-4342-B048-85BDC9FD1C3A}</a:tableStyleId>
              </a:tblPr>
              <a:tblGrid>
                <a:gridCol w="4321999">
                  <a:extLst>
                    <a:ext uri="{9D8B030D-6E8A-4147-A177-3AD203B41FA5}">
                      <a16:colId xmlns:a16="http://schemas.microsoft.com/office/drawing/2014/main" val="20000"/>
                    </a:ext>
                  </a:extLst>
                </a:gridCol>
                <a:gridCol w="4321999">
                  <a:extLst>
                    <a:ext uri="{9D8B030D-6E8A-4147-A177-3AD203B41FA5}">
                      <a16:colId xmlns:a16="http://schemas.microsoft.com/office/drawing/2014/main" val="20001"/>
                    </a:ext>
                  </a:extLst>
                </a:gridCol>
              </a:tblGrid>
              <a:tr h="285752">
                <a:tc>
                  <a:txBody>
                    <a:bodyPr/>
                    <a:lstStyle/>
                    <a:p>
                      <a:pPr algn="ctr"/>
                      <a:r>
                        <a:rPr lang="es-ES" sz="1600" dirty="0"/>
                        <a:t>Categoría</a:t>
                      </a:r>
                      <a:r>
                        <a:rPr lang="es-ES" sz="1600" baseline="0" dirty="0"/>
                        <a:t> de Conceptos</a:t>
                      </a:r>
                      <a:endParaRPr lang="es-ES" sz="1600" dirty="0"/>
                    </a:p>
                  </a:txBody>
                  <a:tcPr/>
                </a:tc>
                <a:tc>
                  <a:txBody>
                    <a:bodyPr/>
                    <a:lstStyle/>
                    <a:p>
                      <a:pPr algn="ctr"/>
                      <a:r>
                        <a:rPr lang="es-ES" sz="1600" dirty="0"/>
                        <a:t>Ejemplos</a:t>
                      </a:r>
                    </a:p>
                  </a:txBody>
                  <a:tcPr/>
                </a:tc>
                <a:extLst>
                  <a:ext uri="{0D108BD9-81ED-4DB2-BD59-A6C34878D82A}">
                    <a16:rowId xmlns:a16="http://schemas.microsoft.com/office/drawing/2014/main" val="10000"/>
                  </a:ext>
                </a:extLst>
              </a:tr>
              <a:tr h="185212">
                <a:tc>
                  <a:txBody>
                    <a:bodyPr/>
                    <a:lstStyle/>
                    <a:p>
                      <a:r>
                        <a:rPr lang="es-ES" sz="1600" dirty="0"/>
                        <a:t>Objetos físicos</a:t>
                      </a:r>
                    </a:p>
                  </a:txBody>
                  <a:tcPr/>
                </a:tc>
                <a:tc>
                  <a:txBody>
                    <a:bodyPr/>
                    <a:lstStyle/>
                    <a:p>
                      <a:r>
                        <a:rPr lang="es-ES" sz="1600" dirty="0"/>
                        <a:t>Televisión, Avión</a:t>
                      </a:r>
                    </a:p>
                  </a:txBody>
                  <a:tcPr/>
                </a:tc>
                <a:extLst>
                  <a:ext uri="{0D108BD9-81ED-4DB2-BD59-A6C34878D82A}">
                    <a16:rowId xmlns:a16="http://schemas.microsoft.com/office/drawing/2014/main" val="10001"/>
                  </a:ext>
                </a:extLst>
              </a:tr>
              <a:tr h="600606">
                <a:tc>
                  <a:txBody>
                    <a:bodyPr/>
                    <a:lstStyle/>
                    <a:p>
                      <a:r>
                        <a:rPr lang="es-ES" sz="1600" dirty="0"/>
                        <a:t>Especificaciones, diseños o descripciones de</a:t>
                      </a:r>
                      <a:r>
                        <a:rPr lang="es-ES" sz="1600" baseline="0" dirty="0"/>
                        <a:t> cosas</a:t>
                      </a:r>
                      <a:endParaRPr lang="es-ES" sz="1600" dirty="0"/>
                    </a:p>
                  </a:txBody>
                  <a:tcPr/>
                </a:tc>
                <a:tc>
                  <a:txBody>
                    <a:bodyPr/>
                    <a:lstStyle/>
                    <a:p>
                      <a:r>
                        <a:rPr lang="es-ES" sz="1600" dirty="0"/>
                        <a:t>Especificaciones</a:t>
                      </a:r>
                      <a:r>
                        <a:rPr lang="es-ES" sz="1600" baseline="0" dirty="0"/>
                        <a:t> de un producto, descripción del vuelo</a:t>
                      </a:r>
                      <a:endParaRPr lang="es-ES" sz="1600" dirty="0"/>
                    </a:p>
                  </a:txBody>
                  <a:tcPr/>
                </a:tc>
                <a:extLst>
                  <a:ext uri="{0D108BD9-81ED-4DB2-BD59-A6C34878D82A}">
                    <a16:rowId xmlns:a16="http://schemas.microsoft.com/office/drawing/2014/main" val="10002"/>
                  </a:ext>
                </a:extLst>
              </a:tr>
              <a:tr h="300470">
                <a:tc>
                  <a:txBody>
                    <a:bodyPr/>
                    <a:lstStyle/>
                    <a:p>
                      <a:r>
                        <a:rPr lang="es-ES" sz="1600" dirty="0"/>
                        <a:t>Lugares</a:t>
                      </a:r>
                    </a:p>
                  </a:txBody>
                  <a:tcPr/>
                </a:tc>
                <a:tc>
                  <a:txBody>
                    <a:bodyPr/>
                    <a:lstStyle/>
                    <a:p>
                      <a:r>
                        <a:rPr lang="es-ES" sz="1600" dirty="0"/>
                        <a:t>Tienda, Aeropuerto</a:t>
                      </a:r>
                    </a:p>
                  </a:txBody>
                  <a:tcPr/>
                </a:tc>
                <a:extLst>
                  <a:ext uri="{0D108BD9-81ED-4DB2-BD59-A6C34878D82A}">
                    <a16:rowId xmlns:a16="http://schemas.microsoft.com/office/drawing/2014/main" val="10003"/>
                  </a:ext>
                </a:extLst>
              </a:tr>
              <a:tr h="0">
                <a:tc>
                  <a:txBody>
                    <a:bodyPr/>
                    <a:lstStyle/>
                    <a:p>
                      <a:r>
                        <a:rPr lang="es-ES" sz="1600" dirty="0"/>
                        <a:t>Transacciones</a:t>
                      </a:r>
                    </a:p>
                  </a:txBody>
                  <a:tcPr/>
                </a:tc>
                <a:tc>
                  <a:txBody>
                    <a:bodyPr/>
                    <a:lstStyle/>
                    <a:p>
                      <a:r>
                        <a:rPr lang="es-ES" sz="1600" dirty="0"/>
                        <a:t>Venta,</a:t>
                      </a:r>
                      <a:r>
                        <a:rPr lang="es-ES" sz="1600" baseline="0" dirty="0"/>
                        <a:t> Pago, Reservación</a:t>
                      </a:r>
                      <a:endParaRPr lang="es-ES" sz="1600" dirty="0"/>
                    </a:p>
                  </a:txBody>
                  <a:tcPr/>
                </a:tc>
                <a:extLst>
                  <a:ext uri="{0D108BD9-81ED-4DB2-BD59-A6C34878D82A}">
                    <a16:rowId xmlns:a16="http://schemas.microsoft.com/office/drawing/2014/main" val="10004"/>
                  </a:ext>
                </a:extLst>
              </a:tr>
              <a:tr h="272852">
                <a:tc>
                  <a:txBody>
                    <a:bodyPr/>
                    <a:lstStyle/>
                    <a:p>
                      <a:r>
                        <a:rPr lang="es-ES" sz="1600" dirty="0"/>
                        <a:t>Roles de la gente</a:t>
                      </a:r>
                    </a:p>
                  </a:txBody>
                  <a:tcPr/>
                </a:tc>
                <a:tc>
                  <a:txBody>
                    <a:bodyPr/>
                    <a:lstStyle/>
                    <a:p>
                      <a:r>
                        <a:rPr lang="es-ES" sz="1600" dirty="0"/>
                        <a:t>Cajero, Piloto</a:t>
                      </a:r>
                    </a:p>
                  </a:txBody>
                  <a:tcPr/>
                </a:tc>
                <a:extLst>
                  <a:ext uri="{0D108BD9-81ED-4DB2-BD59-A6C34878D82A}">
                    <a16:rowId xmlns:a16="http://schemas.microsoft.com/office/drawing/2014/main" val="10005"/>
                  </a:ext>
                </a:extLst>
              </a:tr>
              <a:tr h="294762">
                <a:tc>
                  <a:txBody>
                    <a:bodyPr/>
                    <a:lstStyle/>
                    <a:p>
                      <a:r>
                        <a:rPr lang="es-ES" sz="1600" dirty="0"/>
                        <a:t>Contenedores de otras cosas</a:t>
                      </a:r>
                    </a:p>
                  </a:txBody>
                  <a:tcPr/>
                </a:tc>
                <a:tc>
                  <a:txBody>
                    <a:bodyPr/>
                    <a:lstStyle/>
                    <a:p>
                      <a:r>
                        <a:rPr lang="es-ES" sz="1600" dirty="0"/>
                        <a:t>Tienda, Avión</a:t>
                      </a:r>
                    </a:p>
                  </a:txBody>
                  <a:tcPr/>
                </a:tc>
                <a:extLst>
                  <a:ext uri="{0D108BD9-81ED-4DB2-BD59-A6C34878D82A}">
                    <a16:rowId xmlns:a16="http://schemas.microsoft.com/office/drawing/2014/main" val="10006"/>
                  </a:ext>
                </a:extLst>
              </a:tr>
              <a:tr h="173796">
                <a:tc>
                  <a:txBody>
                    <a:bodyPr/>
                    <a:lstStyle/>
                    <a:p>
                      <a:r>
                        <a:rPr lang="es-ES" sz="1600" dirty="0"/>
                        <a:t>Cosas en un contenedor</a:t>
                      </a:r>
                    </a:p>
                  </a:txBody>
                  <a:tcPr/>
                </a:tc>
                <a:tc>
                  <a:txBody>
                    <a:bodyPr/>
                    <a:lstStyle/>
                    <a:p>
                      <a:r>
                        <a:rPr lang="es-ES" sz="1600" dirty="0"/>
                        <a:t>Artículo,</a:t>
                      </a:r>
                      <a:r>
                        <a:rPr lang="es-ES" sz="1600" baseline="0" dirty="0"/>
                        <a:t> Pasajero</a:t>
                      </a:r>
                      <a:endParaRPr lang="es-ES" sz="1600" dirty="0"/>
                    </a:p>
                  </a:txBody>
                  <a:tcPr/>
                </a:tc>
                <a:extLst>
                  <a:ext uri="{0D108BD9-81ED-4DB2-BD59-A6C34878D82A}">
                    <a16:rowId xmlns:a16="http://schemas.microsoft.com/office/drawing/2014/main" val="10007"/>
                  </a:ext>
                </a:extLst>
              </a:tr>
              <a:tr h="173796">
                <a:tc>
                  <a:txBody>
                    <a:bodyPr/>
                    <a:lstStyle/>
                    <a:p>
                      <a:r>
                        <a:rPr lang="es-ES" sz="1600" dirty="0"/>
                        <a:t>Conceptos abstractos</a:t>
                      </a:r>
                    </a:p>
                  </a:txBody>
                  <a:tcPr/>
                </a:tc>
                <a:tc>
                  <a:txBody>
                    <a:bodyPr/>
                    <a:lstStyle/>
                    <a:p>
                      <a:r>
                        <a:rPr lang="es-ES" sz="1600" dirty="0"/>
                        <a:t>Enfermedades</a:t>
                      </a:r>
                    </a:p>
                  </a:txBody>
                  <a:tcPr/>
                </a:tc>
                <a:extLst>
                  <a:ext uri="{0D108BD9-81ED-4DB2-BD59-A6C34878D82A}">
                    <a16:rowId xmlns:a16="http://schemas.microsoft.com/office/drawing/2014/main" val="10008"/>
                  </a:ext>
                </a:extLst>
              </a:tr>
              <a:tr h="173796">
                <a:tc>
                  <a:txBody>
                    <a:bodyPr/>
                    <a:lstStyle/>
                    <a:p>
                      <a:r>
                        <a:rPr lang="es-ES" sz="1600" dirty="0"/>
                        <a:t>Eventos</a:t>
                      </a:r>
                    </a:p>
                  </a:txBody>
                  <a:tcPr/>
                </a:tc>
                <a:tc>
                  <a:txBody>
                    <a:bodyPr/>
                    <a:lstStyle/>
                    <a:p>
                      <a:r>
                        <a:rPr lang="es-ES" sz="1600" dirty="0"/>
                        <a:t>Venta, Robo, Reunión, Vuelo, Accidente</a:t>
                      </a:r>
                    </a:p>
                  </a:txBody>
                  <a:tcPr/>
                </a:tc>
                <a:extLst>
                  <a:ext uri="{0D108BD9-81ED-4DB2-BD59-A6C34878D82A}">
                    <a16:rowId xmlns:a16="http://schemas.microsoft.com/office/drawing/2014/main" val="10009"/>
                  </a:ext>
                </a:extLst>
              </a:tr>
              <a:tr h="173796">
                <a:tc>
                  <a:txBody>
                    <a:bodyPr/>
                    <a:lstStyle/>
                    <a:p>
                      <a:r>
                        <a:rPr lang="es-ES" sz="1600" dirty="0"/>
                        <a:t>Reglas y Políticas</a:t>
                      </a:r>
                    </a:p>
                  </a:txBody>
                  <a:tcPr/>
                </a:tc>
                <a:tc>
                  <a:txBody>
                    <a:bodyPr/>
                    <a:lstStyle/>
                    <a:p>
                      <a:r>
                        <a:rPr lang="es-ES" sz="1600" dirty="0"/>
                        <a:t>Política</a:t>
                      </a:r>
                      <a:r>
                        <a:rPr lang="es-ES" sz="1600" baseline="0" dirty="0"/>
                        <a:t> devolución, política cancelación</a:t>
                      </a:r>
                      <a:endParaRPr lang="es-ES" sz="1600" dirty="0"/>
                    </a:p>
                  </a:txBody>
                  <a:tcPr/>
                </a:tc>
                <a:extLst>
                  <a:ext uri="{0D108BD9-81ED-4DB2-BD59-A6C34878D82A}">
                    <a16:rowId xmlns:a16="http://schemas.microsoft.com/office/drawing/2014/main" val="10010"/>
                  </a:ext>
                </a:extLst>
              </a:tr>
              <a:tr h="173796">
                <a:tc>
                  <a:txBody>
                    <a:bodyPr/>
                    <a:lstStyle/>
                    <a:p>
                      <a:r>
                        <a:rPr lang="es-ES" sz="1600" dirty="0"/>
                        <a:t>Catálogo</a:t>
                      </a:r>
                    </a:p>
                  </a:txBody>
                  <a:tcPr/>
                </a:tc>
                <a:tc>
                  <a:txBody>
                    <a:bodyPr/>
                    <a:lstStyle/>
                    <a:p>
                      <a:r>
                        <a:rPr lang="es-ES" sz="1600" dirty="0"/>
                        <a:t>Catálogo</a:t>
                      </a:r>
                      <a:r>
                        <a:rPr lang="es-ES" sz="1600" baseline="0" dirty="0"/>
                        <a:t> productos, catálogo partes</a:t>
                      </a:r>
                      <a:endParaRPr lang="es-ES" sz="1600" dirty="0"/>
                    </a:p>
                  </a:txBody>
                  <a:tcPr/>
                </a:tc>
                <a:extLst>
                  <a:ext uri="{0D108BD9-81ED-4DB2-BD59-A6C34878D82A}">
                    <a16:rowId xmlns:a16="http://schemas.microsoft.com/office/drawing/2014/main" val="10011"/>
                  </a:ext>
                </a:extLst>
              </a:tr>
              <a:tr h="173796">
                <a:tc>
                  <a:txBody>
                    <a:bodyPr/>
                    <a:lstStyle/>
                    <a:p>
                      <a:r>
                        <a:rPr lang="es-ES" sz="1600" dirty="0"/>
                        <a:t>Registros</a:t>
                      </a:r>
                    </a:p>
                  </a:txBody>
                  <a:tcPr/>
                </a:tc>
                <a:tc>
                  <a:txBody>
                    <a:bodyPr/>
                    <a:lstStyle/>
                    <a:p>
                      <a:r>
                        <a:rPr lang="es-ES" sz="1600" dirty="0"/>
                        <a:t>Recibos, Contratos,</a:t>
                      </a:r>
                      <a:r>
                        <a:rPr lang="es-ES" sz="1600" baseline="0" dirty="0"/>
                        <a:t> Bitácoras</a:t>
                      </a:r>
                      <a:endParaRPr lang="es-ES" sz="1600" dirty="0"/>
                    </a:p>
                  </a:txBody>
                  <a:tcPr/>
                </a:tc>
                <a:extLst>
                  <a:ext uri="{0D108BD9-81ED-4DB2-BD59-A6C34878D82A}">
                    <a16:rowId xmlns:a16="http://schemas.microsoft.com/office/drawing/2014/main" val="10012"/>
                  </a:ext>
                </a:extLst>
              </a:tr>
              <a:tr h="173796">
                <a:tc>
                  <a:txBody>
                    <a:bodyPr/>
                    <a:lstStyle/>
                    <a:p>
                      <a:r>
                        <a:rPr lang="es-ES" sz="1600" dirty="0"/>
                        <a:t>Manuales, libros</a:t>
                      </a:r>
                    </a:p>
                  </a:txBody>
                  <a:tcPr/>
                </a:tc>
                <a:tc>
                  <a:txBody>
                    <a:bodyPr/>
                    <a:lstStyle/>
                    <a:p>
                      <a:r>
                        <a:rPr lang="es-ES" sz="1600" dirty="0"/>
                        <a:t>Manual reparación, manual empleado</a:t>
                      </a:r>
                    </a:p>
                  </a:txBody>
                  <a:tcPr/>
                </a:tc>
                <a:extLst>
                  <a:ext uri="{0D108BD9-81ED-4DB2-BD59-A6C34878D82A}">
                    <a16:rowId xmlns:a16="http://schemas.microsoft.com/office/drawing/2014/main" val="10013"/>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79554" name="Rectangle 2"/>
          <p:cNvSpPr>
            <a:spLocks noChangeArrowheads="1"/>
          </p:cNvSpPr>
          <p:nvPr/>
        </p:nvSpPr>
        <p:spPr bwMode="auto">
          <a:xfrm>
            <a:off x="395536" y="980728"/>
            <a:ext cx="8352928" cy="4818612"/>
          </a:xfrm>
          <a:prstGeom prst="rect">
            <a:avLst/>
          </a:prstGeom>
          <a:solidFill>
            <a:srgbClr val="FFFFFF"/>
          </a:solidFill>
          <a:ln w="9525">
            <a:noFill/>
            <a:miter lim="800000"/>
            <a:headEnd/>
            <a:tailEnd/>
          </a:ln>
          <a:effectLst/>
        </p:spPr>
        <p:txBody>
          <a:bodyPr vert="horz" wrap="square" lIns="253920" tIns="31740" rIns="0" bIns="1587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CO" b="1" i="0" u="none" strike="noStrike" cap="none" normalizeH="0" baseline="0" dirty="0">
                <a:ln>
                  <a:noFill/>
                </a:ln>
                <a:solidFill>
                  <a:srgbClr val="000000"/>
                </a:solidFill>
                <a:effectLst/>
                <a:latin typeface="Arial" charset="0"/>
                <a:cs typeface="Arial" charset="0"/>
              </a:rPr>
              <a:t>Una opción bastante usada a la hora de clasificar los modelos de datos es hacerlo de acuerdo al nivel de abstracción que presentan: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s-CO" sz="1600" b="1" i="0" u="none" strike="noStrike" cap="none" normalizeH="0" baseline="0" dirty="0">
              <a:ln>
                <a:noFill/>
              </a:ln>
              <a:solidFill>
                <a:schemeClr val="tx1"/>
              </a:solidFill>
              <a:effectLst/>
              <a:latin typeface="Arial" charset="0"/>
              <a:cs typeface="Arial"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CO" sz="1600" b="1" i="0" u="none" strike="noStrike" cap="none" normalizeH="0" baseline="0" dirty="0">
                <a:ln>
                  <a:noFill/>
                </a:ln>
                <a:solidFill>
                  <a:srgbClr val="0000FF"/>
                </a:solidFill>
                <a:effectLst/>
                <a:latin typeface="Arial" charset="0"/>
                <a:cs typeface="Arial" charset="0"/>
              </a:rPr>
              <a:t>Modelos de Datos Conceptuales</a:t>
            </a:r>
            <a:r>
              <a:rPr kumimoji="0" lang="es-CO" sz="1600" b="1" i="0" u="none" strike="noStrike" cap="none" normalizeH="0" baseline="0" dirty="0">
                <a:ln>
                  <a:noFill/>
                </a:ln>
                <a:solidFill>
                  <a:srgbClr val="000000"/>
                </a:solidFill>
                <a:effectLst/>
                <a:latin typeface="Arial" charset="0"/>
                <a:cs typeface="Arial" charset="0"/>
              </a:rPr>
              <a:t>: </a:t>
            </a:r>
            <a:r>
              <a:rPr kumimoji="0" lang="es-CO" sz="1600" b="0" i="0" u="none" strike="noStrike" cap="none" normalizeH="0" baseline="0" dirty="0">
                <a:ln>
                  <a:noFill/>
                </a:ln>
                <a:solidFill>
                  <a:srgbClr val="000000"/>
                </a:solidFill>
                <a:effectLst/>
                <a:latin typeface="Arial" charset="0"/>
                <a:cs typeface="Arial" charset="0"/>
              </a:rPr>
              <a:t>Son los orientados a la descripción de estructuras de datos y restricciones de integridad. Se usan fundamentalmente durante la etapa de Análisis de un problema dado y están orientados a representar los elementos que intervienen en ese problema y sus relaciones. El ejemplo más típico es el </a:t>
            </a:r>
            <a:r>
              <a:rPr kumimoji="0" lang="es-CO" sz="1600" b="0" i="0" u="none" strike="noStrike" cap="none" normalizeH="0" baseline="0" dirty="0">
                <a:ln>
                  <a:noFill/>
                </a:ln>
                <a:solidFill>
                  <a:srgbClr val="0B0080"/>
                </a:solidFill>
                <a:effectLst/>
                <a:latin typeface="Arial" charset="0"/>
                <a:cs typeface="Arial" charset="0"/>
                <a:hlinkClick r:id="rId2" tooltip="Modelo entidad-relación"/>
              </a:rPr>
              <a:t>Modelo Entidad-Relación</a:t>
            </a:r>
            <a:r>
              <a:rPr kumimoji="0" lang="es-CO" sz="1600" b="0" i="0" u="none" strike="noStrike" cap="none" normalizeH="0" baseline="0" dirty="0">
                <a:ln>
                  <a:noFill/>
                </a:ln>
                <a:solidFill>
                  <a:srgbClr val="000000"/>
                </a:solidFill>
                <a:effectLst/>
                <a:latin typeface="Arial" charset="0"/>
                <a:cs typeface="Arial"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s-CO" sz="1600" b="1" i="0" u="none" strike="noStrike" cap="none" normalizeH="0" baseline="0" dirty="0">
              <a:ln>
                <a:noFill/>
              </a:ln>
              <a:solidFill>
                <a:srgbClr val="000000"/>
              </a:solidFill>
              <a:effectLst/>
              <a:latin typeface="Arial" charset="0"/>
              <a:cs typeface="Arial"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s-CO" sz="1600" b="1" dirty="0">
                <a:solidFill>
                  <a:srgbClr val="0000FF"/>
                </a:solidFill>
                <a:cs typeface="Arial" charset="0"/>
              </a:rPr>
              <a:t>Modelos de Datos Lógicos </a:t>
            </a:r>
            <a:r>
              <a:rPr kumimoji="0" lang="es-CO" sz="1600" b="1" i="0" u="none" strike="noStrike" cap="none" normalizeH="0" baseline="0" dirty="0">
                <a:ln>
                  <a:noFill/>
                </a:ln>
                <a:solidFill>
                  <a:srgbClr val="000000"/>
                </a:solidFill>
                <a:effectLst/>
                <a:latin typeface="Arial" charset="0"/>
                <a:cs typeface="Arial" charset="0"/>
              </a:rPr>
              <a:t>: </a:t>
            </a:r>
            <a:r>
              <a:rPr kumimoji="0" lang="es-CO" sz="1600" b="0" i="0" u="none" strike="noStrike" cap="none" normalizeH="0" baseline="0" dirty="0">
                <a:ln>
                  <a:noFill/>
                </a:ln>
                <a:solidFill>
                  <a:srgbClr val="000000"/>
                </a:solidFill>
                <a:effectLst/>
                <a:latin typeface="Arial" charset="0"/>
                <a:cs typeface="Arial" charset="0"/>
              </a:rPr>
              <a:t>Son orientados a las operaciones más que a la descripción de una realidad. Usualmente están implementados en algún </a:t>
            </a:r>
            <a:r>
              <a:rPr kumimoji="0" lang="es-CO" sz="1600" b="0" i="0" u="none" strike="noStrike" cap="none" normalizeH="0" baseline="0" dirty="0">
                <a:ln>
                  <a:noFill/>
                </a:ln>
                <a:solidFill>
                  <a:srgbClr val="0B0080"/>
                </a:solidFill>
                <a:effectLst/>
                <a:latin typeface="Arial" charset="0"/>
                <a:cs typeface="Arial" charset="0"/>
                <a:hlinkClick r:id="rId3" tooltip="SGBD"/>
              </a:rPr>
              <a:t>Manejador de Base de Datos</a:t>
            </a:r>
            <a:r>
              <a:rPr kumimoji="0" lang="es-CO" sz="1600" b="0" i="0" u="none" strike="noStrike" cap="none" normalizeH="0" baseline="0" dirty="0">
                <a:ln>
                  <a:noFill/>
                </a:ln>
                <a:solidFill>
                  <a:srgbClr val="000000"/>
                </a:solidFill>
                <a:effectLst/>
                <a:latin typeface="Arial" charset="0"/>
                <a:cs typeface="Arial" charset="0"/>
              </a:rPr>
              <a:t>. El ejemplo más típico es el </a:t>
            </a:r>
            <a:r>
              <a:rPr kumimoji="0" lang="es-CO" sz="1600" b="0" i="0" u="none" strike="noStrike" cap="none" normalizeH="0" baseline="0" dirty="0">
                <a:ln>
                  <a:noFill/>
                </a:ln>
                <a:solidFill>
                  <a:srgbClr val="0B0080"/>
                </a:solidFill>
                <a:effectLst/>
                <a:latin typeface="Arial" charset="0"/>
                <a:cs typeface="Arial" charset="0"/>
                <a:hlinkClick r:id="rId4" tooltip="Modelo relacional"/>
              </a:rPr>
              <a:t>Modelo Relacional</a:t>
            </a:r>
            <a:r>
              <a:rPr kumimoji="0" lang="es-CO" sz="1600" b="0" i="0" u="none" strike="noStrike" cap="none" normalizeH="0" baseline="0" dirty="0">
                <a:ln>
                  <a:noFill/>
                </a:ln>
                <a:solidFill>
                  <a:srgbClr val="000000"/>
                </a:solidFill>
                <a:effectLst/>
                <a:latin typeface="Arial" charset="0"/>
                <a:cs typeface="Arial" charset="0"/>
              </a:rPr>
              <a:t>, que cuenta con la particularidad de contar también con buenas características conceptuales (</a:t>
            </a:r>
            <a:r>
              <a:rPr kumimoji="0" lang="es-CO" sz="1600" b="0" i="0" u="none" strike="noStrike" cap="none" normalizeH="0" baseline="0" dirty="0">
                <a:ln>
                  <a:noFill/>
                </a:ln>
                <a:solidFill>
                  <a:srgbClr val="0B0080"/>
                </a:solidFill>
                <a:effectLst/>
                <a:latin typeface="Arial" charset="0"/>
                <a:cs typeface="Arial" charset="0"/>
                <a:hlinkClick r:id="rId5" tooltip="Normalización de bases de datos"/>
              </a:rPr>
              <a:t>Normalización de bases de datos</a:t>
            </a:r>
            <a:r>
              <a:rPr kumimoji="0" lang="es-CO" sz="1600" b="0" i="0" u="none" strike="noStrike" cap="none" normalizeH="0" baseline="0" dirty="0">
                <a:ln>
                  <a:noFill/>
                </a:ln>
                <a:solidFill>
                  <a:srgbClr val="000000"/>
                </a:solidFill>
                <a:effectLst/>
                <a:latin typeface="Arial" charset="0"/>
                <a:cs typeface="Arial"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s-CO" sz="1600" b="1" i="0" u="none" strike="noStrike" cap="none" normalizeH="0" baseline="0" dirty="0">
              <a:ln>
                <a:noFill/>
              </a:ln>
              <a:solidFill>
                <a:srgbClr val="000000"/>
              </a:solidFill>
              <a:effectLst/>
              <a:latin typeface="Arial" charset="0"/>
              <a:cs typeface="Arial"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s-CO" sz="1600" b="1" dirty="0">
                <a:solidFill>
                  <a:srgbClr val="0000FF"/>
                </a:solidFill>
                <a:cs typeface="Arial" charset="0"/>
              </a:rPr>
              <a:t>Modelos de Datos Físicos: </a:t>
            </a:r>
            <a:r>
              <a:rPr kumimoji="0" lang="es-CO" sz="1600" b="0" i="0" u="none" strike="noStrike" cap="none" normalizeH="0" baseline="0" dirty="0">
                <a:ln>
                  <a:noFill/>
                </a:ln>
                <a:solidFill>
                  <a:srgbClr val="000000"/>
                </a:solidFill>
                <a:effectLst/>
                <a:latin typeface="Arial" charset="0"/>
                <a:cs typeface="Arial" charset="0"/>
              </a:rPr>
              <a:t>Son estructuras de datos a bajo nivel implementadas dentro del propio </a:t>
            </a:r>
            <a:r>
              <a:rPr kumimoji="0" lang="es-CO" sz="1600" b="0" i="0" u="none" strike="noStrike" cap="none" normalizeH="0" baseline="0" dirty="0">
                <a:ln>
                  <a:noFill/>
                </a:ln>
                <a:solidFill>
                  <a:srgbClr val="0B0080"/>
                </a:solidFill>
                <a:effectLst/>
                <a:latin typeface="Arial" charset="0"/>
                <a:cs typeface="Arial" charset="0"/>
                <a:hlinkClick r:id="rId3" tooltip="SGBD"/>
              </a:rPr>
              <a:t>manejador</a:t>
            </a:r>
            <a:r>
              <a:rPr kumimoji="0" lang="es-CO" sz="1600" b="0" i="0" u="none" strike="noStrike" cap="none" normalizeH="0" baseline="0" dirty="0">
                <a:ln>
                  <a:noFill/>
                </a:ln>
                <a:solidFill>
                  <a:srgbClr val="000000"/>
                </a:solidFill>
                <a:effectLst/>
                <a:latin typeface="Arial" charset="0"/>
                <a:cs typeface="Arial" charset="0"/>
              </a:rPr>
              <a:t>. Ejemplos típicos de estas estructuras son los </a:t>
            </a:r>
            <a:r>
              <a:rPr kumimoji="0" lang="es-CO" sz="1600" b="0" i="0" u="none" strike="noStrike" cap="none" normalizeH="0" baseline="0" dirty="0">
                <a:ln>
                  <a:noFill/>
                </a:ln>
                <a:solidFill>
                  <a:srgbClr val="0B0080"/>
                </a:solidFill>
                <a:effectLst/>
                <a:latin typeface="Arial" charset="0"/>
                <a:cs typeface="Arial" charset="0"/>
                <a:hlinkClick r:id="rId6" tooltip="Árbol-B+"/>
              </a:rPr>
              <a:t>Árboles B+</a:t>
            </a:r>
            <a:r>
              <a:rPr kumimoji="0" lang="es-CO" sz="1600" b="0" i="0" u="none" strike="noStrike" cap="none" normalizeH="0" baseline="0" dirty="0">
                <a:ln>
                  <a:noFill/>
                </a:ln>
                <a:solidFill>
                  <a:srgbClr val="000000"/>
                </a:solidFill>
                <a:effectLst/>
                <a:latin typeface="Arial" charset="0"/>
                <a:cs typeface="Arial" charset="0"/>
              </a:rPr>
              <a:t>, las estructuras de </a:t>
            </a:r>
            <a:r>
              <a:rPr kumimoji="0" lang="es-CO" sz="1600" b="0" i="0" u="none" strike="noStrike" cap="none" normalizeH="0" baseline="0" dirty="0">
                <a:ln>
                  <a:noFill/>
                </a:ln>
                <a:solidFill>
                  <a:srgbClr val="0B0080"/>
                </a:solidFill>
                <a:effectLst/>
                <a:latin typeface="Arial" charset="0"/>
                <a:cs typeface="Arial" charset="0"/>
                <a:hlinkClick r:id="rId7" tooltip="Hash"/>
              </a:rPr>
              <a:t>Hash</a:t>
            </a:r>
            <a:r>
              <a:rPr kumimoji="0" lang="es-CO" sz="1600" b="0" i="0" u="none" strike="noStrike" cap="none" normalizeH="0" baseline="0" dirty="0">
                <a:ln>
                  <a:noFill/>
                </a:ln>
                <a:solidFill>
                  <a:srgbClr val="000000"/>
                </a:solidFill>
                <a:effectLst/>
                <a:latin typeface="Arial" charset="0"/>
                <a:cs typeface="Arial" charset="0"/>
              </a:rPr>
              <a:t>,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sz="1800" b="0" i="0" u="none" strike="noStrike" cap="none" normalizeH="0" baseline="0" dirty="0">
              <a:ln>
                <a:noFill/>
              </a:ln>
              <a:solidFill>
                <a:schemeClr val="tx1"/>
              </a:solidFill>
              <a:effectLst/>
              <a:latin typeface="Arial" charset="0"/>
              <a:cs typeface="Arial" charset="0"/>
            </a:endParaRPr>
          </a:p>
        </p:txBody>
      </p:sp>
      <p:sp>
        <p:nvSpPr>
          <p:cNvPr id="3" name="2 Rectángulo"/>
          <p:cNvSpPr/>
          <p:nvPr/>
        </p:nvSpPr>
        <p:spPr>
          <a:xfrm>
            <a:off x="971600" y="476672"/>
            <a:ext cx="6840760" cy="461665"/>
          </a:xfrm>
          <a:prstGeom prst="rect">
            <a:avLst/>
          </a:prstGeom>
        </p:spPr>
        <p:txBody>
          <a:bodyPr wrap="square">
            <a:spAutoFit/>
          </a:bodyPr>
          <a:lstStyle/>
          <a:p>
            <a:pPr lvl="0" algn="ctr"/>
            <a:r>
              <a:rPr lang="es-CO" sz="2400" b="1" dirty="0">
                <a:solidFill>
                  <a:srgbClr val="000000"/>
                </a:solidFill>
                <a:cs typeface="Arial" charset="0"/>
              </a:rPr>
              <a:t>Clasificación de los modelos de datos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4 CuadroTexto"/>
          <p:cNvSpPr txBox="1">
            <a:spLocks noChangeArrowheads="1"/>
          </p:cNvSpPr>
          <p:nvPr/>
        </p:nvSpPr>
        <p:spPr bwMode="auto">
          <a:xfrm>
            <a:off x="214313" y="131763"/>
            <a:ext cx="4902200" cy="461962"/>
          </a:xfrm>
          <a:prstGeom prst="rect">
            <a:avLst/>
          </a:prstGeom>
          <a:noFill/>
          <a:ln w="9525">
            <a:noFill/>
            <a:miter lim="800000"/>
            <a:headEnd/>
            <a:tailEnd/>
          </a:ln>
        </p:spPr>
        <p:txBody>
          <a:bodyPr wrap="none">
            <a:spAutoFit/>
          </a:bodyPr>
          <a:lstStyle/>
          <a:p>
            <a:pPr marL="342900" indent="-342900"/>
            <a:r>
              <a:rPr lang="es-ES_tradnl" sz="2400" b="1"/>
              <a:t>Participación de la UNIDAD II (1)</a:t>
            </a:r>
            <a:endParaRPr lang="es-MX" sz="2400" b="1"/>
          </a:p>
        </p:txBody>
      </p:sp>
      <p:sp>
        <p:nvSpPr>
          <p:cNvPr id="47107" name="3 Rectángulo"/>
          <p:cNvSpPr>
            <a:spLocks noChangeArrowheads="1"/>
          </p:cNvSpPr>
          <p:nvPr/>
        </p:nvSpPr>
        <p:spPr bwMode="auto">
          <a:xfrm>
            <a:off x="642938" y="1057275"/>
            <a:ext cx="7858125" cy="2308225"/>
          </a:xfrm>
          <a:prstGeom prst="rect">
            <a:avLst/>
          </a:prstGeom>
          <a:noFill/>
          <a:ln w="9525">
            <a:noFill/>
            <a:miter lim="800000"/>
            <a:headEnd/>
            <a:tailEnd/>
          </a:ln>
        </p:spPr>
        <p:txBody>
          <a:bodyPr>
            <a:spAutoFit/>
          </a:bodyPr>
          <a:lstStyle/>
          <a:p>
            <a:pPr marL="342900" indent="-342900" algn="just">
              <a:buFont typeface="Lucida Sans Unicode" pitchFamily="34" charset="0"/>
              <a:buAutoNum type="arabicPeriod"/>
            </a:pPr>
            <a:r>
              <a:rPr lang="es-ES"/>
              <a:t>¿Para qué me sirve la abstracción?</a:t>
            </a:r>
          </a:p>
          <a:p>
            <a:pPr marL="342900" indent="-342900" algn="just">
              <a:buFont typeface="Lucida Sans Unicode" pitchFamily="34" charset="0"/>
              <a:buAutoNum type="arabicPeriod"/>
            </a:pPr>
            <a:endParaRPr lang="es-ES"/>
          </a:p>
          <a:p>
            <a:pPr marL="342900" indent="-342900" algn="just">
              <a:buFont typeface="Lucida Sans Unicode" pitchFamily="34" charset="0"/>
              <a:buAutoNum type="arabicPeriod"/>
            </a:pPr>
            <a:r>
              <a:rPr lang="es-ES"/>
              <a:t>¿Menciona los 3 niveles de abstracción y quién actúa en cada nivel?</a:t>
            </a:r>
          </a:p>
          <a:p>
            <a:pPr marL="342900" indent="-342900" algn="just">
              <a:buFont typeface="Lucida Sans Unicode" pitchFamily="34" charset="0"/>
              <a:buAutoNum type="arabicPeriod"/>
            </a:pPr>
            <a:endParaRPr lang="es-ES"/>
          </a:p>
          <a:p>
            <a:pPr marL="342900" indent="-342900" algn="just">
              <a:buFont typeface="Lucida Sans Unicode" pitchFamily="34" charset="0"/>
              <a:buAutoNum type="arabicPeriod"/>
            </a:pPr>
            <a:r>
              <a:rPr lang="es-ES"/>
              <a:t>¿Qué es el modelado de datos?</a:t>
            </a:r>
          </a:p>
          <a:p>
            <a:pPr marL="342900" indent="-342900" algn="just">
              <a:buFont typeface="Lucida Sans Unicode" pitchFamily="34" charset="0"/>
              <a:buAutoNum type="arabicPeriod"/>
            </a:pPr>
            <a:endParaRPr lang="es-ES"/>
          </a:p>
          <a:p>
            <a:pPr marL="342900" indent="-342900" algn="just">
              <a:buFont typeface="Lucida Sans Unicode" pitchFamily="34" charset="0"/>
              <a:buAutoNum type="arabicPeriod"/>
            </a:pPr>
            <a:r>
              <a:rPr lang="es-ES"/>
              <a:t>Menciona 3 categorías de conceptos que se pueden modelar y menciona un ejemplo de cada uno de ellos.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4 CuadroTexto"/>
          <p:cNvSpPr txBox="1">
            <a:spLocks noChangeArrowheads="1"/>
          </p:cNvSpPr>
          <p:nvPr/>
        </p:nvSpPr>
        <p:spPr bwMode="auto">
          <a:xfrm>
            <a:off x="214313" y="1112838"/>
            <a:ext cx="3979862" cy="460375"/>
          </a:xfrm>
          <a:prstGeom prst="rect">
            <a:avLst/>
          </a:prstGeom>
          <a:noFill/>
          <a:ln w="9525">
            <a:noFill/>
            <a:miter lim="800000"/>
            <a:headEnd/>
            <a:tailEnd/>
          </a:ln>
        </p:spPr>
        <p:txBody>
          <a:bodyPr wrap="none">
            <a:spAutoFit/>
          </a:bodyPr>
          <a:lstStyle/>
          <a:p>
            <a:pPr marL="342900" indent="-342900"/>
            <a:r>
              <a:rPr lang="es-ES" sz="2400" b="1"/>
              <a:t>Ejercicios de abstracción</a:t>
            </a:r>
            <a:endParaRPr lang="es-MX" sz="2400" b="1"/>
          </a:p>
        </p:txBody>
      </p:sp>
      <p:sp>
        <p:nvSpPr>
          <p:cNvPr id="48131" name="2 CuadroTexto"/>
          <p:cNvSpPr txBox="1">
            <a:spLocks noChangeArrowheads="1"/>
          </p:cNvSpPr>
          <p:nvPr/>
        </p:nvSpPr>
        <p:spPr bwMode="auto">
          <a:xfrm>
            <a:off x="1285875" y="1817688"/>
            <a:ext cx="5572125" cy="3540125"/>
          </a:xfrm>
          <a:prstGeom prst="rect">
            <a:avLst/>
          </a:prstGeom>
          <a:noFill/>
          <a:ln w="9525">
            <a:noFill/>
            <a:miter lim="800000"/>
            <a:headEnd/>
            <a:tailEnd/>
          </a:ln>
        </p:spPr>
        <p:txBody>
          <a:bodyPr>
            <a:spAutoFit/>
          </a:bodyPr>
          <a:lstStyle/>
          <a:p>
            <a:pPr indent="457200">
              <a:buFont typeface="Arial" charset="0"/>
              <a:buChar char="•"/>
            </a:pPr>
            <a:r>
              <a:rPr lang="es-ES" sz="2800">
                <a:solidFill>
                  <a:srgbClr val="FF0000"/>
                </a:solidFill>
              </a:rPr>
              <a:t>Boleta de Calificaciones</a:t>
            </a:r>
          </a:p>
          <a:p>
            <a:pPr indent="457200">
              <a:buFont typeface="Arial" charset="0"/>
              <a:buChar char="•"/>
            </a:pPr>
            <a:r>
              <a:rPr lang="es-ES" sz="2800">
                <a:solidFill>
                  <a:srgbClr val="FF0000"/>
                </a:solidFill>
              </a:rPr>
              <a:t>Credencial de Estudiante</a:t>
            </a:r>
          </a:p>
          <a:p>
            <a:pPr indent="457200">
              <a:buFont typeface="Arial" charset="0"/>
              <a:buChar char="•"/>
            </a:pPr>
            <a:endParaRPr lang="es-ES" sz="2800"/>
          </a:p>
          <a:p>
            <a:pPr indent="457200">
              <a:buFont typeface="Arial" charset="0"/>
              <a:buChar char="•"/>
            </a:pPr>
            <a:endParaRPr lang="es-ES" sz="2800"/>
          </a:p>
          <a:p>
            <a:pPr indent="457200">
              <a:buFont typeface="Arial" charset="0"/>
              <a:buChar char="•"/>
            </a:pPr>
            <a:r>
              <a:rPr lang="es-ES" sz="2800"/>
              <a:t>Persona</a:t>
            </a:r>
          </a:p>
          <a:p>
            <a:pPr indent="457200">
              <a:buFont typeface="Arial" charset="0"/>
              <a:buChar char="•"/>
            </a:pPr>
            <a:r>
              <a:rPr lang="es-ES" sz="2800"/>
              <a:t>Alumno</a:t>
            </a:r>
          </a:p>
          <a:p>
            <a:pPr indent="457200">
              <a:buFont typeface="Arial" charset="0"/>
              <a:buChar char="•"/>
            </a:pPr>
            <a:r>
              <a:rPr lang="es-ES" sz="2800"/>
              <a:t>Alumno egresado</a:t>
            </a:r>
          </a:p>
          <a:p>
            <a:pPr indent="457200">
              <a:buFont typeface="Arial" charset="0"/>
              <a:buChar char="•"/>
            </a:pPr>
            <a:r>
              <a:rPr lang="es-ES" sz="2800"/>
              <a:t>Número de expediente</a:t>
            </a:r>
          </a:p>
        </p:txBody>
      </p:sp>
      <p:sp>
        <p:nvSpPr>
          <p:cNvPr id="48132" name="4 CuadroTexto"/>
          <p:cNvSpPr txBox="1">
            <a:spLocks noChangeArrowheads="1"/>
          </p:cNvSpPr>
          <p:nvPr/>
        </p:nvSpPr>
        <p:spPr bwMode="auto">
          <a:xfrm>
            <a:off x="214313" y="131763"/>
            <a:ext cx="4902200" cy="461962"/>
          </a:xfrm>
          <a:prstGeom prst="rect">
            <a:avLst/>
          </a:prstGeom>
          <a:noFill/>
          <a:ln w="9525">
            <a:noFill/>
            <a:miter lim="800000"/>
            <a:headEnd/>
            <a:tailEnd/>
          </a:ln>
        </p:spPr>
        <p:txBody>
          <a:bodyPr wrap="none">
            <a:spAutoFit/>
          </a:bodyPr>
          <a:lstStyle/>
          <a:p>
            <a:pPr marL="342900" indent="-342900"/>
            <a:r>
              <a:rPr lang="es-ES_tradnl" sz="2400" b="1"/>
              <a:t>Participación de la UNIDAD II (2)</a:t>
            </a:r>
            <a:endParaRPr lang="es-MX" sz="2400" b="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4 CuadroTexto"/>
          <p:cNvSpPr txBox="1">
            <a:spLocks noChangeArrowheads="1"/>
          </p:cNvSpPr>
          <p:nvPr/>
        </p:nvSpPr>
        <p:spPr bwMode="auto">
          <a:xfrm>
            <a:off x="214313" y="131763"/>
            <a:ext cx="7397750" cy="584200"/>
          </a:xfrm>
          <a:prstGeom prst="rect">
            <a:avLst/>
          </a:prstGeom>
          <a:noFill/>
          <a:ln w="9525">
            <a:noFill/>
            <a:miter lim="800000"/>
            <a:headEnd/>
            <a:tailEnd/>
          </a:ln>
        </p:spPr>
        <p:txBody>
          <a:bodyPr wrap="none">
            <a:spAutoFit/>
          </a:bodyPr>
          <a:lstStyle/>
          <a:p>
            <a:pPr marL="342900" indent="-342900"/>
            <a:r>
              <a:rPr lang="es-ES_tradnl" sz="2400" b="1"/>
              <a:t>Los Modelos de Datos se dividen en </a:t>
            </a:r>
            <a:r>
              <a:rPr lang="es-ES_tradnl" sz="3200" b="1">
                <a:solidFill>
                  <a:schemeClr val="accent2"/>
                </a:solidFill>
              </a:rPr>
              <a:t>3 grupos</a:t>
            </a:r>
            <a:r>
              <a:rPr lang="es-ES_tradnl" sz="2400" b="1"/>
              <a:t>:</a:t>
            </a:r>
            <a:endParaRPr lang="es-MX" sz="2400" b="1"/>
          </a:p>
        </p:txBody>
      </p:sp>
      <p:sp>
        <p:nvSpPr>
          <p:cNvPr id="49155" name="Rectangle 1"/>
          <p:cNvSpPr>
            <a:spLocks noChangeArrowheads="1"/>
          </p:cNvSpPr>
          <p:nvPr/>
        </p:nvSpPr>
        <p:spPr bwMode="auto">
          <a:xfrm>
            <a:off x="500063" y="1285875"/>
            <a:ext cx="8072437" cy="4832350"/>
          </a:xfrm>
          <a:prstGeom prst="rect">
            <a:avLst/>
          </a:prstGeom>
          <a:noFill/>
          <a:ln w="9525">
            <a:noFill/>
            <a:miter lim="800000"/>
            <a:headEnd/>
            <a:tailEnd/>
          </a:ln>
        </p:spPr>
        <p:txBody>
          <a:bodyPr anchor="ctr">
            <a:spAutoFit/>
          </a:bodyPr>
          <a:lstStyle/>
          <a:p>
            <a:pPr indent="358775" eaLnBrk="0" hangingPunct="0">
              <a:buFont typeface="Arial" charset="0"/>
              <a:buChar char="•"/>
            </a:pPr>
            <a:r>
              <a:rPr lang="es-ES" sz="2800" b="1">
                <a:latin typeface="Calibri" pitchFamily="34" charset="0"/>
              </a:rPr>
              <a:t>Modelos lógicos basados en objetos.</a:t>
            </a:r>
          </a:p>
          <a:p>
            <a:pPr lvl="2" indent="358775" eaLnBrk="0" hangingPunct="0">
              <a:buFont typeface="Arial" charset="0"/>
              <a:buChar char="•"/>
            </a:pPr>
            <a:r>
              <a:rPr lang="es-ES" sz="2800">
                <a:latin typeface="Calibri" pitchFamily="34" charset="0"/>
              </a:rPr>
              <a:t>Modelo Entidad-Relación.</a:t>
            </a:r>
          </a:p>
          <a:p>
            <a:pPr lvl="2" indent="358775" eaLnBrk="0" hangingPunct="0">
              <a:buFont typeface="Arial" charset="0"/>
              <a:buChar char="•"/>
            </a:pPr>
            <a:r>
              <a:rPr lang="es-ES" sz="2800">
                <a:latin typeface="Calibri" pitchFamily="34" charset="0"/>
              </a:rPr>
              <a:t>Modelo Orientado a Objetos.</a:t>
            </a:r>
          </a:p>
          <a:p>
            <a:pPr indent="358775" eaLnBrk="0" hangingPunct="0">
              <a:buFont typeface="Arial" charset="0"/>
              <a:buChar char="•"/>
            </a:pPr>
            <a:r>
              <a:rPr lang="es-ES" sz="2800" b="1">
                <a:latin typeface="Calibri" pitchFamily="34" charset="0"/>
              </a:rPr>
              <a:t>Modelos lógicos basados en registros.</a:t>
            </a:r>
          </a:p>
          <a:p>
            <a:pPr lvl="2" indent="358775" eaLnBrk="0" hangingPunct="0">
              <a:buFont typeface="Arial" charset="0"/>
              <a:buChar char="•"/>
            </a:pPr>
            <a:r>
              <a:rPr lang="es-ES" sz="2800">
                <a:latin typeface="Calibri" pitchFamily="34" charset="0"/>
              </a:rPr>
              <a:t>Modelo Relacional.</a:t>
            </a:r>
          </a:p>
          <a:p>
            <a:pPr lvl="2" indent="358775" eaLnBrk="0" hangingPunct="0">
              <a:buFont typeface="Arial" charset="0"/>
              <a:buChar char="•"/>
            </a:pPr>
            <a:r>
              <a:rPr lang="es-ES" sz="2800">
                <a:latin typeface="Calibri" pitchFamily="34" charset="0"/>
              </a:rPr>
              <a:t>Modelo Jerárquico.</a:t>
            </a:r>
          </a:p>
          <a:p>
            <a:pPr lvl="2" indent="358775" eaLnBrk="0" hangingPunct="0">
              <a:buFont typeface="Arial" charset="0"/>
              <a:buChar char="•"/>
            </a:pPr>
            <a:r>
              <a:rPr lang="es-ES" sz="2800">
                <a:latin typeface="Calibri" pitchFamily="34" charset="0"/>
              </a:rPr>
              <a:t>Modelo de Red.</a:t>
            </a:r>
          </a:p>
          <a:p>
            <a:pPr indent="358775" eaLnBrk="0" hangingPunct="0">
              <a:buFont typeface="Arial" charset="0"/>
              <a:buChar char="•"/>
            </a:pPr>
            <a:r>
              <a:rPr lang="es-ES" sz="2800" b="1">
                <a:latin typeface="Calibri" pitchFamily="34" charset="0"/>
              </a:rPr>
              <a:t>Modelos físicos de datos. </a:t>
            </a:r>
          </a:p>
          <a:p>
            <a:pPr lvl="2" indent="358775" eaLnBrk="0" hangingPunct="0">
              <a:buFont typeface="Arial" charset="0"/>
              <a:buChar char="•"/>
            </a:pPr>
            <a:r>
              <a:rPr lang="es-ES" sz="2800">
                <a:latin typeface="Calibri" pitchFamily="34" charset="0"/>
              </a:rPr>
              <a:t>Modelo UML (</a:t>
            </a:r>
            <a:r>
              <a:rPr lang="en-US" sz="2800">
                <a:latin typeface="Calibri" pitchFamily="34" charset="0"/>
              </a:rPr>
              <a:t>Unified Modeling Language</a:t>
            </a:r>
            <a:r>
              <a:rPr lang="es-ES" sz="2800">
                <a:latin typeface="Calibri" pitchFamily="34" charset="0"/>
              </a:rPr>
              <a:t>).</a:t>
            </a:r>
          </a:p>
          <a:p>
            <a:pPr lvl="2" indent="358775" eaLnBrk="0" hangingPunct="0">
              <a:buFont typeface="Arial" charset="0"/>
              <a:buChar char="•"/>
            </a:pPr>
            <a:r>
              <a:rPr lang="es-ES" sz="2800">
                <a:latin typeface="Calibri" pitchFamily="34" charset="0"/>
              </a:rPr>
              <a:t>Modelo de memoria de elementos.</a:t>
            </a:r>
            <a:br>
              <a:rPr lang="es-ES" sz="2800">
                <a:latin typeface="Calibri" pitchFamily="34" charset="0"/>
              </a:rPr>
            </a:br>
            <a:endParaRPr lang="es-ES" sz="2800">
              <a:latin typeface="Calibri"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4 CuadroTexto"/>
          <p:cNvSpPr txBox="1">
            <a:spLocks noChangeArrowheads="1"/>
          </p:cNvSpPr>
          <p:nvPr/>
        </p:nvSpPr>
        <p:spPr bwMode="auto">
          <a:xfrm>
            <a:off x="214313" y="131763"/>
            <a:ext cx="7397750" cy="584200"/>
          </a:xfrm>
          <a:prstGeom prst="rect">
            <a:avLst/>
          </a:prstGeom>
          <a:noFill/>
          <a:ln w="9525">
            <a:noFill/>
            <a:miter lim="800000"/>
            <a:headEnd/>
            <a:tailEnd/>
          </a:ln>
        </p:spPr>
        <p:txBody>
          <a:bodyPr wrap="none">
            <a:spAutoFit/>
          </a:bodyPr>
          <a:lstStyle/>
          <a:p>
            <a:pPr marL="342900" indent="-342900"/>
            <a:r>
              <a:rPr lang="es-ES_tradnl" sz="2400" b="1"/>
              <a:t>Los Modelos de Datos se dividen en </a:t>
            </a:r>
            <a:r>
              <a:rPr lang="es-ES_tradnl" sz="3200" b="1">
                <a:solidFill>
                  <a:schemeClr val="accent2"/>
                </a:solidFill>
              </a:rPr>
              <a:t>3 grupos</a:t>
            </a:r>
            <a:r>
              <a:rPr lang="es-ES_tradnl" sz="2400" b="1"/>
              <a:t>:</a:t>
            </a:r>
            <a:endParaRPr lang="es-MX" sz="2400" b="1"/>
          </a:p>
        </p:txBody>
      </p:sp>
      <p:sp>
        <p:nvSpPr>
          <p:cNvPr id="50179" name="Rectangle 1"/>
          <p:cNvSpPr>
            <a:spLocks noChangeArrowheads="1"/>
          </p:cNvSpPr>
          <p:nvPr/>
        </p:nvSpPr>
        <p:spPr bwMode="auto">
          <a:xfrm>
            <a:off x="500063" y="1285875"/>
            <a:ext cx="8072437" cy="4832350"/>
          </a:xfrm>
          <a:prstGeom prst="rect">
            <a:avLst/>
          </a:prstGeom>
          <a:noFill/>
          <a:ln w="9525">
            <a:noFill/>
            <a:miter lim="800000"/>
            <a:headEnd/>
            <a:tailEnd/>
          </a:ln>
        </p:spPr>
        <p:txBody>
          <a:bodyPr anchor="ctr">
            <a:spAutoFit/>
          </a:bodyPr>
          <a:lstStyle/>
          <a:p>
            <a:pPr indent="358775" eaLnBrk="0" hangingPunct="0">
              <a:buFont typeface="Arial" charset="0"/>
              <a:buChar char="•"/>
            </a:pPr>
            <a:r>
              <a:rPr lang="es-ES" sz="2800" b="1">
                <a:latin typeface="Calibri" pitchFamily="34" charset="0"/>
              </a:rPr>
              <a:t>Modelos lógicos basados en objetos.</a:t>
            </a:r>
          </a:p>
          <a:p>
            <a:pPr lvl="2" indent="358775" eaLnBrk="0" hangingPunct="0">
              <a:buFont typeface="Arial" charset="0"/>
              <a:buChar char="•"/>
            </a:pPr>
            <a:r>
              <a:rPr lang="es-ES" sz="2800">
                <a:latin typeface="Calibri" pitchFamily="34" charset="0"/>
              </a:rPr>
              <a:t>Modelo </a:t>
            </a:r>
            <a:r>
              <a:rPr lang="es-ES" sz="2800" b="1">
                <a:solidFill>
                  <a:srgbClr val="FF0000"/>
                </a:solidFill>
                <a:latin typeface="Calibri" pitchFamily="34" charset="0"/>
              </a:rPr>
              <a:t>Entidad-Relación</a:t>
            </a:r>
            <a:r>
              <a:rPr lang="es-ES" sz="2800">
                <a:latin typeface="Calibri" pitchFamily="34" charset="0"/>
              </a:rPr>
              <a:t>.</a:t>
            </a:r>
          </a:p>
          <a:p>
            <a:pPr lvl="2" indent="358775" eaLnBrk="0" hangingPunct="0">
              <a:buFont typeface="Arial" charset="0"/>
              <a:buChar char="•"/>
            </a:pPr>
            <a:r>
              <a:rPr lang="es-ES" sz="2800">
                <a:latin typeface="Calibri" pitchFamily="34" charset="0"/>
              </a:rPr>
              <a:t>Modelo Orientado a Objetos.</a:t>
            </a:r>
          </a:p>
          <a:p>
            <a:pPr indent="358775" eaLnBrk="0" hangingPunct="0">
              <a:buFont typeface="Arial" charset="0"/>
              <a:buChar char="•"/>
            </a:pPr>
            <a:r>
              <a:rPr lang="es-ES" sz="2800" b="1">
                <a:latin typeface="Calibri" pitchFamily="34" charset="0"/>
              </a:rPr>
              <a:t>Modelos lógicos basados en registros.</a:t>
            </a:r>
          </a:p>
          <a:p>
            <a:pPr lvl="2" indent="358775" eaLnBrk="0" hangingPunct="0">
              <a:buFont typeface="Arial" charset="0"/>
              <a:buChar char="•"/>
            </a:pPr>
            <a:r>
              <a:rPr lang="es-ES" sz="2800">
                <a:latin typeface="Calibri" pitchFamily="34" charset="0"/>
              </a:rPr>
              <a:t>Modelo </a:t>
            </a:r>
            <a:r>
              <a:rPr lang="es-ES" sz="2800" b="1">
                <a:solidFill>
                  <a:srgbClr val="FF0000"/>
                </a:solidFill>
                <a:latin typeface="Calibri" pitchFamily="34" charset="0"/>
              </a:rPr>
              <a:t>Relacional</a:t>
            </a:r>
            <a:r>
              <a:rPr lang="es-ES" sz="2800">
                <a:latin typeface="Calibri" pitchFamily="34" charset="0"/>
              </a:rPr>
              <a:t>.</a:t>
            </a:r>
          </a:p>
          <a:p>
            <a:pPr lvl="2" indent="358775" eaLnBrk="0" hangingPunct="0">
              <a:buFont typeface="Arial" charset="0"/>
              <a:buChar char="•"/>
            </a:pPr>
            <a:r>
              <a:rPr lang="es-ES" sz="2800">
                <a:latin typeface="Calibri" pitchFamily="34" charset="0"/>
              </a:rPr>
              <a:t>Modelo Jerárquico.</a:t>
            </a:r>
          </a:p>
          <a:p>
            <a:pPr lvl="2" indent="358775" eaLnBrk="0" hangingPunct="0">
              <a:buFont typeface="Arial" charset="0"/>
              <a:buChar char="•"/>
            </a:pPr>
            <a:r>
              <a:rPr lang="es-ES" sz="2800">
                <a:latin typeface="Calibri" pitchFamily="34" charset="0"/>
              </a:rPr>
              <a:t>Modelo de Red.</a:t>
            </a:r>
          </a:p>
          <a:p>
            <a:pPr indent="358775" eaLnBrk="0" hangingPunct="0">
              <a:buFont typeface="Arial" charset="0"/>
              <a:buChar char="•"/>
            </a:pPr>
            <a:r>
              <a:rPr lang="es-ES" sz="2800" b="1">
                <a:latin typeface="Calibri" pitchFamily="34" charset="0"/>
              </a:rPr>
              <a:t>Modelos físicos de datos. </a:t>
            </a:r>
          </a:p>
          <a:p>
            <a:pPr lvl="2" indent="358775" eaLnBrk="0" hangingPunct="0">
              <a:buFont typeface="Arial" charset="0"/>
              <a:buChar char="•"/>
            </a:pPr>
            <a:r>
              <a:rPr lang="es-ES" sz="2800">
                <a:latin typeface="Calibri" pitchFamily="34" charset="0"/>
              </a:rPr>
              <a:t>Modelo </a:t>
            </a:r>
            <a:r>
              <a:rPr lang="es-ES" sz="2800" b="1">
                <a:solidFill>
                  <a:srgbClr val="FF0000"/>
                </a:solidFill>
                <a:latin typeface="Calibri" pitchFamily="34" charset="0"/>
              </a:rPr>
              <a:t>UML (</a:t>
            </a:r>
            <a:r>
              <a:rPr lang="en-US" sz="2800" b="1">
                <a:solidFill>
                  <a:srgbClr val="FF0000"/>
                </a:solidFill>
                <a:latin typeface="Calibri" pitchFamily="34" charset="0"/>
              </a:rPr>
              <a:t>Unified Modeling Language</a:t>
            </a:r>
            <a:r>
              <a:rPr lang="es-ES" sz="2800" b="1">
                <a:solidFill>
                  <a:srgbClr val="FF0000"/>
                </a:solidFill>
                <a:latin typeface="Calibri" pitchFamily="34" charset="0"/>
              </a:rPr>
              <a:t>)</a:t>
            </a:r>
            <a:r>
              <a:rPr lang="es-ES" sz="2800">
                <a:latin typeface="Calibri" pitchFamily="34" charset="0"/>
              </a:rPr>
              <a:t>.</a:t>
            </a:r>
          </a:p>
          <a:p>
            <a:pPr lvl="2" indent="358775" eaLnBrk="0" hangingPunct="0">
              <a:buFont typeface="Arial" charset="0"/>
              <a:buChar char="•"/>
            </a:pPr>
            <a:r>
              <a:rPr lang="es-ES" sz="2800">
                <a:latin typeface="Calibri" pitchFamily="34" charset="0"/>
              </a:rPr>
              <a:t>Modelo de memoria de elementos.</a:t>
            </a:r>
            <a:br>
              <a:rPr lang="es-ES" sz="2800">
                <a:latin typeface="Calibri" pitchFamily="34" charset="0"/>
              </a:rPr>
            </a:br>
            <a:endParaRPr lang="es-ES" sz="2800">
              <a:latin typeface="Calibri"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51203" name="3 Rectángulo"/>
          <p:cNvSpPr>
            <a:spLocks noChangeArrowheads="1"/>
          </p:cNvSpPr>
          <p:nvPr/>
        </p:nvSpPr>
        <p:spPr bwMode="auto">
          <a:xfrm>
            <a:off x="785813" y="1428750"/>
            <a:ext cx="7500937" cy="3970338"/>
          </a:xfrm>
          <a:prstGeom prst="rect">
            <a:avLst/>
          </a:prstGeom>
          <a:noFill/>
          <a:ln w="9525">
            <a:noFill/>
            <a:miter lim="800000"/>
            <a:headEnd/>
            <a:tailEnd/>
          </a:ln>
        </p:spPr>
        <p:txBody>
          <a:bodyPr>
            <a:spAutoFit/>
          </a:bodyPr>
          <a:lstStyle/>
          <a:p>
            <a:pPr algn="just">
              <a:lnSpc>
                <a:spcPct val="150000"/>
              </a:lnSpc>
            </a:pPr>
            <a:r>
              <a:rPr lang="es-ES" sz="2800"/>
              <a:t>El modelo E-R se basa en una percepción del mundo real, la cual esta formada por </a:t>
            </a:r>
            <a:r>
              <a:rPr lang="es-ES" sz="2800" b="1">
                <a:solidFill>
                  <a:schemeClr val="accent1"/>
                </a:solidFill>
              </a:rPr>
              <a:t>OBJETOS BÁSICOS</a:t>
            </a:r>
            <a:r>
              <a:rPr lang="es-ES" sz="2800" b="1">
                <a:solidFill>
                  <a:srgbClr val="00B050"/>
                </a:solidFill>
              </a:rPr>
              <a:t> </a:t>
            </a:r>
            <a:r>
              <a:rPr lang="es-ES" sz="2800"/>
              <a:t>llamados </a:t>
            </a:r>
            <a:r>
              <a:rPr lang="es-ES" sz="2800" b="1" u="sng">
                <a:solidFill>
                  <a:srgbClr val="FF0000"/>
                </a:solidFill>
              </a:rPr>
              <a:t>entidades</a:t>
            </a:r>
            <a:r>
              <a:rPr lang="es-ES" sz="2800"/>
              <a:t> y las </a:t>
            </a:r>
            <a:r>
              <a:rPr lang="es-ES" sz="2800" b="1" u="sng">
                <a:solidFill>
                  <a:srgbClr val="FF0000"/>
                </a:solidFill>
              </a:rPr>
              <a:t>relaciones</a:t>
            </a:r>
            <a:r>
              <a:rPr lang="es-ES" sz="2800"/>
              <a:t> entre estos objetos así como las características de estos objetos llamados </a:t>
            </a:r>
            <a:r>
              <a:rPr lang="es-ES" sz="2800" b="1" u="sng">
                <a:solidFill>
                  <a:srgbClr val="FF0000"/>
                </a:solidFill>
              </a:rPr>
              <a:t>atributos</a:t>
            </a:r>
            <a:r>
              <a:rPr lang="es-ES" sz="2800"/>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52227" name="2 Rectángulo"/>
          <p:cNvSpPr>
            <a:spLocks noChangeArrowheads="1"/>
          </p:cNvSpPr>
          <p:nvPr/>
        </p:nvSpPr>
        <p:spPr bwMode="auto">
          <a:xfrm>
            <a:off x="1000125" y="1214438"/>
            <a:ext cx="7286625" cy="3324225"/>
          </a:xfrm>
          <a:prstGeom prst="rect">
            <a:avLst/>
          </a:prstGeom>
          <a:noFill/>
          <a:ln w="9525">
            <a:noFill/>
            <a:miter lim="800000"/>
            <a:headEnd/>
            <a:tailEnd/>
          </a:ln>
        </p:spPr>
        <p:txBody>
          <a:bodyPr>
            <a:spAutoFit/>
          </a:bodyPr>
          <a:lstStyle/>
          <a:p>
            <a:pPr algn="just">
              <a:lnSpc>
                <a:spcPct val="150000"/>
              </a:lnSpc>
            </a:pPr>
            <a:r>
              <a:rPr lang="es-ES" sz="2800"/>
              <a:t>Una </a:t>
            </a:r>
            <a:r>
              <a:rPr lang="es-ES" sz="2800" b="1" i="1">
                <a:solidFill>
                  <a:srgbClr val="FF0000"/>
                </a:solidFill>
              </a:rPr>
              <a:t>entidad</a:t>
            </a:r>
            <a:r>
              <a:rPr lang="es-ES" sz="2800"/>
              <a:t> es un objeto que existe y se distingue de otros objetos de acuerdo a sus características llamadas atributos. Las entidades pueden ser concretas como una persona o abstractas como una fecha.</a:t>
            </a:r>
          </a:p>
        </p:txBody>
      </p:sp>
      <p:sp>
        <p:nvSpPr>
          <p:cNvPr id="4" name="3 Rectángulo"/>
          <p:cNvSpPr/>
          <p:nvPr/>
        </p:nvSpPr>
        <p:spPr>
          <a:xfrm>
            <a:off x="3714744" y="4872054"/>
            <a:ext cx="2143140" cy="91440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2400" dirty="0"/>
              <a:t>Entidad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53251" name="2 Rectángulo"/>
          <p:cNvSpPr>
            <a:spLocks noChangeArrowheads="1"/>
          </p:cNvSpPr>
          <p:nvPr/>
        </p:nvSpPr>
        <p:spPr bwMode="auto">
          <a:xfrm>
            <a:off x="1214438" y="1214438"/>
            <a:ext cx="7000875" cy="4537075"/>
          </a:xfrm>
          <a:prstGeom prst="rect">
            <a:avLst/>
          </a:prstGeom>
          <a:noFill/>
          <a:ln w="9525">
            <a:noFill/>
            <a:miter lim="800000"/>
            <a:headEnd/>
            <a:tailEnd/>
          </a:ln>
        </p:spPr>
        <p:txBody>
          <a:bodyPr>
            <a:spAutoFit/>
          </a:bodyPr>
          <a:lstStyle/>
          <a:p>
            <a:pPr algn="just">
              <a:lnSpc>
                <a:spcPct val="150000"/>
              </a:lnSpc>
            </a:pPr>
            <a:r>
              <a:rPr lang="es-ES" sz="2800"/>
              <a:t>Un </a:t>
            </a:r>
            <a:r>
              <a:rPr lang="es-ES" sz="2800" b="1" i="1">
                <a:solidFill>
                  <a:srgbClr val="FF0000"/>
                </a:solidFill>
              </a:rPr>
              <a:t>conjunto de entidades</a:t>
            </a:r>
            <a:r>
              <a:rPr lang="es-ES" sz="2800">
                <a:solidFill>
                  <a:srgbClr val="FF0000"/>
                </a:solidFill>
              </a:rPr>
              <a:t> </a:t>
            </a:r>
            <a:r>
              <a:rPr lang="es-ES" sz="2800"/>
              <a:t>es un grupo de entidades del mismo tipo. Por ejemplo el conjunto de entidades </a:t>
            </a:r>
            <a:r>
              <a:rPr lang="es-ES" sz="2800" b="1">
                <a:solidFill>
                  <a:srgbClr val="00B050"/>
                </a:solidFill>
              </a:rPr>
              <a:t>CUENTA</a:t>
            </a:r>
            <a:r>
              <a:rPr lang="es-ES" sz="2800"/>
              <a:t>, podría representar al conjunto de cuentas de un </a:t>
            </a:r>
            <a:r>
              <a:rPr lang="es-ES" sz="2800" b="1">
                <a:solidFill>
                  <a:srgbClr val="00B050"/>
                </a:solidFill>
              </a:rPr>
              <a:t>BANCO</a:t>
            </a:r>
            <a:r>
              <a:rPr lang="es-ES" sz="2800"/>
              <a:t>, o </a:t>
            </a:r>
            <a:r>
              <a:rPr lang="es-ES" sz="2800" b="1">
                <a:solidFill>
                  <a:schemeClr val="accent1"/>
                </a:solidFill>
              </a:rPr>
              <a:t>ALUMNO</a:t>
            </a:r>
            <a:r>
              <a:rPr lang="es-ES" sz="2800"/>
              <a:t> representa a un conjunto de entidades de todos los alumnos que existen en la </a:t>
            </a:r>
            <a:r>
              <a:rPr lang="es-ES" sz="2800" b="1">
                <a:solidFill>
                  <a:schemeClr val="accent1"/>
                </a:solidFill>
              </a:rPr>
              <a:t>UTSJR</a:t>
            </a:r>
            <a:r>
              <a:rPr lang="es-ES" sz="2800"/>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54275" name="2 Rectángulo"/>
          <p:cNvSpPr>
            <a:spLocks noChangeArrowheads="1"/>
          </p:cNvSpPr>
          <p:nvPr/>
        </p:nvSpPr>
        <p:spPr bwMode="auto">
          <a:xfrm>
            <a:off x="1571625" y="1500188"/>
            <a:ext cx="6286500" cy="3324225"/>
          </a:xfrm>
          <a:prstGeom prst="rect">
            <a:avLst/>
          </a:prstGeom>
          <a:noFill/>
          <a:ln w="9525">
            <a:noFill/>
            <a:miter lim="800000"/>
            <a:headEnd/>
            <a:tailEnd/>
          </a:ln>
        </p:spPr>
        <p:txBody>
          <a:bodyPr>
            <a:spAutoFit/>
          </a:bodyPr>
          <a:lstStyle/>
          <a:p>
            <a:pPr algn="just">
              <a:lnSpc>
                <a:spcPct val="150000"/>
              </a:lnSpc>
            </a:pPr>
            <a:r>
              <a:rPr lang="es-ES" sz="2800"/>
              <a:t>Una entidad se caracteriza y distingue de otra por los </a:t>
            </a:r>
            <a:r>
              <a:rPr lang="es-ES" sz="2800" b="1" i="1">
                <a:solidFill>
                  <a:srgbClr val="FF0000"/>
                </a:solidFill>
              </a:rPr>
              <a:t>atributos</a:t>
            </a:r>
            <a:r>
              <a:rPr lang="es-ES" sz="2800"/>
              <a:t>, en ocasiones llamadas propiedades, que representan las características de una entidad. </a:t>
            </a:r>
          </a:p>
        </p:txBody>
      </p:sp>
      <p:sp>
        <p:nvSpPr>
          <p:cNvPr id="4" name="3 Elipse"/>
          <p:cNvSpPr/>
          <p:nvPr/>
        </p:nvSpPr>
        <p:spPr>
          <a:xfrm>
            <a:off x="3643306" y="5072074"/>
            <a:ext cx="2500330" cy="785818"/>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2400" dirty="0"/>
              <a:t>Atributo</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55299" name="2 Rectángulo"/>
          <p:cNvSpPr>
            <a:spLocks noChangeArrowheads="1"/>
          </p:cNvSpPr>
          <p:nvPr/>
        </p:nvSpPr>
        <p:spPr bwMode="auto">
          <a:xfrm>
            <a:off x="785813" y="1071563"/>
            <a:ext cx="7786687" cy="4537075"/>
          </a:xfrm>
          <a:prstGeom prst="rect">
            <a:avLst/>
          </a:prstGeom>
          <a:noFill/>
          <a:ln w="9525">
            <a:noFill/>
            <a:miter lim="800000"/>
            <a:headEnd/>
            <a:tailEnd/>
          </a:ln>
        </p:spPr>
        <p:txBody>
          <a:bodyPr>
            <a:spAutoFit/>
          </a:bodyPr>
          <a:lstStyle/>
          <a:p>
            <a:pPr algn="just">
              <a:lnSpc>
                <a:spcPct val="150000"/>
              </a:lnSpc>
            </a:pPr>
            <a:r>
              <a:rPr lang="es-ES" sz="2800"/>
              <a:t>Los atributos de una entidad pueden tomar un conjunto de valores permitidos al que se le conoce como </a:t>
            </a:r>
            <a:r>
              <a:rPr lang="es-ES" sz="2800" b="1">
                <a:solidFill>
                  <a:srgbClr val="FF0000"/>
                </a:solidFill>
              </a:rPr>
              <a:t>dominio</a:t>
            </a:r>
            <a:r>
              <a:rPr lang="es-ES" sz="2800"/>
              <a:t> del atributo. Así cada entidad se describe por medio de un conjunto de parejas formadas por el </a:t>
            </a:r>
            <a:r>
              <a:rPr lang="es-ES" sz="2800" b="1" u="sng">
                <a:solidFill>
                  <a:schemeClr val="accent1"/>
                </a:solidFill>
              </a:rPr>
              <a:t>atributo</a:t>
            </a:r>
            <a:r>
              <a:rPr lang="es-ES" sz="2800"/>
              <a:t> y el </a:t>
            </a:r>
            <a:r>
              <a:rPr lang="es-ES" sz="2800" b="1" u="sng">
                <a:solidFill>
                  <a:schemeClr val="accent1"/>
                </a:solidFill>
              </a:rPr>
              <a:t>valor</a:t>
            </a:r>
            <a:r>
              <a:rPr lang="es-ES" sz="2800"/>
              <a:t> de dato. Habrá una pareja para cada atributo del conjunto de entidades.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56323" name="4 CuadroTexto"/>
          <p:cNvSpPr txBox="1">
            <a:spLocks noChangeArrowheads="1"/>
          </p:cNvSpPr>
          <p:nvPr/>
        </p:nvSpPr>
        <p:spPr bwMode="auto">
          <a:xfrm>
            <a:off x="346075" y="895350"/>
            <a:ext cx="3376613" cy="461963"/>
          </a:xfrm>
          <a:prstGeom prst="rect">
            <a:avLst/>
          </a:prstGeom>
          <a:noFill/>
          <a:ln w="9525">
            <a:noFill/>
            <a:miter lim="800000"/>
            <a:headEnd/>
            <a:tailEnd/>
          </a:ln>
        </p:spPr>
        <p:txBody>
          <a:bodyPr wrap="none">
            <a:spAutoFit/>
          </a:bodyPr>
          <a:lstStyle/>
          <a:p>
            <a:pPr marL="342900" indent="-342900"/>
            <a:r>
              <a:rPr lang="es-ES" sz="2400" b="1"/>
              <a:t>Ejemplos de dominio:</a:t>
            </a:r>
            <a:endParaRPr lang="es-MX" sz="2400" b="1"/>
          </a:p>
        </p:txBody>
      </p:sp>
      <p:sp>
        <p:nvSpPr>
          <p:cNvPr id="56324" name="3 Rectángulo"/>
          <p:cNvSpPr>
            <a:spLocks noChangeArrowheads="1"/>
          </p:cNvSpPr>
          <p:nvPr/>
        </p:nvSpPr>
        <p:spPr bwMode="auto">
          <a:xfrm>
            <a:off x="428625" y="1582738"/>
            <a:ext cx="8215313" cy="708025"/>
          </a:xfrm>
          <a:prstGeom prst="rect">
            <a:avLst/>
          </a:prstGeom>
          <a:noFill/>
          <a:ln w="9525">
            <a:noFill/>
            <a:miter lim="800000"/>
            <a:headEnd/>
            <a:tailEnd/>
          </a:ln>
        </p:spPr>
        <p:txBody>
          <a:bodyPr>
            <a:spAutoFit/>
          </a:bodyPr>
          <a:lstStyle/>
          <a:p>
            <a:pPr algn="just"/>
            <a:r>
              <a:rPr lang="es-ES" sz="2000"/>
              <a:t>Hacer una descripción en pareja para la entidad alumno con los </a:t>
            </a:r>
            <a:r>
              <a:rPr lang="es-ES" sz="2000" b="1">
                <a:solidFill>
                  <a:srgbClr val="FF0000"/>
                </a:solidFill>
              </a:rPr>
              <a:t>atributos</a:t>
            </a:r>
            <a:r>
              <a:rPr lang="es-ES" sz="2000"/>
              <a:t> Expediente</a:t>
            </a:r>
            <a:r>
              <a:rPr lang="es-ES" sz="2000" i="1"/>
              <a:t>, Nombre y Carrera.</a:t>
            </a:r>
            <a:endParaRPr lang="es-ES" sz="2000"/>
          </a:p>
        </p:txBody>
      </p:sp>
      <p:sp>
        <p:nvSpPr>
          <p:cNvPr id="56325" name="4 Rectángulo"/>
          <p:cNvSpPr>
            <a:spLocks noChangeArrowheads="1"/>
          </p:cNvSpPr>
          <p:nvPr/>
        </p:nvSpPr>
        <p:spPr bwMode="auto">
          <a:xfrm>
            <a:off x="500063" y="4000500"/>
            <a:ext cx="8143875" cy="708025"/>
          </a:xfrm>
          <a:prstGeom prst="rect">
            <a:avLst/>
          </a:prstGeom>
          <a:noFill/>
          <a:ln w="9525">
            <a:noFill/>
            <a:miter lim="800000"/>
            <a:headEnd/>
            <a:tailEnd/>
          </a:ln>
        </p:spPr>
        <p:txBody>
          <a:bodyPr>
            <a:spAutoFit/>
          </a:bodyPr>
          <a:lstStyle/>
          <a:p>
            <a:pPr algn="just"/>
            <a:r>
              <a:rPr lang="es-ES" sz="2000"/>
              <a:t>O considerando el ejemplo de un Empleado cuyos </a:t>
            </a:r>
            <a:r>
              <a:rPr lang="es-ES" sz="2000" b="1">
                <a:solidFill>
                  <a:srgbClr val="FF0000"/>
                </a:solidFill>
              </a:rPr>
              <a:t>atributos</a:t>
            </a:r>
            <a:r>
              <a:rPr lang="es-ES" sz="2000"/>
              <a:t> son: RFC, Nombre, Salario.</a:t>
            </a:r>
          </a:p>
        </p:txBody>
      </p:sp>
      <p:sp>
        <p:nvSpPr>
          <p:cNvPr id="56326" name="5 Rectángulo"/>
          <p:cNvSpPr>
            <a:spLocks noChangeArrowheads="1"/>
          </p:cNvSpPr>
          <p:nvPr/>
        </p:nvSpPr>
        <p:spPr bwMode="auto">
          <a:xfrm>
            <a:off x="2714625" y="2490788"/>
            <a:ext cx="4572000" cy="1322387"/>
          </a:xfrm>
          <a:prstGeom prst="rect">
            <a:avLst/>
          </a:prstGeom>
          <a:noFill/>
          <a:ln w="9525">
            <a:noFill/>
            <a:miter lim="800000"/>
            <a:headEnd/>
            <a:tailEnd/>
          </a:ln>
        </p:spPr>
        <p:txBody>
          <a:bodyPr>
            <a:spAutoFit/>
          </a:bodyPr>
          <a:lstStyle/>
          <a:p>
            <a:r>
              <a:rPr lang="es-ES" sz="2000" b="1">
                <a:solidFill>
                  <a:srgbClr val="FF0000"/>
                </a:solidFill>
              </a:rPr>
              <a:t>Atributo</a:t>
            </a:r>
            <a:r>
              <a:rPr lang="es-ES" sz="2000" b="1"/>
              <a:t>, </a:t>
            </a:r>
            <a:r>
              <a:rPr lang="es-ES" sz="2000" b="1">
                <a:solidFill>
                  <a:srgbClr val="00B050"/>
                </a:solidFill>
              </a:rPr>
              <a:t>Valor </a:t>
            </a:r>
            <a:endParaRPr lang="es-ES" sz="2000">
              <a:solidFill>
                <a:srgbClr val="00B050"/>
              </a:solidFill>
            </a:endParaRPr>
          </a:p>
          <a:p>
            <a:r>
              <a:rPr lang="es-ES" sz="2000" i="1">
                <a:solidFill>
                  <a:srgbClr val="FF0000"/>
                </a:solidFill>
              </a:rPr>
              <a:t>Expediente</a:t>
            </a:r>
            <a:r>
              <a:rPr lang="es-ES" sz="2000"/>
              <a:t>, </a:t>
            </a:r>
            <a:r>
              <a:rPr lang="es-ES" sz="2000">
                <a:solidFill>
                  <a:srgbClr val="00B050"/>
                </a:solidFill>
              </a:rPr>
              <a:t>0208MTI-S034</a:t>
            </a:r>
            <a:r>
              <a:rPr lang="es-ES" sz="2000"/>
              <a:t> </a:t>
            </a:r>
          </a:p>
          <a:p>
            <a:r>
              <a:rPr lang="es-ES" sz="2000" i="1">
                <a:solidFill>
                  <a:srgbClr val="FF0000"/>
                </a:solidFill>
              </a:rPr>
              <a:t>Nombre</a:t>
            </a:r>
            <a:r>
              <a:rPr lang="es-ES" sz="2000" i="1"/>
              <a:t>, </a:t>
            </a:r>
            <a:r>
              <a:rPr lang="es-ES" sz="2000">
                <a:solidFill>
                  <a:srgbClr val="00B050"/>
                </a:solidFill>
              </a:rPr>
              <a:t>Sánchez Osuna Ana</a:t>
            </a:r>
          </a:p>
          <a:p>
            <a:r>
              <a:rPr lang="es-ES" sz="2000" i="1">
                <a:solidFill>
                  <a:srgbClr val="FF0000"/>
                </a:solidFill>
              </a:rPr>
              <a:t>Carrera</a:t>
            </a:r>
            <a:r>
              <a:rPr lang="es-ES" sz="2000" i="1"/>
              <a:t>, </a:t>
            </a:r>
            <a:r>
              <a:rPr lang="es-ES" sz="2000" i="1">
                <a:solidFill>
                  <a:srgbClr val="00B050"/>
                </a:solidFill>
              </a:rPr>
              <a:t>TIC</a:t>
            </a:r>
            <a:endParaRPr lang="es-ES" sz="2000">
              <a:solidFill>
                <a:srgbClr val="00B050"/>
              </a:solidFill>
            </a:endParaRPr>
          </a:p>
        </p:txBody>
      </p:sp>
      <p:sp>
        <p:nvSpPr>
          <p:cNvPr id="56327" name="6 Rectángulo"/>
          <p:cNvSpPr>
            <a:spLocks noChangeArrowheads="1"/>
          </p:cNvSpPr>
          <p:nvPr/>
        </p:nvSpPr>
        <p:spPr bwMode="auto">
          <a:xfrm>
            <a:off x="2786063" y="4857750"/>
            <a:ext cx="4572000" cy="1323975"/>
          </a:xfrm>
          <a:prstGeom prst="rect">
            <a:avLst/>
          </a:prstGeom>
          <a:noFill/>
          <a:ln w="9525">
            <a:noFill/>
            <a:miter lim="800000"/>
            <a:headEnd/>
            <a:tailEnd/>
          </a:ln>
        </p:spPr>
        <p:txBody>
          <a:bodyPr>
            <a:spAutoFit/>
          </a:bodyPr>
          <a:lstStyle/>
          <a:p>
            <a:pPr algn="just"/>
            <a:r>
              <a:rPr lang="es-ES" sz="2000" b="1" i="1">
                <a:solidFill>
                  <a:srgbClr val="FF0000"/>
                </a:solidFill>
              </a:rPr>
              <a:t>Atributo</a:t>
            </a:r>
            <a:r>
              <a:rPr lang="es-ES" sz="2000" b="1" i="1"/>
              <a:t>, </a:t>
            </a:r>
            <a:r>
              <a:rPr lang="es-ES" sz="2000" b="1" i="1">
                <a:solidFill>
                  <a:srgbClr val="00B050"/>
                </a:solidFill>
              </a:rPr>
              <a:t>Valor </a:t>
            </a:r>
            <a:endParaRPr lang="es-ES" sz="2000">
              <a:solidFill>
                <a:srgbClr val="00B050"/>
              </a:solidFill>
            </a:endParaRPr>
          </a:p>
          <a:p>
            <a:pPr algn="just"/>
            <a:r>
              <a:rPr lang="es-ES" sz="2000">
                <a:solidFill>
                  <a:srgbClr val="FF0000"/>
                </a:solidFill>
              </a:rPr>
              <a:t>RFC</a:t>
            </a:r>
            <a:r>
              <a:rPr lang="es-ES" sz="2000"/>
              <a:t>, </a:t>
            </a:r>
            <a:r>
              <a:rPr lang="es-ES" sz="2000">
                <a:solidFill>
                  <a:srgbClr val="00B050"/>
                </a:solidFill>
              </a:rPr>
              <a:t>COMD741101YHR</a:t>
            </a:r>
          </a:p>
          <a:p>
            <a:pPr algn="just"/>
            <a:r>
              <a:rPr lang="es-ES" sz="2000">
                <a:solidFill>
                  <a:srgbClr val="FF0000"/>
                </a:solidFill>
              </a:rPr>
              <a:t>Nombre</a:t>
            </a:r>
            <a:r>
              <a:rPr lang="es-ES" sz="2000"/>
              <a:t>, </a:t>
            </a:r>
            <a:r>
              <a:rPr lang="es-ES" sz="2000">
                <a:solidFill>
                  <a:srgbClr val="00B050"/>
                </a:solidFill>
              </a:rPr>
              <a:t>Daniel Colín Morales</a:t>
            </a:r>
          </a:p>
          <a:p>
            <a:pPr algn="just"/>
            <a:r>
              <a:rPr lang="es-ES" sz="2000">
                <a:solidFill>
                  <a:srgbClr val="FF0000"/>
                </a:solidFill>
              </a:rPr>
              <a:t>Salario</a:t>
            </a:r>
            <a:r>
              <a:rPr lang="es-ES" sz="2000"/>
              <a:t>, </a:t>
            </a:r>
            <a:r>
              <a:rPr lang="es-ES" sz="2000">
                <a:solidFill>
                  <a:srgbClr val="00B050"/>
                </a:solidFill>
              </a:rPr>
              <a:t>3000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57347" name="2 Rectángulo"/>
          <p:cNvSpPr>
            <a:spLocks noChangeArrowheads="1"/>
          </p:cNvSpPr>
          <p:nvPr/>
        </p:nvSpPr>
        <p:spPr bwMode="auto">
          <a:xfrm>
            <a:off x="1428750" y="2000250"/>
            <a:ext cx="6500813" cy="1754188"/>
          </a:xfrm>
          <a:prstGeom prst="rect">
            <a:avLst/>
          </a:prstGeom>
          <a:noFill/>
          <a:ln w="9525">
            <a:noFill/>
            <a:miter lim="800000"/>
            <a:headEnd/>
            <a:tailEnd/>
          </a:ln>
        </p:spPr>
        <p:txBody>
          <a:bodyPr>
            <a:spAutoFit/>
          </a:bodyPr>
          <a:lstStyle/>
          <a:p>
            <a:pPr algn="just"/>
            <a:r>
              <a:rPr lang="es-ES" sz="3600"/>
              <a:t>Una</a:t>
            </a:r>
            <a:r>
              <a:rPr lang="es-ES" sz="3600" i="1"/>
              <a:t> </a:t>
            </a:r>
            <a:r>
              <a:rPr lang="es-ES" sz="3600" b="1" i="1">
                <a:solidFill>
                  <a:srgbClr val="FF0000"/>
                </a:solidFill>
              </a:rPr>
              <a:t>relación</a:t>
            </a:r>
            <a:r>
              <a:rPr lang="es-ES" sz="3600" i="1"/>
              <a:t> </a:t>
            </a:r>
            <a:r>
              <a:rPr lang="es-ES" sz="3600"/>
              <a:t>es la asociación que existe entre dos o más entidades. </a:t>
            </a:r>
          </a:p>
        </p:txBody>
      </p:sp>
      <p:sp>
        <p:nvSpPr>
          <p:cNvPr id="4" name="3 Decisión"/>
          <p:cNvSpPr/>
          <p:nvPr/>
        </p:nvSpPr>
        <p:spPr>
          <a:xfrm>
            <a:off x="3143240" y="4286256"/>
            <a:ext cx="3000396" cy="1214446"/>
          </a:xfrm>
          <a:prstGeom prst="flowChartDecision">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2400" dirty="0"/>
              <a:t>Relación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1 Rectángulo"/>
          <p:cNvSpPr>
            <a:spLocks noChangeArrowheads="1"/>
          </p:cNvSpPr>
          <p:nvPr/>
        </p:nvSpPr>
        <p:spPr bwMode="auto">
          <a:xfrm>
            <a:off x="714375" y="1143000"/>
            <a:ext cx="7429500" cy="954088"/>
          </a:xfrm>
          <a:prstGeom prst="rect">
            <a:avLst/>
          </a:prstGeom>
          <a:noFill/>
          <a:ln w="9525">
            <a:noFill/>
            <a:miter lim="800000"/>
            <a:headEnd/>
            <a:tailEnd/>
          </a:ln>
        </p:spPr>
        <p:txBody>
          <a:bodyPr>
            <a:spAutoFit/>
          </a:bodyPr>
          <a:lstStyle/>
          <a:p>
            <a:pPr algn="just"/>
            <a:r>
              <a:rPr lang="es-ES" sz="2800"/>
              <a:t>La cantidad de entidades en una relación determina el </a:t>
            </a:r>
            <a:r>
              <a:rPr lang="es-ES" sz="2800" b="1" i="1">
                <a:solidFill>
                  <a:srgbClr val="FF0000"/>
                </a:solidFill>
              </a:rPr>
              <a:t>grado</a:t>
            </a:r>
            <a:r>
              <a:rPr lang="es-ES" sz="2800" b="1" i="1"/>
              <a:t> </a:t>
            </a:r>
            <a:r>
              <a:rPr lang="es-ES" sz="2800"/>
              <a:t>de la relación.</a:t>
            </a:r>
          </a:p>
        </p:txBody>
      </p:sp>
      <p:sp>
        <p:nvSpPr>
          <p:cNvPr id="58371"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4" name="3 Rectángulo"/>
          <p:cNvSpPr/>
          <p:nvPr/>
        </p:nvSpPr>
        <p:spPr>
          <a:xfrm>
            <a:off x="1071538" y="2643182"/>
            <a:ext cx="1428760" cy="64294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dirty="0"/>
              <a:t>Alumno</a:t>
            </a:r>
          </a:p>
        </p:txBody>
      </p:sp>
      <p:sp>
        <p:nvSpPr>
          <p:cNvPr id="5" name="4 Rectángulo"/>
          <p:cNvSpPr/>
          <p:nvPr/>
        </p:nvSpPr>
        <p:spPr>
          <a:xfrm>
            <a:off x="1071538" y="4857760"/>
            <a:ext cx="1428760" cy="64294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dirty="0"/>
              <a:t>Materia</a:t>
            </a:r>
          </a:p>
        </p:txBody>
      </p:sp>
      <p:sp>
        <p:nvSpPr>
          <p:cNvPr id="6" name="5 Decisión"/>
          <p:cNvSpPr/>
          <p:nvPr/>
        </p:nvSpPr>
        <p:spPr>
          <a:xfrm>
            <a:off x="928662" y="3714752"/>
            <a:ext cx="1714512" cy="714380"/>
          </a:xfrm>
          <a:prstGeom prst="flowChartDecision">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dirty="0"/>
              <a:t>Cursa</a:t>
            </a:r>
          </a:p>
        </p:txBody>
      </p:sp>
      <p:cxnSp>
        <p:nvCxnSpPr>
          <p:cNvPr id="8" name="7 Conector recto"/>
          <p:cNvCxnSpPr>
            <a:stCxn id="0" idx="2"/>
            <a:endCxn id="0" idx="0"/>
          </p:cNvCxnSpPr>
          <p:nvPr/>
        </p:nvCxnSpPr>
        <p:spPr>
          <a:xfrm rot="5400000">
            <a:off x="1570037" y="3500438"/>
            <a:ext cx="430213" cy="158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9 Conector recto"/>
          <p:cNvCxnSpPr>
            <a:stCxn id="0" idx="2"/>
            <a:endCxn id="0" idx="0"/>
          </p:cNvCxnSpPr>
          <p:nvPr/>
        </p:nvCxnSpPr>
        <p:spPr>
          <a:xfrm rot="5400000">
            <a:off x="1570831" y="4644232"/>
            <a:ext cx="428625" cy="158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10 Rectángulo"/>
          <p:cNvSpPr/>
          <p:nvPr/>
        </p:nvSpPr>
        <p:spPr>
          <a:xfrm>
            <a:off x="4857752" y="2643182"/>
            <a:ext cx="1428760" cy="64294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dirty="0"/>
              <a:t>Madre</a:t>
            </a:r>
          </a:p>
        </p:txBody>
      </p:sp>
      <p:sp>
        <p:nvSpPr>
          <p:cNvPr id="12" name="11 Rectángulo"/>
          <p:cNvSpPr/>
          <p:nvPr/>
        </p:nvSpPr>
        <p:spPr>
          <a:xfrm>
            <a:off x="4857752" y="4857760"/>
            <a:ext cx="1428760" cy="64294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dirty="0"/>
              <a:t>Padre</a:t>
            </a:r>
          </a:p>
        </p:txBody>
      </p:sp>
      <p:sp>
        <p:nvSpPr>
          <p:cNvPr id="13" name="12 Decisión"/>
          <p:cNvSpPr/>
          <p:nvPr/>
        </p:nvSpPr>
        <p:spPr>
          <a:xfrm>
            <a:off x="4643438" y="3714752"/>
            <a:ext cx="1857388" cy="714380"/>
          </a:xfrm>
          <a:prstGeom prst="flowChartDecision">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dirty="0"/>
              <a:t>Padres</a:t>
            </a:r>
          </a:p>
        </p:txBody>
      </p:sp>
      <p:cxnSp>
        <p:nvCxnSpPr>
          <p:cNvPr id="14" name="13 Conector recto"/>
          <p:cNvCxnSpPr>
            <a:stCxn id="0" idx="2"/>
            <a:endCxn id="0" idx="0"/>
          </p:cNvCxnSpPr>
          <p:nvPr/>
        </p:nvCxnSpPr>
        <p:spPr>
          <a:xfrm rot="5400000">
            <a:off x="5357812" y="3500438"/>
            <a:ext cx="430213" cy="158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14 Conector recto"/>
          <p:cNvCxnSpPr>
            <a:stCxn id="0" idx="2"/>
            <a:endCxn id="0" idx="0"/>
          </p:cNvCxnSpPr>
          <p:nvPr/>
        </p:nvCxnSpPr>
        <p:spPr>
          <a:xfrm rot="5400000">
            <a:off x="5358606" y="4644232"/>
            <a:ext cx="428625" cy="158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6" name="15 Rectángulo"/>
          <p:cNvSpPr/>
          <p:nvPr/>
        </p:nvSpPr>
        <p:spPr>
          <a:xfrm>
            <a:off x="7000892" y="3752852"/>
            <a:ext cx="1428760" cy="64294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dirty="0"/>
              <a:t>Hijo</a:t>
            </a:r>
          </a:p>
        </p:txBody>
      </p:sp>
      <p:cxnSp>
        <p:nvCxnSpPr>
          <p:cNvPr id="19" name="18 Conector recto"/>
          <p:cNvCxnSpPr>
            <a:stCxn id="0" idx="1"/>
            <a:endCxn id="0" idx="3"/>
          </p:cNvCxnSpPr>
          <p:nvPr/>
        </p:nvCxnSpPr>
        <p:spPr>
          <a:xfrm rot="10800000">
            <a:off x="6500813" y="4071938"/>
            <a:ext cx="500062" cy="3175"/>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3" y="-99392"/>
            <a:ext cx="9132053" cy="6858000"/>
          </a:xfrm>
          <a:prstGeom prst="rect">
            <a:avLst/>
          </a:prstGeom>
        </p:spPr>
      </p:pic>
    </p:spTree>
    <p:extLst>
      <p:ext uri="{BB962C8B-B14F-4D97-AF65-F5344CB8AC3E}">
        <p14:creationId xmlns:p14="http://schemas.microsoft.com/office/powerpoint/2010/main" val="20356833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4 CuadroTexto"/>
          <p:cNvSpPr txBox="1">
            <a:spLocks noChangeArrowheads="1"/>
          </p:cNvSpPr>
          <p:nvPr/>
        </p:nvSpPr>
        <p:spPr bwMode="auto">
          <a:xfrm>
            <a:off x="214313" y="131763"/>
            <a:ext cx="4902200" cy="461962"/>
          </a:xfrm>
          <a:prstGeom prst="rect">
            <a:avLst/>
          </a:prstGeom>
          <a:noFill/>
          <a:ln w="9525">
            <a:noFill/>
            <a:miter lim="800000"/>
            <a:headEnd/>
            <a:tailEnd/>
          </a:ln>
        </p:spPr>
        <p:txBody>
          <a:bodyPr wrap="none">
            <a:spAutoFit/>
          </a:bodyPr>
          <a:lstStyle/>
          <a:p>
            <a:pPr marL="342900" indent="-342900"/>
            <a:r>
              <a:rPr lang="es-ES_tradnl" sz="2400" b="1"/>
              <a:t>Participación de la UNIDAD II (2)</a:t>
            </a:r>
            <a:endParaRPr lang="es-MX" sz="2400" b="1"/>
          </a:p>
        </p:txBody>
      </p:sp>
      <p:sp>
        <p:nvSpPr>
          <p:cNvPr id="59395" name="3 Rectángulo"/>
          <p:cNvSpPr>
            <a:spLocks noChangeArrowheads="1"/>
          </p:cNvSpPr>
          <p:nvPr/>
        </p:nvSpPr>
        <p:spPr bwMode="auto">
          <a:xfrm>
            <a:off x="785813" y="857250"/>
            <a:ext cx="7858125" cy="5632450"/>
          </a:xfrm>
          <a:prstGeom prst="rect">
            <a:avLst/>
          </a:prstGeom>
          <a:noFill/>
          <a:ln w="9525">
            <a:noFill/>
            <a:miter lim="800000"/>
            <a:headEnd/>
            <a:tailEnd/>
          </a:ln>
        </p:spPr>
        <p:txBody>
          <a:bodyPr>
            <a:spAutoFit/>
          </a:bodyPr>
          <a:lstStyle/>
          <a:p>
            <a:pPr marL="342900" indent="-342900" algn="just">
              <a:buFont typeface="Lucida Sans Unicode" pitchFamily="34" charset="0"/>
              <a:buAutoNum type="arabicPeriod"/>
            </a:pPr>
            <a:r>
              <a:rPr lang="es-ES">
                <a:solidFill>
                  <a:srgbClr val="FF0000"/>
                </a:solidFill>
              </a:rPr>
              <a:t>¿Para qué me sirve la abstracción?</a:t>
            </a:r>
          </a:p>
          <a:p>
            <a:pPr marL="342900" indent="-342900" algn="just">
              <a:buFont typeface="Lucida Sans Unicode" pitchFamily="34" charset="0"/>
              <a:buAutoNum type="arabicPeriod"/>
            </a:pPr>
            <a:endParaRPr lang="es-ES">
              <a:solidFill>
                <a:srgbClr val="FF0000"/>
              </a:solidFill>
            </a:endParaRPr>
          </a:p>
          <a:p>
            <a:pPr marL="342900" indent="-342900" algn="just">
              <a:buFont typeface="Lucida Sans Unicode" pitchFamily="34" charset="0"/>
              <a:buAutoNum type="arabicPeriod"/>
            </a:pPr>
            <a:r>
              <a:rPr lang="es-ES">
                <a:solidFill>
                  <a:srgbClr val="FF0000"/>
                </a:solidFill>
              </a:rPr>
              <a:t>¿Menciona los 3 niveles de abstracción y quién actúa en cada nivel?</a:t>
            </a:r>
          </a:p>
          <a:p>
            <a:pPr marL="342900" indent="-342900" algn="just">
              <a:buFont typeface="Lucida Sans Unicode" pitchFamily="34" charset="0"/>
              <a:buAutoNum type="arabicPeriod"/>
            </a:pPr>
            <a:endParaRPr lang="es-ES">
              <a:solidFill>
                <a:srgbClr val="FF0000"/>
              </a:solidFill>
            </a:endParaRPr>
          </a:p>
          <a:p>
            <a:pPr marL="342900" indent="-342900" algn="just">
              <a:buFont typeface="Lucida Sans Unicode" pitchFamily="34" charset="0"/>
              <a:buAutoNum type="arabicPeriod"/>
            </a:pPr>
            <a:r>
              <a:rPr lang="es-ES">
                <a:solidFill>
                  <a:srgbClr val="FF0000"/>
                </a:solidFill>
              </a:rPr>
              <a:t>¿Qué es el modelado de datos?</a:t>
            </a:r>
          </a:p>
          <a:p>
            <a:pPr marL="342900" indent="-342900" algn="just">
              <a:buFont typeface="Lucida Sans Unicode" pitchFamily="34" charset="0"/>
              <a:buAutoNum type="arabicPeriod"/>
            </a:pPr>
            <a:endParaRPr lang="es-ES">
              <a:solidFill>
                <a:srgbClr val="FF0000"/>
              </a:solidFill>
            </a:endParaRPr>
          </a:p>
          <a:p>
            <a:pPr marL="342900" indent="-342900" algn="just">
              <a:buFont typeface="Lucida Sans Unicode" pitchFamily="34" charset="0"/>
              <a:buAutoNum type="arabicPeriod"/>
            </a:pPr>
            <a:r>
              <a:rPr lang="es-ES">
                <a:solidFill>
                  <a:srgbClr val="FF0000"/>
                </a:solidFill>
              </a:rPr>
              <a:t>Menciona 3 categorías de conceptos que se pueden modelar y menciona un ejemplo de cada uno de ellos.</a:t>
            </a:r>
          </a:p>
          <a:p>
            <a:pPr marL="342900" indent="-342900" algn="just">
              <a:buFont typeface="Lucida Sans Unicode" pitchFamily="34" charset="0"/>
              <a:buAutoNum type="arabicPeriod"/>
            </a:pPr>
            <a:endParaRPr lang="es-ES"/>
          </a:p>
          <a:p>
            <a:pPr marL="342900" indent="-342900" algn="just">
              <a:buFont typeface="Lucida Sans Unicode" pitchFamily="34" charset="0"/>
              <a:buAutoNum type="arabicPeriod"/>
            </a:pPr>
            <a:r>
              <a:rPr lang="es-ES"/>
              <a:t>Menciona cómo se clasifican los distintos modelos de datos</a:t>
            </a:r>
          </a:p>
          <a:p>
            <a:pPr marL="342900" indent="-342900" algn="just">
              <a:buFont typeface="Lucida Sans Unicode" pitchFamily="34" charset="0"/>
              <a:buAutoNum type="arabicPeriod"/>
            </a:pPr>
            <a:endParaRPr lang="es-ES"/>
          </a:p>
          <a:p>
            <a:pPr marL="342900" indent="-342900" algn="just">
              <a:buFont typeface="Lucida Sans Unicode" pitchFamily="34" charset="0"/>
              <a:buAutoNum type="arabicPeriod"/>
            </a:pPr>
            <a:r>
              <a:rPr lang="es-ES"/>
              <a:t>Menciona un Modelo de Datos de cada clasificación</a:t>
            </a:r>
          </a:p>
          <a:p>
            <a:pPr marL="342900" indent="-342900" algn="just">
              <a:buFont typeface="Lucida Sans Unicode" pitchFamily="34" charset="0"/>
              <a:buAutoNum type="arabicPeriod"/>
            </a:pPr>
            <a:endParaRPr lang="es-ES"/>
          </a:p>
          <a:p>
            <a:pPr marL="342900" indent="-342900" algn="just">
              <a:buFont typeface="Lucida Sans Unicode" pitchFamily="34" charset="0"/>
              <a:buAutoNum type="arabicPeriod"/>
            </a:pPr>
            <a:r>
              <a:rPr lang="es-ES"/>
              <a:t>Menciona y describe los elementos básicos del Modelo de Entidad-Relación</a:t>
            </a:r>
          </a:p>
          <a:p>
            <a:pPr marL="342900" indent="-342900" algn="just">
              <a:buFont typeface="Lucida Sans Unicode" pitchFamily="34" charset="0"/>
              <a:buAutoNum type="arabicPeriod"/>
            </a:pPr>
            <a:endParaRPr lang="es-ES"/>
          </a:p>
          <a:p>
            <a:pPr marL="342900" indent="-342900" algn="just">
              <a:buFont typeface="Lucida Sans Unicode" pitchFamily="34" charset="0"/>
              <a:buAutoNum type="arabicPeriod"/>
            </a:pPr>
            <a:r>
              <a:rPr lang="es-ES"/>
              <a:t>¿Qué es el dominio de un atributo?</a:t>
            </a:r>
          </a:p>
          <a:p>
            <a:pPr marL="342900" indent="-342900" algn="just">
              <a:buFont typeface="Lucida Sans Unicode" pitchFamily="34" charset="0"/>
              <a:buAutoNum type="arabicPeriod"/>
            </a:pPr>
            <a:endParaRPr lang="es-ES"/>
          </a:p>
          <a:p>
            <a:pPr marL="342900" indent="-342900" algn="just">
              <a:buFont typeface="Lucida Sans Unicode" pitchFamily="34" charset="0"/>
              <a:buAutoNum type="arabicPeriod"/>
            </a:pPr>
            <a:r>
              <a:rPr lang="es-ES"/>
              <a:t>¿Cómo se determina el grado de una relación?</a:t>
            </a:r>
          </a:p>
          <a:p>
            <a:pPr marL="342900" indent="-342900" algn="just">
              <a:buFont typeface="Lucida Sans Unicode" pitchFamily="34" charset="0"/>
              <a:buAutoNum type="arabicPeriod"/>
            </a:pPr>
            <a:endParaRPr lang="es-E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60419" name="4 CuadroTexto"/>
          <p:cNvSpPr txBox="1">
            <a:spLocks noChangeArrowheads="1"/>
          </p:cNvSpPr>
          <p:nvPr/>
        </p:nvSpPr>
        <p:spPr bwMode="auto">
          <a:xfrm>
            <a:off x="214313" y="752475"/>
            <a:ext cx="3227387" cy="461963"/>
          </a:xfrm>
          <a:prstGeom prst="rect">
            <a:avLst/>
          </a:prstGeom>
          <a:noFill/>
          <a:ln w="9525">
            <a:noFill/>
            <a:miter lim="800000"/>
            <a:headEnd/>
            <a:tailEnd/>
          </a:ln>
        </p:spPr>
        <p:txBody>
          <a:bodyPr wrap="none">
            <a:spAutoFit/>
          </a:bodyPr>
          <a:lstStyle/>
          <a:p>
            <a:pPr marL="342900" indent="-342900"/>
            <a:r>
              <a:rPr lang="es-ES" sz="2400" b="1"/>
              <a:t>Limitantes de Mapeo</a:t>
            </a:r>
            <a:endParaRPr lang="es-MX" sz="2400" b="1"/>
          </a:p>
        </p:txBody>
      </p:sp>
      <p:sp>
        <p:nvSpPr>
          <p:cNvPr id="4" name="3 Rectángulo"/>
          <p:cNvSpPr>
            <a:spLocks noChangeArrowheads="1"/>
          </p:cNvSpPr>
          <p:nvPr/>
        </p:nvSpPr>
        <p:spPr bwMode="auto">
          <a:xfrm>
            <a:off x="500063" y="1830388"/>
            <a:ext cx="8072437" cy="3108325"/>
          </a:xfrm>
          <a:prstGeom prst="rect">
            <a:avLst/>
          </a:prstGeom>
          <a:noFill/>
          <a:ln w="9525">
            <a:noFill/>
            <a:miter lim="800000"/>
            <a:headEnd/>
            <a:tailEnd/>
          </a:ln>
        </p:spPr>
        <p:txBody>
          <a:bodyPr>
            <a:spAutoFit/>
          </a:bodyPr>
          <a:lstStyle/>
          <a:p>
            <a:pPr algn="just">
              <a:defRPr/>
            </a:pPr>
            <a:r>
              <a:rPr lang="es-ES" sz="2800" dirty="0">
                <a:latin typeface="Calibri" pitchFamily="34" charset="0"/>
              </a:rPr>
              <a:t>Existen </a:t>
            </a:r>
            <a:r>
              <a:rPr lang="es-ES" sz="2800" b="1" i="1" dirty="0">
                <a:solidFill>
                  <a:srgbClr val="FF0000"/>
                </a:solidFill>
                <a:latin typeface="Calibri" pitchFamily="34" charset="0"/>
              </a:rPr>
              <a:t>2 tipos de limitantes </a:t>
            </a:r>
            <a:r>
              <a:rPr lang="es-ES" sz="2800" dirty="0">
                <a:latin typeface="Calibri" pitchFamily="34" charset="0"/>
              </a:rPr>
              <a:t>que permiten establecer las validaciones necesarias para conseguir que los datos correspondan con la realidad.</a:t>
            </a:r>
          </a:p>
          <a:p>
            <a:pPr algn="just">
              <a:defRPr/>
            </a:pPr>
            <a:endParaRPr lang="es-ES" sz="2800" dirty="0">
              <a:latin typeface="Calibri" pitchFamily="34" charset="0"/>
            </a:endParaRPr>
          </a:p>
          <a:p>
            <a:pPr marL="1428750" lvl="2" indent="-514350" algn="just">
              <a:buFont typeface="Lucida Sans Unicode" pitchFamily="34" charset="0"/>
              <a:buAutoNum type="arabicPeriod"/>
              <a:defRPr/>
            </a:pPr>
            <a:r>
              <a:rPr lang="es-ES" sz="2800" dirty="0">
                <a:latin typeface="Calibri" pitchFamily="34" charset="0"/>
              </a:rPr>
              <a:t>Tipos de relaciones</a:t>
            </a:r>
          </a:p>
          <a:p>
            <a:pPr marL="1428750" lvl="2" indent="-514350" algn="just">
              <a:buFont typeface="Lucida Sans Unicode" pitchFamily="34" charset="0"/>
              <a:buAutoNum type="arabicPeriod"/>
              <a:defRPr/>
            </a:pPr>
            <a:r>
              <a:rPr lang="es-ES" sz="2800" dirty="0">
                <a:latin typeface="Calibri" pitchFamily="34" charset="0"/>
              </a:rPr>
              <a:t>Dependencia de existencia</a:t>
            </a:r>
          </a:p>
          <a:p>
            <a:pPr marL="514350" indent="-514350" algn="just">
              <a:defRPr/>
            </a:pPr>
            <a:endParaRPr lang="es-ES" sz="2800" dirty="0">
              <a:latin typeface="Calibri"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61443" name="4 CuadroTexto"/>
          <p:cNvSpPr txBox="1">
            <a:spLocks noChangeArrowheads="1"/>
          </p:cNvSpPr>
          <p:nvPr/>
        </p:nvSpPr>
        <p:spPr bwMode="auto">
          <a:xfrm>
            <a:off x="214313" y="752475"/>
            <a:ext cx="3049587" cy="461963"/>
          </a:xfrm>
          <a:prstGeom prst="rect">
            <a:avLst/>
          </a:prstGeom>
          <a:noFill/>
          <a:ln w="9525">
            <a:noFill/>
            <a:miter lim="800000"/>
            <a:headEnd/>
            <a:tailEnd/>
          </a:ln>
        </p:spPr>
        <p:txBody>
          <a:bodyPr wrap="none">
            <a:spAutoFit/>
          </a:bodyPr>
          <a:lstStyle/>
          <a:p>
            <a:pPr marL="342900" indent="-342900"/>
            <a:r>
              <a:rPr lang="es-ES" sz="2400" b="1"/>
              <a:t>Tipos de relaciones</a:t>
            </a:r>
            <a:endParaRPr lang="es-MX" sz="2400" b="1"/>
          </a:p>
        </p:txBody>
      </p:sp>
      <p:sp>
        <p:nvSpPr>
          <p:cNvPr id="58372" name="3 Rectángulo"/>
          <p:cNvSpPr>
            <a:spLocks noChangeArrowheads="1"/>
          </p:cNvSpPr>
          <p:nvPr/>
        </p:nvSpPr>
        <p:spPr bwMode="auto">
          <a:xfrm>
            <a:off x="500063" y="1604963"/>
            <a:ext cx="8072437" cy="4324350"/>
          </a:xfrm>
          <a:prstGeom prst="rect">
            <a:avLst/>
          </a:prstGeom>
          <a:noFill/>
          <a:ln w="9525">
            <a:noFill/>
            <a:miter lim="800000"/>
            <a:headEnd/>
            <a:tailEnd/>
          </a:ln>
        </p:spPr>
        <p:txBody>
          <a:bodyPr>
            <a:spAutoFit/>
          </a:bodyPr>
          <a:lstStyle/>
          <a:p>
            <a:pPr algn="just">
              <a:defRPr/>
            </a:pPr>
            <a:r>
              <a:rPr lang="es-ES" sz="2500" dirty="0">
                <a:latin typeface="Calibri" pitchFamily="34" charset="0"/>
              </a:rPr>
              <a:t>Existen </a:t>
            </a:r>
            <a:r>
              <a:rPr lang="es-ES" sz="2500" b="1" i="1" dirty="0">
                <a:solidFill>
                  <a:srgbClr val="FF0000"/>
                </a:solidFill>
                <a:latin typeface="Calibri" pitchFamily="34" charset="0"/>
              </a:rPr>
              <a:t>4 tipos de relaciones </a:t>
            </a:r>
            <a:r>
              <a:rPr lang="es-ES" sz="2500" dirty="0">
                <a:latin typeface="Calibri" pitchFamily="34" charset="0"/>
              </a:rPr>
              <a:t>que pueden establecerse entre entidades, las cuales establecen con cuantas entidades de tipo </a:t>
            </a:r>
            <a:r>
              <a:rPr lang="es-ES" sz="2500" b="1" dirty="0">
                <a:solidFill>
                  <a:srgbClr val="00B0F0"/>
                </a:solidFill>
                <a:latin typeface="Calibri" pitchFamily="34" charset="0"/>
              </a:rPr>
              <a:t>B</a:t>
            </a:r>
            <a:r>
              <a:rPr lang="es-ES" sz="2500" dirty="0">
                <a:latin typeface="Calibri" pitchFamily="34" charset="0"/>
              </a:rPr>
              <a:t> se puede relacionar una entidad de tipo </a:t>
            </a:r>
            <a:r>
              <a:rPr lang="es-ES" sz="2500" b="1" dirty="0">
                <a:solidFill>
                  <a:srgbClr val="00B0F0"/>
                </a:solidFill>
                <a:latin typeface="Calibri" pitchFamily="34" charset="0"/>
              </a:rPr>
              <a:t>A</a:t>
            </a:r>
            <a:r>
              <a:rPr lang="es-ES" sz="2500" dirty="0">
                <a:latin typeface="Calibri" pitchFamily="34" charset="0"/>
              </a:rPr>
              <a:t>:</a:t>
            </a:r>
          </a:p>
          <a:p>
            <a:pPr algn="just">
              <a:defRPr/>
            </a:pPr>
            <a:endParaRPr lang="es-ES" sz="2500" dirty="0">
              <a:latin typeface="Calibri" pitchFamily="34" charset="0"/>
            </a:endParaRPr>
          </a:p>
          <a:p>
            <a:pPr marL="1428750" lvl="2" indent="-514350" algn="just">
              <a:buFont typeface="Lucida Sans Unicode" pitchFamily="34" charset="0"/>
              <a:buAutoNum type="arabicPeriod"/>
              <a:defRPr/>
            </a:pPr>
            <a:r>
              <a:rPr lang="es-ES" sz="2500" dirty="0">
                <a:latin typeface="Calibri" pitchFamily="34" charset="0"/>
              </a:rPr>
              <a:t>Uno a uno </a:t>
            </a:r>
            <a:r>
              <a:rPr lang="es-ES" sz="2500" b="1" dirty="0">
                <a:solidFill>
                  <a:srgbClr val="00B0F0"/>
                </a:solidFill>
                <a:latin typeface="Calibri" pitchFamily="34" charset="0"/>
              </a:rPr>
              <a:t>(1:1)</a:t>
            </a:r>
          </a:p>
          <a:p>
            <a:pPr marL="1428750" lvl="2" indent="-514350" algn="just">
              <a:buFont typeface="Lucida Sans Unicode" pitchFamily="34" charset="0"/>
              <a:buAutoNum type="arabicPeriod"/>
              <a:defRPr/>
            </a:pPr>
            <a:r>
              <a:rPr lang="es-ES" sz="2500" dirty="0">
                <a:latin typeface="Calibri" pitchFamily="34" charset="0"/>
              </a:rPr>
              <a:t>Uno a muchos </a:t>
            </a:r>
            <a:r>
              <a:rPr lang="es-ES" sz="2500" b="1" dirty="0">
                <a:solidFill>
                  <a:srgbClr val="00B0F0"/>
                </a:solidFill>
                <a:latin typeface="Calibri" pitchFamily="34" charset="0"/>
              </a:rPr>
              <a:t>(1:N)</a:t>
            </a:r>
          </a:p>
          <a:p>
            <a:pPr marL="1428750" lvl="2" indent="-514350" algn="just">
              <a:buFont typeface="Lucida Sans Unicode" pitchFamily="34" charset="0"/>
              <a:buAutoNum type="arabicPeriod"/>
              <a:defRPr/>
            </a:pPr>
            <a:r>
              <a:rPr lang="es-ES" sz="2500" dirty="0">
                <a:latin typeface="Calibri" pitchFamily="34" charset="0"/>
              </a:rPr>
              <a:t>Muchos a uno </a:t>
            </a:r>
            <a:r>
              <a:rPr lang="es-ES" sz="2500" b="1" dirty="0">
                <a:solidFill>
                  <a:srgbClr val="00B0F0"/>
                </a:solidFill>
                <a:latin typeface="Calibri" pitchFamily="34" charset="0"/>
              </a:rPr>
              <a:t>(N:1)</a:t>
            </a:r>
          </a:p>
          <a:p>
            <a:pPr marL="1428750" lvl="2" indent="-514350" algn="just">
              <a:buFont typeface="Lucida Sans Unicode" pitchFamily="34" charset="0"/>
              <a:buAutoNum type="arabicPeriod"/>
              <a:defRPr/>
            </a:pPr>
            <a:r>
              <a:rPr lang="es-ES" sz="2500" dirty="0">
                <a:latin typeface="Calibri" pitchFamily="34" charset="0"/>
              </a:rPr>
              <a:t>Muchos a muchos </a:t>
            </a:r>
            <a:r>
              <a:rPr lang="es-ES" sz="2500" b="1" dirty="0">
                <a:solidFill>
                  <a:srgbClr val="00B0F0"/>
                </a:solidFill>
                <a:latin typeface="Calibri" pitchFamily="34" charset="0"/>
              </a:rPr>
              <a:t>(N:N)</a:t>
            </a:r>
          </a:p>
          <a:p>
            <a:pPr marL="514350" indent="-514350" algn="just">
              <a:defRPr/>
            </a:pPr>
            <a:endParaRPr lang="es-ES" sz="2500" dirty="0">
              <a:latin typeface="Calibri" pitchFamily="34" charset="0"/>
            </a:endParaRPr>
          </a:p>
          <a:p>
            <a:pPr algn="just">
              <a:defRPr/>
            </a:pPr>
            <a:r>
              <a:rPr lang="es-ES" sz="2500" dirty="0">
                <a:latin typeface="Calibri" pitchFamily="34" charset="0"/>
              </a:rPr>
              <a:t>A estos tipos de relaciones, también se les conoce como </a:t>
            </a:r>
            <a:r>
              <a:rPr lang="es-ES" sz="2500" b="1" dirty="0" err="1">
                <a:solidFill>
                  <a:srgbClr val="FF0000"/>
                </a:solidFill>
                <a:latin typeface="Calibri" pitchFamily="34" charset="0"/>
              </a:rPr>
              <a:t>Cardinalidad</a:t>
            </a:r>
            <a:r>
              <a:rPr lang="es-ES" sz="2500" dirty="0">
                <a:latin typeface="Calibri" pitchFamily="34" charset="0"/>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62467" name="4 CuadroTexto"/>
          <p:cNvSpPr txBox="1">
            <a:spLocks noChangeArrowheads="1"/>
          </p:cNvSpPr>
          <p:nvPr/>
        </p:nvSpPr>
        <p:spPr bwMode="auto">
          <a:xfrm>
            <a:off x="214313" y="752475"/>
            <a:ext cx="3049587" cy="461963"/>
          </a:xfrm>
          <a:prstGeom prst="rect">
            <a:avLst/>
          </a:prstGeom>
          <a:noFill/>
          <a:ln w="9525">
            <a:noFill/>
            <a:miter lim="800000"/>
            <a:headEnd/>
            <a:tailEnd/>
          </a:ln>
        </p:spPr>
        <p:txBody>
          <a:bodyPr wrap="none">
            <a:spAutoFit/>
          </a:bodyPr>
          <a:lstStyle/>
          <a:p>
            <a:pPr marL="342900" indent="-342900"/>
            <a:r>
              <a:rPr lang="es-ES" sz="2400" b="1"/>
              <a:t>Tipos de relaciones</a:t>
            </a:r>
            <a:endParaRPr lang="es-MX" sz="2400" b="1"/>
          </a:p>
        </p:txBody>
      </p:sp>
      <p:sp>
        <p:nvSpPr>
          <p:cNvPr id="62468" name="4 CuadroTexto"/>
          <p:cNvSpPr txBox="1">
            <a:spLocks noChangeArrowheads="1"/>
          </p:cNvSpPr>
          <p:nvPr/>
        </p:nvSpPr>
        <p:spPr bwMode="auto">
          <a:xfrm>
            <a:off x="3071813" y="1357313"/>
            <a:ext cx="2744787" cy="461962"/>
          </a:xfrm>
          <a:prstGeom prst="rect">
            <a:avLst/>
          </a:prstGeom>
          <a:noFill/>
          <a:ln w="9525">
            <a:noFill/>
            <a:miter lim="800000"/>
            <a:headEnd/>
            <a:tailEnd/>
          </a:ln>
        </p:spPr>
        <p:txBody>
          <a:bodyPr wrap="none">
            <a:spAutoFit/>
          </a:bodyPr>
          <a:lstStyle/>
          <a:p>
            <a:pPr marL="342900" indent="-342900"/>
            <a:r>
              <a:rPr lang="es-ES" sz="2400" b="1"/>
              <a:t>UNO  A UNO (1:1)</a:t>
            </a:r>
            <a:endParaRPr lang="es-MX" sz="2400" b="1"/>
          </a:p>
        </p:txBody>
      </p:sp>
      <p:sp>
        <p:nvSpPr>
          <p:cNvPr id="62469" name="4 Rectángulo"/>
          <p:cNvSpPr>
            <a:spLocks noChangeArrowheads="1"/>
          </p:cNvSpPr>
          <p:nvPr/>
        </p:nvSpPr>
        <p:spPr bwMode="auto">
          <a:xfrm>
            <a:off x="428625" y="2073275"/>
            <a:ext cx="8501063" cy="1570038"/>
          </a:xfrm>
          <a:prstGeom prst="rect">
            <a:avLst/>
          </a:prstGeom>
          <a:noFill/>
          <a:ln w="9525">
            <a:noFill/>
            <a:miter lim="800000"/>
            <a:headEnd/>
            <a:tailEnd/>
          </a:ln>
        </p:spPr>
        <p:txBody>
          <a:bodyPr>
            <a:spAutoFit/>
          </a:bodyPr>
          <a:lstStyle/>
          <a:p>
            <a:pPr algn="just"/>
            <a:r>
              <a:rPr lang="es-ES" sz="2400"/>
              <a:t>Se presenta cuando existe una relación como su nombre lo indica </a:t>
            </a:r>
            <a:r>
              <a:rPr lang="es-ES" sz="2400" b="1">
                <a:solidFill>
                  <a:srgbClr val="FF0000"/>
                </a:solidFill>
              </a:rPr>
              <a:t>uno a uno</a:t>
            </a:r>
            <a:r>
              <a:rPr lang="es-ES" sz="2400"/>
              <a:t>, denominado también relación de </a:t>
            </a:r>
            <a:r>
              <a:rPr lang="es-ES" sz="2400" b="1">
                <a:solidFill>
                  <a:srgbClr val="FF0000"/>
                </a:solidFill>
              </a:rPr>
              <a:t>matrimonio</a:t>
            </a:r>
            <a:r>
              <a:rPr lang="es-ES" sz="2400"/>
              <a:t>. Una entidad del tipo </a:t>
            </a:r>
            <a:r>
              <a:rPr lang="es-ES" sz="2400" b="1">
                <a:solidFill>
                  <a:srgbClr val="00B0F0"/>
                </a:solidFill>
              </a:rPr>
              <a:t>A</a:t>
            </a:r>
            <a:r>
              <a:rPr lang="es-ES" sz="2400"/>
              <a:t> solo se puede relacionar con una entidad del tipo </a:t>
            </a:r>
            <a:r>
              <a:rPr lang="es-ES" sz="2400" b="1">
                <a:solidFill>
                  <a:srgbClr val="00B0F0"/>
                </a:solidFill>
              </a:rPr>
              <a:t>B</a:t>
            </a:r>
            <a:r>
              <a:rPr lang="es-ES" sz="2400"/>
              <a:t>, y viceversa. </a:t>
            </a:r>
          </a:p>
        </p:txBody>
      </p:sp>
      <p:sp>
        <p:nvSpPr>
          <p:cNvPr id="6" name="5 Rectángulo"/>
          <p:cNvSpPr/>
          <p:nvPr/>
        </p:nvSpPr>
        <p:spPr>
          <a:xfrm>
            <a:off x="6572264" y="4898704"/>
            <a:ext cx="1428760" cy="64294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t>B</a:t>
            </a:r>
          </a:p>
        </p:txBody>
      </p:sp>
      <p:sp>
        <p:nvSpPr>
          <p:cNvPr id="7" name="6 Rectángulo"/>
          <p:cNvSpPr/>
          <p:nvPr/>
        </p:nvSpPr>
        <p:spPr>
          <a:xfrm>
            <a:off x="1142976" y="4885056"/>
            <a:ext cx="1428760" cy="64294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t>A</a:t>
            </a:r>
          </a:p>
        </p:txBody>
      </p:sp>
      <p:sp>
        <p:nvSpPr>
          <p:cNvPr id="8" name="7 Decisión"/>
          <p:cNvSpPr/>
          <p:nvPr/>
        </p:nvSpPr>
        <p:spPr>
          <a:xfrm>
            <a:off x="3714744" y="4857760"/>
            <a:ext cx="1714512" cy="714380"/>
          </a:xfrm>
          <a:prstGeom prst="flowChartDecision">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t>R</a:t>
            </a:r>
          </a:p>
        </p:txBody>
      </p:sp>
      <p:cxnSp>
        <p:nvCxnSpPr>
          <p:cNvPr id="9" name="8 Conector recto"/>
          <p:cNvCxnSpPr>
            <a:stCxn id="0" idx="1"/>
            <a:endCxn id="0" idx="3"/>
          </p:cNvCxnSpPr>
          <p:nvPr/>
        </p:nvCxnSpPr>
        <p:spPr>
          <a:xfrm rot="10800000">
            <a:off x="5429250" y="5214938"/>
            <a:ext cx="1143000" cy="4762"/>
          </a:xfrm>
          <a:prstGeom prst="line">
            <a:avLst/>
          </a:prstGeom>
          <a:ln w="762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9 Conector recto"/>
          <p:cNvCxnSpPr>
            <a:stCxn id="0" idx="1"/>
            <a:endCxn id="0" idx="3"/>
          </p:cNvCxnSpPr>
          <p:nvPr/>
        </p:nvCxnSpPr>
        <p:spPr>
          <a:xfrm rot="10800000">
            <a:off x="2571750" y="5207000"/>
            <a:ext cx="1143000" cy="7938"/>
          </a:xfrm>
          <a:prstGeom prst="line">
            <a:avLst/>
          </a:prstGeom>
          <a:ln w="762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16 Elipse"/>
          <p:cNvSpPr/>
          <p:nvPr/>
        </p:nvSpPr>
        <p:spPr>
          <a:xfrm>
            <a:off x="285720" y="4429132"/>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A1-A</a:t>
            </a:r>
          </a:p>
        </p:txBody>
      </p:sp>
      <p:sp>
        <p:nvSpPr>
          <p:cNvPr id="18" name="17 Elipse"/>
          <p:cNvSpPr/>
          <p:nvPr/>
        </p:nvSpPr>
        <p:spPr>
          <a:xfrm>
            <a:off x="1384586" y="4143380"/>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A2-A</a:t>
            </a:r>
          </a:p>
        </p:txBody>
      </p:sp>
      <p:sp>
        <p:nvSpPr>
          <p:cNvPr id="19" name="18 Elipse"/>
          <p:cNvSpPr/>
          <p:nvPr/>
        </p:nvSpPr>
        <p:spPr>
          <a:xfrm>
            <a:off x="2500298" y="4429132"/>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A3-A</a:t>
            </a:r>
          </a:p>
        </p:txBody>
      </p:sp>
      <p:cxnSp>
        <p:nvCxnSpPr>
          <p:cNvPr id="21" name="20 Conector recto"/>
          <p:cNvCxnSpPr>
            <a:stCxn id="0" idx="4"/>
            <a:endCxn id="0" idx="1"/>
          </p:cNvCxnSpPr>
          <p:nvPr/>
        </p:nvCxnSpPr>
        <p:spPr>
          <a:xfrm rot="16200000" flipH="1">
            <a:off x="700087" y="4764088"/>
            <a:ext cx="492125" cy="3937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21 Conector recto"/>
          <p:cNvCxnSpPr>
            <a:stCxn id="0" idx="4"/>
            <a:endCxn id="0" idx="0"/>
          </p:cNvCxnSpPr>
          <p:nvPr/>
        </p:nvCxnSpPr>
        <p:spPr>
          <a:xfrm rot="16200000" flipH="1">
            <a:off x="1625600" y="4652963"/>
            <a:ext cx="455613" cy="793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24 Conector recto"/>
          <p:cNvCxnSpPr>
            <a:stCxn id="0" idx="4"/>
            <a:endCxn id="0" idx="3"/>
          </p:cNvCxnSpPr>
          <p:nvPr/>
        </p:nvCxnSpPr>
        <p:spPr>
          <a:xfrm rot="5400000">
            <a:off x="2521744" y="4764881"/>
            <a:ext cx="492125" cy="392113"/>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27 Elipse"/>
          <p:cNvSpPr/>
          <p:nvPr/>
        </p:nvSpPr>
        <p:spPr>
          <a:xfrm>
            <a:off x="5715008" y="4437555"/>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A1-B</a:t>
            </a:r>
          </a:p>
        </p:txBody>
      </p:sp>
      <p:sp>
        <p:nvSpPr>
          <p:cNvPr id="29" name="28 Elipse"/>
          <p:cNvSpPr/>
          <p:nvPr/>
        </p:nvSpPr>
        <p:spPr>
          <a:xfrm>
            <a:off x="6813874" y="4151803"/>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A2-B</a:t>
            </a:r>
          </a:p>
        </p:txBody>
      </p:sp>
      <p:sp>
        <p:nvSpPr>
          <p:cNvPr id="30" name="29 Elipse"/>
          <p:cNvSpPr/>
          <p:nvPr/>
        </p:nvSpPr>
        <p:spPr>
          <a:xfrm>
            <a:off x="7929586" y="4437555"/>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A3-B</a:t>
            </a:r>
          </a:p>
        </p:txBody>
      </p:sp>
      <p:cxnSp>
        <p:nvCxnSpPr>
          <p:cNvPr id="31" name="30 Conector recto"/>
          <p:cNvCxnSpPr>
            <a:stCxn id="0" idx="4"/>
            <a:endCxn id="0" idx="1"/>
          </p:cNvCxnSpPr>
          <p:nvPr/>
        </p:nvCxnSpPr>
        <p:spPr>
          <a:xfrm rot="16200000" flipH="1">
            <a:off x="6127750" y="4775201"/>
            <a:ext cx="496887" cy="3921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31 Conector recto"/>
          <p:cNvCxnSpPr>
            <a:stCxn id="0" idx="4"/>
            <a:endCxn id="0" idx="0"/>
          </p:cNvCxnSpPr>
          <p:nvPr/>
        </p:nvCxnSpPr>
        <p:spPr>
          <a:xfrm rot="16200000" flipH="1">
            <a:off x="7051676" y="4664075"/>
            <a:ext cx="461962" cy="793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32 Conector recto"/>
          <p:cNvCxnSpPr>
            <a:stCxn id="0" idx="4"/>
            <a:endCxn id="0" idx="3"/>
          </p:cNvCxnSpPr>
          <p:nvPr/>
        </p:nvCxnSpPr>
        <p:spPr>
          <a:xfrm rot="5400000">
            <a:off x="7949406" y="4774407"/>
            <a:ext cx="496887" cy="3937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par>
                          <p:cTn id="29" fill="hold">
                            <p:stCondLst>
                              <p:cond delay="2500"/>
                            </p:stCondLst>
                            <p:childTnLst>
                              <p:par>
                                <p:cTn id="30" presetID="10" presetClass="entr" presetSubtype="0" fill="hold" nodeType="after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par>
                          <p:cTn id="43" fill="hold">
                            <p:stCondLst>
                              <p:cond delay="500"/>
                            </p:stCondLst>
                            <p:childTnLst>
                              <p:par>
                                <p:cTn id="44" presetID="10" presetClass="entr" presetSubtype="0" fill="hold" nodeType="after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500"/>
                                        <p:tgtEl>
                                          <p:spTgt spid="31"/>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500"/>
                                        <p:tgtEl>
                                          <p:spTgt spid="29"/>
                                        </p:tgtEl>
                                      </p:cBhvr>
                                    </p:animEffect>
                                  </p:childTnLst>
                                </p:cTn>
                              </p:par>
                            </p:childTnLst>
                          </p:cTn>
                        </p:par>
                        <p:par>
                          <p:cTn id="51" fill="hold">
                            <p:stCondLst>
                              <p:cond delay="1500"/>
                            </p:stCondLst>
                            <p:childTnLst>
                              <p:par>
                                <p:cTn id="52" presetID="10" presetClass="entr" presetSubtype="0" fill="hold" nodeType="after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500"/>
                                        <p:tgtEl>
                                          <p:spTgt spid="32"/>
                                        </p:tgtEl>
                                      </p:cBhvr>
                                    </p:animEffect>
                                  </p:childTnLst>
                                </p:cTn>
                              </p:par>
                            </p:childTnLst>
                          </p:cTn>
                        </p:par>
                        <p:par>
                          <p:cTn id="55" fill="hold">
                            <p:stCondLst>
                              <p:cond delay="2000"/>
                            </p:stCondLst>
                            <p:childTnLst>
                              <p:par>
                                <p:cTn id="56" presetID="10" presetClass="entr" presetSubtype="0" fill="hold" nodeType="after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500"/>
                                        <p:tgtEl>
                                          <p:spTgt spid="30"/>
                                        </p:tgtEl>
                                      </p:cBhvr>
                                    </p:animEffect>
                                  </p:childTnLst>
                                </p:cTn>
                              </p:par>
                            </p:childTnLst>
                          </p:cTn>
                        </p:par>
                        <p:par>
                          <p:cTn id="59" fill="hold">
                            <p:stCondLst>
                              <p:cond delay="2500"/>
                            </p:stCondLst>
                            <p:childTnLst>
                              <p:par>
                                <p:cTn id="60" presetID="10" presetClass="entr" presetSubtype="0" fill="hold" nodeType="after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500"/>
                                        <p:tgtEl>
                                          <p:spTgt spid="3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fade">
                                      <p:cBhvr>
                                        <p:cTn id="67" dur="500"/>
                                        <p:tgtEl>
                                          <p:spTgt spid="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2" fill="hold" nodeType="click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wipe(right)">
                                      <p:cBhvr>
                                        <p:cTn id="72" dur="500"/>
                                        <p:tgtEl>
                                          <p:spTgt spid="10"/>
                                        </p:tgtEl>
                                      </p:cBhvr>
                                    </p:animEffect>
                                  </p:childTnLst>
                                </p:cTn>
                              </p:par>
                              <p:par>
                                <p:cTn id="73" presetID="22" presetClass="entr" presetSubtype="8" fill="hold" nodeType="with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wipe(left)">
                                      <p:cBhvr>
                                        <p:cTn id="7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63491" name="4 CuadroTexto"/>
          <p:cNvSpPr txBox="1">
            <a:spLocks noChangeArrowheads="1"/>
          </p:cNvSpPr>
          <p:nvPr/>
        </p:nvSpPr>
        <p:spPr bwMode="auto">
          <a:xfrm>
            <a:off x="214313" y="752475"/>
            <a:ext cx="3049587" cy="461963"/>
          </a:xfrm>
          <a:prstGeom prst="rect">
            <a:avLst/>
          </a:prstGeom>
          <a:noFill/>
          <a:ln w="9525">
            <a:noFill/>
            <a:miter lim="800000"/>
            <a:headEnd/>
            <a:tailEnd/>
          </a:ln>
        </p:spPr>
        <p:txBody>
          <a:bodyPr wrap="none">
            <a:spAutoFit/>
          </a:bodyPr>
          <a:lstStyle/>
          <a:p>
            <a:pPr marL="342900" indent="-342900"/>
            <a:r>
              <a:rPr lang="es-ES" sz="2400" b="1"/>
              <a:t>Tipos de relaciones</a:t>
            </a:r>
            <a:endParaRPr lang="es-MX" sz="2400" b="1"/>
          </a:p>
        </p:txBody>
      </p:sp>
      <p:sp>
        <p:nvSpPr>
          <p:cNvPr id="63492" name="4 CuadroTexto"/>
          <p:cNvSpPr txBox="1">
            <a:spLocks noChangeArrowheads="1"/>
          </p:cNvSpPr>
          <p:nvPr/>
        </p:nvSpPr>
        <p:spPr bwMode="auto">
          <a:xfrm>
            <a:off x="2428875" y="1752600"/>
            <a:ext cx="4298950" cy="461963"/>
          </a:xfrm>
          <a:prstGeom prst="rect">
            <a:avLst/>
          </a:prstGeom>
          <a:noFill/>
          <a:ln w="9525">
            <a:noFill/>
            <a:miter lim="800000"/>
            <a:headEnd/>
            <a:tailEnd/>
          </a:ln>
        </p:spPr>
        <p:txBody>
          <a:bodyPr wrap="none">
            <a:spAutoFit/>
          </a:bodyPr>
          <a:lstStyle/>
          <a:p>
            <a:pPr marL="342900" indent="-342900"/>
            <a:r>
              <a:rPr lang="es-ES" sz="2400" b="1"/>
              <a:t>Ejemplos: UNO  A UNO (1:1)</a:t>
            </a:r>
            <a:endParaRPr lang="es-MX" sz="2400" b="1"/>
          </a:p>
        </p:txBody>
      </p:sp>
      <p:sp>
        <p:nvSpPr>
          <p:cNvPr id="63493" name="4 Rectángulo"/>
          <p:cNvSpPr>
            <a:spLocks noChangeArrowheads="1"/>
          </p:cNvSpPr>
          <p:nvPr/>
        </p:nvSpPr>
        <p:spPr bwMode="auto">
          <a:xfrm>
            <a:off x="1500188" y="2857500"/>
            <a:ext cx="6215062" cy="1938338"/>
          </a:xfrm>
          <a:prstGeom prst="rect">
            <a:avLst/>
          </a:prstGeom>
          <a:noFill/>
          <a:ln w="9525">
            <a:noFill/>
            <a:miter lim="800000"/>
            <a:headEnd/>
            <a:tailEnd/>
          </a:ln>
        </p:spPr>
        <p:txBody>
          <a:bodyPr>
            <a:spAutoFit/>
          </a:bodyPr>
          <a:lstStyle/>
          <a:p>
            <a:pPr indent="358775" algn="just">
              <a:buFont typeface="Arial" charset="0"/>
              <a:buChar char="•"/>
            </a:pPr>
            <a:r>
              <a:rPr lang="es-ES" sz="2400"/>
              <a:t>CONTRIBUYENTE – RFC</a:t>
            </a:r>
          </a:p>
          <a:p>
            <a:pPr indent="358775" algn="just">
              <a:buFont typeface="Arial" charset="0"/>
              <a:buChar char="•"/>
            </a:pPr>
            <a:r>
              <a:rPr lang="es-ES" sz="2400"/>
              <a:t>AUTOMOVIL – EMPLEADO</a:t>
            </a:r>
          </a:p>
          <a:p>
            <a:pPr indent="358775" algn="just">
              <a:buFont typeface="Arial" charset="0"/>
              <a:buChar char="•"/>
            </a:pPr>
            <a:r>
              <a:rPr lang="es-ES" sz="2400"/>
              <a:t>ALUMNO – No. EXPEDIENTE</a:t>
            </a:r>
          </a:p>
          <a:p>
            <a:pPr indent="358775" algn="just">
              <a:buFont typeface="Arial" charset="0"/>
              <a:buChar char="•"/>
            </a:pPr>
            <a:r>
              <a:rPr lang="es-ES" sz="2400"/>
              <a:t>PERSONA – CURP</a:t>
            </a:r>
          </a:p>
          <a:p>
            <a:pPr indent="358775" algn="just">
              <a:buFont typeface="Arial" charset="0"/>
              <a:buChar char="•"/>
            </a:pPr>
            <a:r>
              <a:rPr lang="es-ES" sz="2400"/>
              <a:t>PERSONA – HUELLA DIGITAL</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64515" name="4 CuadroTexto"/>
          <p:cNvSpPr txBox="1">
            <a:spLocks noChangeArrowheads="1"/>
          </p:cNvSpPr>
          <p:nvPr/>
        </p:nvSpPr>
        <p:spPr bwMode="auto">
          <a:xfrm>
            <a:off x="214313" y="752475"/>
            <a:ext cx="3049587" cy="461963"/>
          </a:xfrm>
          <a:prstGeom prst="rect">
            <a:avLst/>
          </a:prstGeom>
          <a:noFill/>
          <a:ln w="9525">
            <a:noFill/>
            <a:miter lim="800000"/>
            <a:headEnd/>
            <a:tailEnd/>
          </a:ln>
        </p:spPr>
        <p:txBody>
          <a:bodyPr wrap="none">
            <a:spAutoFit/>
          </a:bodyPr>
          <a:lstStyle/>
          <a:p>
            <a:pPr marL="342900" indent="-342900"/>
            <a:r>
              <a:rPr lang="es-ES" sz="2400" b="1"/>
              <a:t>Tipos de relaciones</a:t>
            </a:r>
            <a:endParaRPr lang="es-MX" sz="2400" b="1"/>
          </a:p>
        </p:txBody>
      </p:sp>
      <p:sp>
        <p:nvSpPr>
          <p:cNvPr id="64516" name="4 CuadroTexto"/>
          <p:cNvSpPr txBox="1">
            <a:spLocks noChangeArrowheads="1"/>
          </p:cNvSpPr>
          <p:nvPr/>
        </p:nvSpPr>
        <p:spPr bwMode="auto">
          <a:xfrm>
            <a:off x="2928938" y="1357313"/>
            <a:ext cx="3479800" cy="461962"/>
          </a:xfrm>
          <a:prstGeom prst="rect">
            <a:avLst/>
          </a:prstGeom>
          <a:noFill/>
          <a:ln w="9525">
            <a:noFill/>
            <a:miter lim="800000"/>
            <a:headEnd/>
            <a:tailEnd/>
          </a:ln>
        </p:spPr>
        <p:txBody>
          <a:bodyPr wrap="none">
            <a:spAutoFit/>
          </a:bodyPr>
          <a:lstStyle/>
          <a:p>
            <a:pPr marL="342900" indent="-342900"/>
            <a:r>
              <a:rPr lang="es-ES" sz="2400" b="1"/>
              <a:t>UNO  A MUCHOS (1:N)</a:t>
            </a:r>
            <a:endParaRPr lang="es-MX" sz="2400" b="1"/>
          </a:p>
        </p:txBody>
      </p:sp>
      <p:sp>
        <p:nvSpPr>
          <p:cNvPr id="64517" name="4 Rectángulo"/>
          <p:cNvSpPr>
            <a:spLocks noChangeArrowheads="1"/>
          </p:cNvSpPr>
          <p:nvPr/>
        </p:nvSpPr>
        <p:spPr bwMode="auto">
          <a:xfrm>
            <a:off x="428625" y="2073275"/>
            <a:ext cx="8501063" cy="1570038"/>
          </a:xfrm>
          <a:prstGeom prst="rect">
            <a:avLst/>
          </a:prstGeom>
          <a:noFill/>
          <a:ln w="9525">
            <a:noFill/>
            <a:miter lim="800000"/>
            <a:headEnd/>
            <a:tailEnd/>
          </a:ln>
        </p:spPr>
        <p:txBody>
          <a:bodyPr>
            <a:spAutoFit/>
          </a:bodyPr>
          <a:lstStyle/>
          <a:p>
            <a:pPr algn="just"/>
            <a:r>
              <a:rPr lang="es-ES" sz="2400"/>
              <a:t>Significa que una entidad del tipo </a:t>
            </a:r>
            <a:r>
              <a:rPr lang="es-ES" sz="2400" b="1">
                <a:solidFill>
                  <a:srgbClr val="00B0F0"/>
                </a:solidFill>
              </a:rPr>
              <a:t>A</a:t>
            </a:r>
            <a:r>
              <a:rPr lang="es-ES" sz="2400"/>
              <a:t> puede relacionarse con cualquier cantidad de entidades del tipo </a:t>
            </a:r>
            <a:r>
              <a:rPr lang="es-ES" sz="2400" b="1">
                <a:solidFill>
                  <a:srgbClr val="00B0F0"/>
                </a:solidFill>
              </a:rPr>
              <a:t>B</a:t>
            </a:r>
            <a:r>
              <a:rPr lang="es-ES" sz="2400"/>
              <a:t>, y una entidad del tipo </a:t>
            </a:r>
            <a:r>
              <a:rPr lang="es-ES" sz="2400" b="1">
                <a:solidFill>
                  <a:srgbClr val="FF0000"/>
                </a:solidFill>
              </a:rPr>
              <a:t>B</a:t>
            </a:r>
            <a:r>
              <a:rPr lang="es-ES" sz="2400"/>
              <a:t> solo puede estar relacionada con una entidad del tipo </a:t>
            </a:r>
            <a:r>
              <a:rPr lang="es-ES" sz="2400" b="1">
                <a:solidFill>
                  <a:srgbClr val="FF0000"/>
                </a:solidFill>
              </a:rPr>
              <a:t>A</a:t>
            </a:r>
            <a:r>
              <a:rPr lang="es-ES" sz="2400"/>
              <a:t>. </a:t>
            </a:r>
          </a:p>
        </p:txBody>
      </p:sp>
      <p:sp>
        <p:nvSpPr>
          <p:cNvPr id="6" name="5 Rectángulo"/>
          <p:cNvSpPr/>
          <p:nvPr/>
        </p:nvSpPr>
        <p:spPr>
          <a:xfrm>
            <a:off x="6572264" y="4898704"/>
            <a:ext cx="1428760" cy="64294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t>B</a:t>
            </a:r>
          </a:p>
        </p:txBody>
      </p:sp>
      <p:sp>
        <p:nvSpPr>
          <p:cNvPr id="7" name="6 Rectángulo"/>
          <p:cNvSpPr/>
          <p:nvPr/>
        </p:nvSpPr>
        <p:spPr>
          <a:xfrm>
            <a:off x="1142976" y="4885056"/>
            <a:ext cx="1428760" cy="64294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t>A</a:t>
            </a:r>
          </a:p>
        </p:txBody>
      </p:sp>
      <p:sp>
        <p:nvSpPr>
          <p:cNvPr id="8" name="7 Decisión"/>
          <p:cNvSpPr/>
          <p:nvPr/>
        </p:nvSpPr>
        <p:spPr>
          <a:xfrm>
            <a:off x="3714744" y="4857760"/>
            <a:ext cx="1714512" cy="714380"/>
          </a:xfrm>
          <a:prstGeom prst="flowChartDecision">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t>R</a:t>
            </a:r>
          </a:p>
        </p:txBody>
      </p:sp>
      <p:cxnSp>
        <p:nvCxnSpPr>
          <p:cNvPr id="9" name="8 Conector recto"/>
          <p:cNvCxnSpPr>
            <a:stCxn id="0" idx="1"/>
            <a:endCxn id="0" idx="3"/>
          </p:cNvCxnSpPr>
          <p:nvPr/>
        </p:nvCxnSpPr>
        <p:spPr>
          <a:xfrm rot="10800000">
            <a:off x="5429250" y="5214938"/>
            <a:ext cx="1143000" cy="4762"/>
          </a:xfrm>
          <a:prstGeom prst="line">
            <a:avLst/>
          </a:prstGeom>
          <a:ln w="762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9 Conector recto"/>
          <p:cNvCxnSpPr>
            <a:stCxn id="0" idx="1"/>
            <a:endCxn id="0" idx="3"/>
          </p:cNvCxnSpPr>
          <p:nvPr/>
        </p:nvCxnSpPr>
        <p:spPr>
          <a:xfrm rot="10800000">
            <a:off x="2571750" y="5207000"/>
            <a:ext cx="1143000" cy="7938"/>
          </a:xfrm>
          <a:prstGeom prst="line">
            <a:avLst/>
          </a:prstGeom>
          <a:ln w="762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 name="10 Elipse"/>
          <p:cNvSpPr/>
          <p:nvPr/>
        </p:nvSpPr>
        <p:spPr>
          <a:xfrm>
            <a:off x="285720" y="4429132"/>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A1-A</a:t>
            </a:r>
          </a:p>
        </p:txBody>
      </p:sp>
      <p:sp>
        <p:nvSpPr>
          <p:cNvPr id="12" name="11 Elipse"/>
          <p:cNvSpPr/>
          <p:nvPr/>
        </p:nvSpPr>
        <p:spPr>
          <a:xfrm>
            <a:off x="1384586" y="4143380"/>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A2-A</a:t>
            </a:r>
          </a:p>
        </p:txBody>
      </p:sp>
      <p:sp>
        <p:nvSpPr>
          <p:cNvPr id="13" name="12 Elipse"/>
          <p:cNvSpPr/>
          <p:nvPr/>
        </p:nvSpPr>
        <p:spPr>
          <a:xfrm>
            <a:off x="2500298" y="4429132"/>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A3-A</a:t>
            </a:r>
          </a:p>
        </p:txBody>
      </p:sp>
      <p:cxnSp>
        <p:nvCxnSpPr>
          <p:cNvPr id="14" name="13 Conector recto"/>
          <p:cNvCxnSpPr>
            <a:stCxn id="0" idx="4"/>
            <a:endCxn id="0" idx="1"/>
          </p:cNvCxnSpPr>
          <p:nvPr/>
        </p:nvCxnSpPr>
        <p:spPr>
          <a:xfrm rot="16200000" flipH="1">
            <a:off x="700087" y="4764088"/>
            <a:ext cx="492125" cy="3937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14 Conector recto"/>
          <p:cNvCxnSpPr>
            <a:stCxn id="0" idx="4"/>
            <a:endCxn id="0" idx="0"/>
          </p:cNvCxnSpPr>
          <p:nvPr/>
        </p:nvCxnSpPr>
        <p:spPr>
          <a:xfrm rot="16200000" flipH="1">
            <a:off x="1625600" y="4652963"/>
            <a:ext cx="455613" cy="793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15 Conector recto"/>
          <p:cNvCxnSpPr>
            <a:stCxn id="0" idx="4"/>
            <a:endCxn id="0" idx="3"/>
          </p:cNvCxnSpPr>
          <p:nvPr/>
        </p:nvCxnSpPr>
        <p:spPr>
          <a:xfrm rot="5400000">
            <a:off x="2521744" y="4764881"/>
            <a:ext cx="492125" cy="392113"/>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16 Elipse"/>
          <p:cNvSpPr/>
          <p:nvPr/>
        </p:nvSpPr>
        <p:spPr>
          <a:xfrm>
            <a:off x="5715008" y="4437555"/>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A1-B</a:t>
            </a:r>
          </a:p>
        </p:txBody>
      </p:sp>
      <p:sp>
        <p:nvSpPr>
          <p:cNvPr id="18" name="17 Elipse"/>
          <p:cNvSpPr/>
          <p:nvPr/>
        </p:nvSpPr>
        <p:spPr>
          <a:xfrm>
            <a:off x="6813874" y="4151803"/>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A2-B</a:t>
            </a:r>
          </a:p>
        </p:txBody>
      </p:sp>
      <p:sp>
        <p:nvSpPr>
          <p:cNvPr id="19" name="18 Elipse"/>
          <p:cNvSpPr/>
          <p:nvPr/>
        </p:nvSpPr>
        <p:spPr>
          <a:xfrm>
            <a:off x="7929586" y="4437555"/>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A3-B</a:t>
            </a:r>
          </a:p>
        </p:txBody>
      </p:sp>
      <p:cxnSp>
        <p:nvCxnSpPr>
          <p:cNvPr id="20" name="19 Conector recto"/>
          <p:cNvCxnSpPr>
            <a:stCxn id="0" idx="4"/>
            <a:endCxn id="0" idx="1"/>
          </p:cNvCxnSpPr>
          <p:nvPr/>
        </p:nvCxnSpPr>
        <p:spPr>
          <a:xfrm rot="16200000" flipH="1">
            <a:off x="6127750" y="4775201"/>
            <a:ext cx="496887" cy="3921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20 Conector recto"/>
          <p:cNvCxnSpPr>
            <a:stCxn id="0" idx="4"/>
            <a:endCxn id="0" idx="0"/>
          </p:cNvCxnSpPr>
          <p:nvPr/>
        </p:nvCxnSpPr>
        <p:spPr>
          <a:xfrm rot="16200000" flipH="1">
            <a:off x="7051676" y="4664075"/>
            <a:ext cx="461962" cy="793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21 Conector recto"/>
          <p:cNvCxnSpPr>
            <a:stCxn id="0" idx="4"/>
            <a:endCxn id="0" idx="3"/>
          </p:cNvCxnSpPr>
          <p:nvPr/>
        </p:nvCxnSpPr>
        <p:spPr>
          <a:xfrm rot="5400000">
            <a:off x="7949406" y="4774407"/>
            <a:ext cx="496887" cy="3937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par>
                          <p:cTn id="29" fill="hold">
                            <p:stCondLst>
                              <p:cond delay="2500"/>
                            </p:stCondLst>
                            <p:childTnLst>
                              <p:par>
                                <p:cTn id="30" presetID="10" presetClass="entr" presetSubtype="0" fill="hold"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par>
                          <p:cTn id="43" fill="hold">
                            <p:stCondLst>
                              <p:cond delay="500"/>
                            </p:stCondLst>
                            <p:childTnLst>
                              <p:par>
                                <p:cTn id="44" presetID="10" presetClass="entr" presetSubtype="0" fill="hold" nodeType="after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childTnLst>
                          </p:cTn>
                        </p:par>
                        <p:par>
                          <p:cTn id="51" fill="hold">
                            <p:stCondLst>
                              <p:cond delay="1500"/>
                            </p:stCondLst>
                            <p:childTnLst>
                              <p:par>
                                <p:cTn id="52" presetID="10"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childTnLst>
                          </p:cTn>
                        </p:par>
                        <p:par>
                          <p:cTn id="55" fill="hold">
                            <p:stCondLst>
                              <p:cond delay="2000"/>
                            </p:stCondLst>
                            <p:childTnLst>
                              <p:par>
                                <p:cTn id="56" presetID="10" presetClass="entr" presetSubtype="0" fill="hold" nodeType="after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childTnLst>
                          </p:cTn>
                        </p:par>
                        <p:par>
                          <p:cTn id="59" fill="hold">
                            <p:stCondLst>
                              <p:cond delay="2500"/>
                            </p:stCondLst>
                            <p:childTnLst>
                              <p:par>
                                <p:cTn id="60" presetID="10" presetClass="entr" presetSubtype="0" fill="hold" nodeType="after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fade">
                                      <p:cBhvr>
                                        <p:cTn id="67" dur="500"/>
                                        <p:tgtEl>
                                          <p:spTgt spid="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2" fill="hold" nodeType="click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wipe(right)">
                                      <p:cBhvr>
                                        <p:cTn id="72" dur="500"/>
                                        <p:tgtEl>
                                          <p:spTgt spid="10"/>
                                        </p:tgtEl>
                                      </p:cBhvr>
                                    </p:animEffect>
                                  </p:childTnLst>
                                </p:cTn>
                              </p:par>
                              <p:par>
                                <p:cTn id="73" presetID="22" presetClass="entr" presetSubtype="8" fill="hold" nodeType="with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wipe(left)">
                                      <p:cBhvr>
                                        <p:cTn id="7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65539" name="4 CuadroTexto"/>
          <p:cNvSpPr txBox="1">
            <a:spLocks noChangeArrowheads="1"/>
          </p:cNvSpPr>
          <p:nvPr/>
        </p:nvSpPr>
        <p:spPr bwMode="auto">
          <a:xfrm>
            <a:off x="214313" y="752475"/>
            <a:ext cx="3049587" cy="461963"/>
          </a:xfrm>
          <a:prstGeom prst="rect">
            <a:avLst/>
          </a:prstGeom>
          <a:noFill/>
          <a:ln w="9525">
            <a:noFill/>
            <a:miter lim="800000"/>
            <a:headEnd/>
            <a:tailEnd/>
          </a:ln>
        </p:spPr>
        <p:txBody>
          <a:bodyPr wrap="none">
            <a:spAutoFit/>
          </a:bodyPr>
          <a:lstStyle/>
          <a:p>
            <a:pPr marL="342900" indent="-342900"/>
            <a:r>
              <a:rPr lang="es-ES" sz="2400" b="1"/>
              <a:t>Tipos de relaciones</a:t>
            </a:r>
            <a:endParaRPr lang="es-MX" sz="2400" b="1"/>
          </a:p>
        </p:txBody>
      </p:sp>
      <p:sp>
        <p:nvSpPr>
          <p:cNvPr id="65540" name="4 CuadroTexto"/>
          <p:cNvSpPr txBox="1">
            <a:spLocks noChangeArrowheads="1"/>
          </p:cNvSpPr>
          <p:nvPr/>
        </p:nvSpPr>
        <p:spPr bwMode="auto">
          <a:xfrm>
            <a:off x="2071688" y="1752600"/>
            <a:ext cx="5035550" cy="461963"/>
          </a:xfrm>
          <a:prstGeom prst="rect">
            <a:avLst/>
          </a:prstGeom>
          <a:noFill/>
          <a:ln w="9525">
            <a:noFill/>
            <a:miter lim="800000"/>
            <a:headEnd/>
            <a:tailEnd/>
          </a:ln>
        </p:spPr>
        <p:txBody>
          <a:bodyPr wrap="none">
            <a:spAutoFit/>
          </a:bodyPr>
          <a:lstStyle/>
          <a:p>
            <a:pPr marL="342900" indent="-342900"/>
            <a:r>
              <a:rPr lang="es-ES" sz="2400" b="1"/>
              <a:t>Ejemplos: UNO  A MUCHOS (1:N)</a:t>
            </a:r>
            <a:endParaRPr lang="es-MX" sz="2400" b="1"/>
          </a:p>
        </p:txBody>
      </p:sp>
      <p:sp>
        <p:nvSpPr>
          <p:cNvPr id="65541" name="4 Rectángulo"/>
          <p:cNvSpPr>
            <a:spLocks noChangeArrowheads="1"/>
          </p:cNvSpPr>
          <p:nvPr/>
        </p:nvSpPr>
        <p:spPr bwMode="auto">
          <a:xfrm>
            <a:off x="1500188" y="2930525"/>
            <a:ext cx="6215062" cy="1939925"/>
          </a:xfrm>
          <a:prstGeom prst="rect">
            <a:avLst/>
          </a:prstGeom>
          <a:noFill/>
          <a:ln w="9525">
            <a:noFill/>
            <a:miter lim="800000"/>
            <a:headEnd/>
            <a:tailEnd/>
          </a:ln>
        </p:spPr>
        <p:txBody>
          <a:bodyPr>
            <a:spAutoFit/>
          </a:bodyPr>
          <a:lstStyle/>
          <a:p>
            <a:pPr indent="358775" algn="just">
              <a:buFont typeface="Arial" charset="0"/>
              <a:buChar char="•"/>
            </a:pPr>
            <a:r>
              <a:rPr lang="es-ES" sz="2400"/>
              <a:t>CLIENTE – CUENTAS EN UN BANCO</a:t>
            </a:r>
          </a:p>
          <a:p>
            <a:pPr indent="358775" algn="just">
              <a:buFont typeface="Arial" charset="0"/>
              <a:buChar char="•"/>
            </a:pPr>
            <a:r>
              <a:rPr lang="es-ES" sz="2400"/>
              <a:t>PADRE – HIJOS</a:t>
            </a:r>
          </a:p>
          <a:p>
            <a:pPr indent="358775" algn="just">
              <a:buFont typeface="Arial" charset="0"/>
              <a:buChar char="•"/>
            </a:pPr>
            <a:r>
              <a:rPr lang="es-ES" sz="2400"/>
              <a:t>CAMIÓN – PASAJEROS</a:t>
            </a:r>
          </a:p>
          <a:p>
            <a:pPr indent="358775" algn="just">
              <a:buFont typeface="Arial" charset="0"/>
              <a:buChar char="•"/>
            </a:pPr>
            <a:r>
              <a:rPr lang="es-ES" sz="2400"/>
              <a:t>ZOOLÓGICO – ANIMALES</a:t>
            </a:r>
          </a:p>
          <a:p>
            <a:pPr indent="358775" algn="just">
              <a:buFont typeface="Arial" charset="0"/>
              <a:buChar char="•"/>
            </a:pPr>
            <a:r>
              <a:rPr lang="es-ES" sz="2400"/>
              <a:t>ÁRBOL – HOJAS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66563" name="4 CuadroTexto"/>
          <p:cNvSpPr txBox="1">
            <a:spLocks noChangeArrowheads="1"/>
          </p:cNvSpPr>
          <p:nvPr/>
        </p:nvSpPr>
        <p:spPr bwMode="auto">
          <a:xfrm>
            <a:off x="214313" y="752475"/>
            <a:ext cx="3049587" cy="461963"/>
          </a:xfrm>
          <a:prstGeom prst="rect">
            <a:avLst/>
          </a:prstGeom>
          <a:noFill/>
          <a:ln w="9525">
            <a:noFill/>
            <a:miter lim="800000"/>
            <a:headEnd/>
            <a:tailEnd/>
          </a:ln>
        </p:spPr>
        <p:txBody>
          <a:bodyPr wrap="none">
            <a:spAutoFit/>
          </a:bodyPr>
          <a:lstStyle/>
          <a:p>
            <a:pPr marL="342900" indent="-342900"/>
            <a:r>
              <a:rPr lang="es-ES" sz="2400" b="1"/>
              <a:t>Tipos de relaciones</a:t>
            </a:r>
            <a:endParaRPr lang="es-MX" sz="2400" b="1"/>
          </a:p>
        </p:txBody>
      </p:sp>
      <p:sp>
        <p:nvSpPr>
          <p:cNvPr id="66564" name="4 CuadroTexto"/>
          <p:cNvSpPr txBox="1">
            <a:spLocks noChangeArrowheads="1"/>
          </p:cNvSpPr>
          <p:nvPr/>
        </p:nvSpPr>
        <p:spPr bwMode="auto">
          <a:xfrm>
            <a:off x="2786063" y="1357313"/>
            <a:ext cx="3395662" cy="461962"/>
          </a:xfrm>
          <a:prstGeom prst="rect">
            <a:avLst/>
          </a:prstGeom>
          <a:noFill/>
          <a:ln w="9525">
            <a:noFill/>
            <a:miter lim="800000"/>
            <a:headEnd/>
            <a:tailEnd/>
          </a:ln>
        </p:spPr>
        <p:txBody>
          <a:bodyPr wrap="none">
            <a:spAutoFit/>
          </a:bodyPr>
          <a:lstStyle/>
          <a:p>
            <a:pPr marL="342900" indent="-342900"/>
            <a:r>
              <a:rPr lang="es-ES" sz="2400" b="1"/>
              <a:t>MUCHOS A UNO (N:1)</a:t>
            </a:r>
            <a:endParaRPr lang="es-MX" sz="2400" b="1"/>
          </a:p>
        </p:txBody>
      </p:sp>
      <p:sp>
        <p:nvSpPr>
          <p:cNvPr id="66565" name="6 Rectángulo"/>
          <p:cNvSpPr>
            <a:spLocks noChangeArrowheads="1"/>
          </p:cNvSpPr>
          <p:nvPr/>
        </p:nvSpPr>
        <p:spPr bwMode="auto">
          <a:xfrm>
            <a:off x="428625" y="2073275"/>
            <a:ext cx="8501063" cy="1570038"/>
          </a:xfrm>
          <a:prstGeom prst="rect">
            <a:avLst/>
          </a:prstGeom>
          <a:noFill/>
          <a:ln w="9525">
            <a:noFill/>
            <a:miter lim="800000"/>
            <a:headEnd/>
            <a:tailEnd/>
          </a:ln>
        </p:spPr>
        <p:txBody>
          <a:bodyPr>
            <a:spAutoFit/>
          </a:bodyPr>
          <a:lstStyle/>
          <a:p>
            <a:pPr algn="just"/>
            <a:r>
              <a:rPr lang="es-ES" sz="2400"/>
              <a:t>Indica que una entidad del tipo </a:t>
            </a:r>
            <a:r>
              <a:rPr lang="es-ES" sz="2400" b="1">
                <a:solidFill>
                  <a:srgbClr val="00B0F0"/>
                </a:solidFill>
              </a:rPr>
              <a:t>B</a:t>
            </a:r>
            <a:r>
              <a:rPr lang="es-ES" sz="2400"/>
              <a:t> puede relacionarse con cualquier cantidad de entidades del tipo </a:t>
            </a:r>
            <a:r>
              <a:rPr lang="es-ES" sz="2400" b="1">
                <a:solidFill>
                  <a:srgbClr val="00B0F0"/>
                </a:solidFill>
              </a:rPr>
              <a:t>A</a:t>
            </a:r>
            <a:r>
              <a:rPr lang="es-ES" sz="2400"/>
              <a:t>, mientras que cada entidad del tipo </a:t>
            </a:r>
            <a:r>
              <a:rPr lang="es-ES" sz="2400" b="1">
                <a:solidFill>
                  <a:srgbClr val="FF0000"/>
                </a:solidFill>
              </a:rPr>
              <a:t>A</a:t>
            </a:r>
            <a:r>
              <a:rPr lang="es-ES" sz="2400"/>
              <a:t> solo puede relacionarse con una entidad del tipo </a:t>
            </a:r>
            <a:r>
              <a:rPr lang="es-ES" sz="2400" b="1">
                <a:solidFill>
                  <a:srgbClr val="FF0000"/>
                </a:solidFill>
              </a:rPr>
              <a:t>B</a:t>
            </a:r>
            <a:r>
              <a:rPr lang="es-ES" sz="2400"/>
              <a:t>.</a:t>
            </a:r>
          </a:p>
        </p:txBody>
      </p:sp>
      <p:sp>
        <p:nvSpPr>
          <p:cNvPr id="8" name="7 Rectángulo"/>
          <p:cNvSpPr/>
          <p:nvPr/>
        </p:nvSpPr>
        <p:spPr>
          <a:xfrm>
            <a:off x="6572264" y="4898704"/>
            <a:ext cx="1428760" cy="64294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t>B</a:t>
            </a:r>
          </a:p>
        </p:txBody>
      </p:sp>
      <p:sp>
        <p:nvSpPr>
          <p:cNvPr id="9" name="8 Rectángulo"/>
          <p:cNvSpPr/>
          <p:nvPr/>
        </p:nvSpPr>
        <p:spPr>
          <a:xfrm>
            <a:off x="1142976" y="4885056"/>
            <a:ext cx="1428760" cy="64294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t>A</a:t>
            </a:r>
          </a:p>
        </p:txBody>
      </p:sp>
      <p:sp>
        <p:nvSpPr>
          <p:cNvPr id="10" name="9 Decisión"/>
          <p:cNvSpPr/>
          <p:nvPr/>
        </p:nvSpPr>
        <p:spPr>
          <a:xfrm>
            <a:off x="3714744" y="4857760"/>
            <a:ext cx="1714512" cy="714380"/>
          </a:xfrm>
          <a:prstGeom prst="flowChartDecision">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t>R</a:t>
            </a:r>
          </a:p>
        </p:txBody>
      </p:sp>
      <p:cxnSp>
        <p:nvCxnSpPr>
          <p:cNvPr id="11" name="10 Conector recto"/>
          <p:cNvCxnSpPr>
            <a:stCxn id="0" idx="1"/>
            <a:endCxn id="0" idx="3"/>
          </p:cNvCxnSpPr>
          <p:nvPr/>
        </p:nvCxnSpPr>
        <p:spPr>
          <a:xfrm rot="10800000">
            <a:off x="5429250" y="5214938"/>
            <a:ext cx="1143000" cy="4762"/>
          </a:xfrm>
          <a:prstGeom prst="line">
            <a:avLst/>
          </a:prstGeom>
          <a:ln w="762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11 Conector recto"/>
          <p:cNvCxnSpPr>
            <a:stCxn id="0" idx="1"/>
            <a:endCxn id="0" idx="3"/>
          </p:cNvCxnSpPr>
          <p:nvPr/>
        </p:nvCxnSpPr>
        <p:spPr>
          <a:xfrm rot="10800000">
            <a:off x="2571750" y="5207000"/>
            <a:ext cx="1143000" cy="7938"/>
          </a:xfrm>
          <a:prstGeom prst="line">
            <a:avLst/>
          </a:prstGeom>
          <a:ln w="762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12 Elipse"/>
          <p:cNvSpPr/>
          <p:nvPr/>
        </p:nvSpPr>
        <p:spPr>
          <a:xfrm>
            <a:off x="285720" y="4429132"/>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A1-A</a:t>
            </a:r>
          </a:p>
        </p:txBody>
      </p:sp>
      <p:sp>
        <p:nvSpPr>
          <p:cNvPr id="14" name="13 Elipse"/>
          <p:cNvSpPr/>
          <p:nvPr/>
        </p:nvSpPr>
        <p:spPr>
          <a:xfrm>
            <a:off x="1384586" y="4143380"/>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A2-A</a:t>
            </a:r>
          </a:p>
        </p:txBody>
      </p:sp>
      <p:sp>
        <p:nvSpPr>
          <p:cNvPr id="15" name="14 Elipse"/>
          <p:cNvSpPr/>
          <p:nvPr/>
        </p:nvSpPr>
        <p:spPr>
          <a:xfrm>
            <a:off x="2500298" y="4429132"/>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A3-A</a:t>
            </a:r>
          </a:p>
        </p:txBody>
      </p:sp>
      <p:cxnSp>
        <p:nvCxnSpPr>
          <p:cNvPr id="16" name="15 Conector recto"/>
          <p:cNvCxnSpPr>
            <a:stCxn id="0" idx="4"/>
            <a:endCxn id="0" idx="1"/>
          </p:cNvCxnSpPr>
          <p:nvPr/>
        </p:nvCxnSpPr>
        <p:spPr>
          <a:xfrm rot="16200000" flipH="1">
            <a:off x="700087" y="4764088"/>
            <a:ext cx="492125" cy="3937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16 Conector recto"/>
          <p:cNvCxnSpPr>
            <a:stCxn id="0" idx="4"/>
            <a:endCxn id="0" idx="0"/>
          </p:cNvCxnSpPr>
          <p:nvPr/>
        </p:nvCxnSpPr>
        <p:spPr>
          <a:xfrm rot="16200000" flipH="1">
            <a:off x="1625600" y="4652963"/>
            <a:ext cx="455613" cy="793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17 Conector recto"/>
          <p:cNvCxnSpPr>
            <a:stCxn id="0" idx="4"/>
            <a:endCxn id="0" idx="3"/>
          </p:cNvCxnSpPr>
          <p:nvPr/>
        </p:nvCxnSpPr>
        <p:spPr>
          <a:xfrm rot="5400000">
            <a:off x="2521744" y="4764881"/>
            <a:ext cx="492125" cy="392113"/>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18 Elipse"/>
          <p:cNvSpPr/>
          <p:nvPr/>
        </p:nvSpPr>
        <p:spPr>
          <a:xfrm>
            <a:off x="5715008" y="4437555"/>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A1-B</a:t>
            </a:r>
          </a:p>
        </p:txBody>
      </p:sp>
      <p:sp>
        <p:nvSpPr>
          <p:cNvPr id="20" name="19 Elipse"/>
          <p:cNvSpPr/>
          <p:nvPr/>
        </p:nvSpPr>
        <p:spPr>
          <a:xfrm>
            <a:off x="6813874" y="4151803"/>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A2-B</a:t>
            </a:r>
          </a:p>
        </p:txBody>
      </p:sp>
      <p:sp>
        <p:nvSpPr>
          <p:cNvPr id="21" name="20 Elipse"/>
          <p:cNvSpPr/>
          <p:nvPr/>
        </p:nvSpPr>
        <p:spPr>
          <a:xfrm>
            <a:off x="7929586" y="4437555"/>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A3-B</a:t>
            </a:r>
          </a:p>
        </p:txBody>
      </p:sp>
      <p:cxnSp>
        <p:nvCxnSpPr>
          <p:cNvPr id="22" name="21 Conector recto"/>
          <p:cNvCxnSpPr>
            <a:stCxn id="0" idx="4"/>
            <a:endCxn id="0" idx="1"/>
          </p:cNvCxnSpPr>
          <p:nvPr/>
        </p:nvCxnSpPr>
        <p:spPr>
          <a:xfrm rot="16200000" flipH="1">
            <a:off x="6127750" y="4775201"/>
            <a:ext cx="496887" cy="3921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22 Conector recto"/>
          <p:cNvCxnSpPr>
            <a:stCxn id="0" idx="4"/>
            <a:endCxn id="0" idx="0"/>
          </p:cNvCxnSpPr>
          <p:nvPr/>
        </p:nvCxnSpPr>
        <p:spPr>
          <a:xfrm rot="16200000" flipH="1">
            <a:off x="7051676" y="4664075"/>
            <a:ext cx="461962" cy="793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23 Conector recto"/>
          <p:cNvCxnSpPr>
            <a:stCxn id="0" idx="4"/>
            <a:endCxn id="0" idx="3"/>
          </p:cNvCxnSpPr>
          <p:nvPr/>
        </p:nvCxnSpPr>
        <p:spPr>
          <a:xfrm rot="5400000">
            <a:off x="7949406" y="4774407"/>
            <a:ext cx="496887" cy="3937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par>
                          <p:cTn id="29" fill="hold">
                            <p:stCondLst>
                              <p:cond delay="2500"/>
                            </p:stCondLst>
                            <p:childTnLst>
                              <p:par>
                                <p:cTn id="30" presetID="10" presetClass="entr" presetSubtype="0" fill="hold" nodeType="after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childTnLst>
                          </p:cTn>
                        </p:par>
                        <p:par>
                          <p:cTn id="43" fill="hold">
                            <p:stCondLst>
                              <p:cond delay="500"/>
                            </p:stCondLst>
                            <p:childTnLst>
                              <p:par>
                                <p:cTn id="44" presetID="10" presetClass="entr" presetSubtype="0" fill="hold" nodeType="after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childTnLst>
                          </p:cTn>
                        </p:par>
                        <p:par>
                          <p:cTn id="51" fill="hold">
                            <p:stCondLst>
                              <p:cond delay="1500"/>
                            </p:stCondLst>
                            <p:childTnLst>
                              <p:par>
                                <p:cTn id="52" presetID="10" presetClass="entr" presetSubtype="0" fill="hold" nodeType="after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500"/>
                                        <p:tgtEl>
                                          <p:spTgt spid="23"/>
                                        </p:tgtEl>
                                      </p:cBhvr>
                                    </p:animEffect>
                                  </p:childTnLst>
                                </p:cTn>
                              </p:par>
                            </p:childTnLst>
                          </p:cTn>
                        </p:par>
                        <p:par>
                          <p:cTn id="55" fill="hold">
                            <p:stCondLst>
                              <p:cond delay="2000"/>
                            </p:stCondLst>
                            <p:childTnLst>
                              <p:par>
                                <p:cTn id="56" presetID="10" presetClass="entr" presetSubtype="0" fill="hold" nodeType="after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childTnLst>
                          </p:cTn>
                        </p:par>
                        <p:par>
                          <p:cTn id="59" fill="hold">
                            <p:stCondLst>
                              <p:cond delay="2500"/>
                            </p:stCondLst>
                            <p:childTnLst>
                              <p:par>
                                <p:cTn id="60" presetID="10" presetClass="entr" presetSubtype="0" fill="hold" nodeType="after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fade">
                                      <p:cBhvr>
                                        <p:cTn id="67" dur="500"/>
                                        <p:tgtEl>
                                          <p:spTgt spid="1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2" fill="hold" nodeType="click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wipe(right)">
                                      <p:cBhvr>
                                        <p:cTn id="72" dur="500"/>
                                        <p:tgtEl>
                                          <p:spTgt spid="12"/>
                                        </p:tgtEl>
                                      </p:cBhvr>
                                    </p:animEffect>
                                  </p:childTnLst>
                                </p:cTn>
                              </p:par>
                              <p:par>
                                <p:cTn id="73" presetID="22" presetClass="entr" presetSubtype="8" fill="hold" nodeType="with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wipe(left)">
                                      <p:cBhvr>
                                        <p:cTn id="7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67587" name="4 CuadroTexto"/>
          <p:cNvSpPr txBox="1">
            <a:spLocks noChangeArrowheads="1"/>
          </p:cNvSpPr>
          <p:nvPr/>
        </p:nvSpPr>
        <p:spPr bwMode="auto">
          <a:xfrm>
            <a:off x="214313" y="752475"/>
            <a:ext cx="3049587" cy="461963"/>
          </a:xfrm>
          <a:prstGeom prst="rect">
            <a:avLst/>
          </a:prstGeom>
          <a:noFill/>
          <a:ln w="9525">
            <a:noFill/>
            <a:miter lim="800000"/>
            <a:headEnd/>
            <a:tailEnd/>
          </a:ln>
        </p:spPr>
        <p:txBody>
          <a:bodyPr wrap="none">
            <a:spAutoFit/>
          </a:bodyPr>
          <a:lstStyle/>
          <a:p>
            <a:pPr marL="342900" indent="-342900"/>
            <a:r>
              <a:rPr lang="es-ES" sz="2400" b="1"/>
              <a:t>Tipos de relaciones</a:t>
            </a:r>
            <a:endParaRPr lang="es-MX" sz="2400" b="1"/>
          </a:p>
        </p:txBody>
      </p:sp>
      <p:sp>
        <p:nvSpPr>
          <p:cNvPr id="67588" name="4 CuadroTexto"/>
          <p:cNvSpPr txBox="1">
            <a:spLocks noChangeArrowheads="1"/>
          </p:cNvSpPr>
          <p:nvPr/>
        </p:nvSpPr>
        <p:spPr bwMode="auto">
          <a:xfrm>
            <a:off x="2143125" y="1752600"/>
            <a:ext cx="5121275" cy="461963"/>
          </a:xfrm>
          <a:prstGeom prst="rect">
            <a:avLst/>
          </a:prstGeom>
          <a:noFill/>
          <a:ln w="9525">
            <a:noFill/>
            <a:miter lim="800000"/>
            <a:headEnd/>
            <a:tailEnd/>
          </a:ln>
        </p:spPr>
        <p:txBody>
          <a:bodyPr wrap="none">
            <a:spAutoFit/>
          </a:bodyPr>
          <a:lstStyle/>
          <a:p>
            <a:pPr marL="342900" indent="-342900"/>
            <a:r>
              <a:rPr lang="es-ES" sz="2400" b="1"/>
              <a:t>Ejemplos: MUCHOS A UNO (N:1)</a:t>
            </a:r>
            <a:endParaRPr lang="es-MX" sz="2400" b="1"/>
          </a:p>
        </p:txBody>
      </p:sp>
      <p:sp>
        <p:nvSpPr>
          <p:cNvPr id="67589" name="6 Rectángulo"/>
          <p:cNvSpPr>
            <a:spLocks noChangeArrowheads="1"/>
          </p:cNvSpPr>
          <p:nvPr/>
        </p:nvSpPr>
        <p:spPr bwMode="auto">
          <a:xfrm>
            <a:off x="1500188" y="2930525"/>
            <a:ext cx="6215062" cy="1939925"/>
          </a:xfrm>
          <a:prstGeom prst="rect">
            <a:avLst/>
          </a:prstGeom>
          <a:noFill/>
          <a:ln w="9525">
            <a:noFill/>
            <a:miter lim="800000"/>
            <a:headEnd/>
            <a:tailEnd/>
          </a:ln>
        </p:spPr>
        <p:txBody>
          <a:bodyPr>
            <a:spAutoFit/>
          </a:bodyPr>
          <a:lstStyle/>
          <a:p>
            <a:pPr indent="358775" algn="just">
              <a:buFont typeface="Arial" charset="0"/>
              <a:buChar char="•"/>
            </a:pPr>
            <a:r>
              <a:rPr lang="es-ES" sz="2400"/>
              <a:t>EMPLEADOS – EMPRESA</a:t>
            </a:r>
          </a:p>
          <a:p>
            <a:pPr indent="358775" algn="just">
              <a:buFont typeface="Arial" charset="0"/>
              <a:buChar char="•"/>
            </a:pPr>
            <a:r>
              <a:rPr lang="es-ES" sz="2400"/>
              <a:t>ALUMNOS – ESCUELA</a:t>
            </a:r>
          </a:p>
          <a:p>
            <a:pPr indent="358775" algn="just">
              <a:buFont typeface="Arial" charset="0"/>
              <a:buChar char="•"/>
            </a:pPr>
            <a:r>
              <a:rPr lang="es-ES" sz="2400"/>
              <a:t>FELIGRESES – PARROQUIA</a:t>
            </a:r>
          </a:p>
          <a:p>
            <a:pPr indent="358775" algn="just">
              <a:buFont typeface="Arial" charset="0"/>
              <a:buChar char="•"/>
            </a:pPr>
            <a:r>
              <a:rPr lang="es-ES" sz="2400"/>
              <a:t>CLIENTES – BANCO</a:t>
            </a:r>
          </a:p>
          <a:p>
            <a:pPr indent="358775" algn="just">
              <a:buFont typeface="Arial" charset="0"/>
              <a:buChar char="•"/>
            </a:pPr>
            <a:r>
              <a:rPr lang="es-ES" sz="2400"/>
              <a:t>CIUDADANOS – CIUDAD</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68611" name="4 CuadroTexto"/>
          <p:cNvSpPr txBox="1">
            <a:spLocks noChangeArrowheads="1"/>
          </p:cNvSpPr>
          <p:nvPr/>
        </p:nvSpPr>
        <p:spPr bwMode="auto">
          <a:xfrm>
            <a:off x="214313" y="752475"/>
            <a:ext cx="3049587" cy="461963"/>
          </a:xfrm>
          <a:prstGeom prst="rect">
            <a:avLst/>
          </a:prstGeom>
          <a:noFill/>
          <a:ln w="9525">
            <a:noFill/>
            <a:miter lim="800000"/>
            <a:headEnd/>
            <a:tailEnd/>
          </a:ln>
        </p:spPr>
        <p:txBody>
          <a:bodyPr wrap="none">
            <a:spAutoFit/>
          </a:bodyPr>
          <a:lstStyle/>
          <a:p>
            <a:pPr marL="342900" indent="-342900"/>
            <a:r>
              <a:rPr lang="es-ES" sz="2400" b="1"/>
              <a:t>Tipos de relaciones</a:t>
            </a:r>
            <a:endParaRPr lang="es-MX" sz="2400" b="1"/>
          </a:p>
        </p:txBody>
      </p:sp>
      <p:sp>
        <p:nvSpPr>
          <p:cNvPr id="68612" name="4 CuadroTexto"/>
          <p:cNvSpPr txBox="1">
            <a:spLocks noChangeArrowheads="1"/>
          </p:cNvSpPr>
          <p:nvPr/>
        </p:nvSpPr>
        <p:spPr bwMode="auto">
          <a:xfrm>
            <a:off x="2428875" y="1357313"/>
            <a:ext cx="4130675" cy="461962"/>
          </a:xfrm>
          <a:prstGeom prst="rect">
            <a:avLst/>
          </a:prstGeom>
          <a:noFill/>
          <a:ln w="9525">
            <a:noFill/>
            <a:miter lim="800000"/>
            <a:headEnd/>
            <a:tailEnd/>
          </a:ln>
        </p:spPr>
        <p:txBody>
          <a:bodyPr wrap="none">
            <a:spAutoFit/>
          </a:bodyPr>
          <a:lstStyle/>
          <a:p>
            <a:pPr marL="342900" indent="-342900"/>
            <a:r>
              <a:rPr lang="es-ES" sz="2400" b="1"/>
              <a:t>MUCHOS A MUCHOS (N:N)</a:t>
            </a:r>
            <a:endParaRPr lang="es-MX" sz="2400" b="1"/>
          </a:p>
        </p:txBody>
      </p:sp>
      <p:sp>
        <p:nvSpPr>
          <p:cNvPr id="68613" name="4 Rectángulo"/>
          <p:cNvSpPr>
            <a:spLocks noChangeArrowheads="1"/>
          </p:cNvSpPr>
          <p:nvPr/>
        </p:nvSpPr>
        <p:spPr bwMode="auto">
          <a:xfrm>
            <a:off x="428625" y="2073275"/>
            <a:ext cx="8501063" cy="1200150"/>
          </a:xfrm>
          <a:prstGeom prst="rect">
            <a:avLst/>
          </a:prstGeom>
          <a:noFill/>
          <a:ln w="9525">
            <a:noFill/>
            <a:miter lim="800000"/>
            <a:headEnd/>
            <a:tailEnd/>
          </a:ln>
        </p:spPr>
        <p:txBody>
          <a:bodyPr>
            <a:spAutoFit/>
          </a:bodyPr>
          <a:lstStyle/>
          <a:p>
            <a:pPr algn="just"/>
            <a:r>
              <a:rPr lang="es-ES" sz="2400"/>
              <a:t>Establece que cualquier cantidad de entidades del tipo </a:t>
            </a:r>
            <a:r>
              <a:rPr lang="es-ES" sz="2400" b="1">
                <a:solidFill>
                  <a:srgbClr val="00B0F0"/>
                </a:solidFill>
              </a:rPr>
              <a:t>A</a:t>
            </a:r>
            <a:r>
              <a:rPr lang="es-ES" sz="2400"/>
              <a:t> pueden estar relacionados con cualquier cantidad de entidades del tipo </a:t>
            </a:r>
            <a:r>
              <a:rPr lang="es-ES" sz="2400" b="1">
                <a:solidFill>
                  <a:srgbClr val="00B0F0"/>
                </a:solidFill>
              </a:rPr>
              <a:t>B</a:t>
            </a:r>
            <a:r>
              <a:rPr lang="es-ES" sz="2400"/>
              <a:t>.</a:t>
            </a:r>
          </a:p>
        </p:txBody>
      </p:sp>
      <p:sp>
        <p:nvSpPr>
          <p:cNvPr id="6" name="5 Rectángulo"/>
          <p:cNvSpPr/>
          <p:nvPr/>
        </p:nvSpPr>
        <p:spPr>
          <a:xfrm>
            <a:off x="6572264" y="4898704"/>
            <a:ext cx="1428760" cy="64294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t>B</a:t>
            </a:r>
          </a:p>
        </p:txBody>
      </p:sp>
      <p:sp>
        <p:nvSpPr>
          <p:cNvPr id="7" name="6 Rectángulo"/>
          <p:cNvSpPr/>
          <p:nvPr/>
        </p:nvSpPr>
        <p:spPr>
          <a:xfrm>
            <a:off x="1142976" y="4885056"/>
            <a:ext cx="1428760" cy="64294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t>A</a:t>
            </a:r>
          </a:p>
        </p:txBody>
      </p:sp>
      <p:sp>
        <p:nvSpPr>
          <p:cNvPr id="8" name="7 Decisión"/>
          <p:cNvSpPr/>
          <p:nvPr/>
        </p:nvSpPr>
        <p:spPr>
          <a:xfrm>
            <a:off x="3714744" y="4857760"/>
            <a:ext cx="1714512" cy="714380"/>
          </a:xfrm>
          <a:prstGeom prst="flowChartDecision">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t>R</a:t>
            </a:r>
          </a:p>
        </p:txBody>
      </p:sp>
      <p:cxnSp>
        <p:nvCxnSpPr>
          <p:cNvPr id="9" name="8 Conector recto"/>
          <p:cNvCxnSpPr>
            <a:stCxn id="0" idx="1"/>
            <a:endCxn id="0" idx="3"/>
          </p:cNvCxnSpPr>
          <p:nvPr/>
        </p:nvCxnSpPr>
        <p:spPr>
          <a:xfrm rot="10800000">
            <a:off x="5429250" y="5214938"/>
            <a:ext cx="1143000" cy="4762"/>
          </a:xfrm>
          <a:prstGeom prst="line">
            <a:avLst/>
          </a:prstGeom>
          <a:ln w="762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9 Conector recto"/>
          <p:cNvCxnSpPr>
            <a:stCxn id="0" idx="1"/>
            <a:endCxn id="0" idx="3"/>
          </p:cNvCxnSpPr>
          <p:nvPr/>
        </p:nvCxnSpPr>
        <p:spPr>
          <a:xfrm rot="10800000">
            <a:off x="2571750" y="5207000"/>
            <a:ext cx="1143000" cy="7938"/>
          </a:xfrm>
          <a:prstGeom prst="line">
            <a:avLst/>
          </a:prstGeom>
          <a:ln w="762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10 Elipse"/>
          <p:cNvSpPr/>
          <p:nvPr/>
        </p:nvSpPr>
        <p:spPr>
          <a:xfrm>
            <a:off x="285720" y="4429132"/>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A1-A</a:t>
            </a:r>
          </a:p>
        </p:txBody>
      </p:sp>
      <p:sp>
        <p:nvSpPr>
          <p:cNvPr id="12" name="11 Elipse"/>
          <p:cNvSpPr/>
          <p:nvPr/>
        </p:nvSpPr>
        <p:spPr>
          <a:xfrm>
            <a:off x="1384586" y="4143380"/>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A2-A</a:t>
            </a:r>
          </a:p>
        </p:txBody>
      </p:sp>
      <p:sp>
        <p:nvSpPr>
          <p:cNvPr id="13" name="12 Elipse"/>
          <p:cNvSpPr/>
          <p:nvPr/>
        </p:nvSpPr>
        <p:spPr>
          <a:xfrm>
            <a:off x="2500298" y="4429132"/>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A3-A</a:t>
            </a:r>
          </a:p>
        </p:txBody>
      </p:sp>
      <p:cxnSp>
        <p:nvCxnSpPr>
          <p:cNvPr id="14" name="13 Conector recto"/>
          <p:cNvCxnSpPr>
            <a:stCxn id="0" idx="4"/>
            <a:endCxn id="0" idx="1"/>
          </p:cNvCxnSpPr>
          <p:nvPr/>
        </p:nvCxnSpPr>
        <p:spPr>
          <a:xfrm rot="16200000" flipH="1">
            <a:off x="700087" y="4764088"/>
            <a:ext cx="492125" cy="3937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14 Conector recto"/>
          <p:cNvCxnSpPr>
            <a:stCxn id="0" idx="4"/>
            <a:endCxn id="0" idx="0"/>
          </p:cNvCxnSpPr>
          <p:nvPr/>
        </p:nvCxnSpPr>
        <p:spPr>
          <a:xfrm rot="16200000" flipH="1">
            <a:off x="1625600" y="4652963"/>
            <a:ext cx="455613" cy="793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15 Conector recto"/>
          <p:cNvCxnSpPr>
            <a:stCxn id="0" idx="4"/>
            <a:endCxn id="0" idx="3"/>
          </p:cNvCxnSpPr>
          <p:nvPr/>
        </p:nvCxnSpPr>
        <p:spPr>
          <a:xfrm rot="5400000">
            <a:off x="2521744" y="4764881"/>
            <a:ext cx="492125" cy="392113"/>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16 Elipse"/>
          <p:cNvSpPr/>
          <p:nvPr/>
        </p:nvSpPr>
        <p:spPr>
          <a:xfrm>
            <a:off x="5715008" y="4437555"/>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A1-B</a:t>
            </a:r>
          </a:p>
        </p:txBody>
      </p:sp>
      <p:sp>
        <p:nvSpPr>
          <p:cNvPr id="18" name="17 Elipse"/>
          <p:cNvSpPr/>
          <p:nvPr/>
        </p:nvSpPr>
        <p:spPr>
          <a:xfrm>
            <a:off x="6813874" y="4151803"/>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A2-B</a:t>
            </a:r>
          </a:p>
        </p:txBody>
      </p:sp>
      <p:sp>
        <p:nvSpPr>
          <p:cNvPr id="19" name="18 Elipse"/>
          <p:cNvSpPr/>
          <p:nvPr/>
        </p:nvSpPr>
        <p:spPr>
          <a:xfrm>
            <a:off x="7929586" y="4437555"/>
            <a:ext cx="928694" cy="285752"/>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A3-B</a:t>
            </a:r>
          </a:p>
        </p:txBody>
      </p:sp>
      <p:cxnSp>
        <p:nvCxnSpPr>
          <p:cNvPr id="20" name="19 Conector recto"/>
          <p:cNvCxnSpPr>
            <a:stCxn id="0" idx="4"/>
            <a:endCxn id="0" idx="1"/>
          </p:cNvCxnSpPr>
          <p:nvPr/>
        </p:nvCxnSpPr>
        <p:spPr>
          <a:xfrm rot="16200000" flipH="1">
            <a:off x="6127750" y="4775201"/>
            <a:ext cx="496887" cy="3921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20 Conector recto"/>
          <p:cNvCxnSpPr>
            <a:stCxn id="0" idx="4"/>
            <a:endCxn id="0" idx="0"/>
          </p:cNvCxnSpPr>
          <p:nvPr/>
        </p:nvCxnSpPr>
        <p:spPr>
          <a:xfrm rot="16200000" flipH="1">
            <a:off x="7051676" y="4664075"/>
            <a:ext cx="461962" cy="793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21 Conector recto"/>
          <p:cNvCxnSpPr>
            <a:stCxn id="0" idx="4"/>
            <a:endCxn id="0" idx="3"/>
          </p:cNvCxnSpPr>
          <p:nvPr/>
        </p:nvCxnSpPr>
        <p:spPr>
          <a:xfrm rot="5400000">
            <a:off x="7949406" y="4774407"/>
            <a:ext cx="496887" cy="3937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par>
                          <p:cTn id="29" fill="hold">
                            <p:stCondLst>
                              <p:cond delay="2500"/>
                            </p:stCondLst>
                            <p:childTnLst>
                              <p:par>
                                <p:cTn id="30" presetID="10" presetClass="entr" presetSubtype="0" fill="hold"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par>
                          <p:cTn id="43" fill="hold">
                            <p:stCondLst>
                              <p:cond delay="500"/>
                            </p:stCondLst>
                            <p:childTnLst>
                              <p:par>
                                <p:cTn id="44" presetID="10" presetClass="entr" presetSubtype="0" fill="hold" nodeType="after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childTnLst>
                          </p:cTn>
                        </p:par>
                        <p:par>
                          <p:cTn id="51" fill="hold">
                            <p:stCondLst>
                              <p:cond delay="1500"/>
                            </p:stCondLst>
                            <p:childTnLst>
                              <p:par>
                                <p:cTn id="52" presetID="10"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childTnLst>
                          </p:cTn>
                        </p:par>
                        <p:par>
                          <p:cTn id="55" fill="hold">
                            <p:stCondLst>
                              <p:cond delay="2000"/>
                            </p:stCondLst>
                            <p:childTnLst>
                              <p:par>
                                <p:cTn id="56" presetID="10" presetClass="entr" presetSubtype="0" fill="hold" nodeType="after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childTnLst>
                          </p:cTn>
                        </p:par>
                        <p:par>
                          <p:cTn id="59" fill="hold">
                            <p:stCondLst>
                              <p:cond delay="2500"/>
                            </p:stCondLst>
                            <p:childTnLst>
                              <p:par>
                                <p:cTn id="60" presetID="10" presetClass="entr" presetSubtype="0" fill="hold" nodeType="after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fade">
                                      <p:cBhvr>
                                        <p:cTn id="67" dur="500"/>
                                        <p:tgtEl>
                                          <p:spTgt spid="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2" fill="hold" nodeType="click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wipe(right)">
                                      <p:cBhvr>
                                        <p:cTn id="72" dur="500"/>
                                        <p:tgtEl>
                                          <p:spTgt spid="10"/>
                                        </p:tgtEl>
                                      </p:cBhvr>
                                    </p:animEffect>
                                  </p:childTnLst>
                                </p:cTn>
                              </p:par>
                              <p:par>
                                <p:cTn id="73" presetID="22" presetClass="entr" presetSubtype="8" fill="hold" nodeType="with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wipe(left)">
                                      <p:cBhvr>
                                        <p:cTn id="7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69635" name="4 CuadroTexto"/>
          <p:cNvSpPr txBox="1">
            <a:spLocks noChangeArrowheads="1"/>
          </p:cNvSpPr>
          <p:nvPr/>
        </p:nvSpPr>
        <p:spPr bwMode="auto">
          <a:xfrm>
            <a:off x="214313" y="752475"/>
            <a:ext cx="3049587" cy="461963"/>
          </a:xfrm>
          <a:prstGeom prst="rect">
            <a:avLst/>
          </a:prstGeom>
          <a:noFill/>
          <a:ln w="9525">
            <a:noFill/>
            <a:miter lim="800000"/>
            <a:headEnd/>
            <a:tailEnd/>
          </a:ln>
        </p:spPr>
        <p:txBody>
          <a:bodyPr wrap="none">
            <a:spAutoFit/>
          </a:bodyPr>
          <a:lstStyle/>
          <a:p>
            <a:pPr marL="342900" indent="-342900"/>
            <a:r>
              <a:rPr lang="es-ES" sz="2400" b="1"/>
              <a:t>Tipos de relaciones</a:t>
            </a:r>
            <a:endParaRPr lang="es-MX" sz="2400" b="1"/>
          </a:p>
        </p:txBody>
      </p:sp>
      <p:sp>
        <p:nvSpPr>
          <p:cNvPr id="69636" name="4 CuadroTexto"/>
          <p:cNvSpPr txBox="1">
            <a:spLocks noChangeArrowheads="1"/>
          </p:cNvSpPr>
          <p:nvPr/>
        </p:nvSpPr>
        <p:spPr bwMode="auto">
          <a:xfrm>
            <a:off x="1643063" y="1752600"/>
            <a:ext cx="5686425" cy="461963"/>
          </a:xfrm>
          <a:prstGeom prst="rect">
            <a:avLst/>
          </a:prstGeom>
          <a:noFill/>
          <a:ln w="9525">
            <a:noFill/>
            <a:miter lim="800000"/>
            <a:headEnd/>
            <a:tailEnd/>
          </a:ln>
        </p:spPr>
        <p:txBody>
          <a:bodyPr wrap="none">
            <a:spAutoFit/>
          </a:bodyPr>
          <a:lstStyle/>
          <a:p>
            <a:pPr marL="342900" indent="-342900"/>
            <a:r>
              <a:rPr lang="es-ES" sz="2400" b="1"/>
              <a:t>Ejemplos: MUCHOS A MUCHOS (N:N)</a:t>
            </a:r>
            <a:endParaRPr lang="es-MX" sz="2400" b="1"/>
          </a:p>
        </p:txBody>
      </p:sp>
      <p:sp>
        <p:nvSpPr>
          <p:cNvPr id="69637" name="4 Rectángulo"/>
          <p:cNvSpPr>
            <a:spLocks noChangeArrowheads="1"/>
          </p:cNvSpPr>
          <p:nvPr/>
        </p:nvSpPr>
        <p:spPr bwMode="auto">
          <a:xfrm>
            <a:off x="1500188" y="2871788"/>
            <a:ext cx="6215062" cy="1938337"/>
          </a:xfrm>
          <a:prstGeom prst="rect">
            <a:avLst/>
          </a:prstGeom>
          <a:noFill/>
          <a:ln w="9525">
            <a:noFill/>
            <a:miter lim="800000"/>
            <a:headEnd/>
            <a:tailEnd/>
          </a:ln>
        </p:spPr>
        <p:txBody>
          <a:bodyPr>
            <a:spAutoFit/>
          </a:bodyPr>
          <a:lstStyle/>
          <a:p>
            <a:pPr indent="358775" algn="just">
              <a:buFont typeface="Arial" charset="0"/>
              <a:buChar char="•"/>
            </a:pPr>
            <a:r>
              <a:rPr lang="es-ES" sz="2400"/>
              <a:t>PROYECTOS – ARQUITECTOS</a:t>
            </a:r>
          </a:p>
          <a:p>
            <a:pPr indent="358775" algn="just">
              <a:buFont typeface="Arial" charset="0"/>
              <a:buChar char="•"/>
            </a:pPr>
            <a:r>
              <a:rPr lang="es-ES" sz="2400"/>
              <a:t>ESTUDIANTES – MATERIAS</a:t>
            </a:r>
          </a:p>
          <a:p>
            <a:pPr indent="358775" algn="just">
              <a:buFont typeface="Arial" charset="0"/>
              <a:buChar char="•"/>
            </a:pPr>
            <a:r>
              <a:rPr lang="es-ES" sz="2400"/>
              <a:t>PROFESORES – ESCUELAS</a:t>
            </a:r>
          </a:p>
          <a:p>
            <a:pPr indent="358775" algn="just">
              <a:buFont typeface="Arial" charset="0"/>
              <a:buChar char="•"/>
            </a:pPr>
            <a:r>
              <a:rPr lang="es-ES" sz="2400"/>
              <a:t>ENFERMOS – SÍNTOMAS</a:t>
            </a:r>
          </a:p>
          <a:p>
            <a:pPr indent="358775" algn="just">
              <a:buFont typeface="Arial" charset="0"/>
              <a:buChar char="•"/>
            </a:pPr>
            <a:r>
              <a:rPr lang="es-ES" sz="2400"/>
              <a:t>PROVEEDORES – PRODUCTOS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70659" name="4 CuadroTexto"/>
          <p:cNvSpPr txBox="1">
            <a:spLocks noChangeArrowheads="1"/>
          </p:cNvSpPr>
          <p:nvPr/>
        </p:nvSpPr>
        <p:spPr bwMode="auto">
          <a:xfrm>
            <a:off x="214313" y="752475"/>
            <a:ext cx="3049587" cy="461963"/>
          </a:xfrm>
          <a:prstGeom prst="rect">
            <a:avLst/>
          </a:prstGeom>
          <a:noFill/>
          <a:ln w="9525">
            <a:noFill/>
            <a:miter lim="800000"/>
            <a:headEnd/>
            <a:tailEnd/>
          </a:ln>
        </p:spPr>
        <p:txBody>
          <a:bodyPr wrap="none">
            <a:spAutoFit/>
          </a:bodyPr>
          <a:lstStyle/>
          <a:p>
            <a:pPr marL="342900" indent="-342900"/>
            <a:r>
              <a:rPr lang="es-ES" sz="2400" b="1"/>
              <a:t>Tipos de relaciones</a:t>
            </a:r>
            <a:endParaRPr lang="es-MX" sz="2400" b="1"/>
          </a:p>
        </p:txBody>
      </p:sp>
      <p:sp>
        <p:nvSpPr>
          <p:cNvPr id="70660" name="3 Rectángulo"/>
          <p:cNvSpPr>
            <a:spLocks noChangeArrowheads="1"/>
          </p:cNvSpPr>
          <p:nvPr/>
        </p:nvSpPr>
        <p:spPr bwMode="auto">
          <a:xfrm>
            <a:off x="1857375" y="2476500"/>
            <a:ext cx="5715000" cy="3046413"/>
          </a:xfrm>
          <a:prstGeom prst="rect">
            <a:avLst/>
          </a:prstGeom>
          <a:noFill/>
          <a:ln w="9525">
            <a:noFill/>
            <a:miter lim="800000"/>
            <a:headEnd/>
            <a:tailEnd/>
          </a:ln>
        </p:spPr>
        <p:txBody>
          <a:bodyPr>
            <a:spAutoFit/>
          </a:bodyPr>
          <a:lstStyle/>
          <a:p>
            <a:pPr algn="just"/>
            <a:r>
              <a:rPr lang="es-ES" sz="3200"/>
              <a:t>La </a:t>
            </a:r>
            <a:r>
              <a:rPr lang="es-ES" sz="3200" b="1">
                <a:solidFill>
                  <a:srgbClr val="FF0000"/>
                </a:solidFill>
              </a:rPr>
              <a:t>cardinalidad</a:t>
            </a:r>
            <a:r>
              <a:rPr lang="es-ES" sz="3200"/>
              <a:t> para cada conjunto de entidades depende del </a:t>
            </a:r>
            <a:r>
              <a:rPr lang="es-ES" sz="3200" b="1">
                <a:solidFill>
                  <a:srgbClr val="FF0000"/>
                </a:solidFill>
              </a:rPr>
              <a:t>punto de vista</a:t>
            </a:r>
            <a:r>
              <a:rPr lang="es-ES" sz="3200"/>
              <a:t> que se le de al modelo en estudio, claro esta, sujetándose a la realidad.</a:t>
            </a:r>
          </a:p>
        </p:txBody>
      </p:sp>
      <p:sp>
        <p:nvSpPr>
          <p:cNvPr id="70661" name="4 CuadroTexto"/>
          <p:cNvSpPr txBox="1">
            <a:spLocks noChangeArrowheads="1"/>
          </p:cNvSpPr>
          <p:nvPr/>
        </p:nvSpPr>
        <p:spPr bwMode="auto">
          <a:xfrm>
            <a:off x="3254375" y="1500188"/>
            <a:ext cx="2867025" cy="584200"/>
          </a:xfrm>
          <a:prstGeom prst="rect">
            <a:avLst/>
          </a:prstGeom>
          <a:noFill/>
          <a:ln w="9525">
            <a:noFill/>
            <a:miter lim="800000"/>
            <a:headEnd/>
            <a:tailEnd/>
          </a:ln>
        </p:spPr>
        <p:txBody>
          <a:bodyPr wrap="none">
            <a:spAutoFit/>
          </a:bodyPr>
          <a:lstStyle/>
          <a:p>
            <a:pPr algn="ctr"/>
            <a:r>
              <a:rPr lang="es-ES" sz="3200" b="1">
                <a:solidFill>
                  <a:srgbClr val="FF0000"/>
                </a:solidFill>
              </a:rPr>
              <a:t>IMPORTANTE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71683" name="4 CuadroTexto"/>
          <p:cNvSpPr txBox="1">
            <a:spLocks noChangeArrowheads="1"/>
          </p:cNvSpPr>
          <p:nvPr/>
        </p:nvSpPr>
        <p:spPr bwMode="auto">
          <a:xfrm>
            <a:off x="214313" y="1038225"/>
            <a:ext cx="4117975" cy="461963"/>
          </a:xfrm>
          <a:prstGeom prst="rect">
            <a:avLst/>
          </a:prstGeom>
          <a:noFill/>
          <a:ln w="9525">
            <a:noFill/>
            <a:miter lim="800000"/>
            <a:headEnd/>
            <a:tailEnd/>
          </a:ln>
        </p:spPr>
        <p:txBody>
          <a:bodyPr wrap="none">
            <a:spAutoFit/>
          </a:bodyPr>
          <a:lstStyle/>
          <a:p>
            <a:pPr marL="342900" indent="-342900"/>
            <a:r>
              <a:rPr lang="es-ES" sz="2400" b="1"/>
              <a:t>Dependencia de existencia</a:t>
            </a:r>
            <a:endParaRPr lang="es-MX" sz="2400" b="1"/>
          </a:p>
        </p:txBody>
      </p:sp>
      <p:sp>
        <p:nvSpPr>
          <p:cNvPr id="4" name="3 Rectángulo"/>
          <p:cNvSpPr/>
          <p:nvPr/>
        </p:nvSpPr>
        <p:spPr>
          <a:xfrm>
            <a:off x="642938" y="2071688"/>
            <a:ext cx="7786687" cy="3540125"/>
          </a:xfrm>
          <a:prstGeom prst="rect">
            <a:avLst/>
          </a:prstGeom>
        </p:spPr>
        <p:txBody>
          <a:bodyPr>
            <a:spAutoFit/>
          </a:bodyPr>
          <a:lstStyle/>
          <a:p>
            <a:pPr algn="just">
              <a:defRPr/>
            </a:pPr>
            <a:r>
              <a:rPr lang="es-ES" sz="2800" dirty="0"/>
              <a:t>Refiriéndonos a las mismas entidades </a:t>
            </a:r>
            <a:r>
              <a:rPr lang="es-ES" sz="2800" b="1" dirty="0">
                <a:solidFill>
                  <a:srgbClr val="FF0000"/>
                </a:solidFill>
              </a:rPr>
              <a:t>A</a:t>
            </a:r>
            <a:r>
              <a:rPr lang="es-ES" sz="2800" dirty="0"/>
              <a:t> y </a:t>
            </a:r>
            <a:r>
              <a:rPr lang="es-ES" sz="2800" b="1" dirty="0">
                <a:solidFill>
                  <a:srgbClr val="FF0000"/>
                </a:solidFill>
              </a:rPr>
              <a:t>B</a:t>
            </a:r>
            <a:r>
              <a:rPr lang="es-ES" sz="2800" dirty="0"/>
              <a:t>, decimos que si la entidad </a:t>
            </a:r>
            <a:r>
              <a:rPr lang="es-ES" sz="2800" b="1" dirty="0">
                <a:solidFill>
                  <a:schemeClr val="tx2">
                    <a:lumMod val="60000"/>
                    <a:lumOff val="40000"/>
                  </a:schemeClr>
                </a:solidFill>
              </a:rPr>
              <a:t>A</a:t>
            </a:r>
            <a:r>
              <a:rPr lang="es-ES" sz="2800" dirty="0"/>
              <a:t> depende de la existencia de la entidad </a:t>
            </a:r>
            <a:r>
              <a:rPr lang="es-ES" sz="2800" b="1" dirty="0">
                <a:solidFill>
                  <a:schemeClr val="tx2">
                    <a:lumMod val="60000"/>
                    <a:lumOff val="40000"/>
                  </a:schemeClr>
                </a:solidFill>
              </a:rPr>
              <a:t>B</a:t>
            </a:r>
            <a:r>
              <a:rPr lang="es-ES" sz="2800" dirty="0"/>
              <a:t>, entonces </a:t>
            </a:r>
            <a:r>
              <a:rPr lang="es-ES" sz="2800" b="1" i="1" dirty="0">
                <a:solidFill>
                  <a:srgbClr val="92D050"/>
                </a:solidFill>
              </a:rPr>
              <a:t>A es dependiente de existencia por B</a:t>
            </a:r>
            <a:r>
              <a:rPr lang="es-ES" sz="2800" dirty="0"/>
              <a:t>, si eliminamos a B tendríamos que eliminar por consecuente la entidad A, en este caso B es la entidad </a:t>
            </a:r>
            <a:r>
              <a:rPr lang="es-ES" sz="2800" i="1" dirty="0"/>
              <a:t>Dominante</a:t>
            </a:r>
            <a:r>
              <a:rPr lang="es-ES" sz="2800" dirty="0"/>
              <a:t> y A es la entidad </a:t>
            </a:r>
            <a:r>
              <a:rPr lang="es-ES" sz="2800" i="1" dirty="0"/>
              <a:t>subordinada.</a:t>
            </a:r>
            <a:endParaRPr lang="es-ES" sz="2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72707" name="4 CuadroTexto"/>
          <p:cNvSpPr txBox="1">
            <a:spLocks noChangeArrowheads="1"/>
          </p:cNvSpPr>
          <p:nvPr/>
        </p:nvSpPr>
        <p:spPr bwMode="auto">
          <a:xfrm>
            <a:off x="214313" y="752475"/>
            <a:ext cx="2614612" cy="461963"/>
          </a:xfrm>
          <a:prstGeom prst="rect">
            <a:avLst/>
          </a:prstGeom>
          <a:noFill/>
          <a:ln w="9525">
            <a:noFill/>
            <a:miter lim="800000"/>
            <a:headEnd/>
            <a:tailEnd/>
          </a:ln>
        </p:spPr>
        <p:txBody>
          <a:bodyPr wrap="none">
            <a:spAutoFit/>
          </a:bodyPr>
          <a:lstStyle/>
          <a:p>
            <a:pPr marL="342900" indent="-342900"/>
            <a:r>
              <a:rPr lang="es-ES" sz="2400" b="1"/>
              <a:t>Llaves primarias</a:t>
            </a:r>
            <a:endParaRPr lang="es-MX" sz="2400" b="1"/>
          </a:p>
        </p:txBody>
      </p:sp>
      <p:sp>
        <p:nvSpPr>
          <p:cNvPr id="72708" name="3 Rectángulo"/>
          <p:cNvSpPr>
            <a:spLocks noChangeArrowheads="1"/>
          </p:cNvSpPr>
          <p:nvPr/>
        </p:nvSpPr>
        <p:spPr bwMode="auto">
          <a:xfrm>
            <a:off x="1071563" y="2000250"/>
            <a:ext cx="7143750" cy="3108325"/>
          </a:xfrm>
          <a:prstGeom prst="rect">
            <a:avLst/>
          </a:prstGeom>
          <a:noFill/>
          <a:ln w="9525">
            <a:noFill/>
            <a:miter lim="800000"/>
            <a:headEnd/>
            <a:tailEnd/>
          </a:ln>
        </p:spPr>
        <p:txBody>
          <a:bodyPr>
            <a:spAutoFit/>
          </a:bodyPr>
          <a:lstStyle/>
          <a:p>
            <a:pPr algn="just"/>
            <a:r>
              <a:rPr lang="es-ES" sz="2800"/>
              <a:t>La distinción de una entidad entre otra se debe a sus atributos, lo cual la hace única.</a:t>
            </a:r>
          </a:p>
          <a:p>
            <a:pPr algn="just"/>
            <a:endParaRPr lang="es-ES" sz="2800"/>
          </a:p>
          <a:p>
            <a:pPr algn="just"/>
            <a:r>
              <a:rPr lang="es-ES" sz="2800"/>
              <a:t>Una </a:t>
            </a:r>
            <a:r>
              <a:rPr lang="es-ES" sz="2800" b="1" i="1">
                <a:solidFill>
                  <a:srgbClr val="FF0000"/>
                </a:solidFill>
              </a:rPr>
              <a:t>llave primaria</a:t>
            </a:r>
            <a:r>
              <a:rPr lang="es-ES" sz="2800">
                <a:solidFill>
                  <a:srgbClr val="FF0000"/>
                </a:solidFill>
              </a:rPr>
              <a:t> </a:t>
            </a:r>
            <a:r>
              <a:rPr lang="es-ES" sz="2800"/>
              <a:t>es aquel atributo el cual consideramos </a:t>
            </a:r>
            <a:r>
              <a:rPr lang="es-ES" sz="2800" b="1">
                <a:solidFill>
                  <a:srgbClr val="FF0000"/>
                </a:solidFill>
              </a:rPr>
              <a:t>clave</a:t>
            </a:r>
            <a:r>
              <a:rPr lang="es-ES" sz="2800"/>
              <a:t> para la identificación de los demás atributos que describen a la entidad.</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4 CuadroTexto"/>
          <p:cNvSpPr txBox="1">
            <a:spLocks noChangeArrowheads="1"/>
          </p:cNvSpPr>
          <p:nvPr/>
        </p:nvSpPr>
        <p:spPr bwMode="auto">
          <a:xfrm>
            <a:off x="214313" y="131763"/>
            <a:ext cx="4678362" cy="461962"/>
          </a:xfrm>
          <a:prstGeom prst="rect">
            <a:avLst/>
          </a:prstGeom>
          <a:noFill/>
          <a:ln w="9525">
            <a:noFill/>
            <a:miter lim="800000"/>
            <a:headEnd/>
            <a:tailEnd/>
          </a:ln>
        </p:spPr>
        <p:txBody>
          <a:bodyPr wrap="none">
            <a:spAutoFit/>
          </a:bodyPr>
          <a:lstStyle/>
          <a:p>
            <a:pPr marL="342900" indent="-342900"/>
            <a:r>
              <a:rPr lang="es-ES" sz="2400" b="1"/>
              <a:t>Modelo Entidad-Relación (E-R)</a:t>
            </a:r>
            <a:endParaRPr lang="es-MX" sz="2400" b="1"/>
          </a:p>
        </p:txBody>
      </p:sp>
      <p:sp>
        <p:nvSpPr>
          <p:cNvPr id="73731" name="4 CuadroTexto"/>
          <p:cNvSpPr txBox="1">
            <a:spLocks noChangeArrowheads="1"/>
          </p:cNvSpPr>
          <p:nvPr/>
        </p:nvSpPr>
        <p:spPr bwMode="auto">
          <a:xfrm>
            <a:off x="214313" y="752475"/>
            <a:ext cx="2614612" cy="461963"/>
          </a:xfrm>
          <a:prstGeom prst="rect">
            <a:avLst/>
          </a:prstGeom>
          <a:noFill/>
          <a:ln w="9525">
            <a:noFill/>
            <a:miter lim="800000"/>
            <a:headEnd/>
            <a:tailEnd/>
          </a:ln>
        </p:spPr>
        <p:txBody>
          <a:bodyPr wrap="none">
            <a:spAutoFit/>
          </a:bodyPr>
          <a:lstStyle/>
          <a:p>
            <a:pPr marL="342900" indent="-342900"/>
            <a:r>
              <a:rPr lang="es-ES" sz="2400" b="1"/>
              <a:t>Llaves primarias</a:t>
            </a:r>
            <a:endParaRPr lang="es-MX" sz="2400" b="1"/>
          </a:p>
        </p:txBody>
      </p:sp>
      <p:sp>
        <p:nvSpPr>
          <p:cNvPr id="5" name="4 Rectángulo"/>
          <p:cNvSpPr/>
          <p:nvPr/>
        </p:nvSpPr>
        <p:spPr>
          <a:xfrm>
            <a:off x="3071802" y="3286124"/>
            <a:ext cx="2306852" cy="857256"/>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2000" b="1" dirty="0"/>
              <a:t>Alumno</a:t>
            </a:r>
          </a:p>
        </p:txBody>
      </p:sp>
      <p:sp>
        <p:nvSpPr>
          <p:cNvPr id="6" name="5 Elipse"/>
          <p:cNvSpPr/>
          <p:nvPr/>
        </p:nvSpPr>
        <p:spPr>
          <a:xfrm>
            <a:off x="500034" y="2428868"/>
            <a:ext cx="2428892" cy="714380"/>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Nombre</a:t>
            </a:r>
          </a:p>
        </p:txBody>
      </p:sp>
      <p:sp>
        <p:nvSpPr>
          <p:cNvPr id="7" name="6 Elipse"/>
          <p:cNvSpPr/>
          <p:nvPr/>
        </p:nvSpPr>
        <p:spPr>
          <a:xfrm>
            <a:off x="3000364" y="1571612"/>
            <a:ext cx="2428892" cy="714380"/>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Grado</a:t>
            </a:r>
          </a:p>
        </p:txBody>
      </p:sp>
      <p:sp>
        <p:nvSpPr>
          <p:cNvPr id="8" name="7 Elipse"/>
          <p:cNvSpPr/>
          <p:nvPr/>
        </p:nvSpPr>
        <p:spPr>
          <a:xfrm>
            <a:off x="5715008" y="2285992"/>
            <a:ext cx="2428892" cy="714380"/>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Carrera</a:t>
            </a:r>
          </a:p>
        </p:txBody>
      </p:sp>
      <p:cxnSp>
        <p:nvCxnSpPr>
          <p:cNvPr id="9" name="8 Conector recto"/>
          <p:cNvCxnSpPr>
            <a:stCxn id="0" idx="4"/>
            <a:endCxn id="0" idx="1"/>
          </p:cNvCxnSpPr>
          <p:nvPr/>
        </p:nvCxnSpPr>
        <p:spPr>
          <a:xfrm rot="16200000" flipH="1">
            <a:off x="2107407" y="2750343"/>
            <a:ext cx="571500" cy="1357313"/>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9 Conector recto"/>
          <p:cNvCxnSpPr>
            <a:stCxn id="0" idx="4"/>
            <a:endCxn id="0" idx="0"/>
          </p:cNvCxnSpPr>
          <p:nvPr/>
        </p:nvCxnSpPr>
        <p:spPr>
          <a:xfrm rot="16200000" flipH="1">
            <a:off x="3720306" y="2780507"/>
            <a:ext cx="1000125" cy="111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10 Conector recto"/>
          <p:cNvCxnSpPr>
            <a:stCxn id="0" idx="4"/>
            <a:endCxn id="0" idx="3"/>
          </p:cNvCxnSpPr>
          <p:nvPr/>
        </p:nvCxnSpPr>
        <p:spPr>
          <a:xfrm rot="5400000">
            <a:off x="5796756" y="2582069"/>
            <a:ext cx="714375" cy="1550988"/>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24 Elipse"/>
          <p:cNvSpPr/>
          <p:nvPr/>
        </p:nvSpPr>
        <p:spPr>
          <a:xfrm>
            <a:off x="285720" y="4214818"/>
            <a:ext cx="2428892" cy="714380"/>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Domicilio</a:t>
            </a:r>
          </a:p>
        </p:txBody>
      </p:sp>
      <p:cxnSp>
        <p:nvCxnSpPr>
          <p:cNvPr id="26" name="25 Conector recto"/>
          <p:cNvCxnSpPr>
            <a:stCxn id="0" idx="6"/>
            <a:endCxn id="0" idx="1"/>
          </p:cNvCxnSpPr>
          <p:nvPr/>
        </p:nvCxnSpPr>
        <p:spPr>
          <a:xfrm flipV="1">
            <a:off x="2714625" y="3714750"/>
            <a:ext cx="357188" cy="85725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32 Elipse"/>
          <p:cNvSpPr/>
          <p:nvPr/>
        </p:nvSpPr>
        <p:spPr>
          <a:xfrm>
            <a:off x="2714612" y="5286388"/>
            <a:ext cx="2428892" cy="714380"/>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No. Expediente</a:t>
            </a:r>
          </a:p>
        </p:txBody>
      </p:sp>
      <p:cxnSp>
        <p:nvCxnSpPr>
          <p:cNvPr id="34" name="33 Conector recto"/>
          <p:cNvCxnSpPr>
            <a:stCxn id="0" idx="0"/>
            <a:endCxn id="0" idx="2"/>
          </p:cNvCxnSpPr>
          <p:nvPr/>
        </p:nvCxnSpPr>
        <p:spPr>
          <a:xfrm rot="5400000" flipH="1" flipV="1">
            <a:off x="3505994" y="4566444"/>
            <a:ext cx="1143000" cy="29686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69 Conector recto"/>
          <p:cNvCxnSpPr/>
          <p:nvPr/>
        </p:nvCxnSpPr>
        <p:spPr>
          <a:xfrm rot="5400000" flipH="1" flipV="1">
            <a:off x="3928269" y="4990307"/>
            <a:ext cx="0" cy="1573212"/>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1" name="70 Elipse"/>
          <p:cNvSpPr/>
          <p:nvPr/>
        </p:nvSpPr>
        <p:spPr>
          <a:xfrm>
            <a:off x="5286380" y="4714884"/>
            <a:ext cx="2428892" cy="714380"/>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CURP</a:t>
            </a:r>
          </a:p>
        </p:txBody>
      </p:sp>
      <p:cxnSp>
        <p:nvCxnSpPr>
          <p:cNvPr id="72" name="71 Conector recto"/>
          <p:cNvCxnSpPr>
            <a:stCxn id="0" idx="2"/>
            <a:endCxn id="0" idx="2"/>
          </p:cNvCxnSpPr>
          <p:nvPr/>
        </p:nvCxnSpPr>
        <p:spPr>
          <a:xfrm rot="10800000">
            <a:off x="4225925" y="4143375"/>
            <a:ext cx="1060450" cy="928688"/>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2" name="81 Elipse"/>
          <p:cNvSpPr/>
          <p:nvPr/>
        </p:nvSpPr>
        <p:spPr>
          <a:xfrm>
            <a:off x="6215074" y="3714752"/>
            <a:ext cx="2428892" cy="714380"/>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RFC</a:t>
            </a:r>
          </a:p>
        </p:txBody>
      </p:sp>
      <p:cxnSp>
        <p:nvCxnSpPr>
          <p:cNvPr id="83" name="82 Conector recto"/>
          <p:cNvCxnSpPr>
            <a:stCxn id="0" idx="2"/>
            <a:endCxn id="0" idx="3"/>
          </p:cNvCxnSpPr>
          <p:nvPr/>
        </p:nvCxnSpPr>
        <p:spPr>
          <a:xfrm rot="10800000">
            <a:off x="5378450" y="3714750"/>
            <a:ext cx="836613" cy="357188"/>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87 Conector recto de flecha"/>
          <p:cNvCxnSpPr>
            <a:stCxn id="96" idx="0"/>
            <a:endCxn id="82" idx="5"/>
          </p:cNvCxnSpPr>
          <p:nvPr/>
        </p:nvCxnSpPr>
        <p:spPr>
          <a:xfrm rot="5400000" flipH="1" flipV="1">
            <a:off x="7316788" y="5029200"/>
            <a:ext cx="1676400" cy="266700"/>
          </a:xfrm>
          <a:prstGeom prst="straightConnector1">
            <a:avLst/>
          </a:prstGeom>
          <a:ln w="5715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91" name="90 Conector recto de flecha"/>
          <p:cNvCxnSpPr>
            <a:stCxn id="96" idx="0"/>
            <a:endCxn id="71" idx="5"/>
          </p:cNvCxnSpPr>
          <p:nvPr/>
        </p:nvCxnSpPr>
        <p:spPr>
          <a:xfrm rot="16200000" flipV="1">
            <a:off x="7352506" y="5331619"/>
            <a:ext cx="676275" cy="661988"/>
          </a:xfrm>
          <a:prstGeom prst="straightConnector1">
            <a:avLst/>
          </a:prstGeom>
          <a:ln w="5715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96" name="4 CuadroTexto"/>
          <p:cNvSpPr txBox="1">
            <a:spLocks noChangeArrowheads="1"/>
          </p:cNvSpPr>
          <p:nvPr/>
        </p:nvSpPr>
        <p:spPr bwMode="auto">
          <a:xfrm>
            <a:off x="7254875" y="6000750"/>
            <a:ext cx="1531938" cy="646113"/>
          </a:xfrm>
          <a:prstGeom prst="rect">
            <a:avLst/>
          </a:prstGeom>
          <a:noFill/>
          <a:ln w="9525">
            <a:noFill/>
            <a:miter lim="800000"/>
            <a:headEnd/>
            <a:tailEnd/>
          </a:ln>
        </p:spPr>
        <p:txBody>
          <a:bodyPr wrap="none">
            <a:spAutoFit/>
          </a:bodyPr>
          <a:lstStyle/>
          <a:p>
            <a:pPr marL="342900" indent="-342900" algn="ctr"/>
            <a:r>
              <a:rPr lang="es-ES" b="1" i="1">
                <a:solidFill>
                  <a:srgbClr val="00B050"/>
                </a:solidFill>
              </a:rPr>
              <a:t>Llaves </a:t>
            </a:r>
          </a:p>
          <a:p>
            <a:pPr marL="342900" indent="-342900" algn="ctr"/>
            <a:r>
              <a:rPr lang="es-ES" b="1" i="1">
                <a:solidFill>
                  <a:srgbClr val="00B050"/>
                </a:solidFill>
              </a:rPr>
              <a:t>secundarias</a:t>
            </a:r>
            <a:endParaRPr lang="es-MX" b="1" i="1">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par>
                          <p:cTn id="29" fill="hold">
                            <p:stCondLst>
                              <p:cond delay="2500"/>
                            </p:stCondLst>
                            <p:childTnLst>
                              <p:par>
                                <p:cTn id="30" presetID="10" presetClass="entr" presetSubtype="0" fill="hold"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par>
                          <p:cTn id="33" fill="hold">
                            <p:stCondLst>
                              <p:cond delay="3000"/>
                            </p:stCondLst>
                            <p:childTnLst>
                              <p:par>
                                <p:cTn id="34" presetID="10" presetClass="entr" presetSubtype="0" fill="hold" nodeType="after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childTnLst>
                          </p:cTn>
                        </p:par>
                        <p:par>
                          <p:cTn id="37" fill="hold">
                            <p:stCondLst>
                              <p:cond delay="3500"/>
                            </p:stCondLst>
                            <p:childTnLst>
                              <p:par>
                                <p:cTn id="38" presetID="10" presetClass="entr" presetSubtype="0" fill="hold" nodeType="after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500"/>
                                        <p:tgtEl>
                                          <p:spTgt spid="26"/>
                                        </p:tgtEl>
                                      </p:cBhvr>
                                    </p:animEffect>
                                  </p:childTnLst>
                                </p:cTn>
                              </p:par>
                            </p:childTnLst>
                          </p:cTn>
                        </p:par>
                        <p:par>
                          <p:cTn id="41" fill="hold">
                            <p:stCondLst>
                              <p:cond delay="4000"/>
                            </p:stCondLst>
                            <p:childTnLst>
                              <p:par>
                                <p:cTn id="42" presetID="10" presetClass="entr" presetSubtype="0" fill="hold" nodeType="after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500"/>
                                        <p:tgtEl>
                                          <p:spTgt spid="33"/>
                                        </p:tgtEl>
                                      </p:cBhvr>
                                    </p:animEffect>
                                  </p:childTnLst>
                                </p:cTn>
                              </p:par>
                            </p:childTnLst>
                          </p:cTn>
                        </p:par>
                        <p:par>
                          <p:cTn id="45" fill="hold">
                            <p:stCondLst>
                              <p:cond delay="4500"/>
                            </p:stCondLst>
                            <p:childTnLst>
                              <p:par>
                                <p:cTn id="46" presetID="10" presetClass="entr" presetSubtype="0" fill="hold" nodeType="after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500"/>
                                        <p:tgtEl>
                                          <p:spTgt spid="3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70"/>
                                        </p:tgtEl>
                                        <p:attrNameLst>
                                          <p:attrName>style.visibility</p:attrName>
                                        </p:attrNameLst>
                                      </p:cBhvr>
                                      <p:to>
                                        <p:strVal val="visible"/>
                                      </p:to>
                                    </p:set>
                                    <p:animEffect transition="in" filter="wipe(left)">
                                      <p:cBhvr>
                                        <p:cTn id="53" dur="500"/>
                                        <p:tgtEl>
                                          <p:spTgt spid="7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71"/>
                                        </p:tgtEl>
                                        <p:attrNameLst>
                                          <p:attrName>style.visibility</p:attrName>
                                        </p:attrNameLst>
                                      </p:cBhvr>
                                      <p:to>
                                        <p:strVal val="visible"/>
                                      </p:to>
                                    </p:set>
                                    <p:animEffect transition="in" filter="fade">
                                      <p:cBhvr>
                                        <p:cTn id="58" dur="500"/>
                                        <p:tgtEl>
                                          <p:spTgt spid="71"/>
                                        </p:tgtEl>
                                      </p:cBhvr>
                                    </p:animEffect>
                                  </p:childTnLst>
                                </p:cTn>
                              </p:par>
                            </p:childTnLst>
                          </p:cTn>
                        </p:par>
                        <p:par>
                          <p:cTn id="59" fill="hold">
                            <p:stCondLst>
                              <p:cond delay="500"/>
                            </p:stCondLst>
                            <p:childTnLst>
                              <p:par>
                                <p:cTn id="60" presetID="10" presetClass="entr" presetSubtype="0" fill="hold" nodeType="afterEffect">
                                  <p:stCondLst>
                                    <p:cond delay="0"/>
                                  </p:stCondLst>
                                  <p:childTnLst>
                                    <p:set>
                                      <p:cBhvr>
                                        <p:cTn id="61" dur="1" fill="hold">
                                          <p:stCondLst>
                                            <p:cond delay="0"/>
                                          </p:stCondLst>
                                        </p:cTn>
                                        <p:tgtEl>
                                          <p:spTgt spid="72"/>
                                        </p:tgtEl>
                                        <p:attrNameLst>
                                          <p:attrName>style.visibility</p:attrName>
                                        </p:attrNameLst>
                                      </p:cBhvr>
                                      <p:to>
                                        <p:strVal val="visible"/>
                                      </p:to>
                                    </p:set>
                                    <p:animEffect transition="in" filter="fade">
                                      <p:cBhvr>
                                        <p:cTn id="62" dur="500"/>
                                        <p:tgtEl>
                                          <p:spTgt spid="72"/>
                                        </p:tgtEl>
                                      </p:cBhvr>
                                    </p:animEffect>
                                  </p:childTnLst>
                                </p:cTn>
                              </p:par>
                            </p:childTnLst>
                          </p:cTn>
                        </p:par>
                        <p:par>
                          <p:cTn id="63" fill="hold">
                            <p:stCondLst>
                              <p:cond delay="1000"/>
                            </p:stCondLst>
                            <p:childTnLst>
                              <p:par>
                                <p:cTn id="64" presetID="10" presetClass="entr" presetSubtype="0" fill="hold" nodeType="afterEffect">
                                  <p:stCondLst>
                                    <p:cond delay="0"/>
                                  </p:stCondLst>
                                  <p:childTnLst>
                                    <p:set>
                                      <p:cBhvr>
                                        <p:cTn id="65" dur="1" fill="hold">
                                          <p:stCondLst>
                                            <p:cond delay="0"/>
                                          </p:stCondLst>
                                        </p:cTn>
                                        <p:tgtEl>
                                          <p:spTgt spid="82"/>
                                        </p:tgtEl>
                                        <p:attrNameLst>
                                          <p:attrName>style.visibility</p:attrName>
                                        </p:attrNameLst>
                                      </p:cBhvr>
                                      <p:to>
                                        <p:strVal val="visible"/>
                                      </p:to>
                                    </p:set>
                                    <p:animEffect transition="in" filter="fade">
                                      <p:cBhvr>
                                        <p:cTn id="66" dur="500"/>
                                        <p:tgtEl>
                                          <p:spTgt spid="82"/>
                                        </p:tgtEl>
                                      </p:cBhvr>
                                    </p:animEffect>
                                  </p:childTnLst>
                                </p:cTn>
                              </p:par>
                            </p:childTnLst>
                          </p:cTn>
                        </p:par>
                        <p:par>
                          <p:cTn id="67" fill="hold">
                            <p:stCondLst>
                              <p:cond delay="1500"/>
                            </p:stCondLst>
                            <p:childTnLst>
                              <p:par>
                                <p:cTn id="68" presetID="10" presetClass="entr" presetSubtype="0" fill="hold" nodeType="afterEffect">
                                  <p:stCondLst>
                                    <p:cond delay="0"/>
                                  </p:stCondLst>
                                  <p:childTnLst>
                                    <p:set>
                                      <p:cBhvr>
                                        <p:cTn id="69" dur="1" fill="hold">
                                          <p:stCondLst>
                                            <p:cond delay="0"/>
                                          </p:stCondLst>
                                        </p:cTn>
                                        <p:tgtEl>
                                          <p:spTgt spid="83"/>
                                        </p:tgtEl>
                                        <p:attrNameLst>
                                          <p:attrName>style.visibility</p:attrName>
                                        </p:attrNameLst>
                                      </p:cBhvr>
                                      <p:to>
                                        <p:strVal val="visible"/>
                                      </p:to>
                                    </p:set>
                                    <p:animEffect transition="in" filter="fade">
                                      <p:cBhvr>
                                        <p:cTn id="70" dur="500"/>
                                        <p:tgtEl>
                                          <p:spTgt spid="8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96"/>
                                        </p:tgtEl>
                                        <p:attrNameLst>
                                          <p:attrName>style.visibility</p:attrName>
                                        </p:attrNameLst>
                                      </p:cBhvr>
                                      <p:to>
                                        <p:strVal val="visible"/>
                                      </p:to>
                                    </p:set>
                                    <p:animEffect transition="in" filter="wipe(down)">
                                      <p:cBhvr>
                                        <p:cTn id="75" dur="500"/>
                                        <p:tgtEl>
                                          <p:spTgt spid="96"/>
                                        </p:tgtEl>
                                      </p:cBhvr>
                                    </p:animEffect>
                                  </p:childTnLst>
                                </p:cTn>
                              </p:par>
                              <p:par>
                                <p:cTn id="76" presetID="22" presetClass="entr" presetSubtype="4" fill="hold" nodeType="withEffect">
                                  <p:stCondLst>
                                    <p:cond delay="0"/>
                                  </p:stCondLst>
                                  <p:childTnLst>
                                    <p:set>
                                      <p:cBhvr>
                                        <p:cTn id="77" dur="1" fill="hold">
                                          <p:stCondLst>
                                            <p:cond delay="0"/>
                                          </p:stCondLst>
                                        </p:cTn>
                                        <p:tgtEl>
                                          <p:spTgt spid="88"/>
                                        </p:tgtEl>
                                        <p:attrNameLst>
                                          <p:attrName>style.visibility</p:attrName>
                                        </p:attrNameLst>
                                      </p:cBhvr>
                                      <p:to>
                                        <p:strVal val="visible"/>
                                      </p:to>
                                    </p:set>
                                    <p:animEffect transition="in" filter="wipe(down)">
                                      <p:cBhvr>
                                        <p:cTn id="78" dur="500"/>
                                        <p:tgtEl>
                                          <p:spTgt spid="88"/>
                                        </p:tgtEl>
                                      </p:cBhvr>
                                    </p:animEffect>
                                  </p:childTnLst>
                                </p:cTn>
                              </p:par>
                              <p:par>
                                <p:cTn id="79" presetID="22" presetClass="entr" presetSubtype="4" fill="hold" nodeType="withEffect">
                                  <p:stCondLst>
                                    <p:cond delay="0"/>
                                  </p:stCondLst>
                                  <p:childTnLst>
                                    <p:set>
                                      <p:cBhvr>
                                        <p:cTn id="80" dur="1" fill="hold">
                                          <p:stCondLst>
                                            <p:cond delay="0"/>
                                          </p:stCondLst>
                                        </p:cTn>
                                        <p:tgtEl>
                                          <p:spTgt spid="91"/>
                                        </p:tgtEl>
                                        <p:attrNameLst>
                                          <p:attrName>style.visibility</p:attrName>
                                        </p:attrNameLst>
                                      </p:cBhvr>
                                      <p:to>
                                        <p:strVal val="visible"/>
                                      </p:to>
                                    </p:set>
                                    <p:animEffect transition="in" filter="wipe(down)">
                                      <p:cBhvr>
                                        <p:cTn id="81"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4 CuadroTexto"/>
          <p:cNvSpPr txBox="1">
            <a:spLocks noChangeArrowheads="1"/>
          </p:cNvSpPr>
          <p:nvPr/>
        </p:nvSpPr>
        <p:spPr bwMode="auto">
          <a:xfrm>
            <a:off x="214313" y="895350"/>
            <a:ext cx="3943350" cy="461963"/>
          </a:xfrm>
          <a:prstGeom prst="rect">
            <a:avLst/>
          </a:prstGeom>
          <a:noFill/>
          <a:ln w="9525">
            <a:noFill/>
            <a:miter lim="800000"/>
            <a:headEnd/>
            <a:tailEnd/>
          </a:ln>
        </p:spPr>
        <p:txBody>
          <a:bodyPr wrap="none">
            <a:spAutoFit/>
          </a:bodyPr>
          <a:lstStyle/>
          <a:p>
            <a:pPr marL="342900" indent="-342900"/>
            <a:r>
              <a:rPr lang="es-ES" sz="2400" b="1"/>
              <a:t>Ejercicios del Modelo E-R</a:t>
            </a:r>
            <a:endParaRPr lang="es-MX" sz="2400" b="1"/>
          </a:p>
        </p:txBody>
      </p:sp>
      <p:sp>
        <p:nvSpPr>
          <p:cNvPr id="5" name="4 CuadroTexto"/>
          <p:cNvSpPr txBox="1"/>
          <p:nvPr/>
        </p:nvSpPr>
        <p:spPr>
          <a:xfrm>
            <a:off x="214313" y="3571875"/>
            <a:ext cx="8715375" cy="2308225"/>
          </a:xfrm>
          <a:prstGeom prst="rect">
            <a:avLst/>
          </a:prstGeom>
          <a:noFill/>
        </p:spPr>
        <p:txBody>
          <a:bodyPr>
            <a:spAutoFit/>
          </a:bodyPr>
          <a:lstStyle/>
          <a:p>
            <a:pPr>
              <a:defRPr/>
            </a:pPr>
            <a:r>
              <a:rPr lang="es-ES" b="1" dirty="0"/>
              <a:t>Elaborar los modelos y diagramas considerando:</a:t>
            </a:r>
          </a:p>
          <a:p>
            <a:pPr>
              <a:defRPr/>
            </a:pPr>
            <a:endParaRPr lang="es-ES" dirty="0"/>
          </a:p>
          <a:p>
            <a:pPr marL="360000" indent="-360000">
              <a:buFont typeface="Arial" pitchFamily="34" charset="0"/>
              <a:buChar char="•"/>
              <a:defRPr/>
            </a:pPr>
            <a:r>
              <a:rPr lang="es-ES" b="1" dirty="0">
                <a:solidFill>
                  <a:srgbClr val="FF0000"/>
                </a:solidFill>
              </a:rPr>
              <a:t>Análisis de requisitos</a:t>
            </a:r>
            <a:r>
              <a:rPr lang="es-ES" dirty="0"/>
              <a:t>: Determinar las entidades necesarias y sus atributos.</a:t>
            </a:r>
          </a:p>
          <a:p>
            <a:pPr marL="360000" indent="-360000">
              <a:buFont typeface="Arial" pitchFamily="34" charset="0"/>
              <a:buChar char="•"/>
              <a:defRPr/>
            </a:pPr>
            <a:r>
              <a:rPr lang="es-ES" dirty="0"/>
              <a:t>Utilizar la </a:t>
            </a:r>
            <a:r>
              <a:rPr lang="es-ES" b="1" dirty="0">
                <a:solidFill>
                  <a:srgbClr val="FF0000"/>
                </a:solidFill>
              </a:rPr>
              <a:t>simbología</a:t>
            </a:r>
            <a:r>
              <a:rPr lang="es-ES" dirty="0"/>
              <a:t> adecuada para la representación del modelo E-R.</a:t>
            </a:r>
          </a:p>
          <a:p>
            <a:pPr marL="360000" indent="-360000">
              <a:buFont typeface="Arial" pitchFamily="34" charset="0"/>
              <a:buChar char="•"/>
              <a:defRPr/>
            </a:pPr>
            <a:r>
              <a:rPr lang="es-ES" dirty="0"/>
              <a:t>Poner un nombre a la relación entre entidades.</a:t>
            </a:r>
          </a:p>
          <a:p>
            <a:pPr marL="360000" indent="-360000">
              <a:buFont typeface="Arial" pitchFamily="34" charset="0"/>
              <a:buChar char="•"/>
              <a:defRPr/>
            </a:pPr>
            <a:r>
              <a:rPr lang="es-ES" dirty="0"/>
              <a:t>En la simbología, considerar la </a:t>
            </a:r>
            <a:r>
              <a:rPr lang="es-ES" b="1" dirty="0" err="1">
                <a:solidFill>
                  <a:srgbClr val="FF0000"/>
                </a:solidFill>
              </a:rPr>
              <a:t>cardinalidad</a:t>
            </a:r>
            <a:r>
              <a:rPr lang="es-ES" dirty="0"/>
              <a:t> de las relaciones.</a:t>
            </a:r>
          </a:p>
          <a:p>
            <a:pPr marL="360000" indent="-360000">
              <a:buFont typeface="Arial" pitchFamily="34" charset="0"/>
              <a:buChar char="•"/>
              <a:defRPr/>
            </a:pPr>
            <a:r>
              <a:rPr lang="es-ES" dirty="0"/>
              <a:t>En la simbología, considerar la </a:t>
            </a:r>
            <a:r>
              <a:rPr lang="es-ES" b="1" dirty="0">
                <a:solidFill>
                  <a:srgbClr val="FF0000"/>
                </a:solidFill>
              </a:rPr>
              <a:t>llave primaria</a:t>
            </a:r>
          </a:p>
          <a:p>
            <a:pPr marL="360000" indent="-360000">
              <a:buFont typeface="Arial" pitchFamily="34" charset="0"/>
              <a:buChar char="•"/>
              <a:defRPr/>
            </a:pPr>
            <a:r>
              <a:rPr lang="es-ES" dirty="0"/>
              <a:t>Definir el </a:t>
            </a:r>
            <a:r>
              <a:rPr lang="es-ES" b="1" dirty="0">
                <a:solidFill>
                  <a:srgbClr val="FF0000"/>
                </a:solidFill>
              </a:rPr>
              <a:t>grado de la relación</a:t>
            </a:r>
            <a:r>
              <a:rPr lang="es-ES" dirty="0"/>
              <a:t> en cada caso.</a:t>
            </a:r>
          </a:p>
        </p:txBody>
      </p:sp>
      <p:sp>
        <p:nvSpPr>
          <p:cNvPr id="74756" name="8 CuadroTexto"/>
          <p:cNvSpPr txBox="1">
            <a:spLocks noChangeArrowheads="1"/>
          </p:cNvSpPr>
          <p:nvPr/>
        </p:nvSpPr>
        <p:spPr bwMode="auto">
          <a:xfrm>
            <a:off x="1357313" y="1714500"/>
            <a:ext cx="6199187" cy="1477963"/>
          </a:xfrm>
          <a:prstGeom prst="rect">
            <a:avLst/>
          </a:prstGeom>
          <a:noFill/>
          <a:ln w="9525">
            <a:noFill/>
            <a:miter lim="800000"/>
            <a:headEnd/>
            <a:tailEnd/>
          </a:ln>
        </p:spPr>
        <p:txBody>
          <a:bodyPr wrap="none">
            <a:spAutoFit/>
          </a:bodyPr>
          <a:lstStyle/>
          <a:p>
            <a:pPr marL="342900" indent="-342900">
              <a:buFont typeface="Lucida Sans Unicode" pitchFamily="34" charset="0"/>
              <a:buAutoNum type="arabicPeriod"/>
            </a:pPr>
            <a:r>
              <a:rPr lang="es-ES"/>
              <a:t>Horarios de clases.</a:t>
            </a:r>
          </a:p>
          <a:p>
            <a:pPr marL="342900" indent="-342900">
              <a:buFont typeface="Lucida Sans Unicode" pitchFamily="34" charset="0"/>
              <a:buAutoNum type="arabicPeriod"/>
            </a:pPr>
            <a:r>
              <a:rPr lang="es-ES"/>
              <a:t>Control de un inventario (Altas y bajas).</a:t>
            </a:r>
          </a:p>
          <a:p>
            <a:pPr marL="342900" indent="-342900">
              <a:buFont typeface="Lucida Sans Unicode" pitchFamily="34" charset="0"/>
              <a:buAutoNum type="arabicPeriod"/>
            </a:pPr>
            <a:r>
              <a:rPr lang="es-ES"/>
              <a:t>Recepción, Atención y Alta de pacientes en un hospital.</a:t>
            </a:r>
          </a:p>
          <a:p>
            <a:pPr marL="342900" indent="-342900">
              <a:buFont typeface="Lucida Sans Unicode" pitchFamily="34" charset="0"/>
              <a:buAutoNum type="arabicPeriod"/>
            </a:pPr>
            <a:r>
              <a:rPr lang="es-ES"/>
              <a:t>Control de calificaciones de los alumnos.</a:t>
            </a:r>
          </a:p>
          <a:p>
            <a:pPr marL="342900" indent="-342900">
              <a:buFont typeface="Lucida Sans Unicode" pitchFamily="34" charset="0"/>
              <a:buAutoNum type="arabicPeriod"/>
            </a:pPr>
            <a:r>
              <a:rPr lang="es-ES"/>
              <a:t>Inscripción de alumnos.</a:t>
            </a:r>
          </a:p>
        </p:txBody>
      </p:sp>
      <p:sp>
        <p:nvSpPr>
          <p:cNvPr id="74757" name="4 CuadroTexto"/>
          <p:cNvSpPr txBox="1">
            <a:spLocks noChangeArrowheads="1"/>
          </p:cNvSpPr>
          <p:nvPr/>
        </p:nvSpPr>
        <p:spPr bwMode="auto">
          <a:xfrm>
            <a:off x="214313" y="131763"/>
            <a:ext cx="7419019" cy="461665"/>
          </a:xfrm>
          <a:prstGeom prst="rect">
            <a:avLst/>
          </a:prstGeom>
          <a:noFill/>
          <a:ln w="9525">
            <a:noFill/>
            <a:miter lim="800000"/>
            <a:headEnd/>
            <a:tailEnd/>
          </a:ln>
        </p:spPr>
        <p:txBody>
          <a:bodyPr wrap="none">
            <a:spAutoFit/>
          </a:bodyPr>
          <a:lstStyle/>
          <a:p>
            <a:pPr marL="342900" indent="-342900"/>
            <a:r>
              <a:rPr lang="es-ES_tradnl" sz="2400" b="1" dirty="0"/>
              <a:t>Participación de la UNIDAD II (3) – </a:t>
            </a:r>
            <a:r>
              <a:rPr lang="es-ES_tradnl" sz="1500" dirty="0"/>
              <a:t>Para entregar en papel :</a:t>
            </a:r>
            <a:endParaRPr lang="es-MX" sz="1500" b="1" dirty="0">
              <a:solidFill>
                <a:srgbClr val="FF00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4 CuadroTexto"/>
          <p:cNvSpPr txBox="1">
            <a:spLocks noChangeArrowheads="1"/>
          </p:cNvSpPr>
          <p:nvPr/>
        </p:nvSpPr>
        <p:spPr bwMode="auto">
          <a:xfrm>
            <a:off x="214313" y="895350"/>
            <a:ext cx="3943350" cy="461963"/>
          </a:xfrm>
          <a:prstGeom prst="rect">
            <a:avLst/>
          </a:prstGeom>
          <a:noFill/>
          <a:ln w="9525">
            <a:noFill/>
            <a:miter lim="800000"/>
            <a:headEnd/>
            <a:tailEnd/>
          </a:ln>
        </p:spPr>
        <p:txBody>
          <a:bodyPr wrap="none">
            <a:spAutoFit/>
          </a:bodyPr>
          <a:lstStyle/>
          <a:p>
            <a:pPr marL="342900" indent="-342900"/>
            <a:r>
              <a:rPr lang="es-ES" sz="2400" b="1"/>
              <a:t>Ejercicios del Modelo E-R</a:t>
            </a:r>
            <a:endParaRPr lang="es-MX" sz="2400" b="1"/>
          </a:p>
        </p:txBody>
      </p:sp>
      <p:sp>
        <p:nvSpPr>
          <p:cNvPr id="5" name="4 CuadroTexto"/>
          <p:cNvSpPr txBox="1"/>
          <p:nvPr/>
        </p:nvSpPr>
        <p:spPr>
          <a:xfrm>
            <a:off x="214313" y="3571875"/>
            <a:ext cx="8715375" cy="2308225"/>
          </a:xfrm>
          <a:prstGeom prst="rect">
            <a:avLst/>
          </a:prstGeom>
          <a:noFill/>
        </p:spPr>
        <p:txBody>
          <a:bodyPr>
            <a:spAutoFit/>
          </a:bodyPr>
          <a:lstStyle/>
          <a:p>
            <a:pPr>
              <a:defRPr/>
            </a:pPr>
            <a:r>
              <a:rPr lang="es-ES" b="1" dirty="0"/>
              <a:t>Elaborar los modelos y diagramas considerando:</a:t>
            </a:r>
          </a:p>
          <a:p>
            <a:pPr>
              <a:defRPr/>
            </a:pPr>
            <a:endParaRPr lang="es-ES" dirty="0"/>
          </a:p>
          <a:p>
            <a:pPr marL="360000" indent="-360000">
              <a:buFont typeface="Arial" pitchFamily="34" charset="0"/>
              <a:buChar char="•"/>
              <a:defRPr/>
            </a:pPr>
            <a:r>
              <a:rPr lang="es-ES" b="1" dirty="0">
                <a:solidFill>
                  <a:srgbClr val="FF0000"/>
                </a:solidFill>
              </a:rPr>
              <a:t>Análisis de requisitos</a:t>
            </a:r>
            <a:r>
              <a:rPr lang="es-ES" dirty="0"/>
              <a:t>: Determinar las entidades necesarias y sus atributos.</a:t>
            </a:r>
          </a:p>
          <a:p>
            <a:pPr marL="360000" indent="-360000">
              <a:buFont typeface="Arial" pitchFamily="34" charset="0"/>
              <a:buChar char="•"/>
              <a:defRPr/>
            </a:pPr>
            <a:r>
              <a:rPr lang="es-ES" dirty="0"/>
              <a:t>Utilizar la </a:t>
            </a:r>
            <a:r>
              <a:rPr lang="es-ES" b="1" dirty="0">
                <a:solidFill>
                  <a:srgbClr val="FF0000"/>
                </a:solidFill>
              </a:rPr>
              <a:t>simbología</a:t>
            </a:r>
            <a:r>
              <a:rPr lang="es-ES" dirty="0"/>
              <a:t> adecuada para la representación del modelo E-R.</a:t>
            </a:r>
          </a:p>
          <a:p>
            <a:pPr marL="360000" indent="-360000">
              <a:buFont typeface="Arial" pitchFamily="34" charset="0"/>
              <a:buChar char="•"/>
              <a:defRPr/>
            </a:pPr>
            <a:r>
              <a:rPr lang="es-ES" dirty="0"/>
              <a:t>Poner un nombre a la relación entre entidades.</a:t>
            </a:r>
          </a:p>
          <a:p>
            <a:pPr marL="360000" indent="-360000">
              <a:buFont typeface="Arial" pitchFamily="34" charset="0"/>
              <a:buChar char="•"/>
              <a:defRPr/>
            </a:pPr>
            <a:r>
              <a:rPr lang="es-ES" dirty="0"/>
              <a:t>En la simbología, considerar la </a:t>
            </a:r>
            <a:r>
              <a:rPr lang="es-ES" b="1" dirty="0" err="1">
                <a:solidFill>
                  <a:srgbClr val="FF0000"/>
                </a:solidFill>
              </a:rPr>
              <a:t>cardinalidad</a:t>
            </a:r>
            <a:r>
              <a:rPr lang="es-ES" dirty="0"/>
              <a:t> de las relaciones.</a:t>
            </a:r>
          </a:p>
          <a:p>
            <a:pPr marL="360000" indent="-360000">
              <a:buFont typeface="Arial" pitchFamily="34" charset="0"/>
              <a:buChar char="•"/>
              <a:defRPr/>
            </a:pPr>
            <a:r>
              <a:rPr lang="es-ES" dirty="0"/>
              <a:t>En la simbología, considerar la </a:t>
            </a:r>
            <a:r>
              <a:rPr lang="es-ES" b="1" dirty="0">
                <a:solidFill>
                  <a:srgbClr val="FF0000"/>
                </a:solidFill>
              </a:rPr>
              <a:t>llave primaria</a:t>
            </a:r>
          </a:p>
          <a:p>
            <a:pPr marL="360000" indent="-360000">
              <a:buFont typeface="Arial" pitchFamily="34" charset="0"/>
              <a:buChar char="•"/>
              <a:defRPr/>
            </a:pPr>
            <a:r>
              <a:rPr lang="es-ES" dirty="0"/>
              <a:t>Definir el </a:t>
            </a:r>
            <a:r>
              <a:rPr lang="es-ES" b="1" dirty="0">
                <a:solidFill>
                  <a:srgbClr val="FF0000"/>
                </a:solidFill>
              </a:rPr>
              <a:t>grado de cada relación</a:t>
            </a:r>
            <a:r>
              <a:rPr lang="es-ES" dirty="0"/>
              <a:t>.</a:t>
            </a:r>
          </a:p>
        </p:txBody>
      </p:sp>
      <p:sp>
        <p:nvSpPr>
          <p:cNvPr id="75780" name="4 CuadroTexto"/>
          <p:cNvSpPr txBox="1">
            <a:spLocks noChangeArrowheads="1"/>
          </p:cNvSpPr>
          <p:nvPr/>
        </p:nvSpPr>
        <p:spPr bwMode="auto">
          <a:xfrm>
            <a:off x="214313" y="131763"/>
            <a:ext cx="7696338" cy="461665"/>
          </a:xfrm>
          <a:prstGeom prst="rect">
            <a:avLst/>
          </a:prstGeom>
          <a:noFill/>
          <a:ln w="9525">
            <a:noFill/>
            <a:miter lim="800000"/>
            <a:headEnd/>
            <a:tailEnd/>
          </a:ln>
        </p:spPr>
        <p:txBody>
          <a:bodyPr wrap="none">
            <a:spAutoFit/>
          </a:bodyPr>
          <a:lstStyle/>
          <a:p>
            <a:pPr marL="342900" indent="-342900"/>
            <a:r>
              <a:rPr lang="es-ES_tradnl" sz="2400" b="1" dirty="0"/>
              <a:t>Participación de la UNIDAD II (3) – </a:t>
            </a:r>
            <a:r>
              <a:rPr lang="es-ES_tradnl" sz="1500" dirty="0"/>
              <a:t>Para entregar en papel el </a:t>
            </a:r>
            <a:endParaRPr lang="es-MX" sz="1500" b="1" dirty="0">
              <a:solidFill>
                <a:srgbClr val="FF0000"/>
              </a:solidFill>
            </a:endParaRPr>
          </a:p>
        </p:txBody>
      </p:sp>
      <p:sp>
        <p:nvSpPr>
          <p:cNvPr id="9" name="8 CuadroTexto"/>
          <p:cNvSpPr txBox="1"/>
          <p:nvPr/>
        </p:nvSpPr>
        <p:spPr>
          <a:xfrm>
            <a:off x="1357313" y="1714500"/>
            <a:ext cx="6199187" cy="1477963"/>
          </a:xfrm>
          <a:prstGeom prst="rect">
            <a:avLst/>
          </a:prstGeom>
          <a:noFill/>
        </p:spPr>
        <p:txBody>
          <a:bodyPr wrap="none">
            <a:spAutoFit/>
          </a:bodyPr>
          <a:lstStyle/>
          <a:p>
            <a:pPr marL="342900" indent="-342900">
              <a:buFont typeface="+mj-lt"/>
              <a:buAutoNum type="arabicPeriod"/>
              <a:defRPr/>
            </a:pPr>
            <a:r>
              <a:rPr lang="es-ES" b="1" dirty="0">
                <a:solidFill>
                  <a:schemeClr val="tx2">
                    <a:lumMod val="60000"/>
                    <a:lumOff val="40000"/>
                  </a:schemeClr>
                </a:solidFill>
              </a:rPr>
              <a:t>Horarios de clases.</a:t>
            </a:r>
          </a:p>
          <a:p>
            <a:pPr marL="342900" indent="-342900">
              <a:buFont typeface="+mj-lt"/>
              <a:buAutoNum type="arabicPeriod"/>
              <a:defRPr/>
            </a:pPr>
            <a:r>
              <a:rPr lang="es-ES" dirty="0"/>
              <a:t>Control de un inventario (Altas y bajas).</a:t>
            </a:r>
          </a:p>
          <a:p>
            <a:pPr marL="342900" indent="-342900">
              <a:buFont typeface="+mj-lt"/>
              <a:buAutoNum type="arabicPeriod"/>
              <a:defRPr/>
            </a:pPr>
            <a:r>
              <a:rPr lang="es-ES" dirty="0"/>
              <a:t>Recepción, Atención y Alta de pacientes en un hospital.</a:t>
            </a:r>
          </a:p>
          <a:p>
            <a:pPr marL="342900" indent="-342900">
              <a:buFont typeface="+mj-lt"/>
              <a:buAutoNum type="arabicPeriod"/>
              <a:defRPr/>
            </a:pPr>
            <a:r>
              <a:rPr lang="es-ES" dirty="0"/>
              <a:t>Control de calificaciones de los alumnos.</a:t>
            </a:r>
          </a:p>
          <a:p>
            <a:pPr marL="342900" indent="-342900">
              <a:buFont typeface="+mj-lt"/>
              <a:buAutoNum type="arabicPeriod"/>
              <a:defRPr/>
            </a:pPr>
            <a:r>
              <a:rPr lang="es-ES" dirty="0"/>
              <a:t>Inscripción de alumnos.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4 CuadroTexto"/>
          <p:cNvSpPr txBox="1">
            <a:spLocks noChangeArrowheads="1"/>
          </p:cNvSpPr>
          <p:nvPr/>
        </p:nvSpPr>
        <p:spPr bwMode="auto">
          <a:xfrm>
            <a:off x="285750" y="1214438"/>
            <a:ext cx="1876425" cy="461962"/>
          </a:xfrm>
          <a:prstGeom prst="rect">
            <a:avLst/>
          </a:prstGeom>
          <a:noFill/>
          <a:ln w="9525">
            <a:noFill/>
            <a:miter lim="800000"/>
            <a:headEnd/>
            <a:tailEnd/>
          </a:ln>
        </p:spPr>
        <p:txBody>
          <a:bodyPr wrap="none">
            <a:spAutoFit/>
          </a:bodyPr>
          <a:lstStyle/>
          <a:p>
            <a:pPr marL="342900" indent="-342900"/>
            <a:r>
              <a:rPr lang="es-ES" sz="2400" b="1">
                <a:solidFill>
                  <a:srgbClr val="FF0000"/>
                </a:solidFill>
              </a:rPr>
              <a:t>Modelo E-R</a:t>
            </a:r>
            <a:endParaRPr lang="es-MX" sz="2400" b="1">
              <a:solidFill>
                <a:srgbClr val="FF0000"/>
              </a:solidFill>
            </a:endParaRPr>
          </a:p>
        </p:txBody>
      </p:sp>
      <p:sp>
        <p:nvSpPr>
          <p:cNvPr id="76803" name="4 CuadroTexto"/>
          <p:cNvSpPr txBox="1">
            <a:spLocks noChangeArrowheads="1"/>
          </p:cNvSpPr>
          <p:nvPr/>
        </p:nvSpPr>
        <p:spPr bwMode="auto">
          <a:xfrm>
            <a:off x="214313" y="131763"/>
            <a:ext cx="7215437" cy="461665"/>
          </a:xfrm>
          <a:prstGeom prst="rect">
            <a:avLst/>
          </a:prstGeom>
          <a:noFill/>
          <a:ln w="9525">
            <a:noFill/>
            <a:miter lim="800000"/>
            <a:headEnd/>
            <a:tailEnd/>
          </a:ln>
        </p:spPr>
        <p:txBody>
          <a:bodyPr wrap="none">
            <a:spAutoFit/>
          </a:bodyPr>
          <a:lstStyle/>
          <a:p>
            <a:pPr marL="342900" indent="-342900"/>
            <a:r>
              <a:rPr lang="es-ES_tradnl" sz="2400" b="1" dirty="0"/>
              <a:t>Participación de la UNIDAD II (3) – </a:t>
            </a:r>
            <a:r>
              <a:rPr lang="es-ES_tradnl" sz="1500" dirty="0"/>
              <a:t>Para entregar en papel</a:t>
            </a:r>
            <a:endParaRPr lang="es-MX" sz="1500" b="1" dirty="0">
              <a:solidFill>
                <a:srgbClr val="FF0000"/>
              </a:solidFill>
            </a:endParaRPr>
          </a:p>
        </p:txBody>
      </p:sp>
      <p:sp>
        <p:nvSpPr>
          <p:cNvPr id="76804" name="4 CuadroTexto"/>
          <p:cNvSpPr txBox="1">
            <a:spLocks noChangeArrowheads="1"/>
          </p:cNvSpPr>
          <p:nvPr/>
        </p:nvSpPr>
        <p:spPr bwMode="auto">
          <a:xfrm>
            <a:off x="3000375" y="714375"/>
            <a:ext cx="2922588" cy="461963"/>
          </a:xfrm>
          <a:prstGeom prst="rect">
            <a:avLst/>
          </a:prstGeom>
          <a:noFill/>
          <a:ln w="9525">
            <a:noFill/>
            <a:miter lim="800000"/>
            <a:headEnd/>
            <a:tailEnd/>
          </a:ln>
        </p:spPr>
        <p:txBody>
          <a:bodyPr wrap="none">
            <a:spAutoFit/>
          </a:bodyPr>
          <a:lstStyle/>
          <a:p>
            <a:pPr marL="342900" indent="-342900"/>
            <a:r>
              <a:rPr lang="es-ES" sz="2400" b="1"/>
              <a:t>Horarios de clases</a:t>
            </a:r>
            <a:endParaRPr lang="es-MX" sz="2400" b="1"/>
          </a:p>
        </p:txBody>
      </p:sp>
      <p:sp>
        <p:nvSpPr>
          <p:cNvPr id="76805" name="5 CuadroTexto"/>
          <p:cNvSpPr txBox="1">
            <a:spLocks noChangeArrowheads="1"/>
          </p:cNvSpPr>
          <p:nvPr/>
        </p:nvSpPr>
        <p:spPr bwMode="auto">
          <a:xfrm>
            <a:off x="71438" y="2138363"/>
            <a:ext cx="8929687" cy="3170237"/>
          </a:xfrm>
          <a:prstGeom prst="rect">
            <a:avLst/>
          </a:prstGeom>
          <a:noFill/>
          <a:ln w="9525">
            <a:noFill/>
            <a:miter lim="800000"/>
            <a:headEnd/>
            <a:tailEnd/>
          </a:ln>
        </p:spPr>
        <p:txBody>
          <a:bodyPr>
            <a:spAutoFit/>
          </a:bodyPr>
          <a:lstStyle/>
          <a:p>
            <a:pPr marL="457200" indent="-457200"/>
            <a:r>
              <a:rPr lang="es-ES" sz="2000" b="1"/>
              <a:t>Entidades:</a:t>
            </a:r>
          </a:p>
          <a:p>
            <a:pPr marL="457200" indent="-457200">
              <a:buFont typeface="Lucida Sans Unicode" pitchFamily="34" charset="0"/>
              <a:buAutoNum type="arabicPeriod"/>
            </a:pPr>
            <a:endParaRPr lang="es-ES" sz="2000" b="1"/>
          </a:p>
          <a:p>
            <a:pPr marL="914400" lvl="1" indent="-457200">
              <a:buFont typeface="Lucida Sans Unicode" pitchFamily="34" charset="0"/>
              <a:buAutoNum type="arabicPeriod"/>
            </a:pPr>
            <a:r>
              <a:rPr lang="es-ES" sz="2000" b="1">
                <a:solidFill>
                  <a:srgbClr val="FF0000"/>
                </a:solidFill>
              </a:rPr>
              <a:t>Carreras</a:t>
            </a:r>
            <a:r>
              <a:rPr lang="es-ES" sz="2000"/>
              <a:t> </a:t>
            </a:r>
            <a:r>
              <a:rPr lang="es-ES" sz="2000" i="1"/>
              <a:t>(cve_carrera, nombre_carrera)</a:t>
            </a:r>
          </a:p>
          <a:p>
            <a:pPr marL="914400" lvl="1" indent="-457200">
              <a:buFont typeface="Lucida Sans Unicode" pitchFamily="34" charset="0"/>
              <a:buAutoNum type="arabicPeriod"/>
            </a:pPr>
            <a:r>
              <a:rPr lang="es-ES" sz="2000" b="1">
                <a:solidFill>
                  <a:srgbClr val="FF0000"/>
                </a:solidFill>
              </a:rPr>
              <a:t>Grupos</a:t>
            </a:r>
            <a:r>
              <a:rPr lang="es-ES" sz="2000"/>
              <a:t> </a:t>
            </a:r>
            <a:r>
              <a:rPr lang="es-ES" sz="2000" i="1"/>
              <a:t>(cve_grupo, nombre_grupo, cve_carrera)</a:t>
            </a:r>
          </a:p>
          <a:p>
            <a:pPr marL="914400" lvl="1" indent="-457200">
              <a:buFont typeface="Lucida Sans Unicode" pitchFamily="34" charset="0"/>
              <a:buAutoNum type="arabicPeriod"/>
            </a:pPr>
            <a:r>
              <a:rPr lang="es-ES" sz="2000" b="1">
                <a:solidFill>
                  <a:srgbClr val="FF0000"/>
                </a:solidFill>
              </a:rPr>
              <a:t>Alumnos</a:t>
            </a:r>
            <a:r>
              <a:rPr lang="es-ES" sz="2000"/>
              <a:t> </a:t>
            </a:r>
            <a:r>
              <a:rPr lang="es-ES" sz="2000" i="1"/>
              <a:t>(expediente, nombre_alumno, cve_grupo)</a:t>
            </a:r>
          </a:p>
          <a:p>
            <a:pPr marL="914400" lvl="1" indent="-457200">
              <a:buFont typeface="Lucida Sans Unicode" pitchFamily="34" charset="0"/>
              <a:buAutoNum type="arabicPeriod"/>
            </a:pPr>
            <a:r>
              <a:rPr lang="es-ES" sz="2000" b="1">
                <a:solidFill>
                  <a:srgbClr val="FF0000"/>
                </a:solidFill>
              </a:rPr>
              <a:t>Asignaturas</a:t>
            </a:r>
            <a:r>
              <a:rPr lang="es-ES" sz="2000"/>
              <a:t> </a:t>
            </a:r>
            <a:r>
              <a:rPr lang="es-ES" sz="2000" i="1"/>
              <a:t>(cve_asignatura, nombre_asignatura)</a:t>
            </a:r>
          </a:p>
          <a:p>
            <a:pPr marL="914400" lvl="1" indent="-457200">
              <a:buFont typeface="Lucida Sans Unicode" pitchFamily="34" charset="0"/>
              <a:buAutoNum type="arabicPeriod"/>
            </a:pPr>
            <a:r>
              <a:rPr lang="es-ES" sz="2000" b="1">
                <a:solidFill>
                  <a:srgbClr val="FF0000"/>
                </a:solidFill>
              </a:rPr>
              <a:t>Cargas Académicas</a:t>
            </a:r>
            <a:r>
              <a:rPr lang="es-ES" sz="2000" i="1"/>
              <a:t> (cve_grupo, cve_asignatura, cve_profesor)</a:t>
            </a:r>
          </a:p>
          <a:p>
            <a:pPr marL="914400" lvl="1" indent="-457200">
              <a:buFont typeface="Lucida Sans Unicode" pitchFamily="34" charset="0"/>
              <a:buAutoNum type="arabicPeriod"/>
            </a:pPr>
            <a:r>
              <a:rPr lang="es-ES" sz="2000" b="1">
                <a:solidFill>
                  <a:srgbClr val="FF0000"/>
                </a:solidFill>
              </a:rPr>
              <a:t>Salones</a:t>
            </a:r>
            <a:r>
              <a:rPr lang="es-ES" sz="2000"/>
              <a:t> </a:t>
            </a:r>
            <a:r>
              <a:rPr lang="es-ES" sz="2000" i="1"/>
              <a:t>(cve_salon, nombre_salon)</a:t>
            </a:r>
          </a:p>
          <a:p>
            <a:pPr marL="914400" lvl="1" indent="-457200">
              <a:buFont typeface="Lucida Sans Unicode" pitchFamily="34" charset="0"/>
              <a:buAutoNum type="arabicPeriod"/>
            </a:pPr>
            <a:r>
              <a:rPr lang="es-ES" sz="2000" b="1">
                <a:solidFill>
                  <a:srgbClr val="FF0000"/>
                </a:solidFill>
              </a:rPr>
              <a:t>Profesores</a:t>
            </a:r>
            <a:r>
              <a:rPr lang="es-ES" sz="2000"/>
              <a:t> </a:t>
            </a:r>
            <a:r>
              <a:rPr lang="es-ES" sz="2000" i="1"/>
              <a:t>(cve_profesor, nombre_profesor)</a:t>
            </a:r>
          </a:p>
          <a:p>
            <a:pPr marL="914400" lvl="1" indent="-457200">
              <a:buFont typeface="Lucida Sans Unicode" pitchFamily="34" charset="0"/>
              <a:buAutoNum type="arabicPeriod"/>
            </a:pPr>
            <a:r>
              <a:rPr lang="es-ES" sz="2000" b="1">
                <a:solidFill>
                  <a:srgbClr val="FF0000"/>
                </a:solidFill>
              </a:rPr>
              <a:t>Horarios</a:t>
            </a:r>
            <a:r>
              <a:rPr lang="es-ES" sz="2000"/>
              <a:t> </a:t>
            </a:r>
            <a:r>
              <a:rPr lang="es-ES" sz="2000" i="1"/>
              <a:t>(cve_grupo, cve_salon, día, hora_inicio, hora_fin)</a:t>
            </a:r>
            <a:endParaRPr lang="es-MX" sz="2000" i="1"/>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4 CuadroTexto"/>
          <p:cNvSpPr txBox="1">
            <a:spLocks noChangeArrowheads="1"/>
          </p:cNvSpPr>
          <p:nvPr/>
        </p:nvSpPr>
        <p:spPr bwMode="auto">
          <a:xfrm>
            <a:off x="285750" y="1214438"/>
            <a:ext cx="1876425" cy="461962"/>
          </a:xfrm>
          <a:prstGeom prst="rect">
            <a:avLst/>
          </a:prstGeom>
          <a:noFill/>
          <a:ln w="9525">
            <a:noFill/>
            <a:miter lim="800000"/>
            <a:headEnd/>
            <a:tailEnd/>
          </a:ln>
        </p:spPr>
        <p:txBody>
          <a:bodyPr wrap="none">
            <a:spAutoFit/>
          </a:bodyPr>
          <a:lstStyle/>
          <a:p>
            <a:pPr marL="342900" indent="-342900"/>
            <a:r>
              <a:rPr lang="es-ES" sz="2400" b="1">
                <a:solidFill>
                  <a:srgbClr val="FF0000"/>
                </a:solidFill>
              </a:rPr>
              <a:t>Modelo E-R</a:t>
            </a:r>
            <a:endParaRPr lang="es-MX" sz="2400" b="1">
              <a:solidFill>
                <a:srgbClr val="FF0000"/>
              </a:solidFill>
            </a:endParaRPr>
          </a:p>
        </p:txBody>
      </p:sp>
      <p:sp>
        <p:nvSpPr>
          <p:cNvPr id="77827" name="4 CuadroTexto"/>
          <p:cNvSpPr txBox="1">
            <a:spLocks noChangeArrowheads="1"/>
          </p:cNvSpPr>
          <p:nvPr/>
        </p:nvSpPr>
        <p:spPr bwMode="auto">
          <a:xfrm>
            <a:off x="214313" y="131763"/>
            <a:ext cx="7215437" cy="461665"/>
          </a:xfrm>
          <a:prstGeom prst="rect">
            <a:avLst/>
          </a:prstGeom>
          <a:noFill/>
          <a:ln w="9525">
            <a:noFill/>
            <a:miter lim="800000"/>
            <a:headEnd/>
            <a:tailEnd/>
          </a:ln>
        </p:spPr>
        <p:txBody>
          <a:bodyPr wrap="none">
            <a:spAutoFit/>
          </a:bodyPr>
          <a:lstStyle/>
          <a:p>
            <a:pPr marL="342900" indent="-342900"/>
            <a:r>
              <a:rPr lang="es-ES_tradnl" sz="2400" b="1" dirty="0"/>
              <a:t>Participación de la UNIDAD II (3) – </a:t>
            </a:r>
            <a:r>
              <a:rPr lang="es-ES_tradnl" sz="1500" dirty="0"/>
              <a:t>Para entregar en papel</a:t>
            </a:r>
            <a:endParaRPr lang="es-MX" sz="1500" b="1" dirty="0">
              <a:solidFill>
                <a:srgbClr val="FF0000"/>
              </a:solidFill>
            </a:endParaRPr>
          </a:p>
        </p:txBody>
      </p:sp>
      <p:sp>
        <p:nvSpPr>
          <p:cNvPr id="77828" name="4 CuadroTexto"/>
          <p:cNvSpPr txBox="1">
            <a:spLocks noChangeArrowheads="1"/>
          </p:cNvSpPr>
          <p:nvPr/>
        </p:nvSpPr>
        <p:spPr bwMode="auto">
          <a:xfrm>
            <a:off x="3000375" y="714375"/>
            <a:ext cx="2922588" cy="461963"/>
          </a:xfrm>
          <a:prstGeom prst="rect">
            <a:avLst/>
          </a:prstGeom>
          <a:noFill/>
          <a:ln w="9525">
            <a:noFill/>
            <a:miter lim="800000"/>
            <a:headEnd/>
            <a:tailEnd/>
          </a:ln>
        </p:spPr>
        <p:txBody>
          <a:bodyPr wrap="none">
            <a:spAutoFit/>
          </a:bodyPr>
          <a:lstStyle/>
          <a:p>
            <a:pPr marL="342900" indent="-342900"/>
            <a:r>
              <a:rPr lang="es-ES" sz="2400" b="1"/>
              <a:t>Horarios de clases</a:t>
            </a:r>
            <a:endParaRPr lang="es-MX" sz="2400" b="1"/>
          </a:p>
        </p:txBody>
      </p:sp>
      <p:sp>
        <p:nvSpPr>
          <p:cNvPr id="77829" name="4 CuadroTexto"/>
          <p:cNvSpPr txBox="1">
            <a:spLocks noChangeArrowheads="1"/>
          </p:cNvSpPr>
          <p:nvPr/>
        </p:nvSpPr>
        <p:spPr bwMode="auto">
          <a:xfrm>
            <a:off x="71438" y="2138363"/>
            <a:ext cx="8929687" cy="2862262"/>
          </a:xfrm>
          <a:prstGeom prst="rect">
            <a:avLst/>
          </a:prstGeom>
          <a:noFill/>
          <a:ln w="9525">
            <a:noFill/>
            <a:miter lim="800000"/>
            <a:headEnd/>
            <a:tailEnd/>
          </a:ln>
        </p:spPr>
        <p:txBody>
          <a:bodyPr>
            <a:spAutoFit/>
          </a:bodyPr>
          <a:lstStyle/>
          <a:p>
            <a:pPr marL="342900" indent="-342900"/>
            <a:r>
              <a:rPr lang="es-ES" sz="2000" b="1"/>
              <a:t>Relaciones:</a:t>
            </a:r>
          </a:p>
          <a:p>
            <a:pPr marL="342900" indent="-342900"/>
            <a:endParaRPr lang="es-ES" sz="2000" b="1"/>
          </a:p>
          <a:p>
            <a:pPr marL="914400" lvl="1" indent="-457200">
              <a:buFont typeface="Lucida Sans Unicode" pitchFamily="34" charset="0"/>
              <a:buAutoNum type="arabicPeriod"/>
            </a:pPr>
            <a:r>
              <a:rPr lang="es-ES" sz="2000" b="1">
                <a:solidFill>
                  <a:srgbClr val="FF0000"/>
                </a:solidFill>
              </a:rPr>
              <a:t>Grupos pertenecen a Carrera </a:t>
            </a:r>
            <a:r>
              <a:rPr lang="es-ES" sz="2000" i="1"/>
              <a:t>(1:1) – (N:1)</a:t>
            </a:r>
          </a:p>
          <a:p>
            <a:pPr marL="914400" lvl="1" indent="-457200">
              <a:buFont typeface="Lucida Sans Unicode" pitchFamily="34" charset="0"/>
              <a:buAutoNum type="arabicPeriod"/>
            </a:pPr>
            <a:r>
              <a:rPr lang="es-ES" sz="2000" b="1">
                <a:solidFill>
                  <a:srgbClr val="FF0000"/>
                </a:solidFill>
              </a:rPr>
              <a:t>Alumnos se inscriben a Grupos</a:t>
            </a:r>
            <a:r>
              <a:rPr lang="es-ES" sz="2000"/>
              <a:t> </a:t>
            </a:r>
            <a:r>
              <a:rPr lang="es-ES" sz="2000" i="1"/>
              <a:t>(N:1) – (1:N)</a:t>
            </a:r>
          </a:p>
          <a:p>
            <a:pPr marL="914400" lvl="1" indent="-457200">
              <a:buFont typeface="Lucida Sans Unicode" pitchFamily="34" charset="0"/>
              <a:buAutoNum type="arabicPeriod"/>
            </a:pPr>
            <a:r>
              <a:rPr lang="es-ES" sz="2000" b="1">
                <a:solidFill>
                  <a:srgbClr val="FF0000"/>
                </a:solidFill>
              </a:rPr>
              <a:t>Asignatura se carga a Carga Académica </a:t>
            </a:r>
            <a:r>
              <a:rPr lang="es-ES" sz="2000" i="1"/>
              <a:t>(1:N) – (1:1) </a:t>
            </a:r>
          </a:p>
          <a:p>
            <a:pPr marL="914400" lvl="1" indent="-457200">
              <a:buFont typeface="Lucida Sans Unicode" pitchFamily="34" charset="0"/>
              <a:buAutoNum type="arabicPeriod"/>
            </a:pPr>
            <a:r>
              <a:rPr lang="es-ES" sz="2000" b="1">
                <a:solidFill>
                  <a:srgbClr val="FF0000"/>
                </a:solidFill>
              </a:rPr>
              <a:t>Grupo se carga a Carga Académica</a:t>
            </a:r>
            <a:r>
              <a:rPr lang="es-ES" sz="2000"/>
              <a:t> </a:t>
            </a:r>
            <a:r>
              <a:rPr lang="es-ES" sz="2000" i="1"/>
              <a:t>(1:N) – (1:1)</a:t>
            </a:r>
          </a:p>
          <a:p>
            <a:pPr marL="914400" lvl="1" indent="-457200">
              <a:buFont typeface="Lucida Sans Unicode" pitchFamily="34" charset="0"/>
              <a:buAutoNum type="arabicPeriod"/>
            </a:pPr>
            <a:r>
              <a:rPr lang="es-ES" sz="2000" b="1">
                <a:solidFill>
                  <a:srgbClr val="FF0000"/>
                </a:solidFill>
              </a:rPr>
              <a:t>Profesor se carga a Carga Académica</a:t>
            </a:r>
            <a:r>
              <a:rPr lang="es-ES" sz="2000"/>
              <a:t> </a:t>
            </a:r>
            <a:r>
              <a:rPr lang="es-ES" sz="2000" i="1"/>
              <a:t>(1:N) – (1:1)</a:t>
            </a:r>
          </a:p>
          <a:p>
            <a:pPr marL="914400" lvl="1" indent="-457200">
              <a:buFont typeface="Lucida Sans Unicode" pitchFamily="34" charset="0"/>
              <a:buAutoNum type="arabicPeriod"/>
            </a:pPr>
            <a:r>
              <a:rPr lang="es-ES" sz="2000" b="1">
                <a:solidFill>
                  <a:srgbClr val="FF0000"/>
                </a:solidFill>
              </a:rPr>
              <a:t>Salón se asigna a una Horario</a:t>
            </a:r>
            <a:r>
              <a:rPr lang="es-ES" sz="2000"/>
              <a:t> </a:t>
            </a:r>
            <a:r>
              <a:rPr lang="es-ES" sz="2000" i="1"/>
              <a:t>(1:N) – (1:1)</a:t>
            </a:r>
          </a:p>
          <a:p>
            <a:pPr marL="914400" lvl="1" indent="-457200">
              <a:buFont typeface="Lucida Sans Unicode" pitchFamily="34" charset="0"/>
              <a:buAutoNum type="arabicPeriod"/>
            </a:pPr>
            <a:r>
              <a:rPr lang="es-ES" sz="2000" b="1">
                <a:solidFill>
                  <a:srgbClr val="FF0000"/>
                </a:solidFill>
              </a:rPr>
              <a:t>Grupo se asigna a un Horario</a:t>
            </a:r>
            <a:r>
              <a:rPr lang="es-ES" sz="2000"/>
              <a:t> </a:t>
            </a:r>
            <a:r>
              <a:rPr lang="es-ES" sz="2000" i="1"/>
              <a:t>(1:N) – (1:1)</a:t>
            </a:r>
            <a:endParaRPr lang="es-MX" sz="2000" i="1"/>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4 CuadroTexto"/>
          <p:cNvSpPr txBox="1">
            <a:spLocks noChangeArrowheads="1"/>
          </p:cNvSpPr>
          <p:nvPr/>
        </p:nvSpPr>
        <p:spPr bwMode="auto">
          <a:xfrm>
            <a:off x="285750" y="1214438"/>
            <a:ext cx="2205038" cy="461962"/>
          </a:xfrm>
          <a:prstGeom prst="rect">
            <a:avLst/>
          </a:prstGeom>
          <a:noFill/>
          <a:ln w="9525">
            <a:noFill/>
            <a:miter lim="800000"/>
            <a:headEnd/>
            <a:tailEnd/>
          </a:ln>
        </p:spPr>
        <p:txBody>
          <a:bodyPr wrap="none">
            <a:spAutoFit/>
          </a:bodyPr>
          <a:lstStyle/>
          <a:p>
            <a:pPr marL="342900" indent="-342900"/>
            <a:r>
              <a:rPr lang="es-ES" sz="2400" b="1">
                <a:solidFill>
                  <a:srgbClr val="FF0000"/>
                </a:solidFill>
              </a:rPr>
              <a:t>Diagrama E-R</a:t>
            </a:r>
            <a:endParaRPr lang="es-MX" sz="2400" b="1">
              <a:solidFill>
                <a:srgbClr val="FF0000"/>
              </a:solidFill>
            </a:endParaRPr>
          </a:p>
        </p:txBody>
      </p:sp>
      <p:sp>
        <p:nvSpPr>
          <p:cNvPr id="78851" name="4 CuadroTexto"/>
          <p:cNvSpPr txBox="1">
            <a:spLocks noChangeArrowheads="1"/>
          </p:cNvSpPr>
          <p:nvPr/>
        </p:nvSpPr>
        <p:spPr bwMode="auto">
          <a:xfrm>
            <a:off x="214313" y="131763"/>
            <a:ext cx="7215437" cy="461665"/>
          </a:xfrm>
          <a:prstGeom prst="rect">
            <a:avLst/>
          </a:prstGeom>
          <a:noFill/>
          <a:ln w="9525">
            <a:noFill/>
            <a:miter lim="800000"/>
            <a:headEnd/>
            <a:tailEnd/>
          </a:ln>
        </p:spPr>
        <p:txBody>
          <a:bodyPr wrap="none">
            <a:spAutoFit/>
          </a:bodyPr>
          <a:lstStyle/>
          <a:p>
            <a:pPr marL="342900" indent="-342900"/>
            <a:r>
              <a:rPr lang="es-ES_tradnl" sz="2400" b="1" dirty="0"/>
              <a:t>Participación de la UNIDAD II (3) – </a:t>
            </a:r>
            <a:r>
              <a:rPr lang="es-ES_tradnl" sz="1500" dirty="0"/>
              <a:t>Para entregar en papel</a:t>
            </a:r>
            <a:endParaRPr lang="es-MX" sz="1500" b="1" dirty="0">
              <a:solidFill>
                <a:srgbClr val="FF0000"/>
              </a:solidFill>
            </a:endParaRPr>
          </a:p>
        </p:txBody>
      </p:sp>
      <p:sp>
        <p:nvSpPr>
          <p:cNvPr id="78852" name="4 CuadroTexto"/>
          <p:cNvSpPr txBox="1">
            <a:spLocks noChangeArrowheads="1"/>
          </p:cNvSpPr>
          <p:nvPr/>
        </p:nvSpPr>
        <p:spPr bwMode="auto">
          <a:xfrm>
            <a:off x="3000375" y="714375"/>
            <a:ext cx="2922588" cy="461963"/>
          </a:xfrm>
          <a:prstGeom prst="rect">
            <a:avLst/>
          </a:prstGeom>
          <a:noFill/>
          <a:ln w="9525">
            <a:noFill/>
            <a:miter lim="800000"/>
            <a:headEnd/>
            <a:tailEnd/>
          </a:ln>
        </p:spPr>
        <p:txBody>
          <a:bodyPr wrap="none">
            <a:spAutoFit/>
          </a:bodyPr>
          <a:lstStyle/>
          <a:p>
            <a:pPr marL="342900" indent="-342900"/>
            <a:r>
              <a:rPr lang="es-ES" sz="2400" b="1"/>
              <a:t>Horarios de clases</a:t>
            </a:r>
            <a:endParaRPr lang="es-MX" sz="2400" b="1"/>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4 CuadroTexto"/>
          <p:cNvSpPr txBox="1">
            <a:spLocks noChangeArrowheads="1"/>
          </p:cNvSpPr>
          <p:nvPr/>
        </p:nvSpPr>
        <p:spPr bwMode="auto">
          <a:xfrm>
            <a:off x="357188" y="333375"/>
            <a:ext cx="3340100" cy="523875"/>
          </a:xfrm>
          <a:prstGeom prst="rect">
            <a:avLst/>
          </a:prstGeom>
          <a:noFill/>
          <a:ln w="9525">
            <a:noFill/>
            <a:miter lim="800000"/>
            <a:headEnd/>
            <a:tailEnd/>
          </a:ln>
        </p:spPr>
        <p:txBody>
          <a:bodyPr wrap="none">
            <a:spAutoFit/>
          </a:bodyPr>
          <a:lstStyle/>
          <a:p>
            <a:pPr marL="342900" indent="-342900"/>
            <a:r>
              <a:rPr lang="es-ES" sz="2800" b="1"/>
              <a:t>Tipos de Atributos</a:t>
            </a:r>
            <a:endParaRPr lang="es-MX" sz="2800" b="1"/>
          </a:p>
        </p:txBody>
      </p:sp>
      <p:sp>
        <p:nvSpPr>
          <p:cNvPr id="79875" name="4 CuadroTexto"/>
          <p:cNvSpPr txBox="1">
            <a:spLocks noChangeArrowheads="1"/>
          </p:cNvSpPr>
          <p:nvPr/>
        </p:nvSpPr>
        <p:spPr bwMode="auto">
          <a:xfrm>
            <a:off x="1714500" y="1714500"/>
            <a:ext cx="5857875" cy="3108325"/>
          </a:xfrm>
          <a:prstGeom prst="rect">
            <a:avLst/>
          </a:prstGeom>
          <a:noFill/>
          <a:ln w="9525">
            <a:noFill/>
            <a:miter lim="800000"/>
            <a:headEnd/>
            <a:tailEnd/>
          </a:ln>
        </p:spPr>
        <p:txBody>
          <a:bodyPr>
            <a:spAutoFit/>
          </a:bodyPr>
          <a:lstStyle/>
          <a:p>
            <a:pPr marL="342900" indent="-342900">
              <a:buFont typeface="Arial" charset="0"/>
              <a:buChar char="•"/>
            </a:pPr>
            <a:r>
              <a:rPr lang="es-ES" sz="2800"/>
              <a:t>Simples ó Compuestos</a:t>
            </a:r>
          </a:p>
          <a:p>
            <a:pPr marL="342900" indent="-342900">
              <a:buFont typeface="Arial" charset="0"/>
              <a:buChar char="•"/>
            </a:pPr>
            <a:endParaRPr lang="es-ES" sz="2800"/>
          </a:p>
          <a:p>
            <a:pPr marL="342900" indent="-342900">
              <a:buFont typeface="Arial" charset="0"/>
              <a:buChar char="•"/>
            </a:pPr>
            <a:r>
              <a:rPr lang="es-ES" sz="2800"/>
              <a:t>Almacenados ó Derivados</a:t>
            </a:r>
          </a:p>
          <a:p>
            <a:pPr marL="342900" indent="-342900">
              <a:buFont typeface="Arial" charset="0"/>
              <a:buChar char="•"/>
            </a:pPr>
            <a:endParaRPr lang="es-ES" sz="2800"/>
          </a:p>
          <a:p>
            <a:pPr marL="342900" indent="-342900">
              <a:buFont typeface="Arial" charset="0"/>
              <a:buChar char="•"/>
            </a:pPr>
            <a:r>
              <a:rPr lang="es-ES" sz="2800"/>
              <a:t>Monovaluados ó Multivaluados</a:t>
            </a:r>
          </a:p>
          <a:p>
            <a:pPr marL="342900" indent="-342900">
              <a:buFont typeface="Arial" charset="0"/>
              <a:buChar char="•"/>
            </a:pPr>
            <a:endParaRPr lang="es-ES" sz="2800"/>
          </a:p>
          <a:p>
            <a:pPr marL="342900" indent="-342900">
              <a:buFont typeface="Arial" charset="0"/>
              <a:buChar char="•"/>
            </a:pPr>
            <a:r>
              <a:rPr lang="es-ES" sz="2800"/>
              <a:t>Opcionales (nulos)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4 CuadroTexto"/>
          <p:cNvSpPr txBox="1">
            <a:spLocks noChangeArrowheads="1"/>
          </p:cNvSpPr>
          <p:nvPr/>
        </p:nvSpPr>
        <p:spPr bwMode="auto">
          <a:xfrm>
            <a:off x="214313" y="71438"/>
            <a:ext cx="3340100" cy="523875"/>
          </a:xfrm>
          <a:prstGeom prst="rect">
            <a:avLst/>
          </a:prstGeom>
          <a:noFill/>
          <a:ln w="9525">
            <a:noFill/>
            <a:miter lim="800000"/>
            <a:headEnd/>
            <a:tailEnd/>
          </a:ln>
        </p:spPr>
        <p:txBody>
          <a:bodyPr wrap="none">
            <a:spAutoFit/>
          </a:bodyPr>
          <a:lstStyle/>
          <a:p>
            <a:pPr marL="342900" indent="-342900"/>
            <a:r>
              <a:rPr lang="es-ES" sz="2800" b="1"/>
              <a:t>Tipos de Atributos</a:t>
            </a:r>
            <a:endParaRPr lang="es-MX" sz="2800" b="1"/>
          </a:p>
        </p:txBody>
      </p:sp>
      <p:sp>
        <p:nvSpPr>
          <p:cNvPr id="80899" name="4 CuadroTexto"/>
          <p:cNvSpPr txBox="1">
            <a:spLocks noChangeArrowheads="1"/>
          </p:cNvSpPr>
          <p:nvPr/>
        </p:nvSpPr>
        <p:spPr bwMode="auto">
          <a:xfrm>
            <a:off x="1500188" y="714375"/>
            <a:ext cx="5857875" cy="523875"/>
          </a:xfrm>
          <a:prstGeom prst="rect">
            <a:avLst/>
          </a:prstGeom>
          <a:noFill/>
          <a:ln w="9525">
            <a:noFill/>
            <a:miter lim="800000"/>
            <a:headEnd/>
            <a:tailEnd/>
          </a:ln>
        </p:spPr>
        <p:txBody>
          <a:bodyPr>
            <a:spAutoFit/>
          </a:bodyPr>
          <a:lstStyle/>
          <a:p>
            <a:pPr marL="342900" indent="-342900" algn="ctr"/>
            <a:r>
              <a:rPr lang="es-ES" sz="2800" b="1">
                <a:solidFill>
                  <a:srgbClr val="FF0000"/>
                </a:solidFill>
              </a:rPr>
              <a:t>Atributos Compuestos</a:t>
            </a:r>
          </a:p>
        </p:txBody>
      </p:sp>
      <p:sp>
        <p:nvSpPr>
          <p:cNvPr id="80900" name="3 Rectángulo"/>
          <p:cNvSpPr>
            <a:spLocks noChangeArrowheads="1"/>
          </p:cNvSpPr>
          <p:nvPr/>
        </p:nvSpPr>
        <p:spPr bwMode="auto">
          <a:xfrm>
            <a:off x="642938" y="1428750"/>
            <a:ext cx="7858125" cy="954088"/>
          </a:xfrm>
          <a:prstGeom prst="rect">
            <a:avLst/>
          </a:prstGeom>
          <a:noFill/>
          <a:ln w="9525">
            <a:noFill/>
            <a:miter lim="800000"/>
            <a:headEnd/>
            <a:tailEnd/>
          </a:ln>
        </p:spPr>
        <p:txBody>
          <a:bodyPr>
            <a:spAutoFit/>
          </a:bodyPr>
          <a:lstStyle/>
          <a:p>
            <a:pPr algn="just"/>
            <a:r>
              <a:rPr lang="es-ES" sz="2800"/>
              <a:t>Pueden dividirse en otros Atributos con significado propio</a:t>
            </a:r>
          </a:p>
        </p:txBody>
      </p:sp>
      <p:sp>
        <p:nvSpPr>
          <p:cNvPr id="5" name="4 Elipse"/>
          <p:cNvSpPr/>
          <p:nvPr/>
        </p:nvSpPr>
        <p:spPr>
          <a:xfrm>
            <a:off x="928662" y="4000504"/>
            <a:ext cx="2571768" cy="714380"/>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Fecha nacimiento</a:t>
            </a:r>
          </a:p>
        </p:txBody>
      </p:sp>
      <p:sp>
        <p:nvSpPr>
          <p:cNvPr id="6" name="5 Rectángulo"/>
          <p:cNvSpPr/>
          <p:nvPr/>
        </p:nvSpPr>
        <p:spPr>
          <a:xfrm>
            <a:off x="3929058" y="4071942"/>
            <a:ext cx="2000264" cy="571504"/>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Persona</a:t>
            </a:r>
          </a:p>
        </p:txBody>
      </p:sp>
      <p:cxnSp>
        <p:nvCxnSpPr>
          <p:cNvPr id="7" name="6 Conector recto"/>
          <p:cNvCxnSpPr>
            <a:stCxn id="0" idx="6"/>
            <a:endCxn id="0" idx="1"/>
          </p:cNvCxnSpPr>
          <p:nvPr/>
        </p:nvCxnSpPr>
        <p:spPr>
          <a:xfrm>
            <a:off x="3500438" y="4357688"/>
            <a:ext cx="428625" cy="158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9 Elipse"/>
          <p:cNvSpPr/>
          <p:nvPr/>
        </p:nvSpPr>
        <p:spPr>
          <a:xfrm>
            <a:off x="6286512" y="4214818"/>
            <a:ext cx="2571768" cy="714380"/>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Nombre</a:t>
            </a:r>
          </a:p>
        </p:txBody>
      </p:sp>
      <p:sp>
        <p:nvSpPr>
          <p:cNvPr id="11" name="10 Elipse"/>
          <p:cNvSpPr/>
          <p:nvPr/>
        </p:nvSpPr>
        <p:spPr>
          <a:xfrm>
            <a:off x="3643306" y="5000636"/>
            <a:ext cx="2571768" cy="714380"/>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Domicilio</a:t>
            </a:r>
          </a:p>
        </p:txBody>
      </p:sp>
      <p:cxnSp>
        <p:nvCxnSpPr>
          <p:cNvPr id="12" name="11 Conector recto"/>
          <p:cNvCxnSpPr>
            <a:stCxn id="0" idx="2"/>
            <a:endCxn id="0" idx="3"/>
          </p:cNvCxnSpPr>
          <p:nvPr/>
        </p:nvCxnSpPr>
        <p:spPr>
          <a:xfrm rot="10800000">
            <a:off x="5929313" y="4357688"/>
            <a:ext cx="357187" cy="2143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15 Conector recto"/>
          <p:cNvCxnSpPr>
            <a:stCxn id="0" idx="2"/>
            <a:endCxn id="0" idx="0"/>
          </p:cNvCxnSpPr>
          <p:nvPr/>
        </p:nvCxnSpPr>
        <p:spPr>
          <a:xfrm rot="5400000">
            <a:off x="4751388" y="4822825"/>
            <a:ext cx="357188" cy="158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20 Elipse"/>
          <p:cNvSpPr/>
          <p:nvPr/>
        </p:nvSpPr>
        <p:spPr>
          <a:xfrm>
            <a:off x="71406" y="2428868"/>
            <a:ext cx="1357322"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Día</a:t>
            </a:r>
          </a:p>
        </p:txBody>
      </p:sp>
      <p:sp>
        <p:nvSpPr>
          <p:cNvPr id="22" name="21 Elipse"/>
          <p:cNvSpPr/>
          <p:nvPr/>
        </p:nvSpPr>
        <p:spPr>
          <a:xfrm>
            <a:off x="1528062" y="2428868"/>
            <a:ext cx="1357322"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Mes</a:t>
            </a:r>
          </a:p>
        </p:txBody>
      </p:sp>
      <p:sp>
        <p:nvSpPr>
          <p:cNvPr id="23" name="22 Elipse"/>
          <p:cNvSpPr/>
          <p:nvPr/>
        </p:nvSpPr>
        <p:spPr>
          <a:xfrm>
            <a:off x="3000364" y="2428868"/>
            <a:ext cx="1357322"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Año</a:t>
            </a:r>
          </a:p>
        </p:txBody>
      </p:sp>
      <p:cxnSp>
        <p:nvCxnSpPr>
          <p:cNvPr id="24" name="23 Conector recto"/>
          <p:cNvCxnSpPr>
            <a:stCxn id="0" idx="4"/>
            <a:endCxn id="0" idx="0"/>
          </p:cNvCxnSpPr>
          <p:nvPr/>
        </p:nvCxnSpPr>
        <p:spPr>
          <a:xfrm rot="16200000" flipH="1">
            <a:off x="874713" y="2660650"/>
            <a:ext cx="1214437" cy="1465263"/>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26 Conector recto"/>
          <p:cNvCxnSpPr>
            <a:stCxn id="0" idx="4"/>
            <a:endCxn id="0" idx="0"/>
          </p:cNvCxnSpPr>
          <p:nvPr/>
        </p:nvCxnSpPr>
        <p:spPr>
          <a:xfrm rot="16200000" flipH="1">
            <a:off x="1603375" y="3389313"/>
            <a:ext cx="1214437" cy="7938"/>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29 Conector recto"/>
          <p:cNvCxnSpPr>
            <a:stCxn id="0" idx="4"/>
            <a:endCxn id="0" idx="0"/>
          </p:cNvCxnSpPr>
          <p:nvPr/>
        </p:nvCxnSpPr>
        <p:spPr>
          <a:xfrm rot="5400000">
            <a:off x="2339182" y="2661444"/>
            <a:ext cx="1214437" cy="14636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32 Elipse"/>
          <p:cNvSpPr/>
          <p:nvPr/>
        </p:nvSpPr>
        <p:spPr>
          <a:xfrm>
            <a:off x="4857752" y="2285992"/>
            <a:ext cx="1357322"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 Pat</a:t>
            </a:r>
          </a:p>
        </p:txBody>
      </p:sp>
      <p:sp>
        <p:nvSpPr>
          <p:cNvPr id="34" name="33 Elipse"/>
          <p:cNvSpPr/>
          <p:nvPr/>
        </p:nvSpPr>
        <p:spPr>
          <a:xfrm>
            <a:off x="6314408" y="2285992"/>
            <a:ext cx="1357322"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 Mat</a:t>
            </a:r>
          </a:p>
        </p:txBody>
      </p:sp>
      <p:sp>
        <p:nvSpPr>
          <p:cNvPr id="35" name="34 Elipse"/>
          <p:cNvSpPr/>
          <p:nvPr/>
        </p:nvSpPr>
        <p:spPr>
          <a:xfrm>
            <a:off x="7786710" y="2285992"/>
            <a:ext cx="1357322"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err="1"/>
              <a:t>Nom</a:t>
            </a:r>
            <a:endParaRPr lang="es-ES" sz="1600" b="1" dirty="0"/>
          </a:p>
        </p:txBody>
      </p:sp>
      <p:cxnSp>
        <p:nvCxnSpPr>
          <p:cNvPr id="36" name="35 Conector recto"/>
          <p:cNvCxnSpPr>
            <a:stCxn id="0" idx="4"/>
            <a:endCxn id="0" idx="0"/>
          </p:cNvCxnSpPr>
          <p:nvPr/>
        </p:nvCxnSpPr>
        <p:spPr>
          <a:xfrm rot="16200000" flipH="1">
            <a:off x="5768975" y="2411413"/>
            <a:ext cx="1571625" cy="20351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36 Conector recto"/>
          <p:cNvCxnSpPr>
            <a:stCxn id="0" idx="4"/>
            <a:endCxn id="0" idx="0"/>
          </p:cNvCxnSpPr>
          <p:nvPr/>
        </p:nvCxnSpPr>
        <p:spPr>
          <a:xfrm rot="16200000" flipH="1">
            <a:off x="6496844" y="3139282"/>
            <a:ext cx="1571625" cy="57943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37 Conector recto"/>
          <p:cNvCxnSpPr>
            <a:stCxn id="0" idx="4"/>
            <a:endCxn id="0" idx="0"/>
          </p:cNvCxnSpPr>
          <p:nvPr/>
        </p:nvCxnSpPr>
        <p:spPr>
          <a:xfrm rot="5400000">
            <a:off x="7233444" y="2982119"/>
            <a:ext cx="1571625" cy="893763"/>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2" name="41 Elipse"/>
          <p:cNvSpPr/>
          <p:nvPr/>
        </p:nvSpPr>
        <p:spPr>
          <a:xfrm>
            <a:off x="1357290" y="6286520"/>
            <a:ext cx="1357322" cy="357189"/>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Calle</a:t>
            </a:r>
          </a:p>
        </p:txBody>
      </p:sp>
      <p:sp>
        <p:nvSpPr>
          <p:cNvPr id="43" name="42 Elipse"/>
          <p:cNvSpPr/>
          <p:nvPr/>
        </p:nvSpPr>
        <p:spPr>
          <a:xfrm>
            <a:off x="2813946" y="6286520"/>
            <a:ext cx="1357322" cy="357189"/>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Colonia</a:t>
            </a:r>
          </a:p>
        </p:txBody>
      </p:sp>
      <p:sp>
        <p:nvSpPr>
          <p:cNvPr id="44" name="43 Elipse"/>
          <p:cNvSpPr/>
          <p:nvPr/>
        </p:nvSpPr>
        <p:spPr>
          <a:xfrm>
            <a:off x="4286248" y="6286520"/>
            <a:ext cx="1357322" cy="357189"/>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Ciudad</a:t>
            </a:r>
          </a:p>
        </p:txBody>
      </p:sp>
      <p:cxnSp>
        <p:nvCxnSpPr>
          <p:cNvPr id="45" name="44 Conector recto"/>
          <p:cNvCxnSpPr>
            <a:stCxn id="0" idx="0"/>
            <a:endCxn id="0" idx="4"/>
          </p:cNvCxnSpPr>
          <p:nvPr/>
        </p:nvCxnSpPr>
        <p:spPr>
          <a:xfrm rot="5400000" flipH="1" flipV="1">
            <a:off x="3196432" y="4553743"/>
            <a:ext cx="571500" cy="2894013"/>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45 Conector recto"/>
          <p:cNvCxnSpPr>
            <a:stCxn id="0" idx="4"/>
            <a:endCxn id="0" idx="0"/>
          </p:cNvCxnSpPr>
          <p:nvPr/>
        </p:nvCxnSpPr>
        <p:spPr>
          <a:xfrm rot="5400000">
            <a:off x="3925094" y="5282406"/>
            <a:ext cx="571500" cy="1436688"/>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46 Conector recto"/>
          <p:cNvCxnSpPr>
            <a:stCxn id="0" idx="4"/>
            <a:endCxn id="0" idx="0"/>
          </p:cNvCxnSpPr>
          <p:nvPr/>
        </p:nvCxnSpPr>
        <p:spPr>
          <a:xfrm rot="16200000" flipH="1">
            <a:off x="4661694" y="5982494"/>
            <a:ext cx="571500" cy="365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47 Elipse"/>
          <p:cNvSpPr/>
          <p:nvPr/>
        </p:nvSpPr>
        <p:spPr>
          <a:xfrm>
            <a:off x="5715008" y="6286521"/>
            <a:ext cx="1357322" cy="357189"/>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Estado</a:t>
            </a:r>
          </a:p>
        </p:txBody>
      </p:sp>
      <p:sp>
        <p:nvSpPr>
          <p:cNvPr id="49" name="48 Elipse"/>
          <p:cNvSpPr/>
          <p:nvPr/>
        </p:nvSpPr>
        <p:spPr>
          <a:xfrm>
            <a:off x="7143768" y="6286521"/>
            <a:ext cx="1357322" cy="357189"/>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CP</a:t>
            </a:r>
          </a:p>
        </p:txBody>
      </p:sp>
      <p:cxnSp>
        <p:nvCxnSpPr>
          <p:cNvPr id="56" name="55 Conector recto"/>
          <p:cNvCxnSpPr>
            <a:stCxn id="0" idx="4"/>
            <a:endCxn id="0" idx="0"/>
          </p:cNvCxnSpPr>
          <p:nvPr/>
        </p:nvCxnSpPr>
        <p:spPr>
          <a:xfrm rot="16200000" flipH="1">
            <a:off x="5376069" y="5268119"/>
            <a:ext cx="571500" cy="146526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58 Conector recto"/>
          <p:cNvCxnSpPr>
            <a:stCxn id="0" idx="4"/>
            <a:endCxn id="0" idx="0"/>
          </p:cNvCxnSpPr>
          <p:nvPr/>
        </p:nvCxnSpPr>
        <p:spPr>
          <a:xfrm rot="16200000" flipH="1">
            <a:off x="6090444" y="4553744"/>
            <a:ext cx="571500" cy="28940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63 Elipse"/>
          <p:cNvSpPr/>
          <p:nvPr/>
        </p:nvSpPr>
        <p:spPr>
          <a:xfrm>
            <a:off x="3643306" y="3071810"/>
            <a:ext cx="2571768" cy="714380"/>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Género</a:t>
            </a:r>
          </a:p>
        </p:txBody>
      </p:sp>
      <p:cxnSp>
        <p:nvCxnSpPr>
          <p:cNvPr id="83" name="82 Conector recto"/>
          <p:cNvCxnSpPr>
            <a:stCxn id="0" idx="4"/>
            <a:endCxn id="0" idx="0"/>
          </p:cNvCxnSpPr>
          <p:nvPr/>
        </p:nvCxnSpPr>
        <p:spPr>
          <a:xfrm rot="5400000">
            <a:off x="4787107" y="3929856"/>
            <a:ext cx="285750" cy="158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83"/>
                                        </p:tgtEl>
                                        <p:attrNameLst>
                                          <p:attrName>style.visibility</p:attrName>
                                        </p:attrNameLst>
                                      </p:cBhvr>
                                      <p:to>
                                        <p:strVal val="visible"/>
                                      </p:to>
                                    </p:set>
                                    <p:animEffect transition="in" filter="fade">
                                      <p:cBhvr>
                                        <p:cTn id="35" dur="500"/>
                                        <p:tgtEl>
                                          <p:spTgt spid="83"/>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64"/>
                                        </p:tgtEl>
                                        <p:attrNameLst>
                                          <p:attrName>style.visibility</p:attrName>
                                        </p:attrNameLst>
                                      </p:cBhvr>
                                      <p:to>
                                        <p:strVal val="visible"/>
                                      </p:to>
                                    </p:set>
                                    <p:animEffect transition="in" filter="fade">
                                      <p:cBhvr>
                                        <p:cTn id="39" dur="500"/>
                                        <p:tgtEl>
                                          <p:spTgt spid="6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500"/>
                                        <p:tgtEl>
                                          <p:spTgt spid="24"/>
                                        </p:tgtEl>
                                      </p:cBhvr>
                                    </p:animEffec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childTnLst>
                          </p:cTn>
                        </p:par>
                        <p:par>
                          <p:cTn id="49" fill="hold">
                            <p:stCondLst>
                              <p:cond delay="1000"/>
                            </p:stCondLst>
                            <p:childTnLst>
                              <p:par>
                                <p:cTn id="50" presetID="10" presetClass="entr" presetSubtype="0" fill="hold" nodeType="after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500"/>
                                        <p:tgtEl>
                                          <p:spTgt spid="27"/>
                                        </p:tgtEl>
                                      </p:cBhvr>
                                    </p:animEffect>
                                  </p:childTnLst>
                                </p:cTn>
                              </p:par>
                            </p:childTnLst>
                          </p:cTn>
                        </p:par>
                        <p:par>
                          <p:cTn id="53" fill="hold">
                            <p:stCondLst>
                              <p:cond delay="1500"/>
                            </p:stCondLst>
                            <p:childTnLst>
                              <p:par>
                                <p:cTn id="54" presetID="10" presetClass="entr" presetSubtype="0" fill="hold" nodeType="after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childTnLst>
                          </p:cTn>
                        </p:par>
                        <p:par>
                          <p:cTn id="57" fill="hold">
                            <p:stCondLst>
                              <p:cond delay="2000"/>
                            </p:stCondLst>
                            <p:childTnLst>
                              <p:par>
                                <p:cTn id="58" presetID="10" presetClass="entr" presetSubtype="0" fill="hold" nodeType="after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500"/>
                                        <p:tgtEl>
                                          <p:spTgt spid="30"/>
                                        </p:tgtEl>
                                      </p:cBhvr>
                                    </p:animEffect>
                                  </p:childTnLst>
                                </p:cTn>
                              </p:par>
                            </p:childTnLst>
                          </p:cTn>
                        </p:par>
                        <p:par>
                          <p:cTn id="61" fill="hold">
                            <p:stCondLst>
                              <p:cond delay="2500"/>
                            </p:stCondLst>
                            <p:childTnLst>
                              <p:par>
                                <p:cTn id="62" presetID="10" presetClass="entr" presetSubtype="0" fill="hold" nodeType="after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500"/>
                                        <p:tgtEl>
                                          <p:spTgt spid="36"/>
                                        </p:tgtEl>
                                      </p:cBhvr>
                                    </p:animEffect>
                                  </p:childTnLst>
                                </p:cTn>
                              </p:par>
                            </p:childTnLst>
                          </p:cTn>
                        </p:par>
                        <p:par>
                          <p:cTn id="70" fill="hold">
                            <p:stCondLst>
                              <p:cond delay="500"/>
                            </p:stCondLst>
                            <p:childTnLst>
                              <p:par>
                                <p:cTn id="71" presetID="10" presetClass="entr" presetSubtype="0" fill="hold" nodeType="after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fade">
                                      <p:cBhvr>
                                        <p:cTn id="73" dur="500"/>
                                        <p:tgtEl>
                                          <p:spTgt spid="33"/>
                                        </p:tgtEl>
                                      </p:cBhvr>
                                    </p:animEffect>
                                  </p:childTnLst>
                                </p:cTn>
                              </p:par>
                            </p:childTnLst>
                          </p:cTn>
                        </p:par>
                        <p:par>
                          <p:cTn id="74" fill="hold">
                            <p:stCondLst>
                              <p:cond delay="1000"/>
                            </p:stCondLst>
                            <p:childTnLst>
                              <p:par>
                                <p:cTn id="75" presetID="10" presetClass="entr" presetSubtype="0" fill="hold"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500"/>
                                        <p:tgtEl>
                                          <p:spTgt spid="37"/>
                                        </p:tgtEl>
                                      </p:cBhvr>
                                    </p:animEffect>
                                  </p:childTnLst>
                                </p:cTn>
                              </p:par>
                            </p:childTnLst>
                          </p:cTn>
                        </p:par>
                        <p:par>
                          <p:cTn id="78" fill="hold">
                            <p:stCondLst>
                              <p:cond delay="1500"/>
                            </p:stCondLst>
                            <p:childTnLst>
                              <p:par>
                                <p:cTn id="79" presetID="10" presetClass="entr" presetSubtype="0" fill="hold" nodeType="after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500"/>
                                        <p:tgtEl>
                                          <p:spTgt spid="34"/>
                                        </p:tgtEl>
                                      </p:cBhvr>
                                    </p:animEffect>
                                  </p:childTnLst>
                                </p:cTn>
                              </p:par>
                            </p:childTnLst>
                          </p:cTn>
                        </p:par>
                        <p:par>
                          <p:cTn id="82" fill="hold">
                            <p:stCondLst>
                              <p:cond delay="2000"/>
                            </p:stCondLst>
                            <p:childTnLst>
                              <p:par>
                                <p:cTn id="83" presetID="10" presetClass="entr" presetSubtype="0" fill="hold" nodeType="afterEffect">
                                  <p:stCondLst>
                                    <p:cond delay="0"/>
                                  </p:stCondLst>
                                  <p:childTnLst>
                                    <p:set>
                                      <p:cBhvr>
                                        <p:cTn id="84" dur="1" fill="hold">
                                          <p:stCondLst>
                                            <p:cond delay="0"/>
                                          </p:stCondLst>
                                        </p:cTn>
                                        <p:tgtEl>
                                          <p:spTgt spid="38"/>
                                        </p:tgtEl>
                                        <p:attrNameLst>
                                          <p:attrName>style.visibility</p:attrName>
                                        </p:attrNameLst>
                                      </p:cBhvr>
                                      <p:to>
                                        <p:strVal val="visible"/>
                                      </p:to>
                                    </p:set>
                                    <p:animEffect transition="in" filter="fade">
                                      <p:cBhvr>
                                        <p:cTn id="85" dur="500"/>
                                        <p:tgtEl>
                                          <p:spTgt spid="38"/>
                                        </p:tgtEl>
                                      </p:cBhvr>
                                    </p:animEffect>
                                  </p:childTnLst>
                                </p:cTn>
                              </p:par>
                            </p:childTnLst>
                          </p:cTn>
                        </p:par>
                        <p:par>
                          <p:cTn id="86" fill="hold">
                            <p:stCondLst>
                              <p:cond delay="2500"/>
                            </p:stCondLst>
                            <p:childTnLst>
                              <p:par>
                                <p:cTn id="87" presetID="10" presetClass="entr" presetSubtype="0" fill="hold" nodeType="afterEffect">
                                  <p:stCondLst>
                                    <p:cond delay="0"/>
                                  </p:stCondLst>
                                  <p:childTnLst>
                                    <p:set>
                                      <p:cBhvr>
                                        <p:cTn id="88" dur="1" fill="hold">
                                          <p:stCondLst>
                                            <p:cond delay="0"/>
                                          </p:stCondLst>
                                        </p:cTn>
                                        <p:tgtEl>
                                          <p:spTgt spid="35"/>
                                        </p:tgtEl>
                                        <p:attrNameLst>
                                          <p:attrName>style.visibility</p:attrName>
                                        </p:attrNameLst>
                                      </p:cBhvr>
                                      <p:to>
                                        <p:strVal val="visible"/>
                                      </p:to>
                                    </p:set>
                                    <p:animEffect transition="in" filter="fade">
                                      <p:cBhvr>
                                        <p:cTn id="89" dur="500"/>
                                        <p:tgtEl>
                                          <p:spTgt spid="35"/>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45"/>
                                        </p:tgtEl>
                                        <p:attrNameLst>
                                          <p:attrName>style.visibility</p:attrName>
                                        </p:attrNameLst>
                                      </p:cBhvr>
                                      <p:to>
                                        <p:strVal val="visible"/>
                                      </p:to>
                                    </p:set>
                                    <p:animEffect transition="in" filter="fade">
                                      <p:cBhvr>
                                        <p:cTn id="94" dur="500"/>
                                        <p:tgtEl>
                                          <p:spTgt spid="45"/>
                                        </p:tgtEl>
                                      </p:cBhvr>
                                    </p:animEffect>
                                  </p:childTnLst>
                                </p:cTn>
                              </p:par>
                            </p:childTnLst>
                          </p:cTn>
                        </p:par>
                        <p:par>
                          <p:cTn id="95" fill="hold">
                            <p:stCondLst>
                              <p:cond delay="500"/>
                            </p:stCondLst>
                            <p:childTnLst>
                              <p:par>
                                <p:cTn id="96" presetID="10" presetClass="entr" presetSubtype="0" fill="hold" nodeType="afterEffect">
                                  <p:stCondLst>
                                    <p:cond delay="0"/>
                                  </p:stCondLst>
                                  <p:childTnLst>
                                    <p:set>
                                      <p:cBhvr>
                                        <p:cTn id="97" dur="1" fill="hold">
                                          <p:stCondLst>
                                            <p:cond delay="0"/>
                                          </p:stCondLst>
                                        </p:cTn>
                                        <p:tgtEl>
                                          <p:spTgt spid="42"/>
                                        </p:tgtEl>
                                        <p:attrNameLst>
                                          <p:attrName>style.visibility</p:attrName>
                                        </p:attrNameLst>
                                      </p:cBhvr>
                                      <p:to>
                                        <p:strVal val="visible"/>
                                      </p:to>
                                    </p:set>
                                    <p:animEffect transition="in" filter="fade">
                                      <p:cBhvr>
                                        <p:cTn id="98" dur="500"/>
                                        <p:tgtEl>
                                          <p:spTgt spid="42"/>
                                        </p:tgtEl>
                                      </p:cBhvr>
                                    </p:animEffect>
                                  </p:childTnLst>
                                </p:cTn>
                              </p:par>
                            </p:childTnLst>
                          </p:cTn>
                        </p:par>
                        <p:par>
                          <p:cTn id="99" fill="hold">
                            <p:stCondLst>
                              <p:cond delay="1000"/>
                            </p:stCondLst>
                            <p:childTnLst>
                              <p:par>
                                <p:cTn id="100" presetID="10" presetClass="entr" presetSubtype="0" fill="hold" nodeType="afterEffect">
                                  <p:stCondLst>
                                    <p:cond delay="0"/>
                                  </p:stCondLst>
                                  <p:childTnLst>
                                    <p:set>
                                      <p:cBhvr>
                                        <p:cTn id="101" dur="1" fill="hold">
                                          <p:stCondLst>
                                            <p:cond delay="0"/>
                                          </p:stCondLst>
                                        </p:cTn>
                                        <p:tgtEl>
                                          <p:spTgt spid="46"/>
                                        </p:tgtEl>
                                        <p:attrNameLst>
                                          <p:attrName>style.visibility</p:attrName>
                                        </p:attrNameLst>
                                      </p:cBhvr>
                                      <p:to>
                                        <p:strVal val="visible"/>
                                      </p:to>
                                    </p:set>
                                    <p:animEffect transition="in" filter="fade">
                                      <p:cBhvr>
                                        <p:cTn id="102" dur="500"/>
                                        <p:tgtEl>
                                          <p:spTgt spid="46"/>
                                        </p:tgtEl>
                                      </p:cBhvr>
                                    </p:animEffect>
                                  </p:childTnLst>
                                </p:cTn>
                              </p:par>
                            </p:childTnLst>
                          </p:cTn>
                        </p:par>
                        <p:par>
                          <p:cTn id="103" fill="hold">
                            <p:stCondLst>
                              <p:cond delay="1500"/>
                            </p:stCondLst>
                            <p:childTnLst>
                              <p:par>
                                <p:cTn id="104" presetID="10" presetClass="entr" presetSubtype="0" fill="hold" nodeType="afterEffect">
                                  <p:stCondLst>
                                    <p:cond delay="0"/>
                                  </p:stCondLst>
                                  <p:childTnLst>
                                    <p:set>
                                      <p:cBhvr>
                                        <p:cTn id="105" dur="1" fill="hold">
                                          <p:stCondLst>
                                            <p:cond delay="0"/>
                                          </p:stCondLst>
                                        </p:cTn>
                                        <p:tgtEl>
                                          <p:spTgt spid="43"/>
                                        </p:tgtEl>
                                        <p:attrNameLst>
                                          <p:attrName>style.visibility</p:attrName>
                                        </p:attrNameLst>
                                      </p:cBhvr>
                                      <p:to>
                                        <p:strVal val="visible"/>
                                      </p:to>
                                    </p:set>
                                    <p:animEffect transition="in" filter="fade">
                                      <p:cBhvr>
                                        <p:cTn id="106" dur="500"/>
                                        <p:tgtEl>
                                          <p:spTgt spid="43"/>
                                        </p:tgtEl>
                                      </p:cBhvr>
                                    </p:animEffect>
                                  </p:childTnLst>
                                </p:cTn>
                              </p:par>
                            </p:childTnLst>
                          </p:cTn>
                        </p:par>
                        <p:par>
                          <p:cTn id="107" fill="hold">
                            <p:stCondLst>
                              <p:cond delay="2000"/>
                            </p:stCondLst>
                            <p:childTnLst>
                              <p:par>
                                <p:cTn id="108" presetID="10" presetClass="entr" presetSubtype="0" fill="hold" nodeType="afterEffect">
                                  <p:stCondLst>
                                    <p:cond delay="0"/>
                                  </p:stCondLst>
                                  <p:childTnLst>
                                    <p:set>
                                      <p:cBhvr>
                                        <p:cTn id="109" dur="1" fill="hold">
                                          <p:stCondLst>
                                            <p:cond delay="0"/>
                                          </p:stCondLst>
                                        </p:cTn>
                                        <p:tgtEl>
                                          <p:spTgt spid="47"/>
                                        </p:tgtEl>
                                        <p:attrNameLst>
                                          <p:attrName>style.visibility</p:attrName>
                                        </p:attrNameLst>
                                      </p:cBhvr>
                                      <p:to>
                                        <p:strVal val="visible"/>
                                      </p:to>
                                    </p:set>
                                    <p:animEffect transition="in" filter="fade">
                                      <p:cBhvr>
                                        <p:cTn id="110" dur="500"/>
                                        <p:tgtEl>
                                          <p:spTgt spid="47"/>
                                        </p:tgtEl>
                                      </p:cBhvr>
                                    </p:animEffect>
                                  </p:childTnLst>
                                </p:cTn>
                              </p:par>
                            </p:childTnLst>
                          </p:cTn>
                        </p:par>
                        <p:par>
                          <p:cTn id="111" fill="hold">
                            <p:stCondLst>
                              <p:cond delay="2500"/>
                            </p:stCondLst>
                            <p:childTnLst>
                              <p:par>
                                <p:cTn id="112" presetID="10" presetClass="entr" presetSubtype="0" fill="hold" nodeType="afterEffect">
                                  <p:stCondLst>
                                    <p:cond delay="0"/>
                                  </p:stCondLst>
                                  <p:childTnLst>
                                    <p:set>
                                      <p:cBhvr>
                                        <p:cTn id="113" dur="1" fill="hold">
                                          <p:stCondLst>
                                            <p:cond delay="0"/>
                                          </p:stCondLst>
                                        </p:cTn>
                                        <p:tgtEl>
                                          <p:spTgt spid="44"/>
                                        </p:tgtEl>
                                        <p:attrNameLst>
                                          <p:attrName>style.visibility</p:attrName>
                                        </p:attrNameLst>
                                      </p:cBhvr>
                                      <p:to>
                                        <p:strVal val="visible"/>
                                      </p:to>
                                    </p:set>
                                    <p:animEffect transition="in" filter="fade">
                                      <p:cBhvr>
                                        <p:cTn id="114" dur="500"/>
                                        <p:tgtEl>
                                          <p:spTgt spid="44"/>
                                        </p:tgtEl>
                                      </p:cBhvr>
                                    </p:animEffect>
                                  </p:childTnLst>
                                </p:cTn>
                              </p:par>
                            </p:childTnLst>
                          </p:cTn>
                        </p:par>
                        <p:par>
                          <p:cTn id="115" fill="hold">
                            <p:stCondLst>
                              <p:cond delay="3000"/>
                            </p:stCondLst>
                            <p:childTnLst>
                              <p:par>
                                <p:cTn id="116" presetID="10" presetClass="entr" presetSubtype="0" fill="hold" nodeType="afterEffect">
                                  <p:stCondLst>
                                    <p:cond delay="0"/>
                                  </p:stCondLst>
                                  <p:childTnLst>
                                    <p:set>
                                      <p:cBhvr>
                                        <p:cTn id="117" dur="1" fill="hold">
                                          <p:stCondLst>
                                            <p:cond delay="0"/>
                                          </p:stCondLst>
                                        </p:cTn>
                                        <p:tgtEl>
                                          <p:spTgt spid="56"/>
                                        </p:tgtEl>
                                        <p:attrNameLst>
                                          <p:attrName>style.visibility</p:attrName>
                                        </p:attrNameLst>
                                      </p:cBhvr>
                                      <p:to>
                                        <p:strVal val="visible"/>
                                      </p:to>
                                    </p:set>
                                    <p:animEffect transition="in" filter="fade">
                                      <p:cBhvr>
                                        <p:cTn id="118" dur="500"/>
                                        <p:tgtEl>
                                          <p:spTgt spid="56"/>
                                        </p:tgtEl>
                                      </p:cBhvr>
                                    </p:animEffect>
                                  </p:childTnLst>
                                </p:cTn>
                              </p:par>
                            </p:childTnLst>
                          </p:cTn>
                        </p:par>
                        <p:par>
                          <p:cTn id="119" fill="hold">
                            <p:stCondLst>
                              <p:cond delay="3500"/>
                            </p:stCondLst>
                            <p:childTnLst>
                              <p:par>
                                <p:cTn id="120" presetID="10" presetClass="entr" presetSubtype="0" fill="hold" nodeType="afterEffect">
                                  <p:stCondLst>
                                    <p:cond delay="0"/>
                                  </p:stCondLst>
                                  <p:childTnLst>
                                    <p:set>
                                      <p:cBhvr>
                                        <p:cTn id="121" dur="1" fill="hold">
                                          <p:stCondLst>
                                            <p:cond delay="0"/>
                                          </p:stCondLst>
                                        </p:cTn>
                                        <p:tgtEl>
                                          <p:spTgt spid="48"/>
                                        </p:tgtEl>
                                        <p:attrNameLst>
                                          <p:attrName>style.visibility</p:attrName>
                                        </p:attrNameLst>
                                      </p:cBhvr>
                                      <p:to>
                                        <p:strVal val="visible"/>
                                      </p:to>
                                    </p:set>
                                    <p:animEffect transition="in" filter="fade">
                                      <p:cBhvr>
                                        <p:cTn id="122" dur="500"/>
                                        <p:tgtEl>
                                          <p:spTgt spid="48"/>
                                        </p:tgtEl>
                                      </p:cBhvr>
                                    </p:animEffect>
                                  </p:childTnLst>
                                </p:cTn>
                              </p:par>
                            </p:childTnLst>
                          </p:cTn>
                        </p:par>
                        <p:par>
                          <p:cTn id="123" fill="hold">
                            <p:stCondLst>
                              <p:cond delay="4000"/>
                            </p:stCondLst>
                            <p:childTnLst>
                              <p:par>
                                <p:cTn id="124" presetID="10" presetClass="entr" presetSubtype="0" fill="hold" nodeType="afterEffect">
                                  <p:stCondLst>
                                    <p:cond delay="0"/>
                                  </p:stCondLst>
                                  <p:childTnLst>
                                    <p:set>
                                      <p:cBhvr>
                                        <p:cTn id="125" dur="1" fill="hold">
                                          <p:stCondLst>
                                            <p:cond delay="0"/>
                                          </p:stCondLst>
                                        </p:cTn>
                                        <p:tgtEl>
                                          <p:spTgt spid="59"/>
                                        </p:tgtEl>
                                        <p:attrNameLst>
                                          <p:attrName>style.visibility</p:attrName>
                                        </p:attrNameLst>
                                      </p:cBhvr>
                                      <p:to>
                                        <p:strVal val="visible"/>
                                      </p:to>
                                    </p:set>
                                    <p:animEffect transition="in" filter="fade">
                                      <p:cBhvr>
                                        <p:cTn id="126" dur="500"/>
                                        <p:tgtEl>
                                          <p:spTgt spid="59"/>
                                        </p:tgtEl>
                                      </p:cBhvr>
                                    </p:animEffect>
                                  </p:childTnLst>
                                </p:cTn>
                              </p:par>
                            </p:childTnLst>
                          </p:cTn>
                        </p:par>
                        <p:par>
                          <p:cTn id="127" fill="hold">
                            <p:stCondLst>
                              <p:cond delay="4500"/>
                            </p:stCondLst>
                            <p:childTnLst>
                              <p:par>
                                <p:cTn id="128" presetID="10" presetClass="entr" presetSubtype="0" fill="hold" nodeType="afterEffect">
                                  <p:stCondLst>
                                    <p:cond delay="0"/>
                                  </p:stCondLst>
                                  <p:childTnLst>
                                    <p:set>
                                      <p:cBhvr>
                                        <p:cTn id="129" dur="1" fill="hold">
                                          <p:stCondLst>
                                            <p:cond delay="0"/>
                                          </p:stCondLst>
                                        </p:cTn>
                                        <p:tgtEl>
                                          <p:spTgt spid="49"/>
                                        </p:tgtEl>
                                        <p:attrNameLst>
                                          <p:attrName>style.visibility</p:attrName>
                                        </p:attrNameLst>
                                      </p:cBhvr>
                                      <p:to>
                                        <p:strVal val="visible"/>
                                      </p:to>
                                    </p:set>
                                    <p:animEffect transition="in" filter="fade">
                                      <p:cBhvr>
                                        <p:cTn id="13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4 CuadroTexto"/>
          <p:cNvSpPr txBox="1">
            <a:spLocks noChangeArrowheads="1"/>
          </p:cNvSpPr>
          <p:nvPr/>
        </p:nvSpPr>
        <p:spPr bwMode="auto">
          <a:xfrm>
            <a:off x="214313" y="71438"/>
            <a:ext cx="3340100" cy="523875"/>
          </a:xfrm>
          <a:prstGeom prst="rect">
            <a:avLst/>
          </a:prstGeom>
          <a:noFill/>
          <a:ln w="9525">
            <a:noFill/>
            <a:miter lim="800000"/>
            <a:headEnd/>
            <a:tailEnd/>
          </a:ln>
        </p:spPr>
        <p:txBody>
          <a:bodyPr wrap="none">
            <a:spAutoFit/>
          </a:bodyPr>
          <a:lstStyle/>
          <a:p>
            <a:pPr marL="342900" indent="-342900"/>
            <a:r>
              <a:rPr lang="es-ES" sz="2800" b="1"/>
              <a:t>Tipos de Atributos</a:t>
            </a:r>
            <a:endParaRPr lang="es-MX" sz="2800" b="1"/>
          </a:p>
        </p:txBody>
      </p:sp>
      <p:sp>
        <p:nvSpPr>
          <p:cNvPr id="81923" name="4 CuadroTexto"/>
          <p:cNvSpPr txBox="1">
            <a:spLocks noChangeArrowheads="1"/>
          </p:cNvSpPr>
          <p:nvPr/>
        </p:nvSpPr>
        <p:spPr bwMode="auto">
          <a:xfrm>
            <a:off x="1500188" y="714375"/>
            <a:ext cx="5857875" cy="523875"/>
          </a:xfrm>
          <a:prstGeom prst="rect">
            <a:avLst/>
          </a:prstGeom>
          <a:noFill/>
          <a:ln w="9525">
            <a:noFill/>
            <a:miter lim="800000"/>
            <a:headEnd/>
            <a:tailEnd/>
          </a:ln>
        </p:spPr>
        <p:txBody>
          <a:bodyPr>
            <a:spAutoFit/>
          </a:bodyPr>
          <a:lstStyle/>
          <a:p>
            <a:pPr marL="342900" indent="-342900" algn="ctr"/>
            <a:r>
              <a:rPr lang="es-ES" sz="2800" b="1">
                <a:solidFill>
                  <a:srgbClr val="FF0000"/>
                </a:solidFill>
              </a:rPr>
              <a:t>Atributos Simples</a:t>
            </a:r>
          </a:p>
        </p:txBody>
      </p:sp>
      <p:sp>
        <p:nvSpPr>
          <p:cNvPr id="81924" name="3 Rectángulo"/>
          <p:cNvSpPr>
            <a:spLocks noChangeArrowheads="1"/>
          </p:cNvSpPr>
          <p:nvPr/>
        </p:nvSpPr>
        <p:spPr bwMode="auto">
          <a:xfrm>
            <a:off x="642938" y="1428750"/>
            <a:ext cx="7858125" cy="523875"/>
          </a:xfrm>
          <a:prstGeom prst="rect">
            <a:avLst/>
          </a:prstGeom>
          <a:noFill/>
          <a:ln w="9525">
            <a:noFill/>
            <a:miter lim="800000"/>
            <a:headEnd/>
            <a:tailEnd/>
          </a:ln>
        </p:spPr>
        <p:txBody>
          <a:bodyPr>
            <a:spAutoFit/>
          </a:bodyPr>
          <a:lstStyle/>
          <a:p>
            <a:pPr algn="just"/>
            <a:r>
              <a:rPr lang="es-ES" sz="2800"/>
              <a:t>Atributos que no pueden dividirse</a:t>
            </a:r>
          </a:p>
        </p:txBody>
      </p:sp>
      <p:sp>
        <p:nvSpPr>
          <p:cNvPr id="5" name="4 Elipse"/>
          <p:cNvSpPr/>
          <p:nvPr/>
        </p:nvSpPr>
        <p:spPr>
          <a:xfrm>
            <a:off x="928662" y="4000504"/>
            <a:ext cx="2571768" cy="714380"/>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Fecha nacimiento</a:t>
            </a:r>
          </a:p>
        </p:txBody>
      </p:sp>
      <p:sp>
        <p:nvSpPr>
          <p:cNvPr id="6" name="5 Rectángulo"/>
          <p:cNvSpPr/>
          <p:nvPr/>
        </p:nvSpPr>
        <p:spPr>
          <a:xfrm>
            <a:off x="3929058" y="4071942"/>
            <a:ext cx="2000264" cy="571504"/>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Persona</a:t>
            </a:r>
          </a:p>
        </p:txBody>
      </p:sp>
      <p:cxnSp>
        <p:nvCxnSpPr>
          <p:cNvPr id="7" name="6 Conector recto"/>
          <p:cNvCxnSpPr>
            <a:stCxn id="0" idx="6"/>
            <a:endCxn id="0" idx="1"/>
          </p:cNvCxnSpPr>
          <p:nvPr/>
        </p:nvCxnSpPr>
        <p:spPr>
          <a:xfrm>
            <a:off x="3500438" y="4357688"/>
            <a:ext cx="428625" cy="158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9 Elipse"/>
          <p:cNvSpPr/>
          <p:nvPr/>
        </p:nvSpPr>
        <p:spPr>
          <a:xfrm>
            <a:off x="6286512" y="4214818"/>
            <a:ext cx="2571768" cy="714380"/>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Nombre</a:t>
            </a:r>
          </a:p>
        </p:txBody>
      </p:sp>
      <p:sp>
        <p:nvSpPr>
          <p:cNvPr id="11" name="10 Elipse"/>
          <p:cNvSpPr/>
          <p:nvPr/>
        </p:nvSpPr>
        <p:spPr>
          <a:xfrm>
            <a:off x="3643306" y="5000636"/>
            <a:ext cx="2571768" cy="714380"/>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Domicilio</a:t>
            </a:r>
          </a:p>
        </p:txBody>
      </p:sp>
      <p:cxnSp>
        <p:nvCxnSpPr>
          <p:cNvPr id="12" name="11 Conector recto"/>
          <p:cNvCxnSpPr>
            <a:stCxn id="0" idx="2"/>
            <a:endCxn id="0" idx="3"/>
          </p:cNvCxnSpPr>
          <p:nvPr/>
        </p:nvCxnSpPr>
        <p:spPr>
          <a:xfrm rot="10800000">
            <a:off x="5929313" y="4357688"/>
            <a:ext cx="357187" cy="2143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15 Conector recto"/>
          <p:cNvCxnSpPr>
            <a:stCxn id="0" idx="2"/>
            <a:endCxn id="0" idx="0"/>
          </p:cNvCxnSpPr>
          <p:nvPr/>
        </p:nvCxnSpPr>
        <p:spPr>
          <a:xfrm rot="5400000">
            <a:off x="4751388" y="4822825"/>
            <a:ext cx="357188" cy="158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20 Elipse"/>
          <p:cNvSpPr/>
          <p:nvPr/>
        </p:nvSpPr>
        <p:spPr>
          <a:xfrm>
            <a:off x="71406" y="2428868"/>
            <a:ext cx="1357322"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Día</a:t>
            </a:r>
          </a:p>
        </p:txBody>
      </p:sp>
      <p:sp>
        <p:nvSpPr>
          <p:cNvPr id="22" name="21 Elipse"/>
          <p:cNvSpPr/>
          <p:nvPr/>
        </p:nvSpPr>
        <p:spPr>
          <a:xfrm>
            <a:off x="1528062" y="2428868"/>
            <a:ext cx="1357322"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Mes</a:t>
            </a:r>
          </a:p>
        </p:txBody>
      </p:sp>
      <p:sp>
        <p:nvSpPr>
          <p:cNvPr id="23" name="22 Elipse"/>
          <p:cNvSpPr/>
          <p:nvPr/>
        </p:nvSpPr>
        <p:spPr>
          <a:xfrm>
            <a:off x="3000364" y="2428868"/>
            <a:ext cx="1357322"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Año</a:t>
            </a:r>
          </a:p>
        </p:txBody>
      </p:sp>
      <p:cxnSp>
        <p:nvCxnSpPr>
          <p:cNvPr id="24" name="23 Conector recto"/>
          <p:cNvCxnSpPr>
            <a:stCxn id="0" idx="4"/>
            <a:endCxn id="0" idx="0"/>
          </p:cNvCxnSpPr>
          <p:nvPr/>
        </p:nvCxnSpPr>
        <p:spPr>
          <a:xfrm rot="16200000" flipH="1">
            <a:off x="874713" y="2660650"/>
            <a:ext cx="1214437" cy="1465263"/>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26 Conector recto"/>
          <p:cNvCxnSpPr>
            <a:stCxn id="0" idx="4"/>
            <a:endCxn id="0" idx="0"/>
          </p:cNvCxnSpPr>
          <p:nvPr/>
        </p:nvCxnSpPr>
        <p:spPr>
          <a:xfrm rot="16200000" flipH="1">
            <a:off x="1603375" y="3389313"/>
            <a:ext cx="1214437" cy="7938"/>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29 Conector recto"/>
          <p:cNvCxnSpPr>
            <a:stCxn id="0" idx="4"/>
            <a:endCxn id="0" idx="0"/>
          </p:cNvCxnSpPr>
          <p:nvPr/>
        </p:nvCxnSpPr>
        <p:spPr>
          <a:xfrm rot="5400000">
            <a:off x="2339182" y="2661444"/>
            <a:ext cx="1214437" cy="14636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32 Elipse"/>
          <p:cNvSpPr/>
          <p:nvPr/>
        </p:nvSpPr>
        <p:spPr>
          <a:xfrm>
            <a:off x="4857752" y="2285992"/>
            <a:ext cx="1357322"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 Pat</a:t>
            </a:r>
          </a:p>
        </p:txBody>
      </p:sp>
      <p:sp>
        <p:nvSpPr>
          <p:cNvPr id="34" name="33 Elipse"/>
          <p:cNvSpPr/>
          <p:nvPr/>
        </p:nvSpPr>
        <p:spPr>
          <a:xfrm>
            <a:off x="6314408" y="2285992"/>
            <a:ext cx="1357322"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 Mat</a:t>
            </a:r>
          </a:p>
        </p:txBody>
      </p:sp>
      <p:sp>
        <p:nvSpPr>
          <p:cNvPr id="35" name="34 Elipse"/>
          <p:cNvSpPr/>
          <p:nvPr/>
        </p:nvSpPr>
        <p:spPr>
          <a:xfrm>
            <a:off x="7786710" y="2285992"/>
            <a:ext cx="1357322"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err="1"/>
              <a:t>Nom</a:t>
            </a:r>
            <a:endParaRPr lang="es-ES" sz="1600" b="1" dirty="0"/>
          </a:p>
        </p:txBody>
      </p:sp>
      <p:cxnSp>
        <p:nvCxnSpPr>
          <p:cNvPr id="36" name="35 Conector recto"/>
          <p:cNvCxnSpPr>
            <a:stCxn id="0" idx="4"/>
            <a:endCxn id="0" idx="0"/>
          </p:cNvCxnSpPr>
          <p:nvPr/>
        </p:nvCxnSpPr>
        <p:spPr>
          <a:xfrm rot="16200000" flipH="1">
            <a:off x="5768975" y="2411413"/>
            <a:ext cx="1571625" cy="20351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36 Conector recto"/>
          <p:cNvCxnSpPr>
            <a:stCxn id="0" idx="4"/>
            <a:endCxn id="0" idx="0"/>
          </p:cNvCxnSpPr>
          <p:nvPr/>
        </p:nvCxnSpPr>
        <p:spPr>
          <a:xfrm rot="16200000" flipH="1">
            <a:off x="6496844" y="3139282"/>
            <a:ext cx="1571625" cy="57943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37 Conector recto"/>
          <p:cNvCxnSpPr>
            <a:stCxn id="0" idx="4"/>
            <a:endCxn id="0" idx="0"/>
          </p:cNvCxnSpPr>
          <p:nvPr/>
        </p:nvCxnSpPr>
        <p:spPr>
          <a:xfrm rot="5400000">
            <a:off x="7233444" y="2982119"/>
            <a:ext cx="1571625" cy="893763"/>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2" name="41 Elipse"/>
          <p:cNvSpPr/>
          <p:nvPr/>
        </p:nvSpPr>
        <p:spPr>
          <a:xfrm>
            <a:off x="1357290" y="6286520"/>
            <a:ext cx="1357322" cy="357189"/>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Calle</a:t>
            </a:r>
          </a:p>
        </p:txBody>
      </p:sp>
      <p:sp>
        <p:nvSpPr>
          <p:cNvPr id="43" name="42 Elipse"/>
          <p:cNvSpPr/>
          <p:nvPr/>
        </p:nvSpPr>
        <p:spPr>
          <a:xfrm>
            <a:off x="2813946" y="6286520"/>
            <a:ext cx="1357322" cy="357189"/>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Colonia</a:t>
            </a:r>
          </a:p>
        </p:txBody>
      </p:sp>
      <p:sp>
        <p:nvSpPr>
          <p:cNvPr id="44" name="43 Elipse"/>
          <p:cNvSpPr/>
          <p:nvPr/>
        </p:nvSpPr>
        <p:spPr>
          <a:xfrm>
            <a:off x="4286248" y="6286520"/>
            <a:ext cx="1357322" cy="357189"/>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Ciudad</a:t>
            </a:r>
          </a:p>
        </p:txBody>
      </p:sp>
      <p:cxnSp>
        <p:nvCxnSpPr>
          <p:cNvPr id="45" name="44 Conector recto"/>
          <p:cNvCxnSpPr>
            <a:stCxn id="0" idx="0"/>
            <a:endCxn id="0" idx="4"/>
          </p:cNvCxnSpPr>
          <p:nvPr/>
        </p:nvCxnSpPr>
        <p:spPr>
          <a:xfrm rot="5400000" flipH="1" flipV="1">
            <a:off x="3196432" y="4553743"/>
            <a:ext cx="571500" cy="2894013"/>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45 Conector recto"/>
          <p:cNvCxnSpPr>
            <a:stCxn id="0" idx="4"/>
            <a:endCxn id="0" idx="0"/>
          </p:cNvCxnSpPr>
          <p:nvPr/>
        </p:nvCxnSpPr>
        <p:spPr>
          <a:xfrm rot="5400000">
            <a:off x="3925094" y="5282406"/>
            <a:ext cx="571500" cy="1436688"/>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46 Conector recto"/>
          <p:cNvCxnSpPr>
            <a:stCxn id="0" idx="4"/>
            <a:endCxn id="0" idx="0"/>
          </p:cNvCxnSpPr>
          <p:nvPr/>
        </p:nvCxnSpPr>
        <p:spPr>
          <a:xfrm rot="16200000" flipH="1">
            <a:off x="4661694" y="5982494"/>
            <a:ext cx="571500" cy="365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47 Elipse"/>
          <p:cNvSpPr/>
          <p:nvPr/>
        </p:nvSpPr>
        <p:spPr>
          <a:xfrm>
            <a:off x="5715008" y="6286521"/>
            <a:ext cx="1357322" cy="357189"/>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Estado</a:t>
            </a:r>
          </a:p>
        </p:txBody>
      </p:sp>
      <p:sp>
        <p:nvSpPr>
          <p:cNvPr id="49" name="48 Elipse"/>
          <p:cNvSpPr/>
          <p:nvPr/>
        </p:nvSpPr>
        <p:spPr>
          <a:xfrm>
            <a:off x="7143768" y="6286521"/>
            <a:ext cx="1357322" cy="357189"/>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CP</a:t>
            </a:r>
          </a:p>
        </p:txBody>
      </p:sp>
      <p:cxnSp>
        <p:nvCxnSpPr>
          <p:cNvPr id="56" name="55 Conector recto"/>
          <p:cNvCxnSpPr>
            <a:stCxn id="0" idx="4"/>
            <a:endCxn id="0" idx="0"/>
          </p:cNvCxnSpPr>
          <p:nvPr/>
        </p:nvCxnSpPr>
        <p:spPr>
          <a:xfrm rot="16200000" flipH="1">
            <a:off x="5376069" y="5268119"/>
            <a:ext cx="571500" cy="146526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58 Conector recto"/>
          <p:cNvCxnSpPr>
            <a:stCxn id="0" idx="4"/>
            <a:endCxn id="0" idx="0"/>
          </p:cNvCxnSpPr>
          <p:nvPr/>
        </p:nvCxnSpPr>
        <p:spPr>
          <a:xfrm rot="16200000" flipH="1">
            <a:off x="6090444" y="4553744"/>
            <a:ext cx="571500" cy="28940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63 Elipse"/>
          <p:cNvSpPr/>
          <p:nvPr/>
        </p:nvSpPr>
        <p:spPr>
          <a:xfrm>
            <a:off x="3643306" y="3071810"/>
            <a:ext cx="2571768" cy="714380"/>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Género</a:t>
            </a:r>
          </a:p>
        </p:txBody>
      </p:sp>
      <p:cxnSp>
        <p:nvCxnSpPr>
          <p:cNvPr id="83" name="82 Conector recto"/>
          <p:cNvCxnSpPr>
            <a:stCxn id="0" idx="4"/>
            <a:endCxn id="0" idx="0"/>
          </p:cNvCxnSpPr>
          <p:nvPr/>
        </p:nvCxnSpPr>
        <p:spPr>
          <a:xfrm rot="5400000">
            <a:off x="4787107" y="3929856"/>
            <a:ext cx="285750" cy="158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1" name="80 Elipse"/>
          <p:cNvSpPr/>
          <p:nvPr/>
        </p:nvSpPr>
        <p:spPr>
          <a:xfrm>
            <a:off x="914148" y="3985990"/>
            <a:ext cx="2571768" cy="714380"/>
          </a:xfrm>
          <a:prstGeom prst="ellipse">
            <a:avLst/>
          </a:prstGeom>
          <a:solidFill>
            <a:schemeClr val="bg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Fecha nacimiento</a:t>
            </a:r>
          </a:p>
        </p:txBody>
      </p:sp>
      <p:sp>
        <p:nvSpPr>
          <p:cNvPr id="82" name="81 Rectángulo"/>
          <p:cNvSpPr/>
          <p:nvPr/>
        </p:nvSpPr>
        <p:spPr>
          <a:xfrm>
            <a:off x="3914544" y="4057428"/>
            <a:ext cx="2000264" cy="571504"/>
          </a:xfrm>
          <a:prstGeom prst="rect">
            <a:avLst/>
          </a:prstGeom>
          <a:solidFill>
            <a:schemeClr val="bg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Persona</a:t>
            </a:r>
          </a:p>
        </p:txBody>
      </p:sp>
      <p:cxnSp>
        <p:nvCxnSpPr>
          <p:cNvPr id="84" name="83 Conector recto"/>
          <p:cNvCxnSpPr>
            <a:stCxn id="0" idx="6"/>
            <a:endCxn id="0" idx="1"/>
          </p:cNvCxnSpPr>
          <p:nvPr/>
        </p:nvCxnSpPr>
        <p:spPr>
          <a:xfrm>
            <a:off x="3486150" y="4343400"/>
            <a:ext cx="428625" cy="1588"/>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5" name="84 Elipse"/>
          <p:cNvSpPr/>
          <p:nvPr/>
        </p:nvSpPr>
        <p:spPr>
          <a:xfrm>
            <a:off x="6271998" y="4200304"/>
            <a:ext cx="2571768" cy="714380"/>
          </a:xfrm>
          <a:prstGeom prst="ellipse">
            <a:avLst/>
          </a:prstGeom>
          <a:solidFill>
            <a:schemeClr val="bg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Nombre</a:t>
            </a:r>
          </a:p>
        </p:txBody>
      </p:sp>
      <p:sp>
        <p:nvSpPr>
          <p:cNvPr id="86" name="85 Elipse"/>
          <p:cNvSpPr/>
          <p:nvPr/>
        </p:nvSpPr>
        <p:spPr>
          <a:xfrm>
            <a:off x="3628792" y="4986122"/>
            <a:ext cx="2571768" cy="714380"/>
          </a:xfrm>
          <a:prstGeom prst="ellipse">
            <a:avLst/>
          </a:prstGeom>
          <a:solidFill>
            <a:schemeClr val="bg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Domicilio</a:t>
            </a:r>
          </a:p>
        </p:txBody>
      </p:sp>
      <p:cxnSp>
        <p:nvCxnSpPr>
          <p:cNvPr id="87" name="86 Conector recto"/>
          <p:cNvCxnSpPr>
            <a:stCxn id="0" idx="2"/>
            <a:endCxn id="0" idx="3"/>
          </p:cNvCxnSpPr>
          <p:nvPr/>
        </p:nvCxnSpPr>
        <p:spPr>
          <a:xfrm rot="10800000">
            <a:off x="5915025" y="4343400"/>
            <a:ext cx="357188" cy="214313"/>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87 Conector recto"/>
          <p:cNvCxnSpPr>
            <a:stCxn id="0" idx="2"/>
            <a:endCxn id="0" idx="0"/>
          </p:cNvCxnSpPr>
          <p:nvPr/>
        </p:nvCxnSpPr>
        <p:spPr>
          <a:xfrm rot="5400000">
            <a:off x="4735513" y="4806950"/>
            <a:ext cx="357188" cy="158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9" name="88 Elipse"/>
          <p:cNvSpPr/>
          <p:nvPr/>
        </p:nvSpPr>
        <p:spPr>
          <a:xfrm>
            <a:off x="56892" y="2414354"/>
            <a:ext cx="1357322" cy="357190"/>
          </a:xfrm>
          <a:prstGeom prst="ellipse">
            <a:avLst/>
          </a:prstGeom>
          <a:solidFill>
            <a:schemeClr val="bg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Día</a:t>
            </a:r>
          </a:p>
        </p:txBody>
      </p:sp>
      <p:sp>
        <p:nvSpPr>
          <p:cNvPr id="90" name="89 Elipse"/>
          <p:cNvSpPr/>
          <p:nvPr/>
        </p:nvSpPr>
        <p:spPr>
          <a:xfrm>
            <a:off x="1513548" y="2414354"/>
            <a:ext cx="1357322" cy="357190"/>
          </a:xfrm>
          <a:prstGeom prst="ellipse">
            <a:avLst/>
          </a:prstGeom>
          <a:solidFill>
            <a:schemeClr val="bg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Mes</a:t>
            </a:r>
          </a:p>
        </p:txBody>
      </p:sp>
      <p:sp>
        <p:nvSpPr>
          <p:cNvPr id="91" name="90 Elipse"/>
          <p:cNvSpPr/>
          <p:nvPr/>
        </p:nvSpPr>
        <p:spPr>
          <a:xfrm>
            <a:off x="2985850" y="2414354"/>
            <a:ext cx="1357322" cy="357190"/>
          </a:xfrm>
          <a:prstGeom prst="ellipse">
            <a:avLst/>
          </a:prstGeom>
          <a:solidFill>
            <a:schemeClr val="bg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Año</a:t>
            </a:r>
          </a:p>
        </p:txBody>
      </p:sp>
      <p:cxnSp>
        <p:nvCxnSpPr>
          <p:cNvPr id="92" name="91 Conector recto"/>
          <p:cNvCxnSpPr>
            <a:stCxn id="0" idx="4"/>
            <a:endCxn id="0" idx="0"/>
          </p:cNvCxnSpPr>
          <p:nvPr/>
        </p:nvCxnSpPr>
        <p:spPr>
          <a:xfrm rot="16200000" flipH="1">
            <a:off x="860425" y="2646363"/>
            <a:ext cx="1214438" cy="146526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92 Conector recto"/>
          <p:cNvCxnSpPr>
            <a:stCxn id="0" idx="4"/>
            <a:endCxn id="0" idx="0"/>
          </p:cNvCxnSpPr>
          <p:nvPr/>
        </p:nvCxnSpPr>
        <p:spPr>
          <a:xfrm rot="16200000" flipH="1">
            <a:off x="1589088" y="3375025"/>
            <a:ext cx="1214438" cy="793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93 Conector recto"/>
          <p:cNvCxnSpPr>
            <a:stCxn id="0" idx="4"/>
            <a:endCxn id="0" idx="0"/>
          </p:cNvCxnSpPr>
          <p:nvPr/>
        </p:nvCxnSpPr>
        <p:spPr>
          <a:xfrm rot="5400000">
            <a:off x="2324894" y="2647156"/>
            <a:ext cx="1214438" cy="14636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5" name="94 Elipse"/>
          <p:cNvSpPr/>
          <p:nvPr/>
        </p:nvSpPr>
        <p:spPr>
          <a:xfrm>
            <a:off x="4843238" y="2271478"/>
            <a:ext cx="1357322" cy="357190"/>
          </a:xfrm>
          <a:prstGeom prst="ellipse">
            <a:avLst/>
          </a:prstGeom>
          <a:solidFill>
            <a:schemeClr val="bg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 Pat</a:t>
            </a:r>
          </a:p>
        </p:txBody>
      </p:sp>
      <p:sp>
        <p:nvSpPr>
          <p:cNvPr id="96" name="95 Elipse"/>
          <p:cNvSpPr/>
          <p:nvPr/>
        </p:nvSpPr>
        <p:spPr>
          <a:xfrm>
            <a:off x="6299894" y="2271478"/>
            <a:ext cx="1357322" cy="357190"/>
          </a:xfrm>
          <a:prstGeom prst="ellipse">
            <a:avLst/>
          </a:prstGeom>
          <a:solidFill>
            <a:schemeClr val="bg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 Mat</a:t>
            </a:r>
          </a:p>
        </p:txBody>
      </p:sp>
      <p:sp>
        <p:nvSpPr>
          <p:cNvPr id="97" name="96 Elipse"/>
          <p:cNvSpPr/>
          <p:nvPr/>
        </p:nvSpPr>
        <p:spPr>
          <a:xfrm>
            <a:off x="7772196" y="2271478"/>
            <a:ext cx="1357322" cy="357190"/>
          </a:xfrm>
          <a:prstGeom prst="ellipse">
            <a:avLst/>
          </a:prstGeom>
          <a:solidFill>
            <a:schemeClr val="bg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err="1"/>
              <a:t>Nom</a:t>
            </a:r>
            <a:endParaRPr lang="es-ES" sz="1600" b="1" dirty="0"/>
          </a:p>
        </p:txBody>
      </p:sp>
      <p:cxnSp>
        <p:nvCxnSpPr>
          <p:cNvPr id="98" name="97 Conector recto"/>
          <p:cNvCxnSpPr>
            <a:stCxn id="0" idx="4"/>
            <a:endCxn id="0" idx="0"/>
          </p:cNvCxnSpPr>
          <p:nvPr/>
        </p:nvCxnSpPr>
        <p:spPr>
          <a:xfrm rot="16200000" flipH="1">
            <a:off x="5753894" y="2396331"/>
            <a:ext cx="1571625" cy="2036763"/>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98 Conector recto"/>
          <p:cNvCxnSpPr>
            <a:stCxn id="0" idx="4"/>
            <a:endCxn id="0" idx="0"/>
          </p:cNvCxnSpPr>
          <p:nvPr/>
        </p:nvCxnSpPr>
        <p:spPr>
          <a:xfrm rot="16200000" flipH="1">
            <a:off x="6482556" y="3124994"/>
            <a:ext cx="1571625" cy="579438"/>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99 Conector recto"/>
          <p:cNvCxnSpPr>
            <a:stCxn id="0" idx="4"/>
            <a:endCxn id="0" idx="0"/>
          </p:cNvCxnSpPr>
          <p:nvPr/>
        </p:nvCxnSpPr>
        <p:spPr>
          <a:xfrm rot="5400000">
            <a:off x="7218363" y="2968625"/>
            <a:ext cx="1571625" cy="8921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1" name="100 Elipse"/>
          <p:cNvSpPr/>
          <p:nvPr/>
        </p:nvSpPr>
        <p:spPr>
          <a:xfrm>
            <a:off x="1342776" y="6272006"/>
            <a:ext cx="1357322" cy="357189"/>
          </a:xfrm>
          <a:prstGeom prst="ellipse">
            <a:avLst/>
          </a:prstGeom>
          <a:solidFill>
            <a:schemeClr val="bg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Calle</a:t>
            </a:r>
          </a:p>
        </p:txBody>
      </p:sp>
      <p:sp>
        <p:nvSpPr>
          <p:cNvPr id="102" name="101 Elipse"/>
          <p:cNvSpPr/>
          <p:nvPr/>
        </p:nvSpPr>
        <p:spPr>
          <a:xfrm>
            <a:off x="2799432" y="6272006"/>
            <a:ext cx="1357322" cy="357189"/>
          </a:xfrm>
          <a:prstGeom prst="ellipse">
            <a:avLst/>
          </a:prstGeom>
          <a:solidFill>
            <a:schemeClr val="bg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Colonia</a:t>
            </a:r>
          </a:p>
        </p:txBody>
      </p:sp>
      <p:sp>
        <p:nvSpPr>
          <p:cNvPr id="103" name="102 Elipse"/>
          <p:cNvSpPr/>
          <p:nvPr/>
        </p:nvSpPr>
        <p:spPr>
          <a:xfrm>
            <a:off x="4271734" y="6272006"/>
            <a:ext cx="1357322" cy="357189"/>
          </a:xfrm>
          <a:prstGeom prst="ellipse">
            <a:avLst/>
          </a:prstGeom>
          <a:solidFill>
            <a:schemeClr val="bg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Ciudad</a:t>
            </a:r>
          </a:p>
        </p:txBody>
      </p:sp>
      <p:cxnSp>
        <p:nvCxnSpPr>
          <p:cNvPr id="104" name="103 Conector recto"/>
          <p:cNvCxnSpPr>
            <a:stCxn id="0" idx="0"/>
            <a:endCxn id="0" idx="4"/>
          </p:cNvCxnSpPr>
          <p:nvPr/>
        </p:nvCxnSpPr>
        <p:spPr>
          <a:xfrm rot="5400000" flipH="1" flipV="1">
            <a:off x="3182144" y="4539457"/>
            <a:ext cx="571500" cy="28940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 name="104 Conector recto"/>
          <p:cNvCxnSpPr>
            <a:stCxn id="0" idx="4"/>
            <a:endCxn id="0" idx="0"/>
          </p:cNvCxnSpPr>
          <p:nvPr/>
        </p:nvCxnSpPr>
        <p:spPr>
          <a:xfrm rot="5400000">
            <a:off x="3910807" y="5268119"/>
            <a:ext cx="571500" cy="143668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105 Conector recto"/>
          <p:cNvCxnSpPr>
            <a:stCxn id="0" idx="4"/>
            <a:endCxn id="0" idx="0"/>
          </p:cNvCxnSpPr>
          <p:nvPr/>
        </p:nvCxnSpPr>
        <p:spPr>
          <a:xfrm rot="16200000" flipH="1">
            <a:off x="4646613" y="5969000"/>
            <a:ext cx="571500" cy="3492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7" name="106 Elipse"/>
          <p:cNvSpPr/>
          <p:nvPr/>
        </p:nvSpPr>
        <p:spPr>
          <a:xfrm>
            <a:off x="5700494" y="6272007"/>
            <a:ext cx="1357322" cy="357189"/>
          </a:xfrm>
          <a:prstGeom prst="ellipse">
            <a:avLst/>
          </a:prstGeom>
          <a:solidFill>
            <a:schemeClr val="bg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Estado</a:t>
            </a:r>
          </a:p>
        </p:txBody>
      </p:sp>
      <p:sp>
        <p:nvSpPr>
          <p:cNvPr id="108" name="107 Elipse"/>
          <p:cNvSpPr/>
          <p:nvPr/>
        </p:nvSpPr>
        <p:spPr>
          <a:xfrm>
            <a:off x="7129254" y="6272007"/>
            <a:ext cx="1357322" cy="357189"/>
          </a:xfrm>
          <a:prstGeom prst="ellipse">
            <a:avLst/>
          </a:prstGeom>
          <a:solidFill>
            <a:schemeClr val="bg1">
              <a:lumMod val="7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CP</a:t>
            </a:r>
          </a:p>
        </p:txBody>
      </p:sp>
      <p:cxnSp>
        <p:nvCxnSpPr>
          <p:cNvPr id="109" name="108 Conector recto"/>
          <p:cNvCxnSpPr>
            <a:stCxn id="0" idx="4"/>
            <a:endCxn id="0" idx="0"/>
          </p:cNvCxnSpPr>
          <p:nvPr/>
        </p:nvCxnSpPr>
        <p:spPr>
          <a:xfrm rot="16200000" flipH="1">
            <a:off x="5360988" y="5254625"/>
            <a:ext cx="571500" cy="14636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109 Conector recto"/>
          <p:cNvCxnSpPr>
            <a:stCxn id="0" idx="4"/>
            <a:endCxn id="0" idx="0"/>
          </p:cNvCxnSpPr>
          <p:nvPr/>
        </p:nvCxnSpPr>
        <p:spPr>
          <a:xfrm rot="16200000" flipH="1">
            <a:off x="6075363" y="4540250"/>
            <a:ext cx="571500" cy="289242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1" name="110 Elipse"/>
          <p:cNvSpPr/>
          <p:nvPr/>
        </p:nvSpPr>
        <p:spPr>
          <a:xfrm>
            <a:off x="3628792" y="3057296"/>
            <a:ext cx="2571768" cy="714380"/>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Género</a:t>
            </a:r>
          </a:p>
        </p:txBody>
      </p:sp>
      <p:cxnSp>
        <p:nvCxnSpPr>
          <p:cNvPr id="112" name="111 Conector recto"/>
          <p:cNvCxnSpPr>
            <a:stCxn id="0" idx="4"/>
            <a:endCxn id="0" idx="0"/>
          </p:cNvCxnSpPr>
          <p:nvPr/>
        </p:nvCxnSpPr>
        <p:spPr>
          <a:xfrm rot="5400000">
            <a:off x="4771232" y="3913981"/>
            <a:ext cx="285750" cy="158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10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000"/>
                                        <p:tgtEl>
                                          <p:spTgt spid="12"/>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100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1000"/>
                                        <p:tgtEl>
                                          <p:spTgt spid="21"/>
                                        </p:tgtEl>
                                      </p:cBhvr>
                                    </p:animEffect>
                                  </p:childTnLst>
                                </p:cTn>
                              </p:par>
                              <p:par>
                                <p:cTn id="29" presetID="10"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1000"/>
                                        <p:tgtEl>
                                          <p:spTgt spid="22"/>
                                        </p:tgtEl>
                                      </p:cBhvr>
                                    </p:animEffect>
                                  </p:childTnLst>
                                </p:cTn>
                              </p:par>
                              <p:par>
                                <p:cTn id="32" presetID="10" presetClass="entr" presetSubtype="0"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1000"/>
                                        <p:tgtEl>
                                          <p:spTgt spid="23"/>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1000"/>
                                        <p:tgtEl>
                                          <p:spTgt spid="24"/>
                                        </p:tgtEl>
                                      </p:cBhvr>
                                    </p:animEffect>
                                  </p:childTnLst>
                                </p:cTn>
                              </p:par>
                              <p:par>
                                <p:cTn id="38" presetID="10" presetClass="entr" presetSubtype="0" fill="hold"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10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1000"/>
                                        <p:tgtEl>
                                          <p:spTgt spid="30"/>
                                        </p:tgtEl>
                                      </p:cBhvr>
                                    </p:animEffect>
                                  </p:childTnLst>
                                </p:cTn>
                              </p:par>
                              <p:par>
                                <p:cTn id="44" presetID="10" presetClass="entr" presetSubtype="0" fill="hold"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1000"/>
                                        <p:tgtEl>
                                          <p:spTgt spid="33"/>
                                        </p:tgtEl>
                                      </p:cBhvr>
                                    </p:animEffect>
                                  </p:childTnLst>
                                </p:cTn>
                              </p:par>
                              <p:par>
                                <p:cTn id="47" presetID="10" presetClass="entr" presetSubtype="0" fill="hold"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1000"/>
                                        <p:tgtEl>
                                          <p:spTgt spid="34"/>
                                        </p:tgtEl>
                                      </p:cBhvr>
                                    </p:animEffect>
                                  </p:childTnLst>
                                </p:cTn>
                              </p:par>
                              <p:par>
                                <p:cTn id="50" presetID="10" presetClass="entr" presetSubtype="0" fill="hold"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1000"/>
                                        <p:tgtEl>
                                          <p:spTgt spid="35"/>
                                        </p:tgtEl>
                                      </p:cBhvr>
                                    </p:animEffect>
                                  </p:childTnLst>
                                </p:cTn>
                              </p:par>
                              <p:par>
                                <p:cTn id="53" presetID="10" presetClass="entr" presetSubtype="0" fill="hold" nodeType="with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1000"/>
                                        <p:tgtEl>
                                          <p:spTgt spid="36"/>
                                        </p:tgtEl>
                                      </p:cBhvr>
                                    </p:animEffect>
                                  </p:childTnLst>
                                </p:cTn>
                              </p:par>
                              <p:par>
                                <p:cTn id="56" presetID="10" presetClass="entr" presetSubtype="0" fill="hold" nodeType="with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1000"/>
                                        <p:tgtEl>
                                          <p:spTgt spid="37"/>
                                        </p:tgtEl>
                                      </p:cBhvr>
                                    </p:animEffect>
                                  </p:childTnLst>
                                </p:cTn>
                              </p:par>
                              <p:par>
                                <p:cTn id="59" presetID="10" presetClass="entr" presetSubtype="0" fill="hold" nodeType="withEffect">
                                  <p:stCondLst>
                                    <p:cond delay="0"/>
                                  </p:stCondLst>
                                  <p:childTnLst>
                                    <p:set>
                                      <p:cBhvr>
                                        <p:cTn id="60" dur="1" fill="hold">
                                          <p:stCondLst>
                                            <p:cond delay="0"/>
                                          </p:stCondLst>
                                        </p:cTn>
                                        <p:tgtEl>
                                          <p:spTgt spid="38"/>
                                        </p:tgtEl>
                                        <p:attrNameLst>
                                          <p:attrName>style.visibility</p:attrName>
                                        </p:attrNameLst>
                                      </p:cBhvr>
                                      <p:to>
                                        <p:strVal val="visible"/>
                                      </p:to>
                                    </p:set>
                                    <p:animEffect transition="in" filter="fade">
                                      <p:cBhvr>
                                        <p:cTn id="61" dur="1000"/>
                                        <p:tgtEl>
                                          <p:spTgt spid="38"/>
                                        </p:tgtEl>
                                      </p:cBhvr>
                                    </p:animEffect>
                                  </p:childTnLst>
                                </p:cTn>
                              </p:par>
                              <p:par>
                                <p:cTn id="62" presetID="10" presetClass="entr" presetSubtype="0" fill="hold" nodeType="with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1000"/>
                                        <p:tgtEl>
                                          <p:spTgt spid="42"/>
                                        </p:tgtEl>
                                      </p:cBhvr>
                                    </p:animEffect>
                                  </p:childTnLst>
                                </p:cTn>
                              </p:par>
                              <p:par>
                                <p:cTn id="65" presetID="10" presetClass="entr" presetSubtype="0" fill="hold" nodeType="with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fade">
                                      <p:cBhvr>
                                        <p:cTn id="67" dur="1000"/>
                                        <p:tgtEl>
                                          <p:spTgt spid="43"/>
                                        </p:tgtEl>
                                      </p:cBhvr>
                                    </p:animEffect>
                                  </p:childTnLst>
                                </p:cTn>
                              </p:par>
                              <p:par>
                                <p:cTn id="68" presetID="10" presetClass="entr" presetSubtype="0" fill="hold" nodeType="with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1000"/>
                                        <p:tgtEl>
                                          <p:spTgt spid="44"/>
                                        </p:tgtEl>
                                      </p:cBhvr>
                                    </p:animEffect>
                                  </p:childTnLst>
                                </p:cTn>
                              </p:par>
                              <p:par>
                                <p:cTn id="71" presetID="10" presetClass="entr" presetSubtype="0" fill="hold" nodeType="with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1000"/>
                                        <p:tgtEl>
                                          <p:spTgt spid="45"/>
                                        </p:tgtEl>
                                      </p:cBhvr>
                                    </p:animEffect>
                                  </p:childTnLst>
                                </p:cTn>
                              </p:par>
                              <p:par>
                                <p:cTn id="74" presetID="10" presetClass="entr" presetSubtype="0" fill="hold" nodeType="with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1000"/>
                                        <p:tgtEl>
                                          <p:spTgt spid="46"/>
                                        </p:tgtEl>
                                      </p:cBhvr>
                                    </p:animEffect>
                                  </p:childTnLst>
                                </p:cTn>
                              </p:par>
                              <p:par>
                                <p:cTn id="77" presetID="10" presetClass="entr" presetSubtype="0" fill="hold" nodeType="with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fade">
                                      <p:cBhvr>
                                        <p:cTn id="79" dur="1000"/>
                                        <p:tgtEl>
                                          <p:spTgt spid="47"/>
                                        </p:tgtEl>
                                      </p:cBhvr>
                                    </p:animEffect>
                                  </p:childTnLst>
                                </p:cTn>
                              </p:par>
                              <p:par>
                                <p:cTn id="80" presetID="10" presetClass="entr" presetSubtype="0" fill="hold" nodeType="with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fade">
                                      <p:cBhvr>
                                        <p:cTn id="82" dur="1000"/>
                                        <p:tgtEl>
                                          <p:spTgt spid="48"/>
                                        </p:tgtEl>
                                      </p:cBhvr>
                                    </p:animEffect>
                                  </p:childTnLst>
                                </p:cTn>
                              </p:par>
                              <p:par>
                                <p:cTn id="83" presetID="10" presetClass="entr" presetSubtype="0" fill="hold" nodeType="withEffect">
                                  <p:stCondLst>
                                    <p:cond delay="0"/>
                                  </p:stCondLst>
                                  <p:childTnLst>
                                    <p:set>
                                      <p:cBhvr>
                                        <p:cTn id="84" dur="1" fill="hold">
                                          <p:stCondLst>
                                            <p:cond delay="0"/>
                                          </p:stCondLst>
                                        </p:cTn>
                                        <p:tgtEl>
                                          <p:spTgt spid="49"/>
                                        </p:tgtEl>
                                        <p:attrNameLst>
                                          <p:attrName>style.visibility</p:attrName>
                                        </p:attrNameLst>
                                      </p:cBhvr>
                                      <p:to>
                                        <p:strVal val="visible"/>
                                      </p:to>
                                    </p:set>
                                    <p:animEffect transition="in" filter="fade">
                                      <p:cBhvr>
                                        <p:cTn id="85" dur="1000"/>
                                        <p:tgtEl>
                                          <p:spTgt spid="49"/>
                                        </p:tgtEl>
                                      </p:cBhvr>
                                    </p:animEffect>
                                  </p:childTnLst>
                                </p:cTn>
                              </p:par>
                              <p:par>
                                <p:cTn id="86" presetID="10" presetClass="entr" presetSubtype="0" fill="hold" nodeType="withEffect">
                                  <p:stCondLst>
                                    <p:cond delay="0"/>
                                  </p:stCondLst>
                                  <p:childTnLst>
                                    <p:set>
                                      <p:cBhvr>
                                        <p:cTn id="87" dur="1" fill="hold">
                                          <p:stCondLst>
                                            <p:cond delay="0"/>
                                          </p:stCondLst>
                                        </p:cTn>
                                        <p:tgtEl>
                                          <p:spTgt spid="56"/>
                                        </p:tgtEl>
                                        <p:attrNameLst>
                                          <p:attrName>style.visibility</p:attrName>
                                        </p:attrNameLst>
                                      </p:cBhvr>
                                      <p:to>
                                        <p:strVal val="visible"/>
                                      </p:to>
                                    </p:set>
                                    <p:animEffect transition="in" filter="fade">
                                      <p:cBhvr>
                                        <p:cTn id="88" dur="1000"/>
                                        <p:tgtEl>
                                          <p:spTgt spid="56"/>
                                        </p:tgtEl>
                                      </p:cBhvr>
                                    </p:animEffect>
                                  </p:childTnLst>
                                </p:cTn>
                              </p:par>
                              <p:par>
                                <p:cTn id="89" presetID="10" presetClass="entr" presetSubtype="0" fill="hold" nodeType="withEffect">
                                  <p:stCondLst>
                                    <p:cond delay="0"/>
                                  </p:stCondLst>
                                  <p:childTnLst>
                                    <p:set>
                                      <p:cBhvr>
                                        <p:cTn id="90" dur="1" fill="hold">
                                          <p:stCondLst>
                                            <p:cond delay="0"/>
                                          </p:stCondLst>
                                        </p:cTn>
                                        <p:tgtEl>
                                          <p:spTgt spid="59"/>
                                        </p:tgtEl>
                                        <p:attrNameLst>
                                          <p:attrName>style.visibility</p:attrName>
                                        </p:attrNameLst>
                                      </p:cBhvr>
                                      <p:to>
                                        <p:strVal val="visible"/>
                                      </p:to>
                                    </p:set>
                                    <p:animEffect transition="in" filter="fade">
                                      <p:cBhvr>
                                        <p:cTn id="91" dur="1000"/>
                                        <p:tgtEl>
                                          <p:spTgt spid="59"/>
                                        </p:tgtEl>
                                      </p:cBhvr>
                                    </p:animEffect>
                                  </p:childTnLst>
                                </p:cTn>
                              </p:par>
                              <p:par>
                                <p:cTn id="92" presetID="10" presetClass="entr" presetSubtype="0" fill="hold" nodeType="withEffect">
                                  <p:stCondLst>
                                    <p:cond delay="0"/>
                                  </p:stCondLst>
                                  <p:childTnLst>
                                    <p:set>
                                      <p:cBhvr>
                                        <p:cTn id="93" dur="1" fill="hold">
                                          <p:stCondLst>
                                            <p:cond delay="0"/>
                                          </p:stCondLst>
                                        </p:cTn>
                                        <p:tgtEl>
                                          <p:spTgt spid="64"/>
                                        </p:tgtEl>
                                        <p:attrNameLst>
                                          <p:attrName>style.visibility</p:attrName>
                                        </p:attrNameLst>
                                      </p:cBhvr>
                                      <p:to>
                                        <p:strVal val="visible"/>
                                      </p:to>
                                    </p:set>
                                    <p:animEffect transition="in" filter="fade">
                                      <p:cBhvr>
                                        <p:cTn id="94" dur="1000"/>
                                        <p:tgtEl>
                                          <p:spTgt spid="64"/>
                                        </p:tgtEl>
                                      </p:cBhvr>
                                    </p:animEffect>
                                  </p:childTnLst>
                                </p:cTn>
                              </p:par>
                              <p:par>
                                <p:cTn id="95" presetID="10" presetClass="entr" presetSubtype="0" fill="hold" nodeType="withEffect">
                                  <p:stCondLst>
                                    <p:cond delay="0"/>
                                  </p:stCondLst>
                                  <p:childTnLst>
                                    <p:set>
                                      <p:cBhvr>
                                        <p:cTn id="96" dur="1" fill="hold">
                                          <p:stCondLst>
                                            <p:cond delay="0"/>
                                          </p:stCondLst>
                                        </p:cTn>
                                        <p:tgtEl>
                                          <p:spTgt spid="83"/>
                                        </p:tgtEl>
                                        <p:attrNameLst>
                                          <p:attrName>style.visibility</p:attrName>
                                        </p:attrNameLst>
                                      </p:cBhvr>
                                      <p:to>
                                        <p:strVal val="visible"/>
                                      </p:to>
                                    </p:set>
                                    <p:animEffect transition="in" filter="fade">
                                      <p:cBhvr>
                                        <p:cTn id="97" dur="1000"/>
                                        <p:tgtEl>
                                          <p:spTgt spid="83"/>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81"/>
                                        </p:tgtEl>
                                        <p:attrNameLst>
                                          <p:attrName>style.visibility</p:attrName>
                                        </p:attrNameLst>
                                      </p:cBhvr>
                                      <p:to>
                                        <p:strVal val="visible"/>
                                      </p:to>
                                    </p:set>
                                    <p:animEffect transition="in" filter="fade">
                                      <p:cBhvr>
                                        <p:cTn id="102" dur="500"/>
                                        <p:tgtEl>
                                          <p:spTgt spid="81"/>
                                        </p:tgtEl>
                                      </p:cBhvr>
                                    </p:animEffect>
                                  </p:childTnLst>
                                </p:cTn>
                              </p:par>
                              <p:par>
                                <p:cTn id="103" presetID="10" presetClass="entr" presetSubtype="0" fill="hold" nodeType="withEffect">
                                  <p:stCondLst>
                                    <p:cond delay="0"/>
                                  </p:stCondLst>
                                  <p:childTnLst>
                                    <p:set>
                                      <p:cBhvr>
                                        <p:cTn id="104" dur="1" fill="hold">
                                          <p:stCondLst>
                                            <p:cond delay="0"/>
                                          </p:stCondLst>
                                        </p:cTn>
                                        <p:tgtEl>
                                          <p:spTgt spid="82"/>
                                        </p:tgtEl>
                                        <p:attrNameLst>
                                          <p:attrName>style.visibility</p:attrName>
                                        </p:attrNameLst>
                                      </p:cBhvr>
                                      <p:to>
                                        <p:strVal val="visible"/>
                                      </p:to>
                                    </p:set>
                                    <p:animEffect transition="in" filter="fade">
                                      <p:cBhvr>
                                        <p:cTn id="105" dur="500"/>
                                        <p:tgtEl>
                                          <p:spTgt spid="82"/>
                                        </p:tgtEl>
                                      </p:cBhvr>
                                    </p:animEffect>
                                  </p:childTnLst>
                                </p:cTn>
                              </p:par>
                              <p:par>
                                <p:cTn id="106" presetID="10" presetClass="entr" presetSubtype="0" fill="hold" nodeType="withEffect">
                                  <p:stCondLst>
                                    <p:cond delay="0"/>
                                  </p:stCondLst>
                                  <p:childTnLst>
                                    <p:set>
                                      <p:cBhvr>
                                        <p:cTn id="107" dur="1" fill="hold">
                                          <p:stCondLst>
                                            <p:cond delay="0"/>
                                          </p:stCondLst>
                                        </p:cTn>
                                        <p:tgtEl>
                                          <p:spTgt spid="84"/>
                                        </p:tgtEl>
                                        <p:attrNameLst>
                                          <p:attrName>style.visibility</p:attrName>
                                        </p:attrNameLst>
                                      </p:cBhvr>
                                      <p:to>
                                        <p:strVal val="visible"/>
                                      </p:to>
                                    </p:set>
                                    <p:animEffect transition="in" filter="fade">
                                      <p:cBhvr>
                                        <p:cTn id="108" dur="500"/>
                                        <p:tgtEl>
                                          <p:spTgt spid="84"/>
                                        </p:tgtEl>
                                      </p:cBhvr>
                                    </p:animEffect>
                                  </p:childTnLst>
                                </p:cTn>
                              </p:par>
                              <p:par>
                                <p:cTn id="109" presetID="10" presetClass="entr" presetSubtype="0" fill="hold" nodeType="withEffect">
                                  <p:stCondLst>
                                    <p:cond delay="0"/>
                                  </p:stCondLst>
                                  <p:childTnLst>
                                    <p:set>
                                      <p:cBhvr>
                                        <p:cTn id="110" dur="1" fill="hold">
                                          <p:stCondLst>
                                            <p:cond delay="0"/>
                                          </p:stCondLst>
                                        </p:cTn>
                                        <p:tgtEl>
                                          <p:spTgt spid="85"/>
                                        </p:tgtEl>
                                        <p:attrNameLst>
                                          <p:attrName>style.visibility</p:attrName>
                                        </p:attrNameLst>
                                      </p:cBhvr>
                                      <p:to>
                                        <p:strVal val="visible"/>
                                      </p:to>
                                    </p:set>
                                    <p:animEffect transition="in" filter="fade">
                                      <p:cBhvr>
                                        <p:cTn id="111" dur="500"/>
                                        <p:tgtEl>
                                          <p:spTgt spid="85"/>
                                        </p:tgtEl>
                                      </p:cBhvr>
                                    </p:animEffect>
                                  </p:childTnLst>
                                </p:cTn>
                              </p:par>
                              <p:par>
                                <p:cTn id="112" presetID="10" presetClass="entr" presetSubtype="0" fill="hold" nodeType="withEffect">
                                  <p:stCondLst>
                                    <p:cond delay="0"/>
                                  </p:stCondLst>
                                  <p:childTnLst>
                                    <p:set>
                                      <p:cBhvr>
                                        <p:cTn id="113" dur="1" fill="hold">
                                          <p:stCondLst>
                                            <p:cond delay="0"/>
                                          </p:stCondLst>
                                        </p:cTn>
                                        <p:tgtEl>
                                          <p:spTgt spid="86"/>
                                        </p:tgtEl>
                                        <p:attrNameLst>
                                          <p:attrName>style.visibility</p:attrName>
                                        </p:attrNameLst>
                                      </p:cBhvr>
                                      <p:to>
                                        <p:strVal val="visible"/>
                                      </p:to>
                                    </p:set>
                                    <p:animEffect transition="in" filter="fade">
                                      <p:cBhvr>
                                        <p:cTn id="114" dur="500"/>
                                        <p:tgtEl>
                                          <p:spTgt spid="86"/>
                                        </p:tgtEl>
                                      </p:cBhvr>
                                    </p:animEffect>
                                  </p:childTnLst>
                                </p:cTn>
                              </p:par>
                              <p:par>
                                <p:cTn id="115" presetID="10" presetClass="entr" presetSubtype="0" fill="hold" nodeType="withEffect">
                                  <p:stCondLst>
                                    <p:cond delay="0"/>
                                  </p:stCondLst>
                                  <p:childTnLst>
                                    <p:set>
                                      <p:cBhvr>
                                        <p:cTn id="116" dur="1" fill="hold">
                                          <p:stCondLst>
                                            <p:cond delay="0"/>
                                          </p:stCondLst>
                                        </p:cTn>
                                        <p:tgtEl>
                                          <p:spTgt spid="87"/>
                                        </p:tgtEl>
                                        <p:attrNameLst>
                                          <p:attrName>style.visibility</p:attrName>
                                        </p:attrNameLst>
                                      </p:cBhvr>
                                      <p:to>
                                        <p:strVal val="visible"/>
                                      </p:to>
                                    </p:set>
                                    <p:animEffect transition="in" filter="fade">
                                      <p:cBhvr>
                                        <p:cTn id="117" dur="500"/>
                                        <p:tgtEl>
                                          <p:spTgt spid="87"/>
                                        </p:tgtEl>
                                      </p:cBhvr>
                                    </p:animEffect>
                                  </p:childTnLst>
                                </p:cTn>
                              </p:par>
                              <p:par>
                                <p:cTn id="118" presetID="10" presetClass="entr" presetSubtype="0" fill="hold" nodeType="withEffect">
                                  <p:stCondLst>
                                    <p:cond delay="0"/>
                                  </p:stCondLst>
                                  <p:childTnLst>
                                    <p:set>
                                      <p:cBhvr>
                                        <p:cTn id="119" dur="1" fill="hold">
                                          <p:stCondLst>
                                            <p:cond delay="0"/>
                                          </p:stCondLst>
                                        </p:cTn>
                                        <p:tgtEl>
                                          <p:spTgt spid="88"/>
                                        </p:tgtEl>
                                        <p:attrNameLst>
                                          <p:attrName>style.visibility</p:attrName>
                                        </p:attrNameLst>
                                      </p:cBhvr>
                                      <p:to>
                                        <p:strVal val="visible"/>
                                      </p:to>
                                    </p:set>
                                    <p:animEffect transition="in" filter="fade">
                                      <p:cBhvr>
                                        <p:cTn id="120" dur="500"/>
                                        <p:tgtEl>
                                          <p:spTgt spid="88"/>
                                        </p:tgtEl>
                                      </p:cBhvr>
                                    </p:animEffect>
                                  </p:childTnLst>
                                </p:cTn>
                              </p:par>
                              <p:par>
                                <p:cTn id="121" presetID="10" presetClass="entr" presetSubtype="0" fill="hold" nodeType="withEffect">
                                  <p:stCondLst>
                                    <p:cond delay="0"/>
                                  </p:stCondLst>
                                  <p:childTnLst>
                                    <p:set>
                                      <p:cBhvr>
                                        <p:cTn id="122" dur="1" fill="hold">
                                          <p:stCondLst>
                                            <p:cond delay="0"/>
                                          </p:stCondLst>
                                        </p:cTn>
                                        <p:tgtEl>
                                          <p:spTgt spid="89"/>
                                        </p:tgtEl>
                                        <p:attrNameLst>
                                          <p:attrName>style.visibility</p:attrName>
                                        </p:attrNameLst>
                                      </p:cBhvr>
                                      <p:to>
                                        <p:strVal val="visible"/>
                                      </p:to>
                                    </p:set>
                                    <p:animEffect transition="in" filter="fade">
                                      <p:cBhvr>
                                        <p:cTn id="123" dur="500"/>
                                        <p:tgtEl>
                                          <p:spTgt spid="89"/>
                                        </p:tgtEl>
                                      </p:cBhvr>
                                    </p:animEffect>
                                  </p:childTnLst>
                                </p:cTn>
                              </p:par>
                              <p:par>
                                <p:cTn id="124" presetID="10" presetClass="entr" presetSubtype="0" fill="hold" nodeType="withEffect">
                                  <p:stCondLst>
                                    <p:cond delay="0"/>
                                  </p:stCondLst>
                                  <p:childTnLst>
                                    <p:set>
                                      <p:cBhvr>
                                        <p:cTn id="125" dur="1" fill="hold">
                                          <p:stCondLst>
                                            <p:cond delay="0"/>
                                          </p:stCondLst>
                                        </p:cTn>
                                        <p:tgtEl>
                                          <p:spTgt spid="90"/>
                                        </p:tgtEl>
                                        <p:attrNameLst>
                                          <p:attrName>style.visibility</p:attrName>
                                        </p:attrNameLst>
                                      </p:cBhvr>
                                      <p:to>
                                        <p:strVal val="visible"/>
                                      </p:to>
                                    </p:set>
                                    <p:animEffect transition="in" filter="fade">
                                      <p:cBhvr>
                                        <p:cTn id="126" dur="500"/>
                                        <p:tgtEl>
                                          <p:spTgt spid="90"/>
                                        </p:tgtEl>
                                      </p:cBhvr>
                                    </p:animEffect>
                                  </p:childTnLst>
                                </p:cTn>
                              </p:par>
                              <p:par>
                                <p:cTn id="127" presetID="10" presetClass="entr" presetSubtype="0" fill="hold" nodeType="withEffect">
                                  <p:stCondLst>
                                    <p:cond delay="0"/>
                                  </p:stCondLst>
                                  <p:childTnLst>
                                    <p:set>
                                      <p:cBhvr>
                                        <p:cTn id="128" dur="1" fill="hold">
                                          <p:stCondLst>
                                            <p:cond delay="0"/>
                                          </p:stCondLst>
                                        </p:cTn>
                                        <p:tgtEl>
                                          <p:spTgt spid="91"/>
                                        </p:tgtEl>
                                        <p:attrNameLst>
                                          <p:attrName>style.visibility</p:attrName>
                                        </p:attrNameLst>
                                      </p:cBhvr>
                                      <p:to>
                                        <p:strVal val="visible"/>
                                      </p:to>
                                    </p:set>
                                    <p:animEffect transition="in" filter="fade">
                                      <p:cBhvr>
                                        <p:cTn id="129" dur="500"/>
                                        <p:tgtEl>
                                          <p:spTgt spid="91"/>
                                        </p:tgtEl>
                                      </p:cBhvr>
                                    </p:animEffect>
                                  </p:childTnLst>
                                </p:cTn>
                              </p:par>
                              <p:par>
                                <p:cTn id="130" presetID="10" presetClass="entr" presetSubtype="0" fill="hold" nodeType="withEffect">
                                  <p:stCondLst>
                                    <p:cond delay="0"/>
                                  </p:stCondLst>
                                  <p:childTnLst>
                                    <p:set>
                                      <p:cBhvr>
                                        <p:cTn id="131" dur="1" fill="hold">
                                          <p:stCondLst>
                                            <p:cond delay="0"/>
                                          </p:stCondLst>
                                        </p:cTn>
                                        <p:tgtEl>
                                          <p:spTgt spid="92"/>
                                        </p:tgtEl>
                                        <p:attrNameLst>
                                          <p:attrName>style.visibility</p:attrName>
                                        </p:attrNameLst>
                                      </p:cBhvr>
                                      <p:to>
                                        <p:strVal val="visible"/>
                                      </p:to>
                                    </p:set>
                                    <p:animEffect transition="in" filter="fade">
                                      <p:cBhvr>
                                        <p:cTn id="132" dur="500"/>
                                        <p:tgtEl>
                                          <p:spTgt spid="92"/>
                                        </p:tgtEl>
                                      </p:cBhvr>
                                    </p:animEffect>
                                  </p:childTnLst>
                                </p:cTn>
                              </p:par>
                              <p:par>
                                <p:cTn id="133" presetID="10" presetClass="entr" presetSubtype="0" fill="hold" nodeType="withEffect">
                                  <p:stCondLst>
                                    <p:cond delay="0"/>
                                  </p:stCondLst>
                                  <p:childTnLst>
                                    <p:set>
                                      <p:cBhvr>
                                        <p:cTn id="134" dur="1" fill="hold">
                                          <p:stCondLst>
                                            <p:cond delay="0"/>
                                          </p:stCondLst>
                                        </p:cTn>
                                        <p:tgtEl>
                                          <p:spTgt spid="93"/>
                                        </p:tgtEl>
                                        <p:attrNameLst>
                                          <p:attrName>style.visibility</p:attrName>
                                        </p:attrNameLst>
                                      </p:cBhvr>
                                      <p:to>
                                        <p:strVal val="visible"/>
                                      </p:to>
                                    </p:set>
                                    <p:animEffect transition="in" filter="fade">
                                      <p:cBhvr>
                                        <p:cTn id="135" dur="500"/>
                                        <p:tgtEl>
                                          <p:spTgt spid="93"/>
                                        </p:tgtEl>
                                      </p:cBhvr>
                                    </p:animEffect>
                                  </p:childTnLst>
                                </p:cTn>
                              </p:par>
                              <p:par>
                                <p:cTn id="136" presetID="10" presetClass="entr" presetSubtype="0" fill="hold" nodeType="withEffect">
                                  <p:stCondLst>
                                    <p:cond delay="0"/>
                                  </p:stCondLst>
                                  <p:childTnLst>
                                    <p:set>
                                      <p:cBhvr>
                                        <p:cTn id="137" dur="1" fill="hold">
                                          <p:stCondLst>
                                            <p:cond delay="0"/>
                                          </p:stCondLst>
                                        </p:cTn>
                                        <p:tgtEl>
                                          <p:spTgt spid="94"/>
                                        </p:tgtEl>
                                        <p:attrNameLst>
                                          <p:attrName>style.visibility</p:attrName>
                                        </p:attrNameLst>
                                      </p:cBhvr>
                                      <p:to>
                                        <p:strVal val="visible"/>
                                      </p:to>
                                    </p:set>
                                    <p:animEffect transition="in" filter="fade">
                                      <p:cBhvr>
                                        <p:cTn id="138" dur="500"/>
                                        <p:tgtEl>
                                          <p:spTgt spid="94"/>
                                        </p:tgtEl>
                                      </p:cBhvr>
                                    </p:animEffect>
                                  </p:childTnLst>
                                </p:cTn>
                              </p:par>
                              <p:par>
                                <p:cTn id="139" presetID="10" presetClass="entr" presetSubtype="0" fill="hold" nodeType="withEffect">
                                  <p:stCondLst>
                                    <p:cond delay="0"/>
                                  </p:stCondLst>
                                  <p:childTnLst>
                                    <p:set>
                                      <p:cBhvr>
                                        <p:cTn id="140" dur="1" fill="hold">
                                          <p:stCondLst>
                                            <p:cond delay="0"/>
                                          </p:stCondLst>
                                        </p:cTn>
                                        <p:tgtEl>
                                          <p:spTgt spid="95"/>
                                        </p:tgtEl>
                                        <p:attrNameLst>
                                          <p:attrName>style.visibility</p:attrName>
                                        </p:attrNameLst>
                                      </p:cBhvr>
                                      <p:to>
                                        <p:strVal val="visible"/>
                                      </p:to>
                                    </p:set>
                                    <p:animEffect transition="in" filter="fade">
                                      <p:cBhvr>
                                        <p:cTn id="141" dur="500"/>
                                        <p:tgtEl>
                                          <p:spTgt spid="95"/>
                                        </p:tgtEl>
                                      </p:cBhvr>
                                    </p:animEffect>
                                  </p:childTnLst>
                                </p:cTn>
                              </p:par>
                              <p:par>
                                <p:cTn id="142" presetID="10" presetClass="entr" presetSubtype="0" fill="hold" nodeType="withEffect">
                                  <p:stCondLst>
                                    <p:cond delay="0"/>
                                  </p:stCondLst>
                                  <p:childTnLst>
                                    <p:set>
                                      <p:cBhvr>
                                        <p:cTn id="143" dur="1" fill="hold">
                                          <p:stCondLst>
                                            <p:cond delay="0"/>
                                          </p:stCondLst>
                                        </p:cTn>
                                        <p:tgtEl>
                                          <p:spTgt spid="96"/>
                                        </p:tgtEl>
                                        <p:attrNameLst>
                                          <p:attrName>style.visibility</p:attrName>
                                        </p:attrNameLst>
                                      </p:cBhvr>
                                      <p:to>
                                        <p:strVal val="visible"/>
                                      </p:to>
                                    </p:set>
                                    <p:animEffect transition="in" filter="fade">
                                      <p:cBhvr>
                                        <p:cTn id="144" dur="500"/>
                                        <p:tgtEl>
                                          <p:spTgt spid="96"/>
                                        </p:tgtEl>
                                      </p:cBhvr>
                                    </p:animEffect>
                                  </p:childTnLst>
                                </p:cTn>
                              </p:par>
                              <p:par>
                                <p:cTn id="145" presetID="10" presetClass="entr" presetSubtype="0" fill="hold" nodeType="withEffect">
                                  <p:stCondLst>
                                    <p:cond delay="0"/>
                                  </p:stCondLst>
                                  <p:childTnLst>
                                    <p:set>
                                      <p:cBhvr>
                                        <p:cTn id="146" dur="1" fill="hold">
                                          <p:stCondLst>
                                            <p:cond delay="0"/>
                                          </p:stCondLst>
                                        </p:cTn>
                                        <p:tgtEl>
                                          <p:spTgt spid="97"/>
                                        </p:tgtEl>
                                        <p:attrNameLst>
                                          <p:attrName>style.visibility</p:attrName>
                                        </p:attrNameLst>
                                      </p:cBhvr>
                                      <p:to>
                                        <p:strVal val="visible"/>
                                      </p:to>
                                    </p:set>
                                    <p:animEffect transition="in" filter="fade">
                                      <p:cBhvr>
                                        <p:cTn id="147" dur="500"/>
                                        <p:tgtEl>
                                          <p:spTgt spid="97"/>
                                        </p:tgtEl>
                                      </p:cBhvr>
                                    </p:animEffect>
                                  </p:childTnLst>
                                </p:cTn>
                              </p:par>
                              <p:par>
                                <p:cTn id="148" presetID="10" presetClass="entr" presetSubtype="0" fill="hold" nodeType="withEffect">
                                  <p:stCondLst>
                                    <p:cond delay="0"/>
                                  </p:stCondLst>
                                  <p:childTnLst>
                                    <p:set>
                                      <p:cBhvr>
                                        <p:cTn id="149" dur="1" fill="hold">
                                          <p:stCondLst>
                                            <p:cond delay="0"/>
                                          </p:stCondLst>
                                        </p:cTn>
                                        <p:tgtEl>
                                          <p:spTgt spid="98"/>
                                        </p:tgtEl>
                                        <p:attrNameLst>
                                          <p:attrName>style.visibility</p:attrName>
                                        </p:attrNameLst>
                                      </p:cBhvr>
                                      <p:to>
                                        <p:strVal val="visible"/>
                                      </p:to>
                                    </p:set>
                                    <p:animEffect transition="in" filter="fade">
                                      <p:cBhvr>
                                        <p:cTn id="150" dur="500"/>
                                        <p:tgtEl>
                                          <p:spTgt spid="98"/>
                                        </p:tgtEl>
                                      </p:cBhvr>
                                    </p:animEffect>
                                  </p:childTnLst>
                                </p:cTn>
                              </p:par>
                              <p:par>
                                <p:cTn id="151" presetID="10" presetClass="entr" presetSubtype="0" fill="hold" nodeType="withEffect">
                                  <p:stCondLst>
                                    <p:cond delay="0"/>
                                  </p:stCondLst>
                                  <p:childTnLst>
                                    <p:set>
                                      <p:cBhvr>
                                        <p:cTn id="152" dur="1" fill="hold">
                                          <p:stCondLst>
                                            <p:cond delay="0"/>
                                          </p:stCondLst>
                                        </p:cTn>
                                        <p:tgtEl>
                                          <p:spTgt spid="99"/>
                                        </p:tgtEl>
                                        <p:attrNameLst>
                                          <p:attrName>style.visibility</p:attrName>
                                        </p:attrNameLst>
                                      </p:cBhvr>
                                      <p:to>
                                        <p:strVal val="visible"/>
                                      </p:to>
                                    </p:set>
                                    <p:animEffect transition="in" filter="fade">
                                      <p:cBhvr>
                                        <p:cTn id="153" dur="500"/>
                                        <p:tgtEl>
                                          <p:spTgt spid="99"/>
                                        </p:tgtEl>
                                      </p:cBhvr>
                                    </p:animEffect>
                                  </p:childTnLst>
                                </p:cTn>
                              </p:par>
                              <p:par>
                                <p:cTn id="154" presetID="10" presetClass="entr" presetSubtype="0" fill="hold" nodeType="withEffect">
                                  <p:stCondLst>
                                    <p:cond delay="0"/>
                                  </p:stCondLst>
                                  <p:childTnLst>
                                    <p:set>
                                      <p:cBhvr>
                                        <p:cTn id="155" dur="1" fill="hold">
                                          <p:stCondLst>
                                            <p:cond delay="0"/>
                                          </p:stCondLst>
                                        </p:cTn>
                                        <p:tgtEl>
                                          <p:spTgt spid="100"/>
                                        </p:tgtEl>
                                        <p:attrNameLst>
                                          <p:attrName>style.visibility</p:attrName>
                                        </p:attrNameLst>
                                      </p:cBhvr>
                                      <p:to>
                                        <p:strVal val="visible"/>
                                      </p:to>
                                    </p:set>
                                    <p:animEffect transition="in" filter="fade">
                                      <p:cBhvr>
                                        <p:cTn id="156" dur="500"/>
                                        <p:tgtEl>
                                          <p:spTgt spid="100"/>
                                        </p:tgtEl>
                                      </p:cBhvr>
                                    </p:animEffect>
                                  </p:childTnLst>
                                </p:cTn>
                              </p:par>
                              <p:par>
                                <p:cTn id="157" presetID="10" presetClass="entr" presetSubtype="0" fill="hold" nodeType="withEffect">
                                  <p:stCondLst>
                                    <p:cond delay="0"/>
                                  </p:stCondLst>
                                  <p:childTnLst>
                                    <p:set>
                                      <p:cBhvr>
                                        <p:cTn id="158" dur="1" fill="hold">
                                          <p:stCondLst>
                                            <p:cond delay="0"/>
                                          </p:stCondLst>
                                        </p:cTn>
                                        <p:tgtEl>
                                          <p:spTgt spid="101"/>
                                        </p:tgtEl>
                                        <p:attrNameLst>
                                          <p:attrName>style.visibility</p:attrName>
                                        </p:attrNameLst>
                                      </p:cBhvr>
                                      <p:to>
                                        <p:strVal val="visible"/>
                                      </p:to>
                                    </p:set>
                                    <p:animEffect transition="in" filter="fade">
                                      <p:cBhvr>
                                        <p:cTn id="159" dur="500"/>
                                        <p:tgtEl>
                                          <p:spTgt spid="101"/>
                                        </p:tgtEl>
                                      </p:cBhvr>
                                    </p:animEffect>
                                  </p:childTnLst>
                                </p:cTn>
                              </p:par>
                              <p:par>
                                <p:cTn id="160" presetID="10" presetClass="entr" presetSubtype="0" fill="hold" nodeType="withEffect">
                                  <p:stCondLst>
                                    <p:cond delay="0"/>
                                  </p:stCondLst>
                                  <p:childTnLst>
                                    <p:set>
                                      <p:cBhvr>
                                        <p:cTn id="161" dur="1" fill="hold">
                                          <p:stCondLst>
                                            <p:cond delay="0"/>
                                          </p:stCondLst>
                                        </p:cTn>
                                        <p:tgtEl>
                                          <p:spTgt spid="102"/>
                                        </p:tgtEl>
                                        <p:attrNameLst>
                                          <p:attrName>style.visibility</p:attrName>
                                        </p:attrNameLst>
                                      </p:cBhvr>
                                      <p:to>
                                        <p:strVal val="visible"/>
                                      </p:to>
                                    </p:set>
                                    <p:animEffect transition="in" filter="fade">
                                      <p:cBhvr>
                                        <p:cTn id="162" dur="500"/>
                                        <p:tgtEl>
                                          <p:spTgt spid="102"/>
                                        </p:tgtEl>
                                      </p:cBhvr>
                                    </p:animEffect>
                                  </p:childTnLst>
                                </p:cTn>
                              </p:par>
                              <p:par>
                                <p:cTn id="163" presetID="10" presetClass="entr" presetSubtype="0" fill="hold" nodeType="withEffect">
                                  <p:stCondLst>
                                    <p:cond delay="0"/>
                                  </p:stCondLst>
                                  <p:childTnLst>
                                    <p:set>
                                      <p:cBhvr>
                                        <p:cTn id="164" dur="1" fill="hold">
                                          <p:stCondLst>
                                            <p:cond delay="0"/>
                                          </p:stCondLst>
                                        </p:cTn>
                                        <p:tgtEl>
                                          <p:spTgt spid="103"/>
                                        </p:tgtEl>
                                        <p:attrNameLst>
                                          <p:attrName>style.visibility</p:attrName>
                                        </p:attrNameLst>
                                      </p:cBhvr>
                                      <p:to>
                                        <p:strVal val="visible"/>
                                      </p:to>
                                    </p:set>
                                    <p:animEffect transition="in" filter="fade">
                                      <p:cBhvr>
                                        <p:cTn id="165" dur="500"/>
                                        <p:tgtEl>
                                          <p:spTgt spid="103"/>
                                        </p:tgtEl>
                                      </p:cBhvr>
                                    </p:animEffect>
                                  </p:childTnLst>
                                </p:cTn>
                              </p:par>
                              <p:par>
                                <p:cTn id="166" presetID="10" presetClass="entr" presetSubtype="0" fill="hold" nodeType="withEffect">
                                  <p:stCondLst>
                                    <p:cond delay="0"/>
                                  </p:stCondLst>
                                  <p:childTnLst>
                                    <p:set>
                                      <p:cBhvr>
                                        <p:cTn id="167" dur="1" fill="hold">
                                          <p:stCondLst>
                                            <p:cond delay="0"/>
                                          </p:stCondLst>
                                        </p:cTn>
                                        <p:tgtEl>
                                          <p:spTgt spid="104"/>
                                        </p:tgtEl>
                                        <p:attrNameLst>
                                          <p:attrName>style.visibility</p:attrName>
                                        </p:attrNameLst>
                                      </p:cBhvr>
                                      <p:to>
                                        <p:strVal val="visible"/>
                                      </p:to>
                                    </p:set>
                                    <p:animEffect transition="in" filter="fade">
                                      <p:cBhvr>
                                        <p:cTn id="168" dur="500"/>
                                        <p:tgtEl>
                                          <p:spTgt spid="104"/>
                                        </p:tgtEl>
                                      </p:cBhvr>
                                    </p:animEffect>
                                  </p:childTnLst>
                                </p:cTn>
                              </p:par>
                              <p:par>
                                <p:cTn id="169" presetID="10" presetClass="entr" presetSubtype="0" fill="hold" nodeType="withEffect">
                                  <p:stCondLst>
                                    <p:cond delay="0"/>
                                  </p:stCondLst>
                                  <p:childTnLst>
                                    <p:set>
                                      <p:cBhvr>
                                        <p:cTn id="170" dur="1" fill="hold">
                                          <p:stCondLst>
                                            <p:cond delay="0"/>
                                          </p:stCondLst>
                                        </p:cTn>
                                        <p:tgtEl>
                                          <p:spTgt spid="105"/>
                                        </p:tgtEl>
                                        <p:attrNameLst>
                                          <p:attrName>style.visibility</p:attrName>
                                        </p:attrNameLst>
                                      </p:cBhvr>
                                      <p:to>
                                        <p:strVal val="visible"/>
                                      </p:to>
                                    </p:set>
                                    <p:animEffect transition="in" filter="fade">
                                      <p:cBhvr>
                                        <p:cTn id="171" dur="500"/>
                                        <p:tgtEl>
                                          <p:spTgt spid="105"/>
                                        </p:tgtEl>
                                      </p:cBhvr>
                                    </p:animEffect>
                                  </p:childTnLst>
                                </p:cTn>
                              </p:par>
                              <p:par>
                                <p:cTn id="172" presetID="10" presetClass="entr" presetSubtype="0" fill="hold" nodeType="withEffect">
                                  <p:stCondLst>
                                    <p:cond delay="0"/>
                                  </p:stCondLst>
                                  <p:childTnLst>
                                    <p:set>
                                      <p:cBhvr>
                                        <p:cTn id="173" dur="1" fill="hold">
                                          <p:stCondLst>
                                            <p:cond delay="0"/>
                                          </p:stCondLst>
                                        </p:cTn>
                                        <p:tgtEl>
                                          <p:spTgt spid="106"/>
                                        </p:tgtEl>
                                        <p:attrNameLst>
                                          <p:attrName>style.visibility</p:attrName>
                                        </p:attrNameLst>
                                      </p:cBhvr>
                                      <p:to>
                                        <p:strVal val="visible"/>
                                      </p:to>
                                    </p:set>
                                    <p:animEffect transition="in" filter="fade">
                                      <p:cBhvr>
                                        <p:cTn id="174" dur="500"/>
                                        <p:tgtEl>
                                          <p:spTgt spid="106"/>
                                        </p:tgtEl>
                                      </p:cBhvr>
                                    </p:animEffect>
                                  </p:childTnLst>
                                </p:cTn>
                              </p:par>
                              <p:par>
                                <p:cTn id="175" presetID="10" presetClass="entr" presetSubtype="0" fill="hold" nodeType="withEffect">
                                  <p:stCondLst>
                                    <p:cond delay="0"/>
                                  </p:stCondLst>
                                  <p:childTnLst>
                                    <p:set>
                                      <p:cBhvr>
                                        <p:cTn id="176" dur="1" fill="hold">
                                          <p:stCondLst>
                                            <p:cond delay="0"/>
                                          </p:stCondLst>
                                        </p:cTn>
                                        <p:tgtEl>
                                          <p:spTgt spid="107"/>
                                        </p:tgtEl>
                                        <p:attrNameLst>
                                          <p:attrName>style.visibility</p:attrName>
                                        </p:attrNameLst>
                                      </p:cBhvr>
                                      <p:to>
                                        <p:strVal val="visible"/>
                                      </p:to>
                                    </p:set>
                                    <p:animEffect transition="in" filter="fade">
                                      <p:cBhvr>
                                        <p:cTn id="177" dur="500"/>
                                        <p:tgtEl>
                                          <p:spTgt spid="107"/>
                                        </p:tgtEl>
                                      </p:cBhvr>
                                    </p:animEffect>
                                  </p:childTnLst>
                                </p:cTn>
                              </p:par>
                              <p:par>
                                <p:cTn id="178" presetID="10" presetClass="entr" presetSubtype="0" fill="hold" nodeType="withEffect">
                                  <p:stCondLst>
                                    <p:cond delay="0"/>
                                  </p:stCondLst>
                                  <p:childTnLst>
                                    <p:set>
                                      <p:cBhvr>
                                        <p:cTn id="179" dur="1" fill="hold">
                                          <p:stCondLst>
                                            <p:cond delay="0"/>
                                          </p:stCondLst>
                                        </p:cTn>
                                        <p:tgtEl>
                                          <p:spTgt spid="108"/>
                                        </p:tgtEl>
                                        <p:attrNameLst>
                                          <p:attrName>style.visibility</p:attrName>
                                        </p:attrNameLst>
                                      </p:cBhvr>
                                      <p:to>
                                        <p:strVal val="visible"/>
                                      </p:to>
                                    </p:set>
                                    <p:animEffect transition="in" filter="fade">
                                      <p:cBhvr>
                                        <p:cTn id="180" dur="500"/>
                                        <p:tgtEl>
                                          <p:spTgt spid="108"/>
                                        </p:tgtEl>
                                      </p:cBhvr>
                                    </p:animEffect>
                                  </p:childTnLst>
                                </p:cTn>
                              </p:par>
                              <p:par>
                                <p:cTn id="181" presetID="10" presetClass="entr" presetSubtype="0" fill="hold" nodeType="withEffect">
                                  <p:stCondLst>
                                    <p:cond delay="0"/>
                                  </p:stCondLst>
                                  <p:childTnLst>
                                    <p:set>
                                      <p:cBhvr>
                                        <p:cTn id="182" dur="1" fill="hold">
                                          <p:stCondLst>
                                            <p:cond delay="0"/>
                                          </p:stCondLst>
                                        </p:cTn>
                                        <p:tgtEl>
                                          <p:spTgt spid="109"/>
                                        </p:tgtEl>
                                        <p:attrNameLst>
                                          <p:attrName>style.visibility</p:attrName>
                                        </p:attrNameLst>
                                      </p:cBhvr>
                                      <p:to>
                                        <p:strVal val="visible"/>
                                      </p:to>
                                    </p:set>
                                    <p:animEffect transition="in" filter="fade">
                                      <p:cBhvr>
                                        <p:cTn id="183" dur="500"/>
                                        <p:tgtEl>
                                          <p:spTgt spid="109"/>
                                        </p:tgtEl>
                                      </p:cBhvr>
                                    </p:animEffect>
                                  </p:childTnLst>
                                </p:cTn>
                              </p:par>
                              <p:par>
                                <p:cTn id="184" presetID="10" presetClass="entr" presetSubtype="0" fill="hold" nodeType="withEffect">
                                  <p:stCondLst>
                                    <p:cond delay="0"/>
                                  </p:stCondLst>
                                  <p:childTnLst>
                                    <p:set>
                                      <p:cBhvr>
                                        <p:cTn id="185" dur="1" fill="hold">
                                          <p:stCondLst>
                                            <p:cond delay="0"/>
                                          </p:stCondLst>
                                        </p:cTn>
                                        <p:tgtEl>
                                          <p:spTgt spid="110"/>
                                        </p:tgtEl>
                                        <p:attrNameLst>
                                          <p:attrName>style.visibility</p:attrName>
                                        </p:attrNameLst>
                                      </p:cBhvr>
                                      <p:to>
                                        <p:strVal val="visible"/>
                                      </p:to>
                                    </p:set>
                                    <p:animEffect transition="in" filter="fade">
                                      <p:cBhvr>
                                        <p:cTn id="186" dur="500"/>
                                        <p:tgtEl>
                                          <p:spTgt spid="110"/>
                                        </p:tgtEl>
                                      </p:cBhvr>
                                    </p:animEffect>
                                  </p:childTnLst>
                                </p:cTn>
                              </p:par>
                              <p:par>
                                <p:cTn id="187" presetID="10" presetClass="entr" presetSubtype="0" fill="hold" nodeType="withEffect">
                                  <p:stCondLst>
                                    <p:cond delay="0"/>
                                  </p:stCondLst>
                                  <p:childTnLst>
                                    <p:set>
                                      <p:cBhvr>
                                        <p:cTn id="188" dur="1" fill="hold">
                                          <p:stCondLst>
                                            <p:cond delay="0"/>
                                          </p:stCondLst>
                                        </p:cTn>
                                        <p:tgtEl>
                                          <p:spTgt spid="111"/>
                                        </p:tgtEl>
                                        <p:attrNameLst>
                                          <p:attrName>style.visibility</p:attrName>
                                        </p:attrNameLst>
                                      </p:cBhvr>
                                      <p:to>
                                        <p:strVal val="visible"/>
                                      </p:to>
                                    </p:set>
                                    <p:animEffect transition="in" filter="fade">
                                      <p:cBhvr>
                                        <p:cTn id="189" dur="500"/>
                                        <p:tgtEl>
                                          <p:spTgt spid="111"/>
                                        </p:tgtEl>
                                      </p:cBhvr>
                                    </p:animEffect>
                                  </p:childTnLst>
                                </p:cTn>
                              </p:par>
                              <p:par>
                                <p:cTn id="190" presetID="10" presetClass="entr" presetSubtype="0" fill="hold" nodeType="withEffect">
                                  <p:stCondLst>
                                    <p:cond delay="0"/>
                                  </p:stCondLst>
                                  <p:childTnLst>
                                    <p:set>
                                      <p:cBhvr>
                                        <p:cTn id="191" dur="1" fill="hold">
                                          <p:stCondLst>
                                            <p:cond delay="0"/>
                                          </p:stCondLst>
                                        </p:cTn>
                                        <p:tgtEl>
                                          <p:spTgt spid="112"/>
                                        </p:tgtEl>
                                        <p:attrNameLst>
                                          <p:attrName>style.visibility</p:attrName>
                                        </p:attrNameLst>
                                      </p:cBhvr>
                                      <p:to>
                                        <p:strVal val="visible"/>
                                      </p:to>
                                    </p:set>
                                    <p:animEffect transition="in" filter="fade">
                                      <p:cBhvr>
                                        <p:cTn id="192"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4 CuadroTexto"/>
          <p:cNvSpPr txBox="1">
            <a:spLocks noChangeArrowheads="1"/>
          </p:cNvSpPr>
          <p:nvPr/>
        </p:nvSpPr>
        <p:spPr bwMode="auto">
          <a:xfrm>
            <a:off x="214313" y="71438"/>
            <a:ext cx="3340100" cy="523875"/>
          </a:xfrm>
          <a:prstGeom prst="rect">
            <a:avLst/>
          </a:prstGeom>
          <a:noFill/>
          <a:ln w="9525">
            <a:noFill/>
            <a:miter lim="800000"/>
            <a:headEnd/>
            <a:tailEnd/>
          </a:ln>
        </p:spPr>
        <p:txBody>
          <a:bodyPr wrap="none">
            <a:spAutoFit/>
          </a:bodyPr>
          <a:lstStyle/>
          <a:p>
            <a:pPr marL="342900" indent="-342900"/>
            <a:r>
              <a:rPr lang="es-ES" sz="2800" b="1"/>
              <a:t>Tipos de Atributos</a:t>
            </a:r>
            <a:endParaRPr lang="es-MX" sz="2800" b="1"/>
          </a:p>
        </p:txBody>
      </p:sp>
      <p:sp>
        <p:nvSpPr>
          <p:cNvPr id="82947" name="4 CuadroTexto"/>
          <p:cNvSpPr txBox="1">
            <a:spLocks noChangeArrowheads="1"/>
          </p:cNvSpPr>
          <p:nvPr/>
        </p:nvSpPr>
        <p:spPr bwMode="auto">
          <a:xfrm>
            <a:off x="1500188" y="714375"/>
            <a:ext cx="5857875" cy="523875"/>
          </a:xfrm>
          <a:prstGeom prst="rect">
            <a:avLst/>
          </a:prstGeom>
          <a:noFill/>
          <a:ln w="9525">
            <a:noFill/>
            <a:miter lim="800000"/>
            <a:headEnd/>
            <a:tailEnd/>
          </a:ln>
        </p:spPr>
        <p:txBody>
          <a:bodyPr>
            <a:spAutoFit/>
          </a:bodyPr>
          <a:lstStyle/>
          <a:p>
            <a:pPr marL="342900" indent="-342900" algn="ctr"/>
            <a:r>
              <a:rPr lang="es-ES" sz="2800" b="1">
                <a:solidFill>
                  <a:srgbClr val="FF0000"/>
                </a:solidFill>
              </a:rPr>
              <a:t>Atributos Almacenados</a:t>
            </a:r>
          </a:p>
        </p:txBody>
      </p:sp>
      <p:sp>
        <p:nvSpPr>
          <p:cNvPr id="82948" name="3 Rectángulo"/>
          <p:cNvSpPr>
            <a:spLocks noChangeArrowheads="1"/>
          </p:cNvSpPr>
          <p:nvPr/>
        </p:nvSpPr>
        <p:spPr bwMode="auto">
          <a:xfrm>
            <a:off x="642938" y="1428750"/>
            <a:ext cx="7858125" cy="954088"/>
          </a:xfrm>
          <a:prstGeom prst="rect">
            <a:avLst/>
          </a:prstGeom>
          <a:noFill/>
          <a:ln w="9525">
            <a:noFill/>
            <a:miter lim="800000"/>
            <a:headEnd/>
            <a:tailEnd/>
          </a:ln>
        </p:spPr>
        <p:txBody>
          <a:bodyPr>
            <a:spAutoFit/>
          </a:bodyPr>
          <a:lstStyle/>
          <a:p>
            <a:pPr algn="just"/>
            <a:r>
              <a:rPr lang="es-ES" sz="2800"/>
              <a:t>Son los atributos cuyos valores son almacenados directamente en la base de datos.</a:t>
            </a:r>
          </a:p>
        </p:txBody>
      </p:sp>
      <p:sp>
        <p:nvSpPr>
          <p:cNvPr id="82949" name="4 Rectángulo"/>
          <p:cNvSpPr>
            <a:spLocks noChangeArrowheads="1"/>
          </p:cNvSpPr>
          <p:nvPr/>
        </p:nvSpPr>
        <p:spPr bwMode="auto">
          <a:xfrm>
            <a:off x="1285875" y="2928938"/>
            <a:ext cx="6858000" cy="2246312"/>
          </a:xfrm>
          <a:prstGeom prst="rect">
            <a:avLst/>
          </a:prstGeom>
          <a:noFill/>
          <a:ln w="9525">
            <a:noFill/>
            <a:miter lim="800000"/>
            <a:headEnd/>
            <a:tailEnd/>
          </a:ln>
        </p:spPr>
        <p:txBody>
          <a:bodyPr>
            <a:spAutoFit/>
          </a:bodyPr>
          <a:lstStyle/>
          <a:p>
            <a:pPr indent="457200" algn="just">
              <a:buFont typeface="Arial" charset="0"/>
              <a:buChar char="•"/>
            </a:pPr>
            <a:r>
              <a:rPr lang="es-ES" sz="2800"/>
              <a:t>Nacionalidad de una persona</a:t>
            </a:r>
          </a:p>
          <a:p>
            <a:pPr indent="457200" algn="just">
              <a:buFont typeface="Arial" charset="0"/>
              <a:buChar char="•"/>
            </a:pPr>
            <a:r>
              <a:rPr lang="es-ES" sz="2800"/>
              <a:t>Nombre de una persona</a:t>
            </a:r>
          </a:p>
          <a:p>
            <a:pPr indent="457200" algn="just">
              <a:buFont typeface="Arial" charset="0"/>
              <a:buChar char="•"/>
            </a:pPr>
            <a:r>
              <a:rPr lang="es-ES" sz="2800"/>
              <a:t>Fecha de nacimiento de una persona</a:t>
            </a:r>
          </a:p>
          <a:p>
            <a:pPr indent="457200" algn="just">
              <a:buFont typeface="Arial" charset="0"/>
              <a:buChar char="•"/>
            </a:pPr>
            <a:r>
              <a:rPr lang="es-ES" sz="2800"/>
              <a:t>Cantidad de producto comprado</a:t>
            </a:r>
          </a:p>
          <a:p>
            <a:pPr indent="457200" algn="just">
              <a:buFont typeface="Arial" charset="0"/>
              <a:buChar char="•"/>
            </a:pPr>
            <a:r>
              <a:rPr lang="es-ES" sz="2800"/>
              <a:t>Cantidad de producto vendido</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4 CuadroTexto"/>
          <p:cNvSpPr txBox="1">
            <a:spLocks noChangeArrowheads="1"/>
          </p:cNvSpPr>
          <p:nvPr/>
        </p:nvSpPr>
        <p:spPr bwMode="auto">
          <a:xfrm>
            <a:off x="214313" y="71438"/>
            <a:ext cx="3340100" cy="523875"/>
          </a:xfrm>
          <a:prstGeom prst="rect">
            <a:avLst/>
          </a:prstGeom>
          <a:noFill/>
          <a:ln w="9525">
            <a:noFill/>
            <a:miter lim="800000"/>
            <a:headEnd/>
            <a:tailEnd/>
          </a:ln>
        </p:spPr>
        <p:txBody>
          <a:bodyPr wrap="none">
            <a:spAutoFit/>
          </a:bodyPr>
          <a:lstStyle/>
          <a:p>
            <a:pPr marL="342900" indent="-342900"/>
            <a:r>
              <a:rPr lang="es-ES" sz="2800" b="1"/>
              <a:t>Tipos de Atributos</a:t>
            </a:r>
            <a:endParaRPr lang="es-MX" sz="2800" b="1"/>
          </a:p>
        </p:txBody>
      </p:sp>
      <p:sp>
        <p:nvSpPr>
          <p:cNvPr id="83971" name="4 CuadroTexto"/>
          <p:cNvSpPr txBox="1">
            <a:spLocks noChangeArrowheads="1"/>
          </p:cNvSpPr>
          <p:nvPr/>
        </p:nvSpPr>
        <p:spPr bwMode="auto">
          <a:xfrm>
            <a:off x="1500188" y="714375"/>
            <a:ext cx="5857875" cy="523875"/>
          </a:xfrm>
          <a:prstGeom prst="rect">
            <a:avLst/>
          </a:prstGeom>
          <a:noFill/>
          <a:ln w="9525">
            <a:noFill/>
            <a:miter lim="800000"/>
            <a:headEnd/>
            <a:tailEnd/>
          </a:ln>
        </p:spPr>
        <p:txBody>
          <a:bodyPr>
            <a:spAutoFit/>
          </a:bodyPr>
          <a:lstStyle/>
          <a:p>
            <a:pPr marL="342900" indent="-342900" algn="ctr"/>
            <a:r>
              <a:rPr lang="es-ES" sz="2800" b="1">
                <a:solidFill>
                  <a:srgbClr val="FF0000"/>
                </a:solidFill>
              </a:rPr>
              <a:t>Atributos Calculados</a:t>
            </a:r>
          </a:p>
        </p:txBody>
      </p:sp>
      <p:sp>
        <p:nvSpPr>
          <p:cNvPr id="4" name="3 Rectángulo"/>
          <p:cNvSpPr/>
          <p:nvPr/>
        </p:nvSpPr>
        <p:spPr>
          <a:xfrm>
            <a:off x="571500" y="1285875"/>
            <a:ext cx="7715250" cy="954088"/>
          </a:xfrm>
          <a:prstGeom prst="rect">
            <a:avLst/>
          </a:prstGeom>
        </p:spPr>
        <p:txBody>
          <a:bodyPr>
            <a:spAutoFit/>
          </a:bodyPr>
          <a:lstStyle/>
          <a:p>
            <a:pPr algn="just">
              <a:defRPr/>
            </a:pPr>
            <a:r>
              <a:rPr lang="es-ES" sz="2800" dirty="0"/>
              <a:t>Valor calculado a partir de otra información ya existente (</a:t>
            </a:r>
            <a:r>
              <a:rPr lang="es-ES" sz="2800" b="1" dirty="0">
                <a:solidFill>
                  <a:schemeClr val="tx2">
                    <a:lumMod val="60000"/>
                    <a:lumOff val="40000"/>
                  </a:schemeClr>
                </a:solidFill>
              </a:rPr>
              <a:t>atributos</a:t>
            </a:r>
            <a:r>
              <a:rPr lang="es-ES" sz="2800" dirty="0"/>
              <a:t>, </a:t>
            </a:r>
            <a:r>
              <a:rPr lang="es-ES" sz="2800" b="1" dirty="0">
                <a:solidFill>
                  <a:schemeClr val="tx2">
                    <a:lumMod val="60000"/>
                    <a:lumOff val="40000"/>
                  </a:schemeClr>
                </a:solidFill>
              </a:rPr>
              <a:t>entidades relacionadas</a:t>
            </a:r>
            <a:r>
              <a:rPr lang="es-ES" sz="2800" dirty="0"/>
              <a:t>)</a:t>
            </a:r>
          </a:p>
        </p:txBody>
      </p:sp>
      <p:sp>
        <p:nvSpPr>
          <p:cNvPr id="83973" name="4 Rectángulo"/>
          <p:cNvSpPr>
            <a:spLocks noChangeArrowheads="1"/>
          </p:cNvSpPr>
          <p:nvPr/>
        </p:nvSpPr>
        <p:spPr bwMode="auto">
          <a:xfrm>
            <a:off x="357188" y="2500313"/>
            <a:ext cx="6215062" cy="3416300"/>
          </a:xfrm>
          <a:prstGeom prst="rect">
            <a:avLst/>
          </a:prstGeom>
          <a:noFill/>
          <a:ln w="9525">
            <a:noFill/>
            <a:miter lim="800000"/>
            <a:headEnd/>
            <a:tailEnd/>
          </a:ln>
        </p:spPr>
        <p:txBody>
          <a:bodyPr>
            <a:spAutoFit/>
          </a:bodyPr>
          <a:lstStyle/>
          <a:p>
            <a:pPr marL="358775" indent="-358775" algn="just">
              <a:buFont typeface="Arial" charset="0"/>
              <a:buChar char="•"/>
            </a:pPr>
            <a:r>
              <a:rPr lang="es-ES" sz="2400"/>
              <a:t>Edad de una persona (se calcula a partir de la fecha de nacimiento)</a:t>
            </a:r>
          </a:p>
          <a:p>
            <a:pPr marL="358775" indent="-358775" algn="just"/>
            <a:endParaRPr lang="es-ES" sz="2400"/>
          </a:p>
          <a:p>
            <a:pPr marL="358775" indent="-358775" algn="just">
              <a:buFont typeface="Arial" charset="0"/>
              <a:buChar char="•"/>
            </a:pPr>
            <a:r>
              <a:rPr lang="es-ES" sz="2400"/>
              <a:t>Existencias de un producto (cantidad de compra – cantidad de venta)</a:t>
            </a:r>
          </a:p>
          <a:p>
            <a:pPr marL="358775" indent="-358775" algn="just"/>
            <a:endParaRPr lang="es-ES" sz="2400"/>
          </a:p>
          <a:p>
            <a:pPr marL="358775" indent="-358775" algn="just">
              <a:buFont typeface="Arial" charset="0"/>
              <a:buChar char="•"/>
            </a:pPr>
            <a:r>
              <a:rPr lang="es-ES" sz="2400"/>
              <a:t>Cantidad de empleados (se calcula contando el número de entidades del tipo EMPLEADO)</a:t>
            </a:r>
            <a:endParaRPr lang="es-ES" sz="2000"/>
          </a:p>
        </p:txBody>
      </p:sp>
      <p:sp>
        <p:nvSpPr>
          <p:cNvPr id="6" name="5 Elipse"/>
          <p:cNvSpPr/>
          <p:nvPr/>
        </p:nvSpPr>
        <p:spPr>
          <a:xfrm>
            <a:off x="6929438" y="2500313"/>
            <a:ext cx="1785937" cy="714375"/>
          </a:xfrm>
          <a:prstGeom prst="ellipse">
            <a:avLst/>
          </a:prstGeom>
          <a:noFill/>
          <a:ln w="76200"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solidFill>
                  <a:schemeClr val="tx1"/>
                </a:solidFill>
              </a:rPr>
              <a:t>Edad</a:t>
            </a:r>
          </a:p>
        </p:txBody>
      </p:sp>
      <p:sp>
        <p:nvSpPr>
          <p:cNvPr id="7" name="6 Elipse"/>
          <p:cNvSpPr/>
          <p:nvPr/>
        </p:nvSpPr>
        <p:spPr>
          <a:xfrm>
            <a:off x="6858000" y="3714750"/>
            <a:ext cx="2000250" cy="714375"/>
          </a:xfrm>
          <a:prstGeom prst="ellipse">
            <a:avLst/>
          </a:prstGeom>
          <a:noFill/>
          <a:ln w="76200"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solidFill>
                  <a:schemeClr val="tx1"/>
                </a:solidFill>
              </a:rPr>
              <a:t>Existencias</a:t>
            </a:r>
          </a:p>
        </p:txBody>
      </p:sp>
      <p:sp>
        <p:nvSpPr>
          <p:cNvPr id="8" name="7 Elipse"/>
          <p:cNvSpPr/>
          <p:nvPr/>
        </p:nvSpPr>
        <p:spPr>
          <a:xfrm>
            <a:off x="6858000" y="5000625"/>
            <a:ext cx="2000250" cy="714375"/>
          </a:xfrm>
          <a:prstGeom prst="ellipse">
            <a:avLst/>
          </a:prstGeom>
          <a:noFill/>
          <a:ln w="76200"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err="1">
                <a:solidFill>
                  <a:schemeClr val="tx1"/>
                </a:solidFill>
              </a:rPr>
              <a:t>Cant</a:t>
            </a:r>
            <a:r>
              <a:rPr lang="es-ES" b="1" dirty="0">
                <a:solidFill>
                  <a:schemeClr val="tx1"/>
                </a:solidFill>
              </a:rPr>
              <a:t>. Empleados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4 CuadroTexto"/>
          <p:cNvSpPr txBox="1">
            <a:spLocks noChangeArrowheads="1"/>
          </p:cNvSpPr>
          <p:nvPr/>
        </p:nvSpPr>
        <p:spPr bwMode="auto">
          <a:xfrm>
            <a:off x="214313" y="71438"/>
            <a:ext cx="3340100" cy="523875"/>
          </a:xfrm>
          <a:prstGeom prst="rect">
            <a:avLst/>
          </a:prstGeom>
          <a:noFill/>
          <a:ln w="9525">
            <a:noFill/>
            <a:miter lim="800000"/>
            <a:headEnd/>
            <a:tailEnd/>
          </a:ln>
        </p:spPr>
        <p:txBody>
          <a:bodyPr wrap="none">
            <a:spAutoFit/>
          </a:bodyPr>
          <a:lstStyle/>
          <a:p>
            <a:pPr marL="342900" indent="-342900"/>
            <a:r>
              <a:rPr lang="es-ES" sz="2800" b="1"/>
              <a:t>Tipos de Atributos</a:t>
            </a:r>
            <a:endParaRPr lang="es-MX" sz="2800" b="1"/>
          </a:p>
        </p:txBody>
      </p:sp>
      <p:sp>
        <p:nvSpPr>
          <p:cNvPr id="84995" name="4 CuadroTexto"/>
          <p:cNvSpPr txBox="1">
            <a:spLocks noChangeArrowheads="1"/>
          </p:cNvSpPr>
          <p:nvPr/>
        </p:nvSpPr>
        <p:spPr bwMode="auto">
          <a:xfrm>
            <a:off x="1500188" y="714375"/>
            <a:ext cx="5857875" cy="523875"/>
          </a:xfrm>
          <a:prstGeom prst="rect">
            <a:avLst/>
          </a:prstGeom>
          <a:noFill/>
          <a:ln w="9525">
            <a:noFill/>
            <a:miter lim="800000"/>
            <a:headEnd/>
            <a:tailEnd/>
          </a:ln>
        </p:spPr>
        <p:txBody>
          <a:bodyPr>
            <a:spAutoFit/>
          </a:bodyPr>
          <a:lstStyle/>
          <a:p>
            <a:pPr marL="342900" indent="-342900" algn="ctr"/>
            <a:r>
              <a:rPr lang="es-ES" sz="2800" b="1">
                <a:solidFill>
                  <a:srgbClr val="FF0000"/>
                </a:solidFill>
              </a:rPr>
              <a:t>Atributos Monovaluados</a:t>
            </a:r>
          </a:p>
        </p:txBody>
      </p:sp>
      <p:sp>
        <p:nvSpPr>
          <p:cNvPr id="4" name="3 Rectángulo"/>
          <p:cNvSpPr/>
          <p:nvPr/>
        </p:nvSpPr>
        <p:spPr>
          <a:xfrm>
            <a:off x="428625" y="1565275"/>
            <a:ext cx="8358188" cy="1077913"/>
          </a:xfrm>
          <a:prstGeom prst="rect">
            <a:avLst/>
          </a:prstGeom>
        </p:spPr>
        <p:txBody>
          <a:bodyPr>
            <a:spAutoFit/>
          </a:bodyPr>
          <a:lstStyle/>
          <a:p>
            <a:pPr algn="just">
              <a:defRPr/>
            </a:pPr>
            <a:r>
              <a:rPr lang="es-ES" sz="3200" dirty="0"/>
              <a:t>Atributos que pueden tener </a:t>
            </a:r>
            <a:r>
              <a:rPr lang="es-ES" sz="3200" b="1" dirty="0">
                <a:solidFill>
                  <a:schemeClr val="tx2">
                    <a:lumMod val="60000"/>
                    <a:lumOff val="40000"/>
                  </a:schemeClr>
                </a:solidFill>
              </a:rPr>
              <a:t>un sólo  valor </a:t>
            </a:r>
            <a:r>
              <a:rPr lang="es-ES" sz="3200" dirty="0"/>
              <a:t>para cada entidad</a:t>
            </a:r>
            <a:endParaRPr lang="es-ES" sz="2000" dirty="0"/>
          </a:p>
        </p:txBody>
      </p:sp>
      <p:sp>
        <p:nvSpPr>
          <p:cNvPr id="84997" name="4 Rectángulo"/>
          <p:cNvSpPr>
            <a:spLocks noChangeArrowheads="1"/>
          </p:cNvSpPr>
          <p:nvPr/>
        </p:nvSpPr>
        <p:spPr bwMode="auto">
          <a:xfrm>
            <a:off x="1285875" y="3187700"/>
            <a:ext cx="6858000" cy="1384300"/>
          </a:xfrm>
          <a:prstGeom prst="rect">
            <a:avLst/>
          </a:prstGeom>
          <a:noFill/>
          <a:ln w="9525">
            <a:noFill/>
            <a:miter lim="800000"/>
            <a:headEnd/>
            <a:tailEnd/>
          </a:ln>
        </p:spPr>
        <p:txBody>
          <a:bodyPr>
            <a:spAutoFit/>
          </a:bodyPr>
          <a:lstStyle/>
          <a:p>
            <a:pPr indent="457200" algn="just">
              <a:buFont typeface="Arial" charset="0"/>
              <a:buChar char="•"/>
            </a:pPr>
            <a:r>
              <a:rPr lang="es-ES" sz="2800"/>
              <a:t>Nombre de una persona</a:t>
            </a:r>
          </a:p>
          <a:p>
            <a:pPr indent="457200" algn="just">
              <a:buFont typeface="Arial" charset="0"/>
              <a:buChar char="•"/>
            </a:pPr>
            <a:r>
              <a:rPr lang="es-ES" sz="2800"/>
              <a:t>Fecha de nacimiento de una persona</a:t>
            </a:r>
          </a:p>
          <a:p>
            <a:pPr indent="457200" algn="just">
              <a:buFont typeface="Arial" charset="0"/>
              <a:buChar char="•"/>
            </a:pPr>
            <a:r>
              <a:rPr lang="es-ES" sz="2800"/>
              <a:t>CURP de una persona</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4 CuadroTexto"/>
          <p:cNvSpPr txBox="1">
            <a:spLocks noChangeArrowheads="1"/>
          </p:cNvSpPr>
          <p:nvPr/>
        </p:nvSpPr>
        <p:spPr bwMode="auto">
          <a:xfrm>
            <a:off x="214313" y="71438"/>
            <a:ext cx="3340100" cy="523875"/>
          </a:xfrm>
          <a:prstGeom prst="rect">
            <a:avLst/>
          </a:prstGeom>
          <a:noFill/>
          <a:ln w="9525">
            <a:noFill/>
            <a:miter lim="800000"/>
            <a:headEnd/>
            <a:tailEnd/>
          </a:ln>
        </p:spPr>
        <p:txBody>
          <a:bodyPr wrap="none">
            <a:spAutoFit/>
          </a:bodyPr>
          <a:lstStyle/>
          <a:p>
            <a:pPr marL="342900" indent="-342900"/>
            <a:r>
              <a:rPr lang="es-ES" sz="2800" b="1"/>
              <a:t>Tipos de Atributos</a:t>
            </a:r>
            <a:endParaRPr lang="es-MX" sz="2800" b="1"/>
          </a:p>
        </p:txBody>
      </p:sp>
      <p:sp>
        <p:nvSpPr>
          <p:cNvPr id="86019" name="4 CuadroTexto"/>
          <p:cNvSpPr txBox="1">
            <a:spLocks noChangeArrowheads="1"/>
          </p:cNvSpPr>
          <p:nvPr/>
        </p:nvSpPr>
        <p:spPr bwMode="auto">
          <a:xfrm>
            <a:off x="1500188" y="714375"/>
            <a:ext cx="5857875" cy="523875"/>
          </a:xfrm>
          <a:prstGeom prst="rect">
            <a:avLst/>
          </a:prstGeom>
          <a:noFill/>
          <a:ln w="9525">
            <a:noFill/>
            <a:miter lim="800000"/>
            <a:headEnd/>
            <a:tailEnd/>
          </a:ln>
        </p:spPr>
        <p:txBody>
          <a:bodyPr>
            <a:spAutoFit/>
          </a:bodyPr>
          <a:lstStyle/>
          <a:p>
            <a:pPr marL="342900" indent="-342900" algn="ctr"/>
            <a:r>
              <a:rPr lang="es-ES" sz="2800" b="1">
                <a:solidFill>
                  <a:srgbClr val="FF0000"/>
                </a:solidFill>
              </a:rPr>
              <a:t>Atributos Multivaluados</a:t>
            </a:r>
          </a:p>
        </p:txBody>
      </p:sp>
      <p:sp>
        <p:nvSpPr>
          <p:cNvPr id="4" name="3 Rectángulo"/>
          <p:cNvSpPr/>
          <p:nvPr/>
        </p:nvSpPr>
        <p:spPr>
          <a:xfrm>
            <a:off x="428625" y="1357313"/>
            <a:ext cx="8358188" cy="830262"/>
          </a:xfrm>
          <a:prstGeom prst="rect">
            <a:avLst/>
          </a:prstGeom>
        </p:spPr>
        <p:txBody>
          <a:bodyPr>
            <a:spAutoFit/>
          </a:bodyPr>
          <a:lstStyle/>
          <a:p>
            <a:pPr algn="just">
              <a:defRPr/>
            </a:pPr>
            <a:r>
              <a:rPr lang="es-ES" sz="2400" dirty="0"/>
              <a:t>Atributos que pueden tener </a:t>
            </a:r>
            <a:r>
              <a:rPr lang="es-ES" sz="2400" b="1" dirty="0">
                <a:solidFill>
                  <a:schemeClr val="tx2">
                    <a:lumMod val="60000"/>
                    <a:lumOff val="40000"/>
                  </a:schemeClr>
                </a:solidFill>
              </a:rPr>
              <a:t>más de un valor </a:t>
            </a:r>
            <a:r>
              <a:rPr lang="es-ES" sz="2400" dirty="0"/>
              <a:t>para la misma entidad</a:t>
            </a:r>
            <a:endParaRPr lang="es-ES" sz="1600" dirty="0"/>
          </a:p>
        </p:txBody>
      </p:sp>
      <p:sp>
        <p:nvSpPr>
          <p:cNvPr id="86021" name="4 Rectángulo"/>
          <p:cNvSpPr>
            <a:spLocks noChangeArrowheads="1"/>
          </p:cNvSpPr>
          <p:nvPr/>
        </p:nvSpPr>
        <p:spPr bwMode="auto">
          <a:xfrm>
            <a:off x="214313" y="2292350"/>
            <a:ext cx="6858000" cy="1200150"/>
          </a:xfrm>
          <a:prstGeom prst="rect">
            <a:avLst/>
          </a:prstGeom>
          <a:noFill/>
          <a:ln w="9525">
            <a:noFill/>
            <a:miter lim="800000"/>
            <a:headEnd/>
            <a:tailEnd/>
          </a:ln>
        </p:spPr>
        <p:txBody>
          <a:bodyPr>
            <a:spAutoFit/>
          </a:bodyPr>
          <a:lstStyle/>
          <a:p>
            <a:pPr indent="457200" algn="just">
              <a:buFont typeface="Arial" charset="0"/>
              <a:buChar char="•"/>
            </a:pPr>
            <a:r>
              <a:rPr lang="es-ES" sz="2400"/>
              <a:t>Teléfono</a:t>
            </a:r>
          </a:p>
          <a:p>
            <a:pPr indent="457200" algn="just">
              <a:buFont typeface="Arial" charset="0"/>
              <a:buChar char="•"/>
            </a:pPr>
            <a:r>
              <a:rPr lang="es-ES" sz="2400"/>
              <a:t>Domicilio</a:t>
            </a:r>
          </a:p>
          <a:p>
            <a:pPr indent="457200" algn="just">
              <a:buFont typeface="Arial" charset="0"/>
              <a:buChar char="•"/>
            </a:pPr>
            <a:r>
              <a:rPr lang="es-ES" sz="2400"/>
              <a:t>Dependientes económicos</a:t>
            </a:r>
          </a:p>
        </p:txBody>
      </p:sp>
      <p:sp>
        <p:nvSpPr>
          <p:cNvPr id="6" name="5 Rectángulo"/>
          <p:cNvSpPr/>
          <p:nvPr/>
        </p:nvSpPr>
        <p:spPr>
          <a:xfrm>
            <a:off x="500063" y="3733800"/>
            <a:ext cx="8215312" cy="831850"/>
          </a:xfrm>
          <a:prstGeom prst="rect">
            <a:avLst/>
          </a:prstGeom>
        </p:spPr>
        <p:txBody>
          <a:bodyPr>
            <a:spAutoFit/>
          </a:bodyPr>
          <a:lstStyle/>
          <a:p>
            <a:pPr algn="just">
              <a:defRPr/>
            </a:pPr>
            <a:r>
              <a:rPr lang="es-ES" sz="2400" dirty="0"/>
              <a:t>Pueden tener </a:t>
            </a:r>
            <a:r>
              <a:rPr lang="es-ES" sz="2400" b="1" dirty="0">
                <a:solidFill>
                  <a:schemeClr val="tx2">
                    <a:lumMod val="60000"/>
                    <a:lumOff val="40000"/>
                  </a:schemeClr>
                </a:solidFill>
              </a:rPr>
              <a:t>límites superior e inferior</a:t>
            </a:r>
            <a:r>
              <a:rPr lang="es-ES" sz="2400" dirty="0"/>
              <a:t> del número de valores por entidad</a:t>
            </a:r>
          </a:p>
        </p:txBody>
      </p:sp>
      <p:sp>
        <p:nvSpPr>
          <p:cNvPr id="86023" name="6 Rectángulo"/>
          <p:cNvSpPr>
            <a:spLocks noChangeArrowheads="1"/>
          </p:cNvSpPr>
          <p:nvPr/>
        </p:nvSpPr>
        <p:spPr bwMode="auto">
          <a:xfrm>
            <a:off x="214313" y="4800600"/>
            <a:ext cx="5143500" cy="1200150"/>
          </a:xfrm>
          <a:prstGeom prst="rect">
            <a:avLst/>
          </a:prstGeom>
          <a:noFill/>
          <a:ln w="9525">
            <a:noFill/>
            <a:miter lim="800000"/>
            <a:headEnd/>
            <a:tailEnd/>
          </a:ln>
        </p:spPr>
        <p:txBody>
          <a:bodyPr>
            <a:spAutoFit/>
          </a:bodyPr>
          <a:lstStyle/>
          <a:p>
            <a:pPr indent="457200" algn="just">
              <a:buFont typeface="Arial" charset="0"/>
              <a:buChar char="•"/>
            </a:pPr>
            <a:r>
              <a:rPr lang="es-ES" sz="2400"/>
              <a:t>Teléfono (0,3)</a:t>
            </a:r>
          </a:p>
          <a:p>
            <a:pPr indent="457200" algn="just">
              <a:buFont typeface="Arial" charset="0"/>
              <a:buChar char="•"/>
            </a:pPr>
            <a:r>
              <a:rPr lang="es-ES" sz="2400"/>
              <a:t>Domicilio (0,2)</a:t>
            </a:r>
          </a:p>
          <a:p>
            <a:pPr indent="457200" algn="just">
              <a:buFont typeface="Arial" charset="0"/>
              <a:buChar char="•"/>
            </a:pPr>
            <a:r>
              <a:rPr lang="es-ES" sz="2400"/>
              <a:t>Dependientes económicos (0,5)</a:t>
            </a:r>
          </a:p>
        </p:txBody>
      </p:sp>
      <p:sp>
        <p:nvSpPr>
          <p:cNvPr id="8" name="7 Elipse"/>
          <p:cNvSpPr/>
          <p:nvPr/>
        </p:nvSpPr>
        <p:spPr>
          <a:xfrm>
            <a:off x="6786563" y="4357688"/>
            <a:ext cx="2000250" cy="714375"/>
          </a:xfrm>
          <a:prstGeom prst="ellipse">
            <a:avLst/>
          </a:prstGeom>
          <a:noFill/>
          <a:ln w="114300" cmpd="dbl">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b="1" dirty="0">
                <a:solidFill>
                  <a:schemeClr val="tx1"/>
                </a:solidFill>
              </a:rPr>
              <a:t>Teléfono</a:t>
            </a:r>
          </a:p>
        </p:txBody>
      </p:sp>
      <p:cxnSp>
        <p:nvCxnSpPr>
          <p:cNvPr id="10" name="9 Conector recto"/>
          <p:cNvCxnSpPr>
            <a:endCxn id="8" idx="2"/>
          </p:cNvCxnSpPr>
          <p:nvPr/>
        </p:nvCxnSpPr>
        <p:spPr>
          <a:xfrm flipV="1">
            <a:off x="5786438" y="4714875"/>
            <a:ext cx="1000125" cy="85725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6026" name="11 Rectángulo"/>
          <p:cNvSpPr>
            <a:spLocks noChangeArrowheads="1"/>
          </p:cNvSpPr>
          <p:nvPr/>
        </p:nvSpPr>
        <p:spPr bwMode="auto">
          <a:xfrm>
            <a:off x="6056313" y="4500563"/>
            <a:ext cx="658812" cy="369887"/>
          </a:xfrm>
          <a:prstGeom prst="rect">
            <a:avLst/>
          </a:prstGeom>
          <a:noFill/>
          <a:ln w="9525">
            <a:noFill/>
            <a:miter lim="800000"/>
            <a:headEnd/>
            <a:tailEnd/>
          </a:ln>
        </p:spPr>
        <p:txBody>
          <a:bodyPr wrap="none">
            <a:spAutoFit/>
          </a:bodyPr>
          <a:lstStyle/>
          <a:p>
            <a:r>
              <a:rPr lang="es-ES" b="1"/>
              <a:t>(0,3)</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4 CuadroTexto"/>
          <p:cNvSpPr txBox="1">
            <a:spLocks noChangeArrowheads="1"/>
          </p:cNvSpPr>
          <p:nvPr/>
        </p:nvSpPr>
        <p:spPr bwMode="auto">
          <a:xfrm>
            <a:off x="214313" y="71438"/>
            <a:ext cx="3340100" cy="523875"/>
          </a:xfrm>
          <a:prstGeom prst="rect">
            <a:avLst/>
          </a:prstGeom>
          <a:noFill/>
          <a:ln w="9525">
            <a:noFill/>
            <a:miter lim="800000"/>
            <a:headEnd/>
            <a:tailEnd/>
          </a:ln>
        </p:spPr>
        <p:txBody>
          <a:bodyPr wrap="none">
            <a:spAutoFit/>
          </a:bodyPr>
          <a:lstStyle/>
          <a:p>
            <a:pPr marL="342900" indent="-342900"/>
            <a:r>
              <a:rPr lang="es-ES" sz="2800" b="1"/>
              <a:t>Tipos de Atributos</a:t>
            </a:r>
            <a:endParaRPr lang="es-MX" sz="2800" b="1"/>
          </a:p>
        </p:txBody>
      </p:sp>
      <p:sp>
        <p:nvSpPr>
          <p:cNvPr id="87043" name="4 CuadroTexto"/>
          <p:cNvSpPr txBox="1">
            <a:spLocks noChangeArrowheads="1"/>
          </p:cNvSpPr>
          <p:nvPr/>
        </p:nvSpPr>
        <p:spPr bwMode="auto">
          <a:xfrm>
            <a:off x="1500188" y="714375"/>
            <a:ext cx="5857875" cy="523875"/>
          </a:xfrm>
          <a:prstGeom prst="rect">
            <a:avLst/>
          </a:prstGeom>
          <a:noFill/>
          <a:ln w="9525">
            <a:noFill/>
            <a:miter lim="800000"/>
            <a:headEnd/>
            <a:tailEnd/>
          </a:ln>
        </p:spPr>
        <p:txBody>
          <a:bodyPr>
            <a:spAutoFit/>
          </a:bodyPr>
          <a:lstStyle/>
          <a:p>
            <a:pPr marL="342900" indent="-342900" algn="ctr"/>
            <a:r>
              <a:rPr lang="es-ES" sz="2800" b="1">
                <a:solidFill>
                  <a:srgbClr val="FF0000"/>
                </a:solidFill>
              </a:rPr>
              <a:t>Atributos Opcionales (nulos)</a:t>
            </a:r>
          </a:p>
        </p:txBody>
      </p:sp>
      <p:sp>
        <p:nvSpPr>
          <p:cNvPr id="87044" name="3 Rectángulo"/>
          <p:cNvSpPr>
            <a:spLocks noChangeArrowheads="1"/>
          </p:cNvSpPr>
          <p:nvPr/>
        </p:nvSpPr>
        <p:spPr bwMode="auto">
          <a:xfrm>
            <a:off x="428625" y="1565275"/>
            <a:ext cx="8358188" cy="585788"/>
          </a:xfrm>
          <a:prstGeom prst="rect">
            <a:avLst/>
          </a:prstGeom>
          <a:noFill/>
          <a:ln w="9525">
            <a:noFill/>
            <a:miter lim="800000"/>
            <a:headEnd/>
            <a:tailEnd/>
          </a:ln>
        </p:spPr>
        <p:txBody>
          <a:bodyPr>
            <a:spAutoFit/>
          </a:bodyPr>
          <a:lstStyle/>
          <a:p>
            <a:pPr algn="just"/>
            <a:r>
              <a:rPr lang="es-ES" sz="3200"/>
              <a:t>Se aplican valores nulos cuando:</a:t>
            </a:r>
            <a:endParaRPr lang="es-ES" sz="2000"/>
          </a:p>
        </p:txBody>
      </p:sp>
      <p:sp>
        <p:nvSpPr>
          <p:cNvPr id="5" name="4 Rectángulo"/>
          <p:cNvSpPr/>
          <p:nvPr/>
        </p:nvSpPr>
        <p:spPr>
          <a:xfrm>
            <a:off x="1285875" y="2643188"/>
            <a:ext cx="6858000" cy="3108325"/>
          </a:xfrm>
          <a:prstGeom prst="rect">
            <a:avLst/>
          </a:prstGeom>
        </p:spPr>
        <p:txBody>
          <a:bodyPr>
            <a:spAutoFit/>
          </a:bodyPr>
          <a:lstStyle/>
          <a:p>
            <a:pPr indent="457200" algn="just">
              <a:buFont typeface="Arial" pitchFamily="34" charset="0"/>
              <a:buChar char="•"/>
              <a:defRPr/>
            </a:pPr>
            <a:r>
              <a:rPr lang="es-ES" sz="2800" dirty="0"/>
              <a:t>Se </a:t>
            </a:r>
            <a:r>
              <a:rPr lang="es-ES" sz="2800" b="1" dirty="0">
                <a:solidFill>
                  <a:schemeClr val="tx2">
                    <a:lumMod val="60000"/>
                    <a:lumOff val="40000"/>
                  </a:schemeClr>
                </a:solidFill>
              </a:rPr>
              <a:t>desconoce</a:t>
            </a:r>
            <a:r>
              <a:rPr lang="es-ES" sz="2800" dirty="0"/>
              <a:t> el valor del atributo</a:t>
            </a:r>
          </a:p>
          <a:p>
            <a:pPr lvl="3" indent="457200" algn="just">
              <a:buFont typeface="Arial" pitchFamily="34" charset="0"/>
              <a:buChar char="•"/>
              <a:defRPr/>
            </a:pPr>
            <a:r>
              <a:rPr lang="es-ES" sz="2800" dirty="0"/>
              <a:t>Teléfono</a:t>
            </a:r>
          </a:p>
          <a:p>
            <a:pPr lvl="3" indent="457200" algn="just">
              <a:buFont typeface="Arial" pitchFamily="34" charset="0"/>
              <a:buChar char="•"/>
              <a:defRPr/>
            </a:pPr>
            <a:r>
              <a:rPr lang="es-ES" sz="2800" dirty="0"/>
              <a:t>Email</a:t>
            </a:r>
          </a:p>
          <a:p>
            <a:pPr lvl="3" indent="457200" algn="just">
              <a:defRPr/>
            </a:pPr>
            <a:endParaRPr lang="es-ES" sz="2800" dirty="0"/>
          </a:p>
          <a:p>
            <a:pPr indent="457200" algn="just">
              <a:buFont typeface="Arial" pitchFamily="34" charset="0"/>
              <a:buChar char="•"/>
              <a:defRPr/>
            </a:pPr>
            <a:r>
              <a:rPr lang="es-ES" sz="2800" b="1" dirty="0">
                <a:solidFill>
                  <a:schemeClr val="tx2">
                    <a:lumMod val="60000"/>
                    <a:lumOff val="40000"/>
                  </a:schemeClr>
                </a:solidFill>
              </a:rPr>
              <a:t>No existe </a:t>
            </a:r>
            <a:r>
              <a:rPr lang="es-ES" sz="2800" dirty="0"/>
              <a:t>un valor para el atributo</a:t>
            </a:r>
          </a:p>
          <a:p>
            <a:pPr lvl="3" indent="457200" algn="just">
              <a:buFont typeface="Arial" pitchFamily="34" charset="0"/>
              <a:buChar char="•"/>
              <a:defRPr/>
            </a:pPr>
            <a:r>
              <a:rPr lang="es-ES" sz="2800" dirty="0"/>
              <a:t>Nombre cónyuge</a:t>
            </a:r>
          </a:p>
          <a:p>
            <a:pPr lvl="3" indent="457200" algn="just">
              <a:buFont typeface="Arial" pitchFamily="34" charset="0"/>
              <a:buChar char="•"/>
              <a:defRPr/>
            </a:pPr>
            <a:r>
              <a:rPr lang="es-ES" sz="2800" dirty="0"/>
              <a:t>Apellido paterno</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4 CuadroTexto"/>
          <p:cNvSpPr txBox="1">
            <a:spLocks noChangeArrowheads="1"/>
          </p:cNvSpPr>
          <p:nvPr/>
        </p:nvSpPr>
        <p:spPr bwMode="auto">
          <a:xfrm>
            <a:off x="214313" y="71438"/>
            <a:ext cx="3340100" cy="523875"/>
          </a:xfrm>
          <a:prstGeom prst="rect">
            <a:avLst/>
          </a:prstGeom>
          <a:noFill/>
          <a:ln w="9525">
            <a:noFill/>
            <a:miter lim="800000"/>
            <a:headEnd/>
            <a:tailEnd/>
          </a:ln>
        </p:spPr>
        <p:txBody>
          <a:bodyPr wrap="none">
            <a:spAutoFit/>
          </a:bodyPr>
          <a:lstStyle/>
          <a:p>
            <a:pPr marL="342900" indent="-342900"/>
            <a:r>
              <a:rPr lang="es-ES" sz="2800" b="1"/>
              <a:t>Tipos de Atributos</a:t>
            </a:r>
            <a:endParaRPr lang="es-MX" sz="2800" b="1"/>
          </a:p>
        </p:txBody>
      </p:sp>
      <p:sp>
        <p:nvSpPr>
          <p:cNvPr id="88067" name="4 CuadroTexto"/>
          <p:cNvSpPr txBox="1">
            <a:spLocks noChangeArrowheads="1"/>
          </p:cNvSpPr>
          <p:nvPr/>
        </p:nvSpPr>
        <p:spPr bwMode="auto">
          <a:xfrm>
            <a:off x="1500188" y="714375"/>
            <a:ext cx="5857875" cy="523875"/>
          </a:xfrm>
          <a:prstGeom prst="rect">
            <a:avLst/>
          </a:prstGeom>
          <a:noFill/>
          <a:ln w="9525">
            <a:noFill/>
            <a:miter lim="800000"/>
            <a:headEnd/>
            <a:tailEnd/>
          </a:ln>
        </p:spPr>
        <p:txBody>
          <a:bodyPr>
            <a:spAutoFit/>
          </a:bodyPr>
          <a:lstStyle/>
          <a:p>
            <a:pPr marL="342900" indent="-342900" algn="ctr"/>
            <a:r>
              <a:rPr lang="es-ES" sz="2800" b="1">
                <a:solidFill>
                  <a:srgbClr val="FF0000"/>
                </a:solidFill>
              </a:rPr>
              <a:t>Notación para los Atributos</a:t>
            </a:r>
          </a:p>
        </p:txBody>
      </p:sp>
      <p:pic>
        <p:nvPicPr>
          <p:cNvPr id="88068" name="Picture 3"/>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619125" y="1462088"/>
            <a:ext cx="7953375" cy="5038725"/>
          </a:xfrm>
          <a:prstGeom prst="rect">
            <a:avLst/>
          </a:prstGeom>
          <a:noFill/>
          <a:ln w="9525">
            <a:noFill/>
            <a:miter lim="800000"/>
            <a:headEnd/>
            <a:tailEnd/>
          </a:ln>
        </p:spPr>
      </p:pic>
      <p:sp>
        <p:nvSpPr>
          <p:cNvPr id="9" name="8 Elipse"/>
          <p:cNvSpPr/>
          <p:nvPr/>
        </p:nvSpPr>
        <p:spPr>
          <a:xfrm>
            <a:off x="4029075" y="2843213"/>
            <a:ext cx="1857375" cy="571500"/>
          </a:xfrm>
          <a:prstGeom prst="ellipse">
            <a:avLst/>
          </a:prstGeom>
          <a:noFill/>
          <a:ln w="152400"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0" name="9 Elipse"/>
          <p:cNvSpPr/>
          <p:nvPr/>
        </p:nvSpPr>
        <p:spPr>
          <a:xfrm>
            <a:off x="2200275" y="1914525"/>
            <a:ext cx="1157288" cy="642938"/>
          </a:xfrm>
          <a:prstGeom prst="ellipse">
            <a:avLst/>
          </a:prstGeom>
          <a:noFill/>
          <a:ln w="152400"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1" name="10 Elipse"/>
          <p:cNvSpPr/>
          <p:nvPr/>
        </p:nvSpPr>
        <p:spPr>
          <a:xfrm>
            <a:off x="3714750" y="1500188"/>
            <a:ext cx="1157288" cy="642937"/>
          </a:xfrm>
          <a:prstGeom prst="ellipse">
            <a:avLst/>
          </a:prstGeom>
          <a:noFill/>
          <a:ln w="152400"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2" name="11 Elipse"/>
          <p:cNvSpPr/>
          <p:nvPr/>
        </p:nvSpPr>
        <p:spPr>
          <a:xfrm>
            <a:off x="5200650" y="1614488"/>
            <a:ext cx="1785938" cy="642937"/>
          </a:xfrm>
          <a:prstGeom prst="ellipse">
            <a:avLst/>
          </a:prstGeom>
          <a:noFill/>
          <a:ln w="152400"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3" name="12 Elipse"/>
          <p:cNvSpPr/>
          <p:nvPr/>
        </p:nvSpPr>
        <p:spPr>
          <a:xfrm>
            <a:off x="6286500" y="2314575"/>
            <a:ext cx="1857375" cy="571500"/>
          </a:xfrm>
          <a:prstGeom prst="ellipse">
            <a:avLst/>
          </a:prstGeom>
          <a:noFill/>
          <a:ln w="152400"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4" name="13 Elipse"/>
          <p:cNvSpPr/>
          <p:nvPr/>
        </p:nvSpPr>
        <p:spPr>
          <a:xfrm>
            <a:off x="4214813" y="5643563"/>
            <a:ext cx="1285875" cy="928687"/>
          </a:xfrm>
          <a:prstGeom prst="ellipse">
            <a:avLst/>
          </a:prstGeom>
          <a:noFill/>
          <a:ln w="152400"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5" name="14 Elipse"/>
          <p:cNvSpPr/>
          <p:nvPr/>
        </p:nvSpPr>
        <p:spPr>
          <a:xfrm>
            <a:off x="5843588" y="3055938"/>
            <a:ext cx="2143125" cy="1044575"/>
          </a:xfrm>
          <a:prstGeom prst="ellipse">
            <a:avLst/>
          </a:prstGeom>
          <a:noFill/>
          <a:ln w="152400"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6" name="15 Elipse"/>
          <p:cNvSpPr/>
          <p:nvPr/>
        </p:nvSpPr>
        <p:spPr>
          <a:xfrm>
            <a:off x="5715000" y="5227638"/>
            <a:ext cx="2714625" cy="1000125"/>
          </a:xfrm>
          <a:prstGeom prst="ellipse">
            <a:avLst/>
          </a:prstGeom>
          <a:noFill/>
          <a:ln w="152400"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7" name="16 Elipse"/>
          <p:cNvSpPr/>
          <p:nvPr/>
        </p:nvSpPr>
        <p:spPr>
          <a:xfrm flipV="1">
            <a:off x="5372100" y="3416300"/>
            <a:ext cx="785813" cy="714375"/>
          </a:xfrm>
          <a:prstGeom prst="ellipse">
            <a:avLst/>
          </a:prstGeom>
          <a:noFill/>
          <a:ln w="152400"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8" name="17 Elipse"/>
          <p:cNvSpPr/>
          <p:nvPr/>
        </p:nvSpPr>
        <p:spPr>
          <a:xfrm flipV="1">
            <a:off x="5929313" y="4729163"/>
            <a:ext cx="785812" cy="714375"/>
          </a:xfrm>
          <a:prstGeom prst="ellipse">
            <a:avLst/>
          </a:prstGeom>
          <a:noFill/>
          <a:ln w="152400"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9" name="18 Elipse"/>
          <p:cNvSpPr/>
          <p:nvPr/>
        </p:nvSpPr>
        <p:spPr>
          <a:xfrm flipV="1">
            <a:off x="3641725" y="5729288"/>
            <a:ext cx="615950" cy="714375"/>
          </a:xfrm>
          <a:prstGeom prst="ellipse">
            <a:avLst/>
          </a:prstGeom>
          <a:noFill/>
          <a:ln w="152400"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1" nodeType="clickEffect">
                                  <p:stCondLst>
                                    <p:cond delay="0"/>
                                  </p:stCondLst>
                                  <p:childTnLst>
                                    <p:animEffect transition="out" filter="fade">
                                      <p:cBhvr>
                                        <p:cTn id="28" dur="500"/>
                                        <p:tgtEl>
                                          <p:spTgt spid="9"/>
                                        </p:tgtEl>
                                      </p:cBhvr>
                                    </p:animEffect>
                                    <p:set>
                                      <p:cBhvr>
                                        <p:cTn id="29" dur="1" fill="hold">
                                          <p:stCondLst>
                                            <p:cond delay="499"/>
                                          </p:stCondLst>
                                        </p:cTn>
                                        <p:tgtEl>
                                          <p:spTgt spid="9"/>
                                        </p:tgtEl>
                                        <p:attrNameLst>
                                          <p:attrName>style.visibility</p:attrName>
                                        </p:attrNameLst>
                                      </p:cBhvr>
                                      <p:to>
                                        <p:strVal val="hidden"/>
                                      </p:to>
                                    </p:set>
                                  </p:childTnLst>
                                </p:cTn>
                              </p:par>
                              <p:par>
                                <p:cTn id="30" presetID="10" presetClass="exit" presetSubtype="0" fill="hold" grpId="1" nodeType="withEffect">
                                  <p:stCondLst>
                                    <p:cond delay="0"/>
                                  </p:stCondLst>
                                  <p:childTnLst>
                                    <p:animEffect transition="out" filter="fade">
                                      <p:cBhvr>
                                        <p:cTn id="31" dur="500"/>
                                        <p:tgtEl>
                                          <p:spTgt spid="10"/>
                                        </p:tgtEl>
                                      </p:cBhvr>
                                    </p:animEffect>
                                    <p:set>
                                      <p:cBhvr>
                                        <p:cTn id="32" dur="1" fill="hold">
                                          <p:stCondLst>
                                            <p:cond delay="499"/>
                                          </p:stCondLst>
                                        </p:cTn>
                                        <p:tgtEl>
                                          <p:spTgt spid="10"/>
                                        </p:tgtEl>
                                        <p:attrNameLst>
                                          <p:attrName>style.visibility</p:attrName>
                                        </p:attrNameLst>
                                      </p:cBhvr>
                                      <p:to>
                                        <p:strVal val="hidden"/>
                                      </p:to>
                                    </p:set>
                                  </p:childTnLst>
                                </p:cTn>
                              </p:par>
                              <p:par>
                                <p:cTn id="33" presetID="10" presetClass="exit" presetSubtype="0" fill="hold" grpId="1" nodeType="withEffect">
                                  <p:stCondLst>
                                    <p:cond delay="0"/>
                                  </p:stCondLst>
                                  <p:childTnLst>
                                    <p:animEffect transition="out" filter="fade">
                                      <p:cBhvr>
                                        <p:cTn id="34" dur="500"/>
                                        <p:tgtEl>
                                          <p:spTgt spid="11"/>
                                        </p:tgtEl>
                                      </p:cBhvr>
                                    </p:animEffect>
                                    <p:set>
                                      <p:cBhvr>
                                        <p:cTn id="35" dur="1" fill="hold">
                                          <p:stCondLst>
                                            <p:cond delay="499"/>
                                          </p:stCondLst>
                                        </p:cTn>
                                        <p:tgtEl>
                                          <p:spTgt spid="11"/>
                                        </p:tgtEl>
                                        <p:attrNameLst>
                                          <p:attrName>style.visibility</p:attrName>
                                        </p:attrNameLst>
                                      </p:cBhvr>
                                      <p:to>
                                        <p:strVal val="hidden"/>
                                      </p:to>
                                    </p:set>
                                  </p:childTnLst>
                                </p:cTn>
                              </p:par>
                              <p:par>
                                <p:cTn id="36" presetID="10" presetClass="exit" presetSubtype="0" fill="hold" grpId="1" nodeType="withEffect">
                                  <p:stCondLst>
                                    <p:cond delay="0"/>
                                  </p:stCondLst>
                                  <p:childTnLst>
                                    <p:animEffect transition="out" filter="fade">
                                      <p:cBhvr>
                                        <p:cTn id="37" dur="500"/>
                                        <p:tgtEl>
                                          <p:spTgt spid="12"/>
                                        </p:tgtEl>
                                      </p:cBhvr>
                                    </p:animEffect>
                                    <p:set>
                                      <p:cBhvr>
                                        <p:cTn id="38" dur="1" fill="hold">
                                          <p:stCondLst>
                                            <p:cond delay="499"/>
                                          </p:stCondLst>
                                        </p:cTn>
                                        <p:tgtEl>
                                          <p:spTgt spid="12"/>
                                        </p:tgtEl>
                                        <p:attrNameLst>
                                          <p:attrName>style.visibility</p:attrName>
                                        </p:attrNameLst>
                                      </p:cBhvr>
                                      <p:to>
                                        <p:strVal val="hidden"/>
                                      </p:to>
                                    </p:set>
                                  </p:childTnLst>
                                </p:cTn>
                              </p:par>
                              <p:par>
                                <p:cTn id="39" presetID="10" presetClass="exit" presetSubtype="0" fill="hold" grpId="1" nodeType="withEffect">
                                  <p:stCondLst>
                                    <p:cond delay="0"/>
                                  </p:stCondLst>
                                  <p:childTnLst>
                                    <p:animEffect transition="out" filter="fade">
                                      <p:cBhvr>
                                        <p:cTn id="40" dur="500"/>
                                        <p:tgtEl>
                                          <p:spTgt spid="13"/>
                                        </p:tgtEl>
                                      </p:cBhvr>
                                    </p:animEffect>
                                    <p:set>
                                      <p:cBhvr>
                                        <p:cTn id="41" dur="1" fill="hold">
                                          <p:stCondLst>
                                            <p:cond delay="499"/>
                                          </p:stCondLst>
                                        </p:cTn>
                                        <p:tgtEl>
                                          <p:spTgt spid="13"/>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grpId="1" nodeType="clickEffect">
                                  <p:stCondLst>
                                    <p:cond delay="0"/>
                                  </p:stCondLst>
                                  <p:childTnLst>
                                    <p:animEffect transition="out" filter="fade">
                                      <p:cBhvr>
                                        <p:cTn id="50" dur="500"/>
                                        <p:tgtEl>
                                          <p:spTgt spid="14"/>
                                        </p:tgtEl>
                                      </p:cBhvr>
                                    </p:animEffect>
                                    <p:set>
                                      <p:cBhvr>
                                        <p:cTn id="51" dur="1" fill="hold">
                                          <p:stCondLst>
                                            <p:cond delay="499"/>
                                          </p:stCondLst>
                                        </p:cTn>
                                        <p:tgtEl>
                                          <p:spTgt spid="14"/>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500"/>
                                        <p:tgtEl>
                                          <p:spTgt spid="16"/>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xit" presetSubtype="0" fill="hold" grpId="1" nodeType="clickEffect">
                                  <p:stCondLst>
                                    <p:cond delay="0"/>
                                  </p:stCondLst>
                                  <p:childTnLst>
                                    <p:animEffect transition="out" filter="fade">
                                      <p:cBhvr>
                                        <p:cTn id="63" dur="500"/>
                                        <p:tgtEl>
                                          <p:spTgt spid="16"/>
                                        </p:tgtEl>
                                      </p:cBhvr>
                                    </p:animEffect>
                                    <p:set>
                                      <p:cBhvr>
                                        <p:cTn id="64" dur="1" fill="hold">
                                          <p:stCondLst>
                                            <p:cond delay="499"/>
                                          </p:stCondLst>
                                        </p:cTn>
                                        <p:tgtEl>
                                          <p:spTgt spid="16"/>
                                        </p:tgtEl>
                                        <p:attrNameLst>
                                          <p:attrName>style.visibility</p:attrName>
                                        </p:attrNameLst>
                                      </p:cBhvr>
                                      <p:to>
                                        <p:strVal val="hidden"/>
                                      </p:to>
                                    </p:set>
                                  </p:childTnLst>
                                </p:cTn>
                              </p:par>
                              <p:par>
                                <p:cTn id="65" presetID="10" presetClass="exit" presetSubtype="0" fill="hold" grpId="1" nodeType="withEffect">
                                  <p:stCondLst>
                                    <p:cond delay="0"/>
                                  </p:stCondLst>
                                  <p:childTnLst>
                                    <p:animEffect transition="out" filter="fade">
                                      <p:cBhvr>
                                        <p:cTn id="66" dur="500"/>
                                        <p:tgtEl>
                                          <p:spTgt spid="15"/>
                                        </p:tgtEl>
                                      </p:cBhvr>
                                    </p:animEffect>
                                    <p:set>
                                      <p:cBhvr>
                                        <p:cTn id="67" dur="1" fill="hold">
                                          <p:stCondLst>
                                            <p:cond delay="499"/>
                                          </p:stCondLst>
                                        </p:cTn>
                                        <p:tgtEl>
                                          <p:spTgt spid="15"/>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xit" presetSubtype="0" fill="hold" grpId="1" nodeType="clickEffect">
                                  <p:stCondLst>
                                    <p:cond delay="0"/>
                                  </p:stCondLst>
                                  <p:childTnLst>
                                    <p:animEffect transition="out" filter="fade">
                                      <p:cBhvr>
                                        <p:cTn id="79" dur="500"/>
                                        <p:tgtEl>
                                          <p:spTgt spid="18"/>
                                        </p:tgtEl>
                                      </p:cBhvr>
                                    </p:animEffect>
                                    <p:set>
                                      <p:cBhvr>
                                        <p:cTn id="80" dur="1" fill="hold">
                                          <p:stCondLst>
                                            <p:cond delay="499"/>
                                          </p:stCondLst>
                                        </p:cTn>
                                        <p:tgtEl>
                                          <p:spTgt spid="18"/>
                                        </p:tgtEl>
                                        <p:attrNameLst>
                                          <p:attrName>style.visibility</p:attrName>
                                        </p:attrNameLst>
                                      </p:cBhvr>
                                      <p:to>
                                        <p:strVal val="hidden"/>
                                      </p:to>
                                    </p:set>
                                  </p:childTnLst>
                                </p:cTn>
                              </p:par>
                              <p:par>
                                <p:cTn id="81" presetID="10" presetClass="exit" presetSubtype="0" fill="hold" grpId="1" nodeType="withEffect">
                                  <p:stCondLst>
                                    <p:cond delay="0"/>
                                  </p:stCondLst>
                                  <p:childTnLst>
                                    <p:animEffect transition="out" filter="fade">
                                      <p:cBhvr>
                                        <p:cTn id="82" dur="500"/>
                                        <p:tgtEl>
                                          <p:spTgt spid="17"/>
                                        </p:tgtEl>
                                      </p:cBhvr>
                                    </p:animEffect>
                                    <p:set>
                                      <p:cBhvr>
                                        <p:cTn id="83" dur="1" fill="hold">
                                          <p:stCondLst>
                                            <p:cond delay="499"/>
                                          </p:stCondLst>
                                        </p:cTn>
                                        <p:tgtEl>
                                          <p:spTgt spid="17"/>
                                        </p:tgtEl>
                                        <p:attrNameLst>
                                          <p:attrName>style.visibility</p:attrName>
                                        </p:attrNameLst>
                                      </p:cBhvr>
                                      <p:to>
                                        <p:strVal val="hidden"/>
                                      </p:to>
                                    </p:set>
                                  </p:childTnLst>
                                </p:cTn>
                              </p:par>
                              <p:par>
                                <p:cTn id="84" presetID="10" presetClass="entr" presetSubtype="0" fill="hold" grpId="0" nodeType="with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500"/>
                                        <p:tgtEl>
                                          <p:spTgt spid="19"/>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xit" presetSubtype="0" fill="hold" grpId="1" nodeType="clickEffect">
                                  <p:stCondLst>
                                    <p:cond delay="0"/>
                                  </p:stCondLst>
                                  <p:childTnLst>
                                    <p:animEffect transition="out" filter="fade">
                                      <p:cBhvr>
                                        <p:cTn id="90" dur="500"/>
                                        <p:tgtEl>
                                          <p:spTgt spid="19"/>
                                        </p:tgtEl>
                                      </p:cBhvr>
                                    </p:animEffect>
                                    <p:set>
                                      <p:cBhvr>
                                        <p:cTn id="91"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4 CuadroTexto"/>
          <p:cNvSpPr txBox="1">
            <a:spLocks noChangeArrowheads="1"/>
          </p:cNvSpPr>
          <p:nvPr/>
        </p:nvSpPr>
        <p:spPr bwMode="auto">
          <a:xfrm>
            <a:off x="214313" y="71438"/>
            <a:ext cx="4181475" cy="523875"/>
          </a:xfrm>
          <a:prstGeom prst="rect">
            <a:avLst/>
          </a:prstGeom>
          <a:noFill/>
          <a:ln w="9525">
            <a:noFill/>
            <a:miter lim="800000"/>
            <a:headEnd/>
            <a:tailEnd/>
          </a:ln>
        </p:spPr>
        <p:txBody>
          <a:bodyPr wrap="none">
            <a:spAutoFit/>
          </a:bodyPr>
          <a:lstStyle/>
          <a:p>
            <a:pPr marL="342900" indent="-342900"/>
            <a:r>
              <a:rPr lang="es-ES" sz="2800" b="1"/>
              <a:t>Atributos de relaciones</a:t>
            </a:r>
            <a:endParaRPr lang="es-MX" sz="2800" b="1"/>
          </a:p>
        </p:txBody>
      </p:sp>
      <p:sp>
        <p:nvSpPr>
          <p:cNvPr id="89091" name="19 Rectángulo"/>
          <p:cNvSpPr>
            <a:spLocks noChangeArrowheads="1"/>
          </p:cNvSpPr>
          <p:nvPr/>
        </p:nvSpPr>
        <p:spPr bwMode="auto">
          <a:xfrm>
            <a:off x="285750" y="785813"/>
            <a:ext cx="8501063" cy="708025"/>
          </a:xfrm>
          <a:prstGeom prst="rect">
            <a:avLst/>
          </a:prstGeom>
          <a:noFill/>
          <a:ln w="9525">
            <a:noFill/>
            <a:miter lim="800000"/>
            <a:headEnd/>
            <a:tailEnd/>
          </a:ln>
        </p:spPr>
        <p:txBody>
          <a:bodyPr>
            <a:spAutoFit/>
          </a:bodyPr>
          <a:lstStyle/>
          <a:p>
            <a:pPr algn="just"/>
            <a:r>
              <a:rPr lang="es-ES" sz="2000"/>
              <a:t>Existe la posibilidad de que una relación tenga atributos para calificarla. Por ejemplo: en un hotel </a:t>
            </a:r>
          </a:p>
        </p:txBody>
      </p:sp>
      <p:cxnSp>
        <p:nvCxnSpPr>
          <p:cNvPr id="22" name="21 Conector recto"/>
          <p:cNvCxnSpPr>
            <a:stCxn id="0" idx="3"/>
            <a:endCxn id="0" idx="1"/>
          </p:cNvCxnSpPr>
          <p:nvPr/>
        </p:nvCxnSpPr>
        <p:spPr>
          <a:xfrm>
            <a:off x="2571750" y="3000375"/>
            <a:ext cx="1000125" cy="1588"/>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22 Elipse"/>
          <p:cNvSpPr/>
          <p:nvPr/>
        </p:nvSpPr>
        <p:spPr>
          <a:xfrm>
            <a:off x="285720" y="1785926"/>
            <a:ext cx="785850"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A1</a:t>
            </a:r>
          </a:p>
        </p:txBody>
      </p:sp>
      <p:sp>
        <p:nvSpPr>
          <p:cNvPr id="24" name="23 Elipse"/>
          <p:cNvSpPr/>
          <p:nvPr/>
        </p:nvSpPr>
        <p:spPr>
          <a:xfrm>
            <a:off x="1285884" y="1785926"/>
            <a:ext cx="785850"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A2</a:t>
            </a:r>
          </a:p>
        </p:txBody>
      </p:sp>
      <p:sp>
        <p:nvSpPr>
          <p:cNvPr id="25" name="24 Elipse"/>
          <p:cNvSpPr/>
          <p:nvPr/>
        </p:nvSpPr>
        <p:spPr>
          <a:xfrm>
            <a:off x="2286016" y="1785926"/>
            <a:ext cx="785850"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A3</a:t>
            </a:r>
          </a:p>
        </p:txBody>
      </p:sp>
      <p:cxnSp>
        <p:nvCxnSpPr>
          <p:cNvPr id="26" name="25 Conector recto"/>
          <p:cNvCxnSpPr>
            <a:stCxn id="0" idx="4"/>
          </p:cNvCxnSpPr>
          <p:nvPr/>
        </p:nvCxnSpPr>
        <p:spPr>
          <a:xfrm rot="16200000" flipH="1">
            <a:off x="928687" y="1892301"/>
            <a:ext cx="500063" cy="10017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26 Conector recto"/>
          <p:cNvCxnSpPr>
            <a:stCxn id="0" idx="4"/>
          </p:cNvCxnSpPr>
          <p:nvPr/>
        </p:nvCxnSpPr>
        <p:spPr>
          <a:xfrm rot="5400000">
            <a:off x="1429543" y="2393157"/>
            <a:ext cx="500063" cy="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27 Conector recto"/>
          <p:cNvCxnSpPr>
            <a:stCxn id="0" idx="4"/>
          </p:cNvCxnSpPr>
          <p:nvPr/>
        </p:nvCxnSpPr>
        <p:spPr>
          <a:xfrm rot="5400000">
            <a:off x="1929606" y="1893094"/>
            <a:ext cx="500063" cy="100012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29 Conector recto"/>
          <p:cNvCxnSpPr>
            <a:stCxn id="0" idx="1"/>
            <a:endCxn id="0" idx="3"/>
          </p:cNvCxnSpPr>
          <p:nvPr/>
        </p:nvCxnSpPr>
        <p:spPr>
          <a:xfrm rot="10800000">
            <a:off x="5429250" y="3000375"/>
            <a:ext cx="1314450" cy="28575"/>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30 Elipse"/>
          <p:cNvSpPr/>
          <p:nvPr/>
        </p:nvSpPr>
        <p:spPr>
          <a:xfrm>
            <a:off x="6215010" y="1785926"/>
            <a:ext cx="785850"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A1</a:t>
            </a:r>
          </a:p>
        </p:txBody>
      </p:sp>
      <p:sp>
        <p:nvSpPr>
          <p:cNvPr id="32" name="31 Elipse"/>
          <p:cNvSpPr/>
          <p:nvPr/>
        </p:nvSpPr>
        <p:spPr>
          <a:xfrm>
            <a:off x="7243070" y="1785926"/>
            <a:ext cx="785850"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A2</a:t>
            </a:r>
          </a:p>
        </p:txBody>
      </p:sp>
      <p:sp>
        <p:nvSpPr>
          <p:cNvPr id="33" name="32 Elipse"/>
          <p:cNvSpPr/>
          <p:nvPr/>
        </p:nvSpPr>
        <p:spPr>
          <a:xfrm>
            <a:off x="8143868" y="1785926"/>
            <a:ext cx="785850"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A3</a:t>
            </a:r>
          </a:p>
        </p:txBody>
      </p:sp>
      <p:cxnSp>
        <p:nvCxnSpPr>
          <p:cNvPr id="34" name="33 Conector recto"/>
          <p:cNvCxnSpPr>
            <a:stCxn id="0" idx="4"/>
          </p:cNvCxnSpPr>
          <p:nvPr/>
        </p:nvCxnSpPr>
        <p:spPr>
          <a:xfrm rot="16200000" flipH="1">
            <a:off x="6857206" y="1893094"/>
            <a:ext cx="500063" cy="100012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34 Conector recto"/>
          <p:cNvCxnSpPr>
            <a:stCxn id="0" idx="4"/>
          </p:cNvCxnSpPr>
          <p:nvPr/>
        </p:nvCxnSpPr>
        <p:spPr>
          <a:xfrm rot="5400000">
            <a:off x="7371556" y="2378869"/>
            <a:ext cx="500063" cy="285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35 Conector recto"/>
          <p:cNvCxnSpPr>
            <a:stCxn id="0" idx="4"/>
          </p:cNvCxnSpPr>
          <p:nvPr/>
        </p:nvCxnSpPr>
        <p:spPr>
          <a:xfrm rot="5400000">
            <a:off x="7822406" y="1928019"/>
            <a:ext cx="500063" cy="9302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40 Decisión"/>
          <p:cNvSpPr/>
          <p:nvPr/>
        </p:nvSpPr>
        <p:spPr>
          <a:xfrm>
            <a:off x="3571868" y="2643182"/>
            <a:ext cx="1857388" cy="714380"/>
          </a:xfrm>
          <a:prstGeom prst="flowChartDecision">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Ocupa</a:t>
            </a:r>
          </a:p>
        </p:txBody>
      </p:sp>
      <p:sp>
        <p:nvSpPr>
          <p:cNvPr id="60" name="59 Elipse"/>
          <p:cNvSpPr/>
          <p:nvPr/>
        </p:nvSpPr>
        <p:spPr>
          <a:xfrm>
            <a:off x="2643174" y="4071942"/>
            <a:ext cx="1714544" cy="642942"/>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Fecha Ingreso</a:t>
            </a:r>
          </a:p>
        </p:txBody>
      </p:sp>
      <p:cxnSp>
        <p:nvCxnSpPr>
          <p:cNvPr id="62" name="61 Conector recto"/>
          <p:cNvCxnSpPr>
            <a:stCxn id="0" idx="0"/>
          </p:cNvCxnSpPr>
          <p:nvPr/>
        </p:nvCxnSpPr>
        <p:spPr>
          <a:xfrm rot="5400000" flipH="1" flipV="1">
            <a:off x="3321844" y="3321844"/>
            <a:ext cx="928688" cy="5715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62 Conector recto"/>
          <p:cNvCxnSpPr>
            <a:stCxn id="0" idx="0"/>
          </p:cNvCxnSpPr>
          <p:nvPr/>
        </p:nvCxnSpPr>
        <p:spPr>
          <a:xfrm rot="16200000" flipV="1">
            <a:off x="4929188" y="3143250"/>
            <a:ext cx="1000125" cy="100012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1" name="70 Elipse"/>
          <p:cNvSpPr/>
          <p:nvPr/>
        </p:nvSpPr>
        <p:spPr>
          <a:xfrm>
            <a:off x="5072066" y="4143380"/>
            <a:ext cx="1714544" cy="642942"/>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Fecha Salida</a:t>
            </a:r>
          </a:p>
        </p:txBody>
      </p:sp>
      <p:sp>
        <p:nvSpPr>
          <p:cNvPr id="74" name="73 Rectángulo"/>
          <p:cNvSpPr>
            <a:spLocks noChangeArrowheads="1"/>
          </p:cNvSpPr>
          <p:nvPr/>
        </p:nvSpPr>
        <p:spPr bwMode="auto">
          <a:xfrm>
            <a:off x="2714625" y="2714625"/>
            <a:ext cx="431800" cy="276225"/>
          </a:xfrm>
          <a:prstGeom prst="rect">
            <a:avLst/>
          </a:prstGeom>
          <a:noFill/>
          <a:ln w="9525">
            <a:noFill/>
            <a:miter lim="800000"/>
            <a:headEnd/>
            <a:tailEnd/>
          </a:ln>
        </p:spPr>
        <p:txBody>
          <a:bodyPr wrap="none">
            <a:spAutoFit/>
          </a:bodyPr>
          <a:lstStyle/>
          <a:p>
            <a:r>
              <a:rPr lang="es-ES" sz="1200" b="1"/>
              <a:t>N:1</a:t>
            </a:r>
          </a:p>
        </p:txBody>
      </p:sp>
      <p:sp>
        <p:nvSpPr>
          <p:cNvPr id="76" name="75 Rectángulo"/>
          <p:cNvSpPr>
            <a:spLocks noChangeArrowheads="1"/>
          </p:cNvSpPr>
          <p:nvPr/>
        </p:nvSpPr>
        <p:spPr bwMode="auto">
          <a:xfrm>
            <a:off x="395536" y="5013177"/>
            <a:ext cx="8605589" cy="1015663"/>
          </a:xfrm>
          <a:prstGeom prst="rect">
            <a:avLst/>
          </a:prstGeom>
          <a:noFill/>
          <a:ln w="9525">
            <a:noFill/>
            <a:miter lim="800000"/>
            <a:headEnd/>
            <a:tailEnd/>
          </a:ln>
        </p:spPr>
        <p:txBody>
          <a:bodyPr wrap="square">
            <a:spAutoFit/>
          </a:bodyPr>
          <a:lstStyle/>
          <a:p>
            <a:pPr algn="just"/>
            <a:r>
              <a:rPr lang="es-ES" sz="2000" dirty="0"/>
              <a:t>Por lo general estos casos suelen derivar en nuevas entidades. Así, la relación OCUPA, con los atributos Fecha Ingreso y Fecha Salida, pueden </a:t>
            </a:r>
            <a:r>
              <a:rPr lang="es-ES" sz="2000" dirty="0">
                <a:solidFill>
                  <a:schemeClr val="bg1"/>
                </a:solidFill>
              </a:rPr>
              <a:t>ser un</a:t>
            </a:r>
            <a:r>
              <a:rPr lang="es-ES" sz="2000" dirty="0"/>
              <a:t>a entidad HOSPEDAJE.</a:t>
            </a:r>
          </a:p>
        </p:txBody>
      </p:sp>
      <p:sp>
        <p:nvSpPr>
          <p:cNvPr id="77" name="76 Rectángulo"/>
          <p:cNvSpPr/>
          <p:nvPr/>
        </p:nvSpPr>
        <p:spPr>
          <a:xfrm>
            <a:off x="857224" y="2643182"/>
            <a:ext cx="1714512" cy="714380"/>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Persona</a:t>
            </a:r>
          </a:p>
        </p:txBody>
      </p:sp>
      <p:sp>
        <p:nvSpPr>
          <p:cNvPr id="79" name="78 Rectángulo"/>
          <p:cNvSpPr/>
          <p:nvPr/>
        </p:nvSpPr>
        <p:spPr>
          <a:xfrm>
            <a:off x="6744168" y="2671078"/>
            <a:ext cx="1714512" cy="714380"/>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Habitación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500"/>
                                        <p:tgtEl>
                                          <p:spTgt spid="77"/>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par>
                                <p:cTn id="20" presetID="10" presetClass="entr" presetSubtype="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par>
                                <p:cTn id="23" presetID="10"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79"/>
                                        </p:tgtEl>
                                        <p:attrNameLst>
                                          <p:attrName>style.visibility</p:attrName>
                                        </p:attrNameLst>
                                      </p:cBhvr>
                                      <p:to>
                                        <p:strVal val="visible"/>
                                      </p:to>
                                    </p:set>
                                    <p:animEffect transition="in" filter="fade">
                                      <p:cBhvr>
                                        <p:cTn id="30" dur="500"/>
                                        <p:tgtEl>
                                          <p:spTgt spid="79"/>
                                        </p:tgtEl>
                                      </p:cBhvr>
                                    </p:animEffect>
                                  </p:childTnLst>
                                </p:cTn>
                              </p:par>
                              <p:par>
                                <p:cTn id="31" presetID="10"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500"/>
                                        <p:tgtEl>
                                          <p:spTgt spid="31"/>
                                        </p:tgtEl>
                                      </p:cBhvr>
                                    </p:animEffect>
                                  </p:childTnLst>
                                </p:cTn>
                              </p:par>
                              <p:par>
                                <p:cTn id="34" presetID="10" presetClass="entr" presetSubtype="0" fill="hold" nodeType="with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500"/>
                                        <p:tgtEl>
                                          <p:spTgt spid="32"/>
                                        </p:tgtEl>
                                      </p:cBhvr>
                                    </p:animEffect>
                                  </p:childTnLst>
                                </p:cTn>
                              </p:par>
                              <p:par>
                                <p:cTn id="37" presetID="10" presetClass="entr" presetSubtype="0"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500"/>
                                        <p:tgtEl>
                                          <p:spTgt spid="33"/>
                                        </p:tgtEl>
                                      </p:cBhvr>
                                    </p:animEffect>
                                  </p:childTnLst>
                                </p:cTn>
                              </p:par>
                              <p:par>
                                <p:cTn id="40" presetID="10" presetClass="entr" presetSubtype="0" fill="hold" nodeType="with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500"/>
                                        <p:tgtEl>
                                          <p:spTgt spid="34"/>
                                        </p:tgtEl>
                                      </p:cBhvr>
                                    </p:animEffect>
                                  </p:childTnLst>
                                </p:cTn>
                              </p:par>
                              <p:par>
                                <p:cTn id="43" presetID="10" presetClass="entr" presetSubtype="0" fill="hold" nodeType="with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500"/>
                                        <p:tgtEl>
                                          <p:spTgt spid="35"/>
                                        </p:tgtEl>
                                      </p:cBhvr>
                                    </p:animEffect>
                                  </p:childTnLst>
                                </p:cTn>
                              </p:par>
                              <p:par>
                                <p:cTn id="46" presetID="10" presetClass="entr" presetSubtype="0" fill="hold" nodeType="with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fade">
                                      <p:cBhvr>
                                        <p:cTn id="48" dur="500"/>
                                        <p:tgtEl>
                                          <p:spTgt spid="3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fade">
                                      <p:cBhvr>
                                        <p:cTn id="56" dur="500"/>
                                        <p:tgtEl>
                                          <p:spTgt spid="41"/>
                                        </p:tgtEl>
                                      </p:cBhvr>
                                    </p:animEffect>
                                  </p:childTnLst>
                                </p:cTn>
                              </p:par>
                              <p:par>
                                <p:cTn id="57" presetID="10" presetClass="entr" presetSubtype="0" fill="hold" nodeType="with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500"/>
                                        <p:tgtEl>
                                          <p:spTgt spid="3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74"/>
                                        </p:tgtEl>
                                        <p:attrNameLst>
                                          <p:attrName>style.visibility</p:attrName>
                                        </p:attrNameLst>
                                      </p:cBhvr>
                                      <p:to>
                                        <p:strVal val="visible"/>
                                      </p:to>
                                    </p:set>
                                    <p:animEffect transition="in" filter="fade">
                                      <p:cBhvr>
                                        <p:cTn id="62" dur="500"/>
                                        <p:tgtEl>
                                          <p:spTgt spid="7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0"/>
                                        </p:tgtEl>
                                        <p:attrNameLst>
                                          <p:attrName>style.visibility</p:attrName>
                                        </p:attrNameLst>
                                      </p:cBhvr>
                                      <p:to>
                                        <p:strVal val="visible"/>
                                      </p:to>
                                    </p:set>
                                    <p:animEffect transition="in" filter="fade">
                                      <p:cBhvr>
                                        <p:cTn id="67" dur="500"/>
                                        <p:tgtEl>
                                          <p:spTgt spid="60"/>
                                        </p:tgtEl>
                                      </p:cBhvr>
                                    </p:animEffect>
                                  </p:childTnLst>
                                </p:cTn>
                              </p:par>
                              <p:par>
                                <p:cTn id="68" presetID="10" presetClass="entr" presetSubtype="0" fill="hold" nodeType="withEffect">
                                  <p:stCondLst>
                                    <p:cond delay="0"/>
                                  </p:stCondLst>
                                  <p:childTnLst>
                                    <p:set>
                                      <p:cBhvr>
                                        <p:cTn id="69" dur="1" fill="hold">
                                          <p:stCondLst>
                                            <p:cond delay="0"/>
                                          </p:stCondLst>
                                        </p:cTn>
                                        <p:tgtEl>
                                          <p:spTgt spid="62"/>
                                        </p:tgtEl>
                                        <p:attrNameLst>
                                          <p:attrName>style.visibility</p:attrName>
                                        </p:attrNameLst>
                                      </p:cBhvr>
                                      <p:to>
                                        <p:strVal val="visible"/>
                                      </p:to>
                                    </p:set>
                                    <p:animEffect transition="in" filter="fade">
                                      <p:cBhvr>
                                        <p:cTn id="70" dur="500"/>
                                        <p:tgtEl>
                                          <p:spTgt spid="62"/>
                                        </p:tgtEl>
                                      </p:cBhvr>
                                    </p:animEffect>
                                  </p:childTnLst>
                                </p:cTn>
                              </p:par>
                              <p:par>
                                <p:cTn id="71" presetID="10" presetClass="entr" presetSubtype="0" fill="hold" nodeType="withEffect">
                                  <p:stCondLst>
                                    <p:cond delay="0"/>
                                  </p:stCondLst>
                                  <p:childTnLst>
                                    <p:set>
                                      <p:cBhvr>
                                        <p:cTn id="72" dur="1" fill="hold">
                                          <p:stCondLst>
                                            <p:cond delay="0"/>
                                          </p:stCondLst>
                                        </p:cTn>
                                        <p:tgtEl>
                                          <p:spTgt spid="63"/>
                                        </p:tgtEl>
                                        <p:attrNameLst>
                                          <p:attrName>style.visibility</p:attrName>
                                        </p:attrNameLst>
                                      </p:cBhvr>
                                      <p:to>
                                        <p:strVal val="visible"/>
                                      </p:to>
                                    </p:set>
                                    <p:animEffect transition="in" filter="fade">
                                      <p:cBhvr>
                                        <p:cTn id="73" dur="500"/>
                                        <p:tgtEl>
                                          <p:spTgt spid="63"/>
                                        </p:tgtEl>
                                      </p:cBhvr>
                                    </p:animEffect>
                                  </p:childTnLst>
                                </p:cTn>
                              </p:par>
                              <p:par>
                                <p:cTn id="74" presetID="10" presetClass="entr" presetSubtype="0" fill="hold" nodeType="withEffect">
                                  <p:stCondLst>
                                    <p:cond delay="0"/>
                                  </p:stCondLst>
                                  <p:childTnLst>
                                    <p:set>
                                      <p:cBhvr>
                                        <p:cTn id="75" dur="1" fill="hold">
                                          <p:stCondLst>
                                            <p:cond delay="0"/>
                                          </p:stCondLst>
                                        </p:cTn>
                                        <p:tgtEl>
                                          <p:spTgt spid="71"/>
                                        </p:tgtEl>
                                        <p:attrNameLst>
                                          <p:attrName>style.visibility</p:attrName>
                                        </p:attrNameLst>
                                      </p:cBhvr>
                                      <p:to>
                                        <p:strVal val="visible"/>
                                      </p:to>
                                    </p:set>
                                    <p:animEffect transition="in" filter="fade">
                                      <p:cBhvr>
                                        <p:cTn id="76" dur="500"/>
                                        <p:tgtEl>
                                          <p:spTgt spid="71"/>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76"/>
                                        </p:tgtEl>
                                        <p:attrNameLst>
                                          <p:attrName>style.visibility</p:attrName>
                                        </p:attrNameLst>
                                      </p:cBhvr>
                                      <p:to>
                                        <p:strVal val="visible"/>
                                      </p:to>
                                    </p:set>
                                    <p:animEffect transition="in" filter="fade">
                                      <p:cBhvr>
                                        <p:cTn id="81" dur="500"/>
                                        <p:tgtEl>
                                          <p:spTgt spid="76"/>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79"/>
                                        </p:tgtEl>
                                        <p:attrNameLst>
                                          <p:attrName>style.visibility</p:attrName>
                                        </p:attrNameLst>
                                      </p:cBhvr>
                                      <p:to>
                                        <p:strVal val="visible"/>
                                      </p:to>
                                    </p:set>
                                    <p:animEffect transition="in" filter="fade">
                                      <p:cBhvr>
                                        <p:cTn id="86"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4 CuadroTexto"/>
          <p:cNvSpPr txBox="1">
            <a:spLocks noChangeArrowheads="1"/>
          </p:cNvSpPr>
          <p:nvPr/>
        </p:nvSpPr>
        <p:spPr bwMode="auto">
          <a:xfrm>
            <a:off x="214313" y="71438"/>
            <a:ext cx="4181475" cy="523875"/>
          </a:xfrm>
          <a:prstGeom prst="rect">
            <a:avLst/>
          </a:prstGeom>
          <a:noFill/>
          <a:ln w="9525">
            <a:noFill/>
            <a:miter lim="800000"/>
            <a:headEnd/>
            <a:tailEnd/>
          </a:ln>
        </p:spPr>
        <p:txBody>
          <a:bodyPr wrap="none">
            <a:spAutoFit/>
          </a:bodyPr>
          <a:lstStyle/>
          <a:p>
            <a:pPr marL="342900" indent="-342900"/>
            <a:r>
              <a:rPr lang="es-ES" sz="2800" b="1"/>
              <a:t>Atributos de relaciones</a:t>
            </a:r>
            <a:endParaRPr lang="es-MX" sz="2800" b="1"/>
          </a:p>
        </p:txBody>
      </p:sp>
      <p:sp>
        <p:nvSpPr>
          <p:cNvPr id="60" name="59 Elipse"/>
          <p:cNvSpPr/>
          <p:nvPr/>
        </p:nvSpPr>
        <p:spPr>
          <a:xfrm>
            <a:off x="857224" y="5458292"/>
            <a:ext cx="1714544" cy="642942"/>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Fecha Ingreso</a:t>
            </a:r>
          </a:p>
        </p:txBody>
      </p:sp>
      <p:cxnSp>
        <p:nvCxnSpPr>
          <p:cNvPr id="62" name="61 Conector recto"/>
          <p:cNvCxnSpPr>
            <a:stCxn id="0" idx="0"/>
            <a:endCxn id="0" idx="2"/>
          </p:cNvCxnSpPr>
          <p:nvPr/>
        </p:nvCxnSpPr>
        <p:spPr>
          <a:xfrm rot="16200000" flipV="1">
            <a:off x="1500187" y="5243513"/>
            <a:ext cx="428625" cy="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62 Conector recto"/>
          <p:cNvCxnSpPr>
            <a:stCxn id="0" idx="0"/>
            <a:endCxn id="0" idx="3"/>
          </p:cNvCxnSpPr>
          <p:nvPr/>
        </p:nvCxnSpPr>
        <p:spPr>
          <a:xfrm rot="16200000" flipV="1">
            <a:off x="2893219" y="4350544"/>
            <a:ext cx="357187" cy="100012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1" name="70 Elipse"/>
          <p:cNvSpPr/>
          <p:nvPr/>
        </p:nvSpPr>
        <p:spPr>
          <a:xfrm>
            <a:off x="2714612" y="5029664"/>
            <a:ext cx="1714544" cy="642942"/>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Fecha Salida</a:t>
            </a:r>
          </a:p>
        </p:txBody>
      </p:sp>
      <p:cxnSp>
        <p:nvCxnSpPr>
          <p:cNvPr id="37" name="36 Conector recto"/>
          <p:cNvCxnSpPr>
            <a:stCxn id="0" idx="2"/>
            <a:endCxn id="0" idx="0"/>
          </p:cNvCxnSpPr>
          <p:nvPr/>
        </p:nvCxnSpPr>
        <p:spPr>
          <a:xfrm rot="5400000">
            <a:off x="1463676" y="2851150"/>
            <a:ext cx="500062" cy="158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37 Decisión"/>
          <p:cNvSpPr/>
          <p:nvPr/>
        </p:nvSpPr>
        <p:spPr>
          <a:xfrm>
            <a:off x="785786" y="3100838"/>
            <a:ext cx="1857388" cy="714380"/>
          </a:xfrm>
          <a:prstGeom prst="flowChartDecision">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Tiene</a:t>
            </a:r>
          </a:p>
        </p:txBody>
      </p:sp>
      <p:cxnSp>
        <p:nvCxnSpPr>
          <p:cNvPr id="43" name="42 Conector recto"/>
          <p:cNvCxnSpPr>
            <a:stCxn id="0" idx="2"/>
            <a:endCxn id="0" idx="0"/>
          </p:cNvCxnSpPr>
          <p:nvPr/>
        </p:nvCxnSpPr>
        <p:spPr>
          <a:xfrm rot="5400000">
            <a:off x="1463675" y="4065588"/>
            <a:ext cx="500063" cy="158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46 Conector recto"/>
          <p:cNvCxnSpPr>
            <a:stCxn id="0" idx="3"/>
            <a:endCxn id="0" idx="1"/>
          </p:cNvCxnSpPr>
          <p:nvPr/>
        </p:nvCxnSpPr>
        <p:spPr>
          <a:xfrm>
            <a:off x="2571750" y="2243138"/>
            <a:ext cx="1000125" cy="158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47 Elipse"/>
          <p:cNvSpPr/>
          <p:nvPr/>
        </p:nvSpPr>
        <p:spPr>
          <a:xfrm>
            <a:off x="285720" y="1029136"/>
            <a:ext cx="785850"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A1</a:t>
            </a:r>
          </a:p>
        </p:txBody>
      </p:sp>
      <p:sp>
        <p:nvSpPr>
          <p:cNvPr id="49" name="48 Elipse"/>
          <p:cNvSpPr/>
          <p:nvPr/>
        </p:nvSpPr>
        <p:spPr>
          <a:xfrm>
            <a:off x="1285884" y="1029136"/>
            <a:ext cx="785850"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A2</a:t>
            </a:r>
          </a:p>
        </p:txBody>
      </p:sp>
      <p:sp>
        <p:nvSpPr>
          <p:cNvPr id="50" name="49 Elipse"/>
          <p:cNvSpPr/>
          <p:nvPr/>
        </p:nvSpPr>
        <p:spPr>
          <a:xfrm>
            <a:off x="2286016" y="1029136"/>
            <a:ext cx="785850"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A3</a:t>
            </a:r>
          </a:p>
        </p:txBody>
      </p:sp>
      <p:cxnSp>
        <p:nvCxnSpPr>
          <p:cNvPr id="51" name="50 Conector recto"/>
          <p:cNvCxnSpPr>
            <a:stCxn id="0" idx="4"/>
          </p:cNvCxnSpPr>
          <p:nvPr/>
        </p:nvCxnSpPr>
        <p:spPr>
          <a:xfrm rot="16200000" flipH="1">
            <a:off x="928688" y="1135063"/>
            <a:ext cx="500062" cy="10017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51 Conector recto"/>
          <p:cNvCxnSpPr>
            <a:stCxn id="0" idx="4"/>
          </p:cNvCxnSpPr>
          <p:nvPr/>
        </p:nvCxnSpPr>
        <p:spPr>
          <a:xfrm rot="5400000">
            <a:off x="1429544" y="1635919"/>
            <a:ext cx="500062" cy="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52 Conector recto"/>
          <p:cNvCxnSpPr>
            <a:stCxn id="0" idx="4"/>
          </p:cNvCxnSpPr>
          <p:nvPr/>
        </p:nvCxnSpPr>
        <p:spPr>
          <a:xfrm rot="5400000">
            <a:off x="1929607" y="1135856"/>
            <a:ext cx="500062" cy="100012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53 Conector recto"/>
          <p:cNvCxnSpPr>
            <a:stCxn id="0" idx="1"/>
            <a:endCxn id="0" idx="3"/>
          </p:cNvCxnSpPr>
          <p:nvPr/>
        </p:nvCxnSpPr>
        <p:spPr>
          <a:xfrm rot="10800000" flipV="1">
            <a:off x="5429250" y="2243138"/>
            <a:ext cx="1314450" cy="0"/>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54 Elipse"/>
          <p:cNvSpPr/>
          <p:nvPr/>
        </p:nvSpPr>
        <p:spPr>
          <a:xfrm>
            <a:off x="6215010" y="1000108"/>
            <a:ext cx="785850"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A1</a:t>
            </a:r>
          </a:p>
        </p:txBody>
      </p:sp>
      <p:sp>
        <p:nvSpPr>
          <p:cNvPr id="56" name="55 Elipse"/>
          <p:cNvSpPr/>
          <p:nvPr/>
        </p:nvSpPr>
        <p:spPr>
          <a:xfrm>
            <a:off x="7243070" y="1000108"/>
            <a:ext cx="785850"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A2</a:t>
            </a:r>
          </a:p>
        </p:txBody>
      </p:sp>
      <p:sp>
        <p:nvSpPr>
          <p:cNvPr id="57" name="56 Elipse"/>
          <p:cNvSpPr/>
          <p:nvPr/>
        </p:nvSpPr>
        <p:spPr>
          <a:xfrm>
            <a:off x="8143868" y="1000108"/>
            <a:ext cx="785850"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A3</a:t>
            </a:r>
          </a:p>
        </p:txBody>
      </p:sp>
      <p:cxnSp>
        <p:nvCxnSpPr>
          <p:cNvPr id="58" name="57 Conector recto"/>
          <p:cNvCxnSpPr>
            <a:stCxn id="0" idx="4"/>
          </p:cNvCxnSpPr>
          <p:nvPr/>
        </p:nvCxnSpPr>
        <p:spPr>
          <a:xfrm rot="16200000" flipH="1">
            <a:off x="6857207" y="1107281"/>
            <a:ext cx="500062" cy="100012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58 Conector recto"/>
          <p:cNvCxnSpPr>
            <a:stCxn id="0" idx="4"/>
          </p:cNvCxnSpPr>
          <p:nvPr/>
        </p:nvCxnSpPr>
        <p:spPr>
          <a:xfrm rot="5400000">
            <a:off x="7371557" y="1593056"/>
            <a:ext cx="500062" cy="285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60 Conector recto"/>
          <p:cNvCxnSpPr>
            <a:stCxn id="0" idx="4"/>
          </p:cNvCxnSpPr>
          <p:nvPr/>
        </p:nvCxnSpPr>
        <p:spPr>
          <a:xfrm rot="5400000">
            <a:off x="7822407" y="1142206"/>
            <a:ext cx="500062" cy="9302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63 Decisión"/>
          <p:cNvSpPr/>
          <p:nvPr/>
        </p:nvSpPr>
        <p:spPr>
          <a:xfrm>
            <a:off x="3571868" y="1886392"/>
            <a:ext cx="1857388" cy="714380"/>
          </a:xfrm>
          <a:prstGeom prst="flowChartDecision">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Ocupa</a:t>
            </a:r>
          </a:p>
        </p:txBody>
      </p:sp>
      <p:sp>
        <p:nvSpPr>
          <p:cNvPr id="65" name="64 Rectángulo"/>
          <p:cNvSpPr>
            <a:spLocks noChangeArrowheads="1"/>
          </p:cNvSpPr>
          <p:nvPr/>
        </p:nvSpPr>
        <p:spPr bwMode="auto">
          <a:xfrm>
            <a:off x="2714625" y="1957388"/>
            <a:ext cx="431800" cy="277812"/>
          </a:xfrm>
          <a:prstGeom prst="rect">
            <a:avLst/>
          </a:prstGeom>
          <a:noFill/>
          <a:ln w="9525">
            <a:noFill/>
            <a:miter lim="800000"/>
            <a:headEnd/>
            <a:tailEnd/>
          </a:ln>
        </p:spPr>
        <p:txBody>
          <a:bodyPr wrap="none">
            <a:spAutoFit/>
          </a:bodyPr>
          <a:lstStyle/>
          <a:p>
            <a:r>
              <a:rPr lang="es-ES" sz="1200" b="1"/>
              <a:t>N:1</a:t>
            </a:r>
          </a:p>
        </p:txBody>
      </p:sp>
      <p:sp>
        <p:nvSpPr>
          <p:cNvPr id="66" name="65 Rectángulo"/>
          <p:cNvSpPr/>
          <p:nvPr/>
        </p:nvSpPr>
        <p:spPr>
          <a:xfrm>
            <a:off x="857224" y="1886392"/>
            <a:ext cx="1714512" cy="714380"/>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Persona</a:t>
            </a:r>
          </a:p>
        </p:txBody>
      </p:sp>
      <p:sp>
        <p:nvSpPr>
          <p:cNvPr id="67" name="66 Rectángulo"/>
          <p:cNvSpPr/>
          <p:nvPr/>
        </p:nvSpPr>
        <p:spPr>
          <a:xfrm>
            <a:off x="6744168" y="1885260"/>
            <a:ext cx="1714512" cy="714380"/>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Habitación</a:t>
            </a:r>
          </a:p>
        </p:txBody>
      </p:sp>
      <p:sp>
        <p:nvSpPr>
          <p:cNvPr id="69" name="68 Rectángulo"/>
          <p:cNvSpPr/>
          <p:nvPr/>
        </p:nvSpPr>
        <p:spPr>
          <a:xfrm>
            <a:off x="857224" y="4315284"/>
            <a:ext cx="1714512" cy="714380"/>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Hospedaje</a:t>
            </a:r>
          </a:p>
        </p:txBody>
      </p:sp>
      <p:sp>
        <p:nvSpPr>
          <p:cNvPr id="75" name="74 Rectángulo"/>
          <p:cNvSpPr>
            <a:spLocks noChangeArrowheads="1"/>
          </p:cNvSpPr>
          <p:nvPr/>
        </p:nvSpPr>
        <p:spPr bwMode="auto">
          <a:xfrm>
            <a:off x="1785938" y="2681288"/>
            <a:ext cx="457200" cy="276225"/>
          </a:xfrm>
          <a:prstGeom prst="rect">
            <a:avLst/>
          </a:prstGeom>
          <a:noFill/>
          <a:ln w="9525">
            <a:noFill/>
            <a:miter lim="800000"/>
            <a:headEnd/>
            <a:tailEnd/>
          </a:ln>
        </p:spPr>
        <p:txBody>
          <a:bodyPr wrap="none">
            <a:spAutoFit/>
          </a:bodyPr>
          <a:lstStyle/>
          <a:p>
            <a:r>
              <a:rPr lang="es-ES" sz="1200" b="1"/>
              <a:t>N:N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500"/>
                                        <p:tgtEl>
                                          <p:spTgt spid="66"/>
                                        </p:tgtEl>
                                      </p:cBhvr>
                                    </p:animEffect>
                                  </p:childTnLst>
                                </p:cTn>
                              </p:par>
                              <p:par>
                                <p:cTn id="8" presetID="10" presetClass="entr" presetSubtype="0" fill="hold"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500"/>
                                        <p:tgtEl>
                                          <p:spTgt spid="48"/>
                                        </p:tgtEl>
                                      </p:cBhvr>
                                    </p:animEffect>
                                  </p:childTnLst>
                                </p:cTn>
                              </p:par>
                              <p:par>
                                <p:cTn id="11" presetID="10" presetClass="entr" presetSubtype="0" fill="hold" nodeType="with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fade">
                                      <p:cBhvr>
                                        <p:cTn id="13" dur="500"/>
                                        <p:tgtEl>
                                          <p:spTgt spid="49"/>
                                        </p:tgtEl>
                                      </p:cBhvr>
                                    </p:animEffect>
                                  </p:childTnLst>
                                </p:cTn>
                              </p:par>
                              <p:par>
                                <p:cTn id="14" presetID="10" presetClass="entr" presetSubtype="0" fill="hold" nodeType="withEffect">
                                  <p:stCondLst>
                                    <p:cond delay="0"/>
                                  </p:stCondLst>
                                  <p:childTnLst>
                                    <p:set>
                                      <p:cBhvr>
                                        <p:cTn id="15" dur="1" fill="hold">
                                          <p:stCondLst>
                                            <p:cond delay="0"/>
                                          </p:stCondLst>
                                        </p:cTn>
                                        <p:tgtEl>
                                          <p:spTgt spid="50"/>
                                        </p:tgtEl>
                                        <p:attrNameLst>
                                          <p:attrName>style.visibility</p:attrName>
                                        </p:attrNameLst>
                                      </p:cBhvr>
                                      <p:to>
                                        <p:strVal val="visible"/>
                                      </p:to>
                                    </p:set>
                                    <p:animEffect transition="in" filter="fade">
                                      <p:cBhvr>
                                        <p:cTn id="16" dur="500"/>
                                        <p:tgtEl>
                                          <p:spTgt spid="50"/>
                                        </p:tgtEl>
                                      </p:cBhvr>
                                    </p:animEffect>
                                  </p:childTnLst>
                                </p:cTn>
                              </p:par>
                              <p:par>
                                <p:cTn id="17" presetID="10" presetClass="entr" presetSubtype="0" fill="hold" nodeType="with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fade">
                                      <p:cBhvr>
                                        <p:cTn id="19" dur="500"/>
                                        <p:tgtEl>
                                          <p:spTgt spid="51"/>
                                        </p:tgtEl>
                                      </p:cBhvr>
                                    </p:animEffect>
                                  </p:childTnLst>
                                </p:cTn>
                              </p:par>
                              <p:par>
                                <p:cTn id="20" presetID="10" presetClass="entr" presetSubtype="0" fill="hold" nodeType="with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fade">
                                      <p:cBhvr>
                                        <p:cTn id="22" dur="500"/>
                                        <p:tgtEl>
                                          <p:spTgt spid="52"/>
                                        </p:tgtEl>
                                      </p:cBhvr>
                                    </p:animEffect>
                                  </p:childTnLst>
                                </p:cTn>
                              </p:par>
                              <p:par>
                                <p:cTn id="23" presetID="10" presetClass="entr" presetSubtype="0" fill="hold" nodeType="withEffect">
                                  <p:stCondLst>
                                    <p:cond delay="0"/>
                                  </p:stCondLst>
                                  <p:childTnLst>
                                    <p:set>
                                      <p:cBhvr>
                                        <p:cTn id="24" dur="1" fill="hold">
                                          <p:stCondLst>
                                            <p:cond delay="0"/>
                                          </p:stCondLst>
                                        </p:cTn>
                                        <p:tgtEl>
                                          <p:spTgt spid="53"/>
                                        </p:tgtEl>
                                        <p:attrNameLst>
                                          <p:attrName>style.visibility</p:attrName>
                                        </p:attrNameLst>
                                      </p:cBhvr>
                                      <p:to>
                                        <p:strVal val="visible"/>
                                      </p:to>
                                    </p:set>
                                    <p:animEffect transition="in" filter="fade">
                                      <p:cBhvr>
                                        <p:cTn id="25" dur="500"/>
                                        <p:tgtEl>
                                          <p:spTgt spid="5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7"/>
                                        </p:tgtEl>
                                        <p:attrNameLst>
                                          <p:attrName>style.visibility</p:attrName>
                                        </p:attrNameLst>
                                      </p:cBhvr>
                                      <p:to>
                                        <p:strVal val="visible"/>
                                      </p:to>
                                    </p:set>
                                    <p:animEffect transition="in" filter="fade">
                                      <p:cBhvr>
                                        <p:cTn id="30" dur="500"/>
                                        <p:tgtEl>
                                          <p:spTgt spid="67"/>
                                        </p:tgtEl>
                                      </p:cBhvr>
                                    </p:animEffect>
                                  </p:childTnLst>
                                </p:cTn>
                              </p:par>
                              <p:par>
                                <p:cTn id="31" presetID="10" presetClass="entr" presetSubtype="0" fill="hold" nodeType="withEffect">
                                  <p:stCondLst>
                                    <p:cond delay="0"/>
                                  </p:stCondLst>
                                  <p:childTnLst>
                                    <p:set>
                                      <p:cBhvr>
                                        <p:cTn id="32" dur="1" fill="hold">
                                          <p:stCondLst>
                                            <p:cond delay="0"/>
                                          </p:stCondLst>
                                        </p:cTn>
                                        <p:tgtEl>
                                          <p:spTgt spid="55"/>
                                        </p:tgtEl>
                                        <p:attrNameLst>
                                          <p:attrName>style.visibility</p:attrName>
                                        </p:attrNameLst>
                                      </p:cBhvr>
                                      <p:to>
                                        <p:strVal val="visible"/>
                                      </p:to>
                                    </p:set>
                                    <p:animEffect transition="in" filter="fade">
                                      <p:cBhvr>
                                        <p:cTn id="33" dur="500"/>
                                        <p:tgtEl>
                                          <p:spTgt spid="55"/>
                                        </p:tgtEl>
                                      </p:cBhvr>
                                    </p:animEffect>
                                  </p:childTnLst>
                                </p:cTn>
                              </p:par>
                              <p:par>
                                <p:cTn id="34" presetID="10" presetClass="entr" presetSubtype="0" fill="hold" nodeType="withEffect">
                                  <p:stCondLst>
                                    <p:cond delay="0"/>
                                  </p:stCondLst>
                                  <p:childTnLst>
                                    <p:set>
                                      <p:cBhvr>
                                        <p:cTn id="35" dur="1" fill="hold">
                                          <p:stCondLst>
                                            <p:cond delay="0"/>
                                          </p:stCondLst>
                                        </p:cTn>
                                        <p:tgtEl>
                                          <p:spTgt spid="56"/>
                                        </p:tgtEl>
                                        <p:attrNameLst>
                                          <p:attrName>style.visibility</p:attrName>
                                        </p:attrNameLst>
                                      </p:cBhvr>
                                      <p:to>
                                        <p:strVal val="visible"/>
                                      </p:to>
                                    </p:set>
                                    <p:animEffect transition="in" filter="fade">
                                      <p:cBhvr>
                                        <p:cTn id="36" dur="500"/>
                                        <p:tgtEl>
                                          <p:spTgt spid="56"/>
                                        </p:tgtEl>
                                      </p:cBhvr>
                                    </p:animEffect>
                                  </p:childTnLst>
                                </p:cTn>
                              </p:par>
                              <p:par>
                                <p:cTn id="37" presetID="10" presetClass="entr" presetSubtype="0" fill="hold" nodeType="withEffect">
                                  <p:stCondLst>
                                    <p:cond delay="0"/>
                                  </p:stCondLst>
                                  <p:childTnLst>
                                    <p:set>
                                      <p:cBhvr>
                                        <p:cTn id="38" dur="1" fill="hold">
                                          <p:stCondLst>
                                            <p:cond delay="0"/>
                                          </p:stCondLst>
                                        </p:cTn>
                                        <p:tgtEl>
                                          <p:spTgt spid="57"/>
                                        </p:tgtEl>
                                        <p:attrNameLst>
                                          <p:attrName>style.visibility</p:attrName>
                                        </p:attrNameLst>
                                      </p:cBhvr>
                                      <p:to>
                                        <p:strVal val="visible"/>
                                      </p:to>
                                    </p:set>
                                    <p:animEffect transition="in" filter="fade">
                                      <p:cBhvr>
                                        <p:cTn id="39" dur="500"/>
                                        <p:tgtEl>
                                          <p:spTgt spid="57"/>
                                        </p:tgtEl>
                                      </p:cBhvr>
                                    </p:animEffect>
                                  </p:childTnLst>
                                </p:cTn>
                              </p:par>
                              <p:par>
                                <p:cTn id="40" presetID="10" presetClass="entr" presetSubtype="0" fill="hold" nodeType="withEffect">
                                  <p:stCondLst>
                                    <p:cond delay="0"/>
                                  </p:stCondLst>
                                  <p:childTnLst>
                                    <p:set>
                                      <p:cBhvr>
                                        <p:cTn id="41" dur="1" fill="hold">
                                          <p:stCondLst>
                                            <p:cond delay="0"/>
                                          </p:stCondLst>
                                        </p:cTn>
                                        <p:tgtEl>
                                          <p:spTgt spid="58"/>
                                        </p:tgtEl>
                                        <p:attrNameLst>
                                          <p:attrName>style.visibility</p:attrName>
                                        </p:attrNameLst>
                                      </p:cBhvr>
                                      <p:to>
                                        <p:strVal val="visible"/>
                                      </p:to>
                                    </p:set>
                                    <p:animEffect transition="in" filter="fade">
                                      <p:cBhvr>
                                        <p:cTn id="42" dur="500"/>
                                        <p:tgtEl>
                                          <p:spTgt spid="58"/>
                                        </p:tgtEl>
                                      </p:cBhvr>
                                    </p:animEffect>
                                  </p:childTnLst>
                                </p:cTn>
                              </p:par>
                              <p:par>
                                <p:cTn id="43" presetID="10" presetClass="entr" presetSubtype="0" fill="hold" nodeType="withEffect">
                                  <p:stCondLst>
                                    <p:cond delay="0"/>
                                  </p:stCondLst>
                                  <p:childTnLst>
                                    <p:set>
                                      <p:cBhvr>
                                        <p:cTn id="44" dur="1" fill="hold">
                                          <p:stCondLst>
                                            <p:cond delay="0"/>
                                          </p:stCondLst>
                                        </p:cTn>
                                        <p:tgtEl>
                                          <p:spTgt spid="59"/>
                                        </p:tgtEl>
                                        <p:attrNameLst>
                                          <p:attrName>style.visibility</p:attrName>
                                        </p:attrNameLst>
                                      </p:cBhvr>
                                      <p:to>
                                        <p:strVal val="visible"/>
                                      </p:to>
                                    </p:set>
                                    <p:animEffect transition="in" filter="fade">
                                      <p:cBhvr>
                                        <p:cTn id="45" dur="500"/>
                                        <p:tgtEl>
                                          <p:spTgt spid="59"/>
                                        </p:tgtEl>
                                      </p:cBhvr>
                                    </p:animEffect>
                                  </p:childTnLst>
                                </p:cTn>
                              </p:par>
                              <p:par>
                                <p:cTn id="46" presetID="10" presetClass="entr" presetSubtype="0" fill="hold" nodeType="withEffect">
                                  <p:stCondLst>
                                    <p:cond delay="0"/>
                                  </p:stCondLst>
                                  <p:childTnLst>
                                    <p:set>
                                      <p:cBhvr>
                                        <p:cTn id="47" dur="1" fill="hold">
                                          <p:stCondLst>
                                            <p:cond delay="0"/>
                                          </p:stCondLst>
                                        </p:cTn>
                                        <p:tgtEl>
                                          <p:spTgt spid="61"/>
                                        </p:tgtEl>
                                        <p:attrNameLst>
                                          <p:attrName>style.visibility</p:attrName>
                                        </p:attrNameLst>
                                      </p:cBhvr>
                                      <p:to>
                                        <p:strVal val="visible"/>
                                      </p:to>
                                    </p:set>
                                    <p:animEffect transition="in" filter="fade">
                                      <p:cBhvr>
                                        <p:cTn id="48" dur="500"/>
                                        <p:tgtEl>
                                          <p:spTgt spid="6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60"/>
                                        </p:tgtEl>
                                        <p:attrNameLst>
                                          <p:attrName>style.visibility</p:attrName>
                                        </p:attrNameLst>
                                      </p:cBhvr>
                                      <p:to>
                                        <p:strVal val="visible"/>
                                      </p:to>
                                    </p:set>
                                    <p:animEffect transition="in" filter="fade">
                                      <p:cBhvr>
                                        <p:cTn id="53" dur="500"/>
                                        <p:tgtEl>
                                          <p:spTgt spid="60"/>
                                        </p:tgtEl>
                                      </p:cBhvr>
                                    </p:animEffect>
                                  </p:childTnLst>
                                </p:cTn>
                              </p:par>
                              <p:par>
                                <p:cTn id="54" presetID="10" presetClass="entr" presetSubtype="0" fill="hold" nodeType="withEffect">
                                  <p:stCondLst>
                                    <p:cond delay="0"/>
                                  </p:stCondLst>
                                  <p:childTnLst>
                                    <p:set>
                                      <p:cBhvr>
                                        <p:cTn id="55" dur="1" fill="hold">
                                          <p:stCondLst>
                                            <p:cond delay="0"/>
                                          </p:stCondLst>
                                        </p:cTn>
                                        <p:tgtEl>
                                          <p:spTgt spid="62"/>
                                        </p:tgtEl>
                                        <p:attrNameLst>
                                          <p:attrName>style.visibility</p:attrName>
                                        </p:attrNameLst>
                                      </p:cBhvr>
                                      <p:to>
                                        <p:strVal val="visible"/>
                                      </p:to>
                                    </p:set>
                                    <p:animEffect transition="in" filter="fade">
                                      <p:cBhvr>
                                        <p:cTn id="56" dur="500"/>
                                        <p:tgtEl>
                                          <p:spTgt spid="62"/>
                                        </p:tgtEl>
                                      </p:cBhvr>
                                    </p:animEffect>
                                  </p:childTnLst>
                                </p:cTn>
                              </p:par>
                              <p:par>
                                <p:cTn id="57" presetID="10" presetClass="entr" presetSubtype="0" fill="hold" nodeType="withEffect">
                                  <p:stCondLst>
                                    <p:cond delay="0"/>
                                  </p:stCondLst>
                                  <p:childTnLst>
                                    <p:set>
                                      <p:cBhvr>
                                        <p:cTn id="58" dur="1" fill="hold">
                                          <p:stCondLst>
                                            <p:cond delay="0"/>
                                          </p:stCondLst>
                                        </p:cTn>
                                        <p:tgtEl>
                                          <p:spTgt spid="63"/>
                                        </p:tgtEl>
                                        <p:attrNameLst>
                                          <p:attrName>style.visibility</p:attrName>
                                        </p:attrNameLst>
                                      </p:cBhvr>
                                      <p:to>
                                        <p:strVal val="visible"/>
                                      </p:to>
                                    </p:set>
                                    <p:animEffect transition="in" filter="fade">
                                      <p:cBhvr>
                                        <p:cTn id="59" dur="500"/>
                                        <p:tgtEl>
                                          <p:spTgt spid="63"/>
                                        </p:tgtEl>
                                      </p:cBhvr>
                                    </p:animEffect>
                                  </p:childTnLst>
                                </p:cTn>
                              </p:par>
                              <p:par>
                                <p:cTn id="60" presetID="10" presetClass="entr" presetSubtype="0" fill="hold" nodeType="withEffect">
                                  <p:stCondLst>
                                    <p:cond delay="0"/>
                                  </p:stCondLst>
                                  <p:childTnLst>
                                    <p:set>
                                      <p:cBhvr>
                                        <p:cTn id="61" dur="1" fill="hold">
                                          <p:stCondLst>
                                            <p:cond delay="0"/>
                                          </p:stCondLst>
                                        </p:cTn>
                                        <p:tgtEl>
                                          <p:spTgt spid="71"/>
                                        </p:tgtEl>
                                        <p:attrNameLst>
                                          <p:attrName>style.visibility</p:attrName>
                                        </p:attrNameLst>
                                      </p:cBhvr>
                                      <p:to>
                                        <p:strVal val="visible"/>
                                      </p:to>
                                    </p:set>
                                    <p:animEffect transition="in" filter="fade">
                                      <p:cBhvr>
                                        <p:cTn id="62" dur="500"/>
                                        <p:tgtEl>
                                          <p:spTgt spid="71"/>
                                        </p:tgtEl>
                                      </p:cBhvr>
                                    </p:animEffect>
                                  </p:childTnLst>
                                </p:cTn>
                              </p:par>
                              <p:par>
                                <p:cTn id="63" presetID="10" presetClass="entr" presetSubtype="0" fill="hold" nodeType="withEffect">
                                  <p:stCondLst>
                                    <p:cond delay="0"/>
                                  </p:stCondLst>
                                  <p:childTnLst>
                                    <p:set>
                                      <p:cBhvr>
                                        <p:cTn id="64" dur="1" fill="hold">
                                          <p:stCondLst>
                                            <p:cond delay="0"/>
                                          </p:stCondLst>
                                        </p:cTn>
                                        <p:tgtEl>
                                          <p:spTgt spid="69"/>
                                        </p:tgtEl>
                                        <p:attrNameLst>
                                          <p:attrName>style.visibility</p:attrName>
                                        </p:attrNameLst>
                                      </p:cBhvr>
                                      <p:to>
                                        <p:strVal val="visible"/>
                                      </p:to>
                                    </p:set>
                                    <p:animEffect transition="in" filter="fade">
                                      <p:cBhvr>
                                        <p:cTn id="65" dur="500"/>
                                        <p:tgtEl>
                                          <p:spTgt spid="69"/>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47"/>
                                        </p:tgtEl>
                                        <p:attrNameLst>
                                          <p:attrName>style.visibility</p:attrName>
                                        </p:attrNameLst>
                                      </p:cBhvr>
                                      <p:to>
                                        <p:strVal val="visible"/>
                                      </p:to>
                                    </p:set>
                                    <p:animEffect transition="in" filter="fade">
                                      <p:cBhvr>
                                        <p:cTn id="70" dur="500"/>
                                        <p:tgtEl>
                                          <p:spTgt spid="47"/>
                                        </p:tgtEl>
                                      </p:cBhvr>
                                    </p:animEffect>
                                  </p:childTnLst>
                                </p:cTn>
                              </p:par>
                              <p:par>
                                <p:cTn id="71" presetID="10" presetClass="entr" presetSubtype="0" fill="hold" nodeType="withEffect">
                                  <p:stCondLst>
                                    <p:cond delay="0"/>
                                  </p:stCondLst>
                                  <p:childTnLst>
                                    <p:set>
                                      <p:cBhvr>
                                        <p:cTn id="72" dur="1" fill="hold">
                                          <p:stCondLst>
                                            <p:cond delay="0"/>
                                          </p:stCondLst>
                                        </p:cTn>
                                        <p:tgtEl>
                                          <p:spTgt spid="64"/>
                                        </p:tgtEl>
                                        <p:attrNameLst>
                                          <p:attrName>style.visibility</p:attrName>
                                        </p:attrNameLst>
                                      </p:cBhvr>
                                      <p:to>
                                        <p:strVal val="visible"/>
                                      </p:to>
                                    </p:set>
                                    <p:animEffect transition="in" filter="fade">
                                      <p:cBhvr>
                                        <p:cTn id="73" dur="500"/>
                                        <p:tgtEl>
                                          <p:spTgt spid="64"/>
                                        </p:tgtEl>
                                      </p:cBhvr>
                                    </p:animEffect>
                                  </p:childTnLst>
                                </p:cTn>
                              </p:par>
                              <p:par>
                                <p:cTn id="74" presetID="10" presetClass="entr" presetSubtype="0" fill="hold" nodeType="withEffect">
                                  <p:stCondLst>
                                    <p:cond delay="0"/>
                                  </p:stCondLst>
                                  <p:childTnLst>
                                    <p:set>
                                      <p:cBhvr>
                                        <p:cTn id="75" dur="1" fill="hold">
                                          <p:stCondLst>
                                            <p:cond delay="0"/>
                                          </p:stCondLst>
                                        </p:cTn>
                                        <p:tgtEl>
                                          <p:spTgt spid="54"/>
                                        </p:tgtEl>
                                        <p:attrNameLst>
                                          <p:attrName>style.visibility</p:attrName>
                                        </p:attrNameLst>
                                      </p:cBhvr>
                                      <p:to>
                                        <p:strVal val="visible"/>
                                      </p:to>
                                    </p:set>
                                    <p:animEffect transition="in" filter="fade">
                                      <p:cBhvr>
                                        <p:cTn id="76" dur="500"/>
                                        <p:tgtEl>
                                          <p:spTgt spid="5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65"/>
                                        </p:tgtEl>
                                        <p:attrNameLst>
                                          <p:attrName>style.visibility</p:attrName>
                                        </p:attrNameLst>
                                      </p:cBhvr>
                                      <p:to>
                                        <p:strVal val="visible"/>
                                      </p:to>
                                    </p:set>
                                    <p:animEffect transition="in" filter="fade">
                                      <p:cBhvr>
                                        <p:cTn id="79" dur="500"/>
                                        <p:tgtEl>
                                          <p:spTgt spid="6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fade">
                                      <p:cBhvr>
                                        <p:cTn id="84" dur="500"/>
                                        <p:tgtEl>
                                          <p:spTgt spid="37"/>
                                        </p:tgtEl>
                                      </p:cBhvr>
                                    </p:animEffect>
                                  </p:childTnLst>
                                </p:cTn>
                              </p:par>
                              <p:par>
                                <p:cTn id="85" presetID="10" presetClass="entr" presetSubtype="0" fill="hold" nodeType="with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500"/>
                                        <p:tgtEl>
                                          <p:spTgt spid="38"/>
                                        </p:tgtEl>
                                      </p:cBhvr>
                                    </p:animEffect>
                                  </p:childTnLst>
                                </p:cTn>
                              </p:par>
                              <p:par>
                                <p:cTn id="88" presetID="10" presetClass="entr" presetSubtype="0" fill="hold"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500"/>
                                        <p:tgtEl>
                                          <p:spTgt spid="4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75"/>
                                        </p:tgtEl>
                                        <p:attrNameLst>
                                          <p:attrName>style.visibility</p:attrName>
                                        </p:attrNameLst>
                                      </p:cBhvr>
                                      <p:to>
                                        <p:strVal val="visible"/>
                                      </p:to>
                                    </p:set>
                                    <p:animEffect transition="in" filter="fade">
                                      <p:cBhvr>
                                        <p:cTn id="93"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75"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4 CuadroTexto"/>
          <p:cNvSpPr txBox="1">
            <a:spLocks noChangeArrowheads="1"/>
          </p:cNvSpPr>
          <p:nvPr/>
        </p:nvSpPr>
        <p:spPr bwMode="auto">
          <a:xfrm>
            <a:off x="214313" y="109538"/>
            <a:ext cx="3859212" cy="461962"/>
          </a:xfrm>
          <a:prstGeom prst="rect">
            <a:avLst/>
          </a:prstGeom>
          <a:noFill/>
          <a:ln w="9525">
            <a:noFill/>
            <a:miter lim="800000"/>
            <a:headEnd/>
            <a:tailEnd/>
          </a:ln>
        </p:spPr>
        <p:txBody>
          <a:bodyPr wrap="none">
            <a:spAutoFit/>
          </a:bodyPr>
          <a:lstStyle/>
          <a:p>
            <a:pPr marL="342900" indent="-342900"/>
            <a:r>
              <a:rPr lang="es-ES" sz="2400" b="1"/>
              <a:t>Ejercicios de Modelo E-R</a:t>
            </a:r>
            <a:endParaRPr lang="es-MX" sz="2400" b="1"/>
          </a:p>
        </p:txBody>
      </p:sp>
      <p:sp>
        <p:nvSpPr>
          <p:cNvPr id="91139" name="2 Rectángulo"/>
          <p:cNvSpPr>
            <a:spLocks noChangeArrowheads="1"/>
          </p:cNvSpPr>
          <p:nvPr/>
        </p:nvSpPr>
        <p:spPr bwMode="auto">
          <a:xfrm>
            <a:off x="428625" y="1143000"/>
            <a:ext cx="8286750" cy="5078413"/>
          </a:xfrm>
          <a:prstGeom prst="rect">
            <a:avLst/>
          </a:prstGeom>
          <a:noFill/>
          <a:ln w="9525">
            <a:noFill/>
            <a:miter lim="800000"/>
            <a:headEnd/>
            <a:tailEnd/>
          </a:ln>
        </p:spPr>
        <p:txBody>
          <a:bodyPr>
            <a:spAutoFit/>
          </a:bodyPr>
          <a:lstStyle/>
          <a:p>
            <a:pPr marL="358775" indent="-358775" algn="just">
              <a:spcAft>
                <a:spcPts val="1200"/>
              </a:spcAft>
            </a:pPr>
            <a:r>
              <a:rPr lang="es-ES" sz="2000" b="1"/>
              <a:t>UNA EMPRESA VENDE PRODUCTOS A VARIOS CLIENTES. </a:t>
            </a:r>
          </a:p>
          <a:p>
            <a:pPr marL="358775" indent="-358775" algn="just">
              <a:spcAft>
                <a:spcPts val="1200"/>
              </a:spcAft>
            </a:pPr>
            <a:endParaRPr lang="es-ES" sz="400" b="1"/>
          </a:p>
          <a:p>
            <a:pPr marL="815975" lvl="1" indent="-358775" algn="just">
              <a:spcAft>
                <a:spcPts val="1200"/>
              </a:spcAft>
              <a:buFont typeface="Arial" charset="0"/>
              <a:buChar char="•"/>
            </a:pPr>
            <a:r>
              <a:rPr lang="es-ES" sz="2000"/>
              <a:t>Se necesita conocer los datos personales de los clientes (NOMBRE, RFC, DIRECCIÓN, FECHA DE ALTA, ANTIGÜEDAD). </a:t>
            </a:r>
          </a:p>
          <a:p>
            <a:pPr marL="815975" lvl="1" indent="-358775" algn="just">
              <a:spcAft>
                <a:spcPts val="1200"/>
              </a:spcAft>
              <a:buFont typeface="Arial" charset="0"/>
              <a:buChar char="•"/>
            </a:pPr>
            <a:r>
              <a:rPr lang="es-ES" sz="2000"/>
              <a:t>Cada producto tiene un NOMBRE y un CÓDIGO, así como un PRECIO. </a:t>
            </a:r>
          </a:p>
          <a:p>
            <a:pPr marL="815975" lvl="1" indent="-358775" algn="just">
              <a:spcAft>
                <a:spcPts val="1200"/>
              </a:spcAft>
              <a:buFont typeface="Arial" charset="0"/>
              <a:buChar char="•"/>
            </a:pPr>
            <a:r>
              <a:rPr lang="es-ES" sz="2000"/>
              <a:t>De cada proveedor se desea conocer el RFC, NOMBRE y DIRECCION.</a:t>
            </a:r>
          </a:p>
          <a:p>
            <a:pPr marL="815975" lvl="1" indent="-358775" algn="just">
              <a:spcAft>
                <a:spcPts val="1200"/>
              </a:spcAft>
              <a:buFont typeface="Arial" charset="0"/>
              <a:buChar char="•"/>
            </a:pPr>
            <a:r>
              <a:rPr lang="es-ES" sz="2000"/>
              <a:t>Un cliente puede comprar varios productos a la empresa, y un mismo producto puede ser comprado por varios clientes.</a:t>
            </a:r>
          </a:p>
          <a:p>
            <a:pPr marL="815975" lvl="1" indent="-358775" algn="just">
              <a:spcAft>
                <a:spcPts val="1200"/>
              </a:spcAft>
              <a:buFont typeface="Arial" charset="0"/>
              <a:buChar char="•"/>
            </a:pPr>
            <a:r>
              <a:rPr lang="es-ES" sz="2000"/>
              <a:t>Se debe tener en cuenta que un producto sólo puede ser suministrado por un proveedor, y que un proveedor puede suministrar diferentes productos. </a:t>
            </a:r>
          </a:p>
        </p:txBody>
      </p:sp>
      <p:sp>
        <p:nvSpPr>
          <p:cNvPr id="91140" name="4 CuadroTexto"/>
          <p:cNvSpPr txBox="1">
            <a:spLocks noChangeArrowheads="1"/>
          </p:cNvSpPr>
          <p:nvPr/>
        </p:nvSpPr>
        <p:spPr bwMode="auto">
          <a:xfrm>
            <a:off x="1500188" y="500063"/>
            <a:ext cx="5857875" cy="523875"/>
          </a:xfrm>
          <a:prstGeom prst="rect">
            <a:avLst/>
          </a:prstGeom>
          <a:noFill/>
          <a:ln w="9525">
            <a:noFill/>
            <a:miter lim="800000"/>
            <a:headEnd/>
            <a:tailEnd/>
          </a:ln>
        </p:spPr>
        <p:txBody>
          <a:bodyPr>
            <a:spAutoFit/>
          </a:bodyPr>
          <a:lstStyle/>
          <a:p>
            <a:pPr marL="342900" indent="-342900" algn="ctr"/>
            <a:r>
              <a:rPr lang="es-ES" sz="2800" b="1">
                <a:solidFill>
                  <a:srgbClr val="FF0000"/>
                </a:solidFill>
              </a:rPr>
              <a:t>Ejercicio 1</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4 CuadroTexto"/>
          <p:cNvSpPr txBox="1">
            <a:spLocks noChangeArrowheads="1"/>
          </p:cNvSpPr>
          <p:nvPr/>
        </p:nvSpPr>
        <p:spPr bwMode="auto">
          <a:xfrm>
            <a:off x="214313" y="109538"/>
            <a:ext cx="3859212" cy="461962"/>
          </a:xfrm>
          <a:prstGeom prst="rect">
            <a:avLst/>
          </a:prstGeom>
          <a:noFill/>
          <a:ln w="9525">
            <a:noFill/>
            <a:miter lim="800000"/>
            <a:headEnd/>
            <a:tailEnd/>
          </a:ln>
        </p:spPr>
        <p:txBody>
          <a:bodyPr wrap="none">
            <a:spAutoFit/>
          </a:bodyPr>
          <a:lstStyle/>
          <a:p>
            <a:pPr marL="342900" indent="-342900"/>
            <a:r>
              <a:rPr lang="es-ES" sz="2400" b="1"/>
              <a:t>Ejercicios de Modelo E-R</a:t>
            </a:r>
            <a:endParaRPr lang="es-MX" sz="2400" b="1"/>
          </a:p>
        </p:txBody>
      </p:sp>
      <p:sp>
        <p:nvSpPr>
          <p:cNvPr id="92163" name="2 Rectángulo"/>
          <p:cNvSpPr>
            <a:spLocks noChangeArrowheads="1"/>
          </p:cNvSpPr>
          <p:nvPr/>
        </p:nvSpPr>
        <p:spPr bwMode="auto">
          <a:xfrm>
            <a:off x="428625" y="1143000"/>
            <a:ext cx="8286750" cy="400050"/>
          </a:xfrm>
          <a:prstGeom prst="rect">
            <a:avLst/>
          </a:prstGeom>
          <a:noFill/>
          <a:ln w="9525">
            <a:noFill/>
            <a:miter lim="800000"/>
            <a:headEnd/>
            <a:tailEnd/>
          </a:ln>
        </p:spPr>
        <p:txBody>
          <a:bodyPr>
            <a:spAutoFit/>
          </a:bodyPr>
          <a:lstStyle/>
          <a:p>
            <a:pPr marL="358775" indent="-358775" algn="just">
              <a:spcAft>
                <a:spcPts val="1200"/>
              </a:spcAft>
            </a:pPr>
            <a:r>
              <a:rPr lang="es-ES" sz="2000" b="1"/>
              <a:t>UNA EMPRESA VENDE PRODUCTOS A VARIOS CLIENTES. </a:t>
            </a:r>
            <a:endParaRPr lang="es-ES" sz="2000"/>
          </a:p>
        </p:txBody>
      </p:sp>
      <p:sp>
        <p:nvSpPr>
          <p:cNvPr id="92164" name="4 CuadroTexto"/>
          <p:cNvSpPr txBox="1">
            <a:spLocks noChangeArrowheads="1"/>
          </p:cNvSpPr>
          <p:nvPr/>
        </p:nvSpPr>
        <p:spPr bwMode="auto">
          <a:xfrm>
            <a:off x="1500188" y="500063"/>
            <a:ext cx="5857875" cy="523875"/>
          </a:xfrm>
          <a:prstGeom prst="rect">
            <a:avLst/>
          </a:prstGeom>
          <a:noFill/>
          <a:ln w="9525">
            <a:noFill/>
            <a:miter lim="800000"/>
            <a:headEnd/>
            <a:tailEnd/>
          </a:ln>
        </p:spPr>
        <p:txBody>
          <a:bodyPr>
            <a:spAutoFit/>
          </a:bodyPr>
          <a:lstStyle/>
          <a:p>
            <a:pPr marL="342900" indent="-342900" algn="ctr"/>
            <a:r>
              <a:rPr lang="es-ES" sz="2800" b="1">
                <a:solidFill>
                  <a:srgbClr val="FF0000"/>
                </a:solidFill>
              </a:rPr>
              <a:t>Ejercicio 1 - Solución</a:t>
            </a:r>
          </a:p>
        </p:txBody>
      </p:sp>
      <p:sp>
        <p:nvSpPr>
          <p:cNvPr id="92165" name="5 CuadroTexto"/>
          <p:cNvSpPr txBox="1">
            <a:spLocks noChangeArrowheads="1"/>
          </p:cNvSpPr>
          <p:nvPr/>
        </p:nvSpPr>
        <p:spPr bwMode="auto">
          <a:xfrm>
            <a:off x="71438" y="2138363"/>
            <a:ext cx="8929687" cy="2678112"/>
          </a:xfrm>
          <a:prstGeom prst="rect">
            <a:avLst/>
          </a:prstGeom>
          <a:noFill/>
          <a:ln w="9525">
            <a:noFill/>
            <a:miter lim="800000"/>
            <a:headEnd/>
            <a:tailEnd/>
          </a:ln>
        </p:spPr>
        <p:txBody>
          <a:bodyPr>
            <a:spAutoFit/>
          </a:bodyPr>
          <a:lstStyle/>
          <a:p>
            <a:pPr marL="457200" indent="-457200"/>
            <a:r>
              <a:rPr lang="es-ES" sz="2800" b="1"/>
              <a:t>Entidades:</a:t>
            </a:r>
          </a:p>
          <a:p>
            <a:pPr marL="457200" indent="-457200">
              <a:buFont typeface="Lucida Sans Unicode" pitchFamily="34" charset="0"/>
              <a:buAutoNum type="arabicPeriod"/>
            </a:pPr>
            <a:endParaRPr lang="es-ES" sz="2800" b="1"/>
          </a:p>
          <a:p>
            <a:pPr marL="914400" lvl="1" indent="-457200">
              <a:buFont typeface="Lucida Sans Unicode" pitchFamily="34" charset="0"/>
              <a:buAutoNum type="arabicPeriod"/>
            </a:pPr>
            <a:r>
              <a:rPr lang="es-ES" sz="2800" b="1">
                <a:solidFill>
                  <a:srgbClr val="FF0000"/>
                </a:solidFill>
              </a:rPr>
              <a:t>Cliente </a:t>
            </a:r>
            <a:r>
              <a:rPr lang="es-ES" sz="2800" i="1"/>
              <a:t>(nombre, </a:t>
            </a:r>
            <a:r>
              <a:rPr lang="es-ES" sz="2800" i="1" u="sng"/>
              <a:t>rfc</a:t>
            </a:r>
            <a:r>
              <a:rPr lang="es-ES" sz="2800" i="1"/>
              <a:t>, dirección, fecha de alta, antigüedad)</a:t>
            </a:r>
          </a:p>
          <a:p>
            <a:pPr marL="914400" lvl="1" indent="-457200">
              <a:buFont typeface="Lucida Sans Unicode" pitchFamily="34" charset="0"/>
              <a:buAutoNum type="arabicPeriod"/>
            </a:pPr>
            <a:r>
              <a:rPr lang="es-ES" sz="2800" b="1">
                <a:solidFill>
                  <a:srgbClr val="FF0000"/>
                </a:solidFill>
              </a:rPr>
              <a:t>Producto </a:t>
            </a:r>
            <a:r>
              <a:rPr lang="es-ES" sz="2800" i="1"/>
              <a:t>(nombre, </a:t>
            </a:r>
            <a:r>
              <a:rPr lang="es-ES" sz="2800" i="1" u="sng"/>
              <a:t>código</a:t>
            </a:r>
            <a:r>
              <a:rPr lang="es-ES" sz="2800" i="1"/>
              <a:t>, precio)</a:t>
            </a:r>
          </a:p>
          <a:p>
            <a:pPr marL="914400" lvl="1" indent="-457200">
              <a:buFont typeface="Lucida Sans Unicode" pitchFamily="34" charset="0"/>
              <a:buAutoNum type="arabicPeriod"/>
            </a:pPr>
            <a:r>
              <a:rPr lang="es-ES" sz="2800" b="1">
                <a:solidFill>
                  <a:srgbClr val="FF0000"/>
                </a:solidFill>
              </a:rPr>
              <a:t>Proveedor</a:t>
            </a:r>
            <a:r>
              <a:rPr lang="es-ES" sz="2800" i="1"/>
              <a:t>(</a:t>
            </a:r>
            <a:r>
              <a:rPr lang="es-ES" sz="2800" i="1" u="sng"/>
              <a:t>rfc</a:t>
            </a:r>
            <a:r>
              <a:rPr lang="es-ES" sz="2800" i="1"/>
              <a:t>, nombre, dirección)</a:t>
            </a:r>
            <a:endParaRPr lang="es-MX" sz="2800" i="1"/>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4 CuadroTexto"/>
          <p:cNvSpPr txBox="1">
            <a:spLocks noChangeArrowheads="1"/>
          </p:cNvSpPr>
          <p:nvPr/>
        </p:nvSpPr>
        <p:spPr bwMode="auto">
          <a:xfrm>
            <a:off x="71438" y="2138363"/>
            <a:ext cx="8929687" cy="1816100"/>
          </a:xfrm>
          <a:prstGeom prst="rect">
            <a:avLst/>
          </a:prstGeom>
          <a:noFill/>
          <a:ln w="9525">
            <a:noFill/>
            <a:miter lim="800000"/>
            <a:headEnd/>
            <a:tailEnd/>
          </a:ln>
        </p:spPr>
        <p:txBody>
          <a:bodyPr>
            <a:spAutoFit/>
          </a:bodyPr>
          <a:lstStyle/>
          <a:p>
            <a:pPr marL="342900" indent="-342900"/>
            <a:r>
              <a:rPr lang="es-ES" sz="2800" b="1"/>
              <a:t>Relaciones:</a:t>
            </a:r>
          </a:p>
          <a:p>
            <a:pPr marL="342900" indent="-342900"/>
            <a:endParaRPr lang="es-ES" sz="2800" b="1"/>
          </a:p>
          <a:p>
            <a:pPr marL="914400" lvl="1" indent="-457200">
              <a:buFont typeface="Lucida Sans Unicode" pitchFamily="34" charset="0"/>
              <a:buAutoNum type="arabicPeriod"/>
            </a:pPr>
            <a:r>
              <a:rPr lang="es-ES" sz="2800" b="1">
                <a:solidFill>
                  <a:srgbClr val="FF0000"/>
                </a:solidFill>
              </a:rPr>
              <a:t>Cliente </a:t>
            </a:r>
            <a:r>
              <a:rPr lang="es-ES" sz="2800" b="1">
                <a:solidFill>
                  <a:schemeClr val="accent1"/>
                </a:solidFill>
              </a:rPr>
              <a:t>compra</a:t>
            </a:r>
            <a:r>
              <a:rPr lang="es-ES" sz="2800" b="1">
                <a:solidFill>
                  <a:srgbClr val="FF0000"/>
                </a:solidFill>
              </a:rPr>
              <a:t> Producto </a:t>
            </a:r>
            <a:r>
              <a:rPr lang="es-ES" sz="2800" i="1"/>
              <a:t>(N:N) </a:t>
            </a:r>
          </a:p>
          <a:p>
            <a:pPr marL="914400" lvl="1" indent="-457200">
              <a:buFont typeface="Lucida Sans Unicode" pitchFamily="34" charset="0"/>
              <a:buAutoNum type="arabicPeriod"/>
            </a:pPr>
            <a:r>
              <a:rPr lang="es-ES" sz="2800" b="1">
                <a:solidFill>
                  <a:srgbClr val="FF0000"/>
                </a:solidFill>
              </a:rPr>
              <a:t>Proveedor </a:t>
            </a:r>
            <a:r>
              <a:rPr lang="es-ES" sz="2800" b="1">
                <a:solidFill>
                  <a:schemeClr val="accent1"/>
                </a:solidFill>
              </a:rPr>
              <a:t>suministra</a:t>
            </a:r>
            <a:r>
              <a:rPr lang="es-ES" sz="2800" b="1">
                <a:solidFill>
                  <a:srgbClr val="FF0000"/>
                </a:solidFill>
              </a:rPr>
              <a:t> Producto</a:t>
            </a:r>
            <a:r>
              <a:rPr lang="es-ES" sz="2800"/>
              <a:t> </a:t>
            </a:r>
            <a:r>
              <a:rPr lang="es-ES" sz="2800" i="1"/>
              <a:t>(1:N) </a:t>
            </a:r>
          </a:p>
        </p:txBody>
      </p:sp>
      <p:sp>
        <p:nvSpPr>
          <p:cNvPr id="93187" name="4 CuadroTexto"/>
          <p:cNvSpPr txBox="1">
            <a:spLocks noChangeArrowheads="1"/>
          </p:cNvSpPr>
          <p:nvPr/>
        </p:nvSpPr>
        <p:spPr bwMode="auto">
          <a:xfrm>
            <a:off x="214313" y="109538"/>
            <a:ext cx="3859212" cy="461962"/>
          </a:xfrm>
          <a:prstGeom prst="rect">
            <a:avLst/>
          </a:prstGeom>
          <a:noFill/>
          <a:ln w="9525">
            <a:noFill/>
            <a:miter lim="800000"/>
            <a:headEnd/>
            <a:tailEnd/>
          </a:ln>
        </p:spPr>
        <p:txBody>
          <a:bodyPr wrap="none">
            <a:spAutoFit/>
          </a:bodyPr>
          <a:lstStyle/>
          <a:p>
            <a:pPr marL="342900" indent="-342900"/>
            <a:r>
              <a:rPr lang="es-ES" sz="2400" b="1"/>
              <a:t>Ejercicios de Modelo E-R</a:t>
            </a:r>
            <a:endParaRPr lang="es-MX" sz="2400" b="1"/>
          </a:p>
        </p:txBody>
      </p:sp>
      <p:sp>
        <p:nvSpPr>
          <p:cNvPr id="93188" name="3 Rectángulo"/>
          <p:cNvSpPr>
            <a:spLocks noChangeArrowheads="1"/>
          </p:cNvSpPr>
          <p:nvPr/>
        </p:nvSpPr>
        <p:spPr bwMode="auto">
          <a:xfrm>
            <a:off x="428625" y="1143000"/>
            <a:ext cx="8286750" cy="400050"/>
          </a:xfrm>
          <a:prstGeom prst="rect">
            <a:avLst/>
          </a:prstGeom>
          <a:noFill/>
          <a:ln w="9525">
            <a:noFill/>
            <a:miter lim="800000"/>
            <a:headEnd/>
            <a:tailEnd/>
          </a:ln>
        </p:spPr>
        <p:txBody>
          <a:bodyPr>
            <a:spAutoFit/>
          </a:bodyPr>
          <a:lstStyle/>
          <a:p>
            <a:pPr marL="358775" indent="-358775" algn="just">
              <a:spcAft>
                <a:spcPts val="1200"/>
              </a:spcAft>
            </a:pPr>
            <a:r>
              <a:rPr lang="es-ES" sz="2000" b="1"/>
              <a:t>UNA EMPRESA VENDE PRODUCTOS A VARIOS CLIENTES. </a:t>
            </a:r>
            <a:endParaRPr lang="es-ES" sz="2000"/>
          </a:p>
        </p:txBody>
      </p:sp>
      <p:sp>
        <p:nvSpPr>
          <p:cNvPr id="93189" name="4 CuadroTexto"/>
          <p:cNvSpPr txBox="1">
            <a:spLocks noChangeArrowheads="1"/>
          </p:cNvSpPr>
          <p:nvPr/>
        </p:nvSpPr>
        <p:spPr bwMode="auto">
          <a:xfrm>
            <a:off x="1500188" y="500063"/>
            <a:ext cx="5857875" cy="523875"/>
          </a:xfrm>
          <a:prstGeom prst="rect">
            <a:avLst/>
          </a:prstGeom>
          <a:noFill/>
          <a:ln w="9525">
            <a:noFill/>
            <a:miter lim="800000"/>
            <a:headEnd/>
            <a:tailEnd/>
          </a:ln>
        </p:spPr>
        <p:txBody>
          <a:bodyPr>
            <a:spAutoFit/>
          </a:bodyPr>
          <a:lstStyle/>
          <a:p>
            <a:pPr marL="342900" indent="-342900" algn="ctr"/>
            <a:r>
              <a:rPr lang="es-ES" sz="2800" b="1">
                <a:solidFill>
                  <a:srgbClr val="FF0000"/>
                </a:solidFill>
              </a:rPr>
              <a:t>Ejercicio 1 - Solución</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4 CuadroTexto"/>
          <p:cNvSpPr txBox="1">
            <a:spLocks noChangeArrowheads="1"/>
          </p:cNvSpPr>
          <p:nvPr/>
        </p:nvSpPr>
        <p:spPr bwMode="auto">
          <a:xfrm>
            <a:off x="214313" y="109538"/>
            <a:ext cx="3859212" cy="461962"/>
          </a:xfrm>
          <a:prstGeom prst="rect">
            <a:avLst/>
          </a:prstGeom>
          <a:noFill/>
          <a:ln w="9525">
            <a:noFill/>
            <a:miter lim="800000"/>
            <a:headEnd/>
            <a:tailEnd/>
          </a:ln>
        </p:spPr>
        <p:txBody>
          <a:bodyPr wrap="none">
            <a:spAutoFit/>
          </a:bodyPr>
          <a:lstStyle/>
          <a:p>
            <a:pPr marL="342900" indent="-342900"/>
            <a:r>
              <a:rPr lang="es-ES" sz="2400" b="1"/>
              <a:t>Ejercicios de Modelo E-R</a:t>
            </a:r>
            <a:endParaRPr lang="es-MX" sz="2400" b="1"/>
          </a:p>
        </p:txBody>
      </p:sp>
      <p:sp>
        <p:nvSpPr>
          <p:cNvPr id="94211" name="2 Rectángulo"/>
          <p:cNvSpPr>
            <a:spLocks noChangeArrowheads="1"/>
          </p:cNvSpPr>
          <p:nvPr/>
        </p:nvSpPr>
        <p:spPr bwMode="auto">
          <a:xfrm>
            <a:off x="428625" y="1143000"/>
            <a:ext cx="8286750" cy="400050"/>
          </a:xfrm>
          <a:prstGeom prst="rect">
            <a:avLst/>
          </a:prstGeom>
          <a:noFill/>
          <a:ln w="9525">
            <a:noFill/>
            <a:miter lim="800000"/>
            <a:headEnd/>
            <a:tailEnd/>
          </a:ln>
        </p:spPr>
        <p:txBody>
          <a:bodyPr>
            <a:spAutoFit/>
          </a:bodyPr>
          <a:lstStyle/>
          <a:p>
            <a:pPr marL="358775" indent="-358775" algn="just">
              <a:spcAft>
                <a:spcPts val="1200"/>
              </a:spcAft>
            </a:pPr>
            <a:r>
              <a:rPr lang="es-ES" sz="2000" b="1"/>
              <a:t>UNA EMPRESA VENDE PRODUCTOS A VARIOS CLIENTES. </a:t>
            </a:r>
            <a:endParaRPr lang="es-ES" sz="2000"/>
          </a:p>
        </p:txBody>
      </p:sp>
      <p:sp>
        <p:nvSpPr>
          <p:cNvPr id="94212" name="3 CuadroTexto"/>
          <p:cNvSpPr txBox="1">
            <a:spLocks noChangeArrowheads="1"/>
          </p:cNvSpPr>
          <p:nvPr/>
        </p:nvSpPr>
        <p:spPr bwMode="auto">
          <a:xfrm>
            <a:off x="1500188" y="500063"/>
            <a:ext cx="5857875" cy="523875"/>
          </a:xfrm>
          <a:prstGeom prst="rect">
            <a:avLst/>
          </a:prstGeom>
          <a:noFill/>
          <a:ln w="9525">
            <a:noFill/>
            <a:miter lim="800000"/>
            <a:headEnd/>
            <a:tailEnd/>
          </a:ln>
        </p:spPr>
        <p:txBody>
          <a:bodyPr>
            <a:spAutoFit/>
          </a:bodyPr>
          <a:lstStyle/>
          <a:p>
            <a:pPr marL="342900" indent="-342900" algn="ctr"/>
            <a:r>
              <a:rPr lang="es-ES" sz="2800" b="1">
                <a:solidFill>
                  <a:srgbClr val="FF0000"/>
                </a:solidFill>
              </a:rPr>
              <a:t>Ejercicio 1 - Solución</a:t>
            </a:r>
          </a:p>
        </p:txBody>
      </p:sp>
      <p:sp>
        <p:nvSpPr>
          <p:cNvPr id="94213" name="5 CuadroTexto"/>
          <p:cNvSpPr txBox="1">
            <a:spLocks noChangeArrowheads="1"/>
          </p:cNvSpPr>
          <p:nvPr/>
        </p:nvSpPr>
        <p:spPr bwMode="auto">
          <a:xfrm>
            <a:off x="71438" y="1714500"/>
            <a:ext cx="8929687" cy="523875"/>
          </a:xfrm>
          <a:prstGeom prst="rect">
            <a:avLst/>
          </a:prstGeom>
          <a:noFill/>
          <a:ln w="9525">
            <a:noFill/>
            <a:miter lim="800000"/>
            <a:headEnd/>
            <a:tailEnd/>
          </a:ln>
        </p:spPr>
        <p:txBody>
          <a:bodyPr>
            <a:spAutoFit/>
          </a:bodyPr>
          <a:lstStyle/>
          <a:p>
            <a:pPr marL="457200" indent="-457200"/>
            <a:r>
              <a:rPr lang="es-ES" sz="2800" b="1"/>
              <a:t>Diagrama:</a:t>
            </a:r>
            <a:endParaRPr lang="es-MX" sz="2800" i="1"/>
          </a:p>
        </p:txBody>
      </p:sp>
      <p:pic>
        <p:nvPicPr>
          <p:cNvPr id="94214" name="Picture 3"/>
          <p:cNvPicPr>
            <a:picLocks noChangeAspect="1" noChangeArrowheads="1"/>
          </p:cNvPicPr>
          <p:nvPr/>
        </p:nvPicPr>
        <p:blipFill>
          <a:blip r:embed="rId2" cstate="print"/>
          <a:srcRect/>
          <a:stretch>
            <a:fillRect/>
          </a:stretch>
        </p:blipFill>
        <p:spPr bwMode="auto">
          <a:xfrm>
            <a:off x="1319213" y="1714500"/>
            <a:ext cx="7218362" cy="4818063"/>
          </a:xfrm>
          <a:prstGeom prst="rect">
            <a:avLst/>
          </a:prstGeom>
          <a:noFill/>
          <a:ln w="9525">
            <a:noFill/>
            <a:miter lim="800000"/>
            <a:headEnd/>
            <a:tailEnd/>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4 CuadroTexto"/>
          <p:cNvSpPr txBox="1">
            <a:spLocks noChangeArrowheads="1"/>
          </p:cNvSpPr>
          <p:nvPr/>
        </p:nvSpPr>
        <p:spPr bwMode="auto">
          <a:xfrm>
            <a:off x="214313" y="109538"/>
            <a:ext cx="3859212" cy="461962"/>
          </a:xfrm>
          <a:prstGeom prst="rect">
            <a:avLst/>
          </a:prstGeom>
          <a:noFill/>
          <a:ln w="9525">
            <a:noFill/>
            <a:miter lim="800000"/>
            <a:headEnd/>
            <a:tailEnd/>
          </a:ln>
        </p:spPr>
        <p:txBody>
          <a:bodyPr wrap="none">
            <a:spAutoFit/>
          </a:bodyPr>
          <a:lstStyle/>
          <a:p>
            <a:pPr marL="342900" indent="-342900"/>
            <a:r>
              <a:rPr lang="es-ES" sz="2400" b="1"/>
              <a:t>Ejercicios de Modelo E-R</a:t>
            </a:r>
            <a:endParaRPr lang="es-MX" sz="2400" b="1"/>
          </a:p>
        </p:txBody>
      </p:sp>
      <p:sp>
        <p:nvSpPr>
          <p:cNvPr id="95235" name="2 Rectángulo"/>
          <p:cNvSpPr>
            <a:spLocks noChangeArrowheads="1"/>
          </p:cNvSpPr>
          <p:nvPr/>
        </p:nvSpPr>
        <p:spPr bwMode="auto">
          <a:xfrm>
            <a:off x="357188" y="1147763"/>
            <a:ext cx="8286750" cy="5662612"/>
          </a:xfrm>
          <a:prstGeom prst="rect">
            <a:avLst/>
          </a:prstGeom>
          <a:noFill/>
          <a:ln w="9525">
            <a:noFill/>
            <a:miter lim="800000"/>
            <a:headEnd/>
            <a:tailEnd/>
          </a:ln>
        </p:spPr>
        <p:txBody>
          <a:bodyPr>
            <a:spAutoFit/>
          </a:bodyPr>
          <a:lstStyle/>
          <a:p>
            <a:pPr algn="just">
              <a:spcAft>
                <a:spcPts val="1200"/>
              </a:spcAft>
            </a:pPr>
            <a:r>
              <a:rPr lang="es-ES" sz="1600" b="1"/>
              <a:t>SE DESEA INFORMATIZAR LA GESTIÓN DE UNA EMPRESA DE TRANSPORTES QUE REPARTE PAQUETES POR TODA LA REPÚBLICA</a:t>
            </a:r>
          </a:p>
          <a:p>
            <a:pPr marL="815975" lvl="1" indent="-358775" algn="just">
              <a:spcAft>
                <a:spcPts val="1200"/>
              </a:spcAft>
              <a:buFont typeface="Arial" charset="0"/>
              <a:buChar char="•"/>
            </a:pPr>
            <a:r>
              <a:rPr lang="es-ES" sz="1600"/>
              <a:t>Los encargados de llevar los paquetes son los camioneros, de los que se quiere guardar el rfc, nombre, teléfono, dirección y salario. </a:t>
            </a:r>
          </a:p>
          <a:p>
            <a:pPr marL="815975" lvl="1" indent="-358775" algn="just">
              <a:spcAft>
                <a:spcPts val="1200"/>
              </a:spcAft>
              <a:buFont typeface="Arial" charset="0"/>
              <a:buChar char="•"/>
            </a:pPr>
            <a:r>
              <a:rPr lang="es-ES" sz="1600"/>
              <a:t>De los paquetes transportados interesa conocer el código, descripción, destinatario y dirección del destinatario. </a:t>
            </a:r>
          </a:p>
          <a:p>
            <a:pPr marL="815975" lvl="1" indent="-358775" algn="just">
              <a:spcAft>
                <a:spcPts val="1200"/>
              </a:spcAft>
              <a:buFont typeface="Arial" charset="0"/>
              <a:buChar char="•"/>
            </a:pPr>
            <a:r>
              <a:rPr lang="es-ES" sz="1600"/>
              <a:t>Un camionero distribuye muchos paquetes, y un paquete sólo puede ser distribuido por un camionero.</a:t>
            </a:r>
          </a:p>
          <a:p>
            <a:pPr marL="815975" lvl="1" indent="-358775" algn="just">
              <a:spcAft>
                <a:spcPts val="1200"/>
              </a:spcAft>
              <a:buFont typeface="Arial" charset="0"/>
              <a:buChar char="•"/>
            </a:pPr>
            <a:r>
              <a:rPr lang="es-ES" sz="1600"/>
              <a:t>De los estados a los que llegan los paquetes interesa guardar el código de estado y el nombre del estado. </a:t>
            </a:r>
          </a:p>
          <a:p>
            <a:pPr marL="815975" lvl="1" indent="-358775" algn="just">
              <a:spcAft>
                <a:spcPts val="1200"/>
              </a:spcAft>
              <a:buFont typeface="Arial" charset="0"/>
              <a:buChar char="•"/>
            </a:pPr>
            <a:r>
              <a:rPr lang="es-ES" sz="1600"/>
              <a:t>A un estado pueden llegar varios paquetes. </a:t>
            </a:r>
          </a:p>
          <a:p>
            <a:pPr marL="815975" lvl="1" indent="-358775" algn="just">
              <a:spcAft>
                <a:spcPts val="1200"/>
              </a:spcAft>
              <a:buFont typeface="Arial" charset="0"/>
              <a:buChar char="•"/>
            </a:pPr>
            <a:r>
              <a:rPr lang="es-ES" sz="1600"/>
              <a:t>Sin embargo, un paquete sólo puede llegar a un estado.</a:t>
            </a:r>
          </a:p>
          <a:p>
            <a:pPr marL="815975" lvl="1" indent="-358775" algn="just">
              <a:spcAft>
                <a:spcPts val="1200"/>
              </a:spcAft>
              <a:buFont typeface="Arial" charset="0"/>
              <a:buChar char="•"/>
            </a:pPr>
            <a:r>
              <a:rPr lang="es-ES" sz="1600"/>
              <a:t>De los camiones que llevan los camioneros, interesa conocer la matrícula, modelo y capacidad. </a:t>
            </a:r>
          </a:p>
          <a:p>
            <a:pPr marL="815975" lvl="1" indent="-358775" algn="just">
              <a:spcAft>
                <a:spcPts val="1200"/>
              </a:spcAft>
              <a:buFont typeface="Arial" charset="0"/>
              <a:buChar char="•"/>
            </a:pPr>
            <a:r>
              <a:rPr lang="es-ES" sz="1600"/>
              <a:t>Un camionero puede conducir diferentes camiones en fechas diferentes. </a:t>
            </a:r>
          </a:p>
          <a:p>
            <a:pPr marL="815975" lvl="1" indent="-358775" algn="just">
              <a:spcAft>
                <a:spcPts val="1200"/>
              </a:spcAft>
              <a:buFont typeface="Arial" charset="0"/>
              <a:buChar char="•"/>
            </a:pPr>
            <a:r>
              <a:rPr lang="es-ES" sz="1600">
                <a:solidFill>
                  <a:schemeClr val="bg1"/>
                </a:solidFill>
              </a:rPr>
              <a:t>Un</a:t>
            </a:r>
            <a:r>
              <a:rPr lang="es-ES" sz="1600"/>
              <a:t> </a:t>
            </a:r>
            <a:r>
              <a:rPr lang="es-ES" sz="1600">
                <a:solidFill>
                  <a:schemeClr val="bg1"/>
                </a:solidFill>
              </a:rPr>
              <a:t>camión</a:t>
            </a:r>
            <a:r>
              <a:rPr lang="es-ES" sz="1600"/>
              <a:t> puede ser conducido por varios camioneros también en diferentes </a:t>
            </a:r>
            <a:r>
              <a:rPr lang="es-ES" sz="1600">
                <a:solidFill>
                  <a:schemeClr val="bg1"/>
                </a:solidFill>
              </a:rPr>
              <a:t>fechas.</a:t>
            </a:r>
            <a:endParaRPr lang="es-ES" sz="1600"/>
          </a:p>
        </p:txBody>
      </p:sp>
      <p:sp>
        <p:nvSpPr>
          <p:cNvPr id="95236" name="4 CuadroTexto"/>
          <p:cNvSpPr txBox="1">
            <a:spLocks noChangeArrowheads="1"/>
          </p:cNvSpPr>
          <p:nvPr/>
        </p:nvSpPr>
        <p:spPr bwMode="auto">
          <a:xfrm>
            <a:off x="1500188" y="571500"/>
            <a:ext cx="5857875" cy="523875"/>
          </a:xfrm>
          <a:prstGeom prst="rect">
            <a:avLst/>
          </a:prstGeom>
          <a:noFill/>
          <a:ln w="9525">
            <a:noFill/>
            <a:miter lim="800000"/>
            <a:headEnd/>
            <a:tailEnd/>
          </a:ln>
        </p:spPr>
        <p:txBody>
          <a:bodyPr>
            <a:spAutoFit/>
          </a:bodyPr>
          <a:lstStyle/>
          <a:p>
            <a:pPr marL="342900" indent="-342900" algn="ctr"/>
            <a:r>
              <a:rPr lang="es-ES" sz="2800" b="1">
                <a:solidFill>
                  <a:srgbClr val="FF0000"/>
                </a:solidFill>
              </a:rPr>
              <a:t>Ejercicio 2</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4 CuadroTexto"/>
          <p:cNvSpPr txBox="1">
            <a:spLocks noChangeArrowheads="1"/>
          </p:cNvSpPr>
          <p:nvPr/>
        </p:nvSpPr>
        <p:spPr bwMode="auto">
          <a:xfrm>
            <a:off x="214313" y="109538"/>
            <a:ext cx="3859212" cy="461962"/>
          </a:xfrm>
          <a:prstGeom prst="rect">
            <a:avLst/>
          </a:prstGeom>
          <a:noFill/>
          <a:ln w="9525">
            <a:noFill/>
            <a:miter lim="800000"/>
            <a:headEnd/>
            <a:tailEnd/>
          </a:ln>
        </p:spPr>
        <p:txBody>
          <a:bodyPr wrap="none">
            <a:spAutoFit/>
          </a:bodyPr>
          <a:lstStyle/>
          <a:p>
            <a:pPr marL="342900" indent="-342900"/>
            <a:r>
              <a:rPr lang="es-ES" sz="2400" b="1"/>
              <a:t>Ejercicios de Modelo E-R</a:t>
            </a:r>
            <a:endParaRPr lang="es-MX" sz="2400" b="1"/>
          </a:p>
        </p:txBody>
      </p:sp>
      <p:sp>
        <p:nvSpPr>
          <p:cNvPr id="96259" name="2 Rectángulo"/>
          <p:cNvSpPr>
            <a:spLocks noChangeArrowheads="1"/>
          </p:cNvSpPr>
          <p:nvPr/>
        </p:nvSpPr>
        <p:spPr bwMode="auto">
          <a:xfrm>
            <a:off x="357188" y="1147763"/>
            <a:ext cx="8286750" cy="584200"/>
          </a:xfrm>
          <a:prstGeom prst="rect">
            <a:avLst/>
          </a:prstGeom>
          <a:noFill/>
          <a:ln w="9525">
            <a:noFill/>
            <a:miter lim="800000"/>
            <a:headEnd/>
            <a:tailEnd/>
          </a:ln>
        </p:spPr>
        <p:txBody>
          <a:bodyPr>
            <a:spAutoFit/>
          </a:bodyPr>
          <a:lstStyle/>
          <a:p>
            <a:pPr algn="just">
              <a:spcAft>
                <a:spcPts val="1200"/>
              </a:spcAft>
            </a:pPr>
            <a:r>
              <a:rPr lang="es-ES" sz="1600" b="1"/>
              <a:t>SE DESEA INFORMATIZAR LA GESTIÓN DE UNA EMPRESA DE TRANSPORTES QUE REPARTE PAQUETES POR TODA LA REPÚBLICA</a:t>
            </a:r>
            <a:endParaRPr lang="es-ES" sz="1600"/>
          </a:p>
        </p:txBody>
      </p:sp>
      <p:sp>
        <p:nvSpPr>
          <p:cNvPr id="96260" name="4 CuadroTexto"/>
          <p:cNvSpPr txBox="1">
            <a:spLocks noChangeArrowheads="1"/>
          </p:cNvSpPr>
          <p:nvPr/>
        </p:nvSpPr>
        <p:spPr bwMode="auto">
          <a:xfrm>
            <a:off x="1500188" y="571500"/>
            <a:ext cx="5857875" cy="523875"/>
          </a:xfrm>
          <a:prstGeom prst="rect">
            <a:avLst/>
          </a:prstGeom>
          <a:noFill/>
          <a:ln w="9525">
            <a:noFill/>
            <a:miter lim="800000"/>
            <a:headEnd/>
            <a:tailEnd/>
          </a:ln>
        </p:spPr>
        <p:txBody>
          <a:bodyPr>
            <a:spAutoFit/>
          </a:bodyPr>
          <a:lstStyle/>
          <a:p>
            <a:pPr marL="342900" indent="-342900" algn="ctr"/>
            <a:r>
              <a:rPr lang="es-ES" sz="2800" b="1">
                <a:solidFill>
                  <a:srgbClr val="FF0000"/>
                </a:solidFill>
              </a:rPr>
              <a:t>Ejercicio 2 - Solución</a:t>
            </a:r>
          </a:p>
        </p:txBody>
      </p:sp>
      <p:sp>
        <p:nvSpPr>
          <p:cNvPr id="96261" name="5 CuadroTexto"/>
          <p:cNvSpPr txBox="1">
            <a:spLocks noChangeArrowheads="1"/>
          </p:cNvSpPr>
          <p:nvPr/>
        </p:nvSpPr>
        <p:spPr bwMode="auto">
          <a:xfrm>
            <a:off x="71438" y="2138363"/>
            <a:ext cx="8929687" cy="3540125"/>
          </a:xfrm>
          <a:prstGeom prst="rect">
            <a:avLst/>
          </a:prstGeom>
          <a:noFill/>
          <a:ln w="9525">
            <a:noFill/>
            <a:miter lim="800000"/>
            <a:headEnd/>
            <a:tailEnd/>
          </a:ln>
        </p:spPr>
        <p:txBody>
          <a:bodyPr>
            <a:spAutoFit/>
          </a:bodyPr>
          <a:lstStyle/>
          <a:p>
            <a:pPr marL="457200" indent="-457200"/>
            <a:r>
              <a:rPr lang="es-ES" sz="2800" b="1"/>
              <a:t>Entidades:</a:t>
            </a:r>
          </a:p>
          <a:p>
            <a:pPr marL="457200" indent="-457200">
              <a:buFont typeface="Lucida Sans Unicode" pitchFamily="34" charset="0"/>
              <a:buAutoNum type="arabicPeriod"/>
            </a:pPr>
            <a:endParaRPr lang="es-ES" sz="2800" b="1"/>
          </a:p>
          <a:p>
            <a:pPr marL="914400" lvl="1" indent="-457200">
              <a:buFont typeface="Lucida Sans Unicode" pitchFamily="34" charset="0"/>
              <a:buAutoNum type="arabicPeriod"/>
            </a:pPr>
            <a:r>
              <a:rPr lang="es-ES" sz="2800" b="1">
                <a:solidFill>
                  <a:srgbClr val="FF0000"/>
                </a:solidFill>
              </a:rPr>
              <a:t>Camionero </a:t>
            </a:r>
            <a:r>
              <a:rPr lang="es-ES" sz="2800" i="1"/>
              <a:t>(</a:t>
            </a:r>
            <a:r>
              <a:rPr lang="es-ES" sz="2800" u="sng"/>
              <a:t>rfc</a:t>
            </a:r>
            <a:r>
              <a:rPr lang="es-ES" sz="2800"/>
              <a:t>, nombre, teléfono, dirección, salario</a:t>
            </a:r>
            <a:r>
              <a:rPr lang="es-ES" sz="2800" i="1"/>
              <a:t>)</a:t>
            </a:r>
          </a:p>
          <a:p>
            <a:pPr marL="914400" lvl="1" indent="-457200">
              <a:buFont typeface="Lucida Sans Unicode" pitchFamily="34" charset="0"/>
              <a:buAutoNum type="arabicPeriod"/>
            </a:pPr>
            <a:r>
              <a:rPr lang="es-ES" sz="2800" b="1">
                <a:solidFill>
                  <a:srgbClr val="FF0000"/>
                </a:solidFill>
              </a:rPr>
              <a:t>Paquete </a:t>
            </a:r>
            <a:r>
              <a:rPr lang="es-ES" sz="2800" i="1"/>
              <a:t>(</a:t>
            </a:r>
            <a:r>
              <a:rPr lang="es-ES" sz="2800" u="sng"/>
              <a:t>código</a:t>
            </a:r>
            <a:r>
              <a:rPr lang="es-ES" sz="2800"/>
              <a:t>, descripción, destinatario y dirección del destinatario</a:t>
            </a:r>
            <a:r>
              <a:rPr lang="es-ES" sz="2800" i="1"/>
              <a:t>)</a:t>
            </a:r>
          </a:p>
          <a:p>
            <a:pPr marL="914400" lvl="1" indent="-457200">
              <a:buFont typeface="Lucida Sans Unicode" pitchFamily="34" charset="0"/>
              <a:buAutoNum type="arabicPeriod"/>
            </a:pPr>
            <a:r>
              <a:rPr lang="es-ES" sz="2800" b="1">
                <a:solidFill>
                  <a:srgbClr val="FF0000"/>
                </a:solidFill>
              </a:rPr>
              <a:t>Estado </a:t>
            </a:r>
            <a:r>
              <a:rPr lang="es-ES" sz="2800" i="1"/>
              <a:t>(</a:t>
            </a:r>
            <a:r>
              <a:rPr lang="es-ES" sz="2800" i="1" u="sng"/>
              <a:t>código</a:t>
            </a:r>
            <a:r>
              <a:rPr lang="es-ES" sz="2800" i="1"/>
              <a:t>, nombre)</a:t>
            </a:r>
          </a:p>
          <a:p>
            <a:pPr marL="914400" lvl="1" indent="-457200">
              <a:buFont typeface="Lucida Sans Unicode" pitchFamily="34" charset="0"/>
              <a:buAutoNum type="arabicPeriod"/>
            </a:pPr>
            <a:r>
              <a:rPr lang="es-ES" sz="2800" b="1">
                <a:solidFill>
                  <a:srgbClr val="FF0000"/>
                </a:solidFill>
              </a:rPr>
              <a:t>Camión </a:t>
            </a:r>
            <a:r>
              <a:rPr lang="es-ES" sz="2800" i="1"/>
              <a:t>(</a:t>
            </a:r>
            <a:r>
              <a:rPr lang="es-ES" sz="2800" i="1" u="sng"/>
              <a:t>matrícula</a:t>
            </a:r>
            <a:r>
              <a:rPr lang="es-ES" sz="2800" i="1"/>
              <a:t>, modelo, capacidad)</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4 CuadroTexto"/>
          <p:cNvSpPr txBox="1">
            <a:spLocks noChangeArrowheads="1"/>
          </p:cNvSpPr>
          <p:nvPr/>
        </p:nvSpPr>
        <p:spPr bwMode="auto">
          <a:xfrm>
            <a:off x="214313" y="109538"/>
            <a:ext cx="3859212" cy="461962"/>
          </a:xfrm>
          <a:prstGeom prst="rect">
            <a:avLst/>
          </a:prstGeom>
          <a:noFill/>
          <a:ln w="9525">
            <a:noFill/>
            <a:miter lim="800000"/>
            <a:headEnd/>
            <a:tailEnd/>
          </a:ln>
        </p:spPr>
        <p:txBody>
          <a:bodyPr wrap="none">
            <a:spAutoFit/>
          </a:bodyPr>
          <a:lstStyle/>
          <a:p>
            <a:pPr marL="342900" indent="-342900"/>
            <a:r>
              <a:rPr lang="es-ES" sz="2400" b="1"/>
              <a:t>Ejercicios de Modelo E-R</a:t>
            </a:r>
            <a:endParaRPr lang="es-MX" sz="2400" b="1"/>
          </a:p>
        </p:txBody>
      </p:sp>
      <p:sp>
        <p:nvSpPr>
          <p:cNvPr id="97283" name="2 Rectángulo"/>
          <p:cNvSpPr>
            <a:spLocks noChangeArrowheads="1"/>
          </p:cNvSpPr>
          <p:nvPr/>
        </p:nvSpPr>
        <p:spPr bwMode="auto">
          <a:xfrm>
            <a:off x="357188" y="1147763"/>
            <a:ext cx="8286750" cy="584200"/>
          </a:xfrm>
          <a:prstGeom prst="rect">
            <a:avLst/>
          </a:prstGeom>
          <a:noFill/>
          <a:ln w="9525">
            <a:noFill/>
            <a:miter lim="800000"/>
            <a:headEnd/>
            <a:tailEnd/>
          </a:ln>
        </p:spPr>
        <p:txBody>
          <a:bodyPr>
            <a:spAutoFit/>
          </a:bodyPr>
          <a:lstStyle/>
          <a:p>
            <a:pPr algn="just">
              <a:spcAft>
                <a:spcPts val="1200"/>
              </a:spcAft>
            </a:pPr>
            <a:r>
              <a:rPr lang="es-ES" sz="1600" b="1"/>
              <a:t>SE DESEA INFORMATIZAR LA GESTIÓN DE UNA EMPRESA DE TRANSPORTES QUE REPARTE PAQUETES POR TODA LA REPÚBLICA</a:t>
            </a:r>
            <a:endParaRPr lang="es-ES" sz="1600"/>
          </a:p>
        </p:txBody>
      </p:sp>
      <p:sp>
        <p:nvSpPr>
          <p:cNvPr id="97284" name="4 CuadroTexto"/>
          <p:cNvSpPr txBox="1">
            <a:spLocks noChangeArrowheads="1"/>
          </p:cNvSpPr>
          <p:nvPr/>
        </p:nvSpPr>
        <p:spPr bwMode="auto">
          <a:xfrm>
            <a:off x="1500188" y="571500"/>
            <a:ext cx="5857875" cy="523875"/>
          </a:xfrm>
          <a:prstGeom prst="rect">
            <a:avLst/>
          </a:prstGeom>
          <a:noFill/>
          <a:ln w="9525">
            <a:noFill/>
            <a:miter lim="800000"/>
            <a:headEnd/>
            <a:tailEnd/>
          </a:ln>
        </p:spPr>
        <p:txBody>
          <a:bodyPr>
            <a:spAutoFit/>
          </a:bodyPr>
          <a:lstStyle/>
          <a:p>
            <a:pPr marL="342900" indent="-342900" algn="ctr"/>
            <a:r>
              <a:rPr lang="es-ES" sz="2800" b="1">
                <a:solidFill>
                  <a:srgbClr val="FF0000"/>
                </a:solidFill>
              </a:rPr>
              <a:t>Ejercicio 2 - Solución</a:t>
            </a:r>
          </a:p>
        </p:txBody>
      </p:sp>
      <p:sp>
        <p:nvSpPr>
          <p:cNvPr id="97285" name="4 CuadroTexto"/>
          <p:cNvSpPr txBox="1">
            <a:spLocks noChangeArrowheads="1"/>
          </p:cNvSpPr>
          <p:nvPr/>
        </p:nvSpPr>
        <p:spPr bwMode="auto">
          <a:xfrm>
            <a:off x="71438" y="2138363"/>
            <a:ext cx="8929687" cy="2246312"/>
          </a:xfrm>
          <a:prstGeom prst="rect">
            <a:avLst/>
          </a:prstGeom>
          <a:noFill/>
          <a:ln w="9525">
            <a:noFill/>
            <a:miter lim="800000"/>
            <a:headEnd/>
            <a:tailEnd/>
          </a:ln>
        </p:spPr>
        <p:txBody>
          <a:bodyPr>
            <a:spAutoFit/>
          </a:bodyPr>
          <a:lstStyle/>
          <a:p>
            <a:pPr marL="342900" indent="-342900"/>
            <a:r>
              <a:rPr lang="es-ES" sz="2800" b="1"/>
              <a:t>Relaciones:</a:t>
            </a:r>
          </a:p>
          <a:p>
            <a:pPr marL="342900" indent="-342900"/>
            <a:endParaRPr lang="es-ES" sz="2800" b="1"/>
          </a:p>
          <a:p>
            <a:pPr marL="914400" lvl="1" indent="-457200">
              <a:buFont typeface="Lucida Sans Unicode" pitchFamily="34" charset="0"/>
              <a:buAutoNum type="arabicPeriod"/>
            </a:pPr>
            <a:r>
              <a:rPr lang="es-ES" sz="2800" b="1">
                <a:solidFill>
                  <a:srgbClr val="FF0000"/>
                </a:solidFill>
              </a:rPr>
              <a:t>Camionero </a:t>
            </a:r>
            <a:r>
              <a:rPr lang="es-ES" sz="2800" b="1">
                <a:solidFill>
                  <a:schemeClr val="accent1"/>
                </a:solidFill>
              </a:rPr>
              <a:t>distribuye</a:t>
            </a:r>
            <a:r>
              <a:rPr lang="es-ES" sz="2800" b="1">
                <a:solidFill>
                  <a:srgbClr val="FF0000"/>
                </a:solidFill>
              </a:rPr>
              <a:t> Paquete </a:t>
            </a:r>
            <a:r>
              <a:rPr lang="es-ES" sz="2800" i="1"/>
              <a:t>(1:N) </a:t>
            </a:r>
          </a:p>
          <a:p>
            <a:pPr marL="914400" lvl="1" indent="-457200">
              <a:buFont typeface="Lucida Sans Unicode" pitchFamily="34" charset="0"/>
              <a:buAutoNum type="arabicPeriod"/>
            </a:pPr>
            <a:r>
              <a:rPr lang="es-ES" sz="2800" b="1">
                <a:solidFill>
                  <a:srgbClr val="FF0000"/>
                </a:solidFill>
              </a:rPr>
              <a:t>Estado </a:t>
            </a:r>
            <a:r>
              <a:rPr lang="es-ES" sz="2800" b="1">
                <a:solidFill>
                  <a:schemeClr val="accent1"/>
                </a:solidFill>
              </a:rPr>
              <a:t>llega</a:t>
            </a:r>
            <a:r>
              <a:rPr lang="es-ES" sz="2800" b="1">
                <a:solidFill>
                  <a:srgbClr val="FF0000"/>
                </a:solidFill>
              </a:rPr>
              <a:t> Paquete </a:t>
            </a:r>
            <a:r>
              <a:rPr lang="es-ES" sz="2800" i="1"/>
              <a:t>(1:N)</a:t>
            </a:r>
          </a:p>
          <a:p>
            <a:pPr marL="914400" lvl="1" indent="-457200">
              <a:buFont typeface="Lucida Sans Unicode" pitchFamily="34" charset="0"/>
              <a:buAutoNum type="arabicPeriod"/>
            </a:pPr>
            <a:r>
              <a:rPr lang="es-ES" sz="2800" b="1">
                <a:solidFill>
                  <a:srgbClr val="FF0000"/>
                </a:solidFill>
              </a:rPr>
              <a:t>Camionero </a:t>
            </a:r>
            <a:r>
              <a:rPr lang="es-ES" sz="2800" b="1">
                <a:solidFill>
                  <a:schemeClr val="accent1"/>
                </a:solidFill>
              </a:rPr>
              <a:t>conduce</a:t>
            </a:r>
            <a:r>
              <a:rPr lang="es-ES" sz="2800" b="1">
                <a:solidFill>
                  <a:srgbClr val="FF0000"/>
                </a:solidFill>
              </a:rPr>
              <a:t> Camión </a:t>
            </a:r>
            <a:r>
              <a:rPr lang="es-ES" sz="2800" i="1"/>
              <a:t>(N:N)</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4 CuadroTexto"/>
          <p:cNvSpPr txBox="1">
            <a:spLocks noChangeArrowheads="1"/>
          </p:cNvSpPr>
          <p:nvPr/>
        </p:nvSpPr>
        <p:spPr bwMode="auto">
          <a:xfrm>
            <a:off x="214313" y="109538"/>
            <a:ext cx="3859212" cy="461962"/>
          </a:xfrm>
          <a:prstGeom prst="rect">
            <a:avLst/>
          </a:prstGeom>
          <a:noFill/>
          <a:ln w="9525">
            <a:noFill/>
            <a:miter lim="800000"/>
            <a:headEnd/>
            <a:tailEnd/>
          </a:ln>
        </p:spPr>
        <p:txBody>
          <a:bodyPr wrap="none">
            <a:spAutoFit/>
          </a:bodyPr>
          <a:lstStyle/>
          <a:p>
            <a:pPr marL="342900" indent="-342900"/>
            <a:r>
              <a:rPr lang="es-ES" sz="2400" b="1"/>
              <a:t>Ejercicios de Modelo E-R</a:t>
            </a:r>
            <a:endParaRPr lang="es-MX" sz="2400" b="1"/>
          </a:p>
        </p:txBody>
      </p:sp>
      <p:sp>
        <p:nvSpPr>
          <p:cNvPr id="98307" name="3 CuadroTexto"/>
          <p:cNvSpPr txBox="1">
            <a:spLocks noChangeArrowheads="1"/>
          </p:cNvSpPr>
          <p:nvPr/>
        </p:nvSpPr>
        <p:spPr bwMode="auto">
          <a:xfrm>
            <a:off x="1500188" y="500063"/>
            <a:ext cx="5857875" cy="523875"/>
          </a:xfrm>
          <a:prstGeom prst="rect">
            <a:avLst/>
          </a:prstGeom>
          <a:noFill/>
          <a:ln w="9525">
            <a:noFill/>
            <a:miter lim="800000"/>
            <a:headEnd/>
            <a:tailEnd/>
          </a:ln>
        </p:spPr>
        <p:txBody>
          <a:bodyPr>
            <a:spAutoFit/>
          </a:bodyPr>
          <a:lstStyle/>
          <a:p>
            <a:pPr marL="342900" indent="-342900" algn="ctr"/>
            <a:r>
              <a:rPr lang="es-ES" sz="2800" b="1">
                <a:solidFill>
                  <a:srgbClr val="FF0000"/>
                </a:solidFill>
              </a:rPr>
              <a:t>Ejercicio 2 - Solución</a:t>
            </a:r>
          </a:p>
        </p:txBody>
      </p:sp>
      <p:sp>
        <p:nvSpPr>
          <p:cNvPr id="98308" name="5 Rectángulo"/>
          <p:cNvSpPr>
            <a:spLocks noChangeArrowheads="1"/>
          </p:cNvSpPr>
          <p:nvPr/>
        </p:nvSpPr>
        <p:spPr bwMode="auto">
          <a:xfrm>
            <a:off x="357188" y="1147763"/>
            <a:ext cx="8286750" cy="584200"/>
          </a:xfrm>
          <a:prstGeom prst="rect">
            <a:avLst/>
          </a:prstGeom>
          <a:noFill/>
          <a:ln w="9525">
            <a:noFill/>
            <a:miter lim="800000"/>
            <a:headEnd/>
            <a:tailEnd/>
          </a:ln>
        </p:spPr>
        <p:txBody>
          <a:bodyPr>
            <a:spAutoFit/>
          </a:bodyPr>
          <a:lstStyle/>
          <a:p>
            <a:pPr algn="just">
              <a:spcAft>
                <a:spcPts val="1200"/>
              </a:spcAft>
            </a:pPr>
            <a:r>
              <a:rPr lang="es-ES" sz="1600" b="1"/>
              <a:t>SE DESEA INFORMATIZAR LA GESTIÓN DE UNA EMPRESA DE TRANSPORTES QUE REPARTE PAQUETES POR TODA LA REPÚBLICA</a:t>
            </a:r>
            <a:endParaRPr lang="es-ES" sz="1600"/>
          </a:p>
        </p:txBody>
      </p:sp>
      <p:sp>
        <p:nvSpPr>
          <p:cNvPr id="98309" name="5 CuadroTexto"/>
          <p:cNvSpPr txBox="1">
            <a:spLocks noChangeArrowheads="1"/>
          </p:cNvSpPr>
          <p:nvPr/>
        </p:nvSpPr>
        <p:spPr bwMode="auto">
          <a:xfrm>
            <a:off x="71438" y="2138363"/>
            <a:ext cx="8929687" cy="523875"/>
          </a:xfrm>
          <a:prstGeom prst="rect">
            <a:avLst/>
          </a:prstGeom>
          <a:noFill/>
          <a:ln w="9525">
            <a:noFill/>
            <a:miter lim="800000"/>
            <a:headEnd/>
            <a:tailEnd/>
          </a:ln>
        </p:spPr>
        <p:txBody>
          <a:bodyPr>
            <a:spAutoFit/>
          </a:bodyPr>
          <a:lstStyle/>
          <a:p>
            <a:pPr marL="457200" indent="-457200"/>
            <a:r>
              <a:rPr lang="es-ES" sz="2800" b="1"/>
              <a:t>Diagrama:</a:t>
            </a:r>
            <a:endParaRPr lang="es-MX" sz="2800" i="1"/>
          </a:p>
        </p:txBody>
      </p:sp>
      <p:pic>
        <p:nvPicPr>
          <p:cNvPr id="98310" name="Picture 4"/>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881188" y="1785938"/>
            <a:ext cx="7191375" cy="4600575"/>
          </a:xfrm>
          <a:prstGeom prst="rect">
            <a:avLst/>
          </a:prstGeom>
          <a:noFill/>
          <a:ln w="9525">
            <a:noFill/>
            <a:miter lim="800000"/>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4 CuadroTexto"/>
          <p:cNvSpPr txBox="1">
            <a:spLocks noChangeArrowheads="1"/>
          </p:cNvSpPr>
          <p:nvPr/>
        </p:nvSpPr>
        <p:spPr bwMode="auto">
          <a:xfrm>
            <a:off x="214313" y="109538"/>
            <a:ext cx="3859212" cy="461962"/>
          </a:xfrm>
          <a:prstGeom prst="rect">
            <a:avLst/>
          </a:prstGeom>
          <a:noFill/>
          <a:ln w="9525">
            <a:noFill/>
            <a:miter lim="800000"/>
            <a:headEnd/>
            <a:tailEnd/>
          </a:ln>
        </p:spPr>
        <p:txBody>
          <a:bodyPr wrap="none">
            <a:spAutoFit/>
          </a:bodyPr>
          <a:lstStyle/>
          <a:p>
            <a:pPr marL="342900" indent="-342900"/>
            <a:r>
              <a:rPr lang="es-ES" sz="2400" b="1"/>
              <a:t>Ejercicios de Modelo E-R</a:t>
            </a:r>
            <a:endParaRPr lang="es-MX" sz="2400" b="1"/>
          </a:p>
        </p:txBody>
      </p:sp>
      <p:sp>
        <p:nvSpPr>
          <p:cNvPr id="3" name="2 Rectángulo"/>
          <p:cNvSpPr/>
          <p:nvPr/>
        </p:nvSpPr>
        <p:spPr>
          <a:xfrm>
            <a:off x="928688" y="1874838"/>
            <a:ext cx="8143875" cy="4340225"/>
          </a:xfrm>
          <a:prstGeom prst="rect">
            <a:avLst/>
          </a:prstGeom>
        </p:spPr>
        <p:txBody>
          <a:bodyPr>
            <a:spAutoFit/>
          </a:bodyPr>
          <a:lstStyle/>
          <a:p>
            <a:pPr algn="just">
              <a:defRPr/>
            </a:pPr>
            <a:r>
              <a:rPr lang="es-ES" sz="1600" b="1" dirty="0"/>
              <a:t>EN LA BIBLIOTECA DEL CENTRO SE MANEJAN FICHAS DE AUTORES Y LIBROS. </a:t>
            </a:r>
          </a:p>
          <a:p>
            <a:pPr algn="just">
              <a:defRPr/>
            </a:pPr>
            <a:endParaRPr lang="es-ES" sz="1600" dirty="0"/>
          </a:p>
          <a:p>
            <a:pPr marL="360000" indent="-360000" algn="just">
              <a:spcAft>
                <a:spcPts val="1200"/>
              </a:spcAft>
              <a:buFont typeface="Arial" pitchFamily="34" charset="0"/>
              <a:buChar char="•"/>
              <a:defRPr/>
            </a:pPr>
            <a:r>
              <a:rPr lang="es-ES" sz="1400" dirty="0"/>
              <a:t>Para cada autor se tiene el código de autor y el nombre. </a:t>
            </a:r>
          </a:p>
          <a:p>
            <a:pPr marL="360000" indent="-360000" algn="just">
              <a:spcAft>
                <a:spcPts val="1200"/>
              </a:spcAft>
              <a:buFont typeface="Arial" pitchFamily="34" charset="0"/>
              <a:buChar char="•"/>
              <a:defRPr/>
            </a:pPr>
            <a:r>
              <a:rPr lang="es-ES" sz="1400" dirty="0"/>
              <a:t>De cada libro se guarda el código, título, ISBN, editorial y número de página. </a:t>
            </a:r>
          </a:p>
          <a:p>
            <a:pPr marL="360000" indent="-360000" algn="just">
              <a:spcAft>
                <a:spcPts val="1200"/>
              </a:spcAft>
              <a:buFont typeface="Arial" pitchFamily="34" charset="0"/>
              <a:buChar char="•"/>
              <a:defRPr/>
            </a:pPr>
            <a:r>
              <a:rPr lang="es-ES" sz="1400" dirty="0"/>
              <a:t>Un autor puede escribir varios libros, y un libro puede ser escrito por varios autores. </a:t>
            </a:r>
          </a:p>
          <a:p>
            <a:pPr marL="360000" indent="-360000" algn="just">
              <a:spcAft>
                <a:spcPts val="1200"/>
              </a:spcAft>
              <a:buFont typeface="Arial" pitchFamily="34" charset="0"/>
              <a:buChar char="•"/>
              <a:defRPr/>
            </a:pPr>
            <a:r>
              <a:rPr lang="es-ES" sz="1400" dirty="0"/>
              <a:t>Un libro está formado por ejemplares. </a:t>
            </a:r>
          </a:p>
          <a:p>
            <a:pPr marL="360000" indent="-360000" algn="just">
              <a:spcAft>
                <a:spcPts val="1200"/>
              </a:spcAft>
              <a:buFont typeface="Arial" pitchFamily="34" charset="0"/>
              <a:buChar char="•"/>
              <a:defRPr/>
            </a:pPr>
            <a:r>
              <a:rPr lang="es-ES" sz="1400" dirty="0"/>
              <a:t>Cada ejemplar tiene un código y una localización. </a:t>
            </a:r>
          </a:p>
          <a:p>
            <a:pPr marL="360000" indent="-360000" algn="just">
              <a:spcAft>
                <a:spcPts val="1200"/>
              </a:spcAft>
              <a:buFont typeface="Arial" pitchFamily="34" charset="0"/>
              <a:buChar char="•"/>
              <a:defRPr/>
            </a:pPr>
            <a:r>
              <a:rPr lang="es-ES" sz="1400" dirty="0"/>
              <a:t>Un libro tiene muchos ejemplares y un ejemplar pertenece sólo a un libro.</a:t>
            </a:r>
          </a:p>
          <a:p>
            <a:pPr marL="360000" indent="-360000" algn="just">
              <a:spcAft>
                <a:spcPts val="1200"/>
              </a:spcAft>
              <a:buFont typeface="Arial" pitchFamily="34" charset="0"/>
              <a:buChar char="•"/>
              <a:defRPr/>
            </a:pPr>
            <a:r>
              <a:rPr lang="es-ES" sz="1400" dirty="0"/>
              <a:t>De cada usuario se guarda el código, nombre, dirección y teléfono. </a:t>
            </a:r>
          </a:p>
          <a:p>
            <a:pPr marL="360000" indent="-360000" algn="just">
              <a:spcAft>
                <a:spcPts val="1200"/>
              </a:spcAft>
              <a:buFont typeface="Arial" pitchFamily="34" charset="0"/>
              <a:buChar char="•"/>
              <a:defRPr/>
            </a:pPr>
            <a:r>
              <a:rPr lang="es-ES" sz="1400" dirty="0"/>
              <a:t>Los ejemplares son prestados a los usuarios. </a:t>
            </a:r>
          </a:p>
          <a:p>
            <a:pPr marL="360000" indent="-360000" algn="just">
              <a:spcAft>
                <a:spcPts val="1200"/>
              </a:spcAft>
              <a:buFont typeface="Arial" pitchFamily="34" charset="0"/>
              <a:buChar char="•"/>
              <a:defRPr/>
            </a:pPr>
            <a:r>
              <a:rPr lang="es-ES" sz="1400" dirty="0"/>
              <a:t>Un usuario puede tomar prestados varios ejemplares, y un ejemplar puede ser prestado a varios usuarios. </a:t>
            </a:r>
          </a:p>
          <a:p>
            <a:pPr marL="360000" indent="-360000" algn="just">
              <a:spcAft>
                <a:spcPts val="1200"/>
              </a:spcAft>
              <a:buFont typeface="Arial" pitchFamily="34" charset="0"/>
              <a:buChar char="•"/>
              <a:defRPr/>
            </a:pPr>
            <a:r>
              <a:rPr lang="es-ES" sz="1400" dirty="0"/>
              <a:t>De cada préstamos interesa guardar la fecha de préstamo y la fecha de devolución.</a:t>
            </a:r>
          </a:p>
        </p:txBody>
      </p:sp>
      <p:sp>
        <p:nvSpPr>
          <p:cNvPr id="99332" name="4 CuadroTexto"/>
          <p:cNvSpPr txBox="1">
            <a:spLocks noChangeArrowheads="1"/>
          </p:cNvSpPr>
          <p:nvPr/>
        </p:nvSpPr>
        <p:spPr bwMode="auto">
          <a:xfrm>
            <a:off x="1500188" y="500063"/>
            <a:ext cx="5857875" cy="523875"/>
          </a:xfrm>
          <a:prstGeom prst="rect">
            <a:avLst/>
          </a:prstGeom>
          <a:noFill/>
          <a:ln w="9525">
            <a:noFill/>
            <a:miter lim="800000"/>
            <a:headEnd/>
            <a:tailEnd/>
          </a:ln>
        </p:spPr>
        <p:txBody>
          <a:bodyPr>
            <a:spAutoFit/>
          </a:bodyPr>
          <a:lstStyle/>
          <a:p>
            <a:pPr marL="342900" indent="-342900" algn="ctr"/>
            <a:r>
              <a:rPr lang="es-ES" sz="2800" b="1">
                <a:solidFill>
                  <a:srgbClr val="FF0000"/>
                </a:solidFill>
              </a:rPr>
              <a:t>Ejercicio 3 - Participación</a:t>
            </a:r>
          </a:p>
        </p:txBody>
      </p:sp>
      <p:sp>
        <p:nvSpPr>
          <p:cNvPr id="99333" name="4 CuadroTexto"/>
          <p:cNvSpPr txBox="1">
            <a:spLocks noChangeArrowheads="1"/>
          </p:cNvSpPr>
          <p:nvPr/>
        </p:nvSpPr>
        <p:spPr bwMode="auto">
          <a:xfrm>
            <a:off x="214313" y="1143000"/>
            <a:ext cx="8715375" cy="830263"/>
          </a:xfrm>
          <a:prstGeom prst="rect">
            <a:avLst/>
          </a:prstGeom>
          <a:noFill/>
          <a:ln w="9525">
            <a:noFill/>
            <a:miter lim="800000"/>
            <a:headEnd/>
            <a:tailEnd/>
          </a:ln>
        </p:spPr>
        <p:txBody>
          <a:bodyPr>
            <a:spAutoFit/>
          </a:bodyPr>
          <a:lstStyle/>
          <a:p>
            <a:r>
              <a:rPr lang="es-ES" sz="1600"/>
              <a:t>La solución al ejercicio se desarrollará el fin de semana y se enviará por mail el </a:t>
            </a:r>
            <a:r>
              <a:rPr lang="es-ES" sz="1600" b="1">
                <a:solidFill>
                  <a:srgbClr val="FF0000"/>
                </a:solidFill>
              </a:rPr>
              <a:t>Lunes 1 de junio entre 10:00 y 12:00 hrs. </a:t>
            </a:r>
            <a:r>
              <a:rPr lang="es-ES" sz="1600" b="1">
                <a:solidFill>
                  <a:schemeClr val="accent1"/>
                </a:solidFill>
              </a:rPr>
              <a:t>POR EQUIPO. </a:t>
            </a:r>
            <a:r>
              <a:rPr lang="es-ES" sz="1600" b="1">
                <a:solidFill>
                  <a:srgbClr val="00B050"/>
                </a:solidFill>
              </a:rPr>
              <a:t>Sólo contarán los enviados en esa fecha y hora</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1 CuadroTexto"/>
          <p:cNvSpPr txBox="1">
            <a:spLocks noChangeArrowheads="1"/>
          </p:cNvSpPr>
          <p:nvPr/>
        </p:nvSpPr>
        <p:spPr bwMode="auto">
          <a:xfrm>
            <a:off x="571500" y="1285875"/>
            <a:ext cx="8143875" cy="4708525"/>
          </a:xfrm>
          <a:prstGeom prst="rect">
            <a:avLst/>
          </a:prstGeom>
          <a:noFill/>
          <a:ln w="9525">
            <a:noFill/>
            <a:miter lim="800000"/>
            <a:headEnd/>
            <a:tailEnd/>
          </a:ln>
        </p:spPr>
        <p:txBody>
          <a:bodyPr>
            <a:spAutoFit/>
          </a:bodyPr>
          <a:lstStyle/>
          <a:p>
            <a:pPr marL="358775" indent="-358775" algn="just">
              <a:spcAft>
                <a:spcPts val="1200"/>
              </a:spcAft>
              <a:buFont typeface="Arial" charset="0"/>
              <a:buChar char="•"/>
            </a:pPr>
            <a:r>
              <a:rPr lang="es-ES" dirty="0"/>
              <a:t>El día </a:t>
            </a:r>
            <a:r>
              <a:rPr lang="es-ES" b="1" dirty="0">
                <a:solidFill>
                  <a:srgbClr val="FF0000"/>
                </a:solidFill>
              </a:rPr>
              <a:t>Lunes</a:t>
            </a:r>
            <a:r>
              <a:rPr lang="es-ES" dirty="0"/>
              <a:t>, trabajar </a:t>
            </a:r>
            <a:r>
              <a:rPr lang="es-ES" b="1" dirty="0"/>
              <a:t>POR EQUIPO </a:t>
            </a:r>
            <a:r>
              <a:rPr lang="es-ES" dirty="0"/>
              <a:t>desarrollando  un glosario de términos y definiciones de lo que se ha visto hasta hoy de la Unidad II.</a:t>
            </a:r>
          </a:p>
          <a:p>
            <a:pPr marL="358775" indent="-358775" algn="just">
              <a:spcAft>
                <a:spcPts val="1200"/>
              </a:spcAft>
              <a:buFont typeface="Arial" charset="0"/>
              <a:buChar char="•"/>
            </a:pPr>
            <a:r>
              <a:rPr lang="es-ES" dirty="0"/>
              <a:t>Enviarlo en PDF por mail el </a:t>
            </a:r>
            <a:r>
              <a:rPr lang="es-ES" b="1" dirty="0">
                <a:solidFill>
                  <a:srgbClr val="FF0000"/>
                </a:solidFill>
              </a:rPr>
              <a:t>Lunes 01 de junio de 2009 antes de las 12:00 hrs</a:t>
            </a:r>
            <a:r>
              <a:rPr lang="es-ES" dirty="0"/>
              <a:t>. </a:t>
            </a:r>
            <a:r>
              <a:rPr lang="es-ES" b="1" dirty="0"/>
              <a:t>RECUERDEN QUE CUENTA TAMBIEN LA PRESENTACIÓN Y LA ESTRUCTURA DEL DOCUMENTO. </a:t>
            </a:r>
            <a:r>
              <a:rPr lang="es-ES" b="1" dirty="0">
                <a:solidFill>
                  <a:srgbClr val="00B050"/>
                </a:solidFill>
              </a:rPr>
              <a:t>Sólo contarán los enviados en esa fecha y hora.</a:t>
            </a:r>
            <a:endParaRPr lang="es-ES" dirty="0"/>
          </a:p>
          <a:p>
            <a:pPr marL="358775" indent="-358775" algn="just">
              <a:spcAft>
                <a:spcPts val="1200"/>
              </a:spcAft>
              <a:buFont typeface="Arial" charset="0"/>
              <a:buChar char="•"/>
            </a:pPr>
            <a:r>
              <a:rPr lang="es-ES" dirty="0"/>
              <a:t>Estudiar el glosario por que el día </a:t>
            </a:r>
            <a:r>
              <a:rPr lang="es-ES" b="1" dirty="0">
                <a:solidFill>
                  <a:srgbClr val="FF0000"/>
                </a:solidFill>
              </a:rPr>
              <a:t>Viernes 05 de junio de 2009</a:t>
            </a:r>
            <a:r>
              <a:rPr lang="es-ES" dirty="0"/>
              <a:t>, se entregará impreso para </a:t>
            </a:r>
            <a:r>
              <a:rPr lang="es-ES" b="1" dirty="0">
                <a:solidFill>
                  <a:schemeClr val="accent1"/>
                </a:solidFill>
              </a:rPr>
              <a:t>EXAMEN</a:t>
            </a:r>
            <a:r>
              <a:rPr lang="es-ES" dirty="0"/>
              <a:t>. </a:t>
            </a:r>
            <a:r>
              <a:rPr lang="es-ES" b="1" dirty="0">
                <a:solidFill>
                  <a:srgbClr val="00B050"/>
                </a:solidFill>
              </a:rPr>
              <a:t>Si no se recibió en la fecha y hora antes mencionada, no podrán presentar examen</a:t>
            </a:r>
            <a:r>
              <a:rPr lang="es-ES" dirty="0"/>
              <a:t>.</a:t>
            </a:r>
          </a:p>
          <a:p>
            <a:pPr marL="358775" indent="-358775" algn="just">
              <a:spcAft>
                <a:spcPts val="1200"/>
              </a:spcAft>
              <a:buFont typeface="Arial" charset="0"/>
              <a:buChar char="•"/>
            </a:pPr>
            <a:r>
              <a:rPr lang="es-ES" dirty="0"/>
              <a:t>El día </a:t>
            </a:r>
            <a:r>
              <a:rPr lang="es-ES" b="1" dirty="0">
                <a:solidFill>
                  <a:srgbClr val="FF0000"/>
                </a:solidFill>
              </a:rPr>
              <a:t>Martes 2 de junio</a:t>
            </a:r>
            <a:r>
              <a:rPr lang="es-ES" dirty="0"/>
              <a:t>, resolver el ejercicio 4 </a:t>
            </a:r>
            <a:r>
              <a:rPr lang="es-ES" b="1" dirty="0"/>
              <a:t>POR EQUIPO </a:t>
            </a:r>
            <a:r>
              <a:rPr lang="es-ES" dirty="0"/>
              <a:t>y enviarlo por mail el mismo día </a:t>
            </a:r>
            <a:r>
              <a:rPr lang="es-ES" b="1" dirty="0">
                <a:solidFill>
                  <a:srgbClr val="FF0000"/>
                </a:solidFill>
              </a:rPr>
              <a:t>antes de las 12:00 hrs</a:t>
            </a:r>
            <a:r>
              <a:rPr lang="es-ES" dirty="0"/>
              <a:t>. </a:t>
            </a:r>
            <a:r>
              <a:rPr lang="es-ES" b="1" dirty="0">
                <a:solidFill>
                  <a:srgbClr val="00B050"/>
                </a:solidFill>
              </a:rPr>
              <a:t>Este ejercicio se resolverá el Viernes después del examen con la participación de todos, la participación contará por el envío de la solución como equipo y de manera individual por quien participe en clase en la construcción del modelo E-R.</a:t>
            </a:r>
            <a:endParaRPr lang="es-ES" dirty="0"/>
          </a:p>
        </p:txBody>
      </p:sp>
      <p:sp>
        <p:nvSpPr>
          <p:cNvPr id="100355" name="4 CuadroTexto"/>
          <p:cNvSpPr txBox="1">
            <a:spLocks noChangeArrowheads="1"/>
          </p:cNvSpPr>
          <p:nvPr/>
        </p:nvSpPr>
        <p:spPr bwMode="auto">
          <a:xfrm>
            <a:off x="1143000" y="500063"/>
            <a:ext cx="7143750" cy="523875"/>
          </a:xfrm>
          <a:prstGeom prst="rect">
            <a:avLst/>
          </a:prstGeom>
          <a:noFill/>
          <a:ln w="9525">
            <a:noFill/>
            <a:miter lim="800000"/>
            <a:headEnd/>
            <a:tailEnd/>
          </a:ln>
        </p:spPr>
        <p:txBody>
          <a:bodyPr>
            <a:spAutoFit/>
          </a:bodyPr>
          <a:lstStyle/>
          <a:p>
            <a:pPr marL="342900" indent="-342900" algn="ctr"/>
            <a:r>
              <a:rPr lang="es-ES" sz="2800" b="1" dirty="0">
                <a:solidFill>
                  <a:srgbClr val="FF0000"/>
                </a:solidFill>
              </a:rPr>
              <a:t>Trabajo</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4 CuadroTexto"/>
          <p:cNvSpPr txBox="1">
            <a:spLocks noChangeArrowheads="1"/>
          </p:cNvSpPr>
          <p:nvPr/>
        </p:nvSpPr>
        <p:spPr bwMode="auto">
          <a:xfrm>
            <a:off x="214313" y="109538"/>
            <a:ext cx="3859212" cy="461962"/>
          </a:xfrm>
          <a:prstGeom prst="rect">
            <a:avLst/>
          </a:prstGeom>
          <a:noFill/>
          <a:ln w="9525">
            <a:noFill/>
            <a:miter lim="800000"/>
            <a:headEnd/>
            <a:tailEnd/>
          </a:ln>
        </p:spPr>
        <p:txBody>
          <a:bodyPr wrap="none">
            <a:spAutoFit/>
          </a:bodyPr>
          <a:lstStyle/>
          <a:p>
            <a:pPr marL="342900" indent="-342900"/>
            <a:r>
              <a:rPr lang="es-ES" sz="2400" b="1"/>
              <a:t>Ejercicios de Modelo E-R</a:t>
            </a:r>
            <a:endParaRPr lang="es-MX" sz="2400" b="1"/>
          </a:p>
        </p:txBody>
      </p:sp>
      <p:sp>
        <p:nvSpPr>
          <p:cNvPr id="101379" name="4 CuadroTexto"/>
          <p:cNvSpPr txBox="1">
            <a:spLocks noChangeArrowheads="1"/>
          </p:cNvSpPr>
          <p:nvPr/>
        </p:nvSpPr>
        <p:spPr bwMode="auto">
          <a:xfrm>
            <a:off x="1500188" y="500063"/>
            <a:ext cx="5857875" cy="523875"/>
          </a:xfrm>
          <a:prstGeom prst="rect">
            <a:avLst/>
          </a:prstGeom>
          <a:noFill/>
          <a:ln w="9525">
            <a:noFill/>
            <a:miter lim="800000"/>
            <a:headEnd/>
            <a:tailEnd/>
          </a:ln>
        </p:spPr>
        <p:txBody>
          <a:bodyPr>
            <a:spAutoFit/>
          </a:bodyPr>
          <a:lstStyle/>
          <a:p>
            <a:pPr marL="342900" indent="-342900" algn="ctr"/>
            <a:r>
              <a:rPr lang="es-ES" sz="2800" b="1">
                <a:solidFill>
                  <a:srgbClr val="FF0000"/>
                </a:solidFill>
              </a:rPr>
              <a:t>Ejercicio 4 - Participación</a:t>
            </a:r>
          </a:p>
        </p:txBody>
      </p:sp>
      <p:sp>
        <p:nvSpPr>
          <p:cNvPr id="101380" name="3 Rectángulo"/>
          <p:cNvSpPr>
            <a:spLocks noChangeArrowheads="1"/>
          </p:cNvSpPr>
          <p:nvPr/>
        </p:nvSpPr>
        <p:spPr bwMode="auto">
          <a:xfrm>
            <a:off x="428625" y="1071563"/>
            <a:ext cx="8215313" cy="5370512"/>
          </a:xfrm>
          <a:prstGeom prst="rect">
            <a:avLst/>
          </a:prstGeom>
          <a:noFill/>
          <a:ln w="9525">
            <a:noFill/>
            <a:miter lim="800000"/>
            <a:headEnd/>
            <a:tailEnd/>
          </a:ln>
        </p:spPr>
        <p:txBody>
          <a:bodyPr>
            <a:spAutoFit/>
          </a:bodyPr>
          <a:lstStyle/>
          <a:p>
            <a:pPr algn="ctr"/>
            <a:r>
              <a:rPr lang="es-ES" sz="1400" b="1"/>
              <a:t>UNA LIGA DE FÚTBOL PROFESIONAL, HA DECIDIDO INFORMATIZAR SUS INSTALACIONES CREANDO UNA BASE DE DATOS PARA GUARDAR LA INFORMACIÓN DE LOS PARTIDOS QUE SE JUEGAN EN LA LIGA.</a:t>
            </a:r>
          </a:p>
          <a:p>
            <a:endParaRPr lang="es-ES" sz="1400"/>
          </a:p>
          <a:p>
            <a:pPr marL="815975" lvl="1" indent="-358775" algn="just">
              <a:spcAft>
                <a:spcPts val="1200"/>
              </a:spcAft>
              <a:buFont typeface="Arial" charset="0"/>
              <a:buChar char="•"/>
            </a:pPr>
            <a:r>
              <a:rPr lang="es-ES" sz="1100"/>
              <a:t>De cada jugador se quiere guardar el nombre, fecha de nacimiento y posición en la que juega (portero, defensa, centrocampista, etc). </a:t>
            </a:r>
          </a:p>
          <a:p>
            <a:pPr marL="815975" lvl="1" indent="-358775" algn="just">
              <a:spcAft>
                <a:spcPts val="1200"/>
              </a:spcAft>
              <a:buFont typeface="Arial" charset="0"/>
              <a:buChar char="•"/>
            </a:pPr>
            <a:r>
              <a:rPr lang="es-ES" sz="1100"/>
              <a:t>Cada jugador tiene un código de jugador que lo identifica de manera única.</a:t>
            </a:r>
          </a:p>
          <a:p>
            <a:pPr marL="815975" lvl="1" indent="-358775" algn="just">
              <a:spcAft>
                <a:spcPts val="1200"/>
              </a:spcAft>
              <a:buFont typeface="Arial" charset="0"/>
              <a:buChar char="•"/>
            </a:pPr>
            <a:r>
              <a:rPr lang="es-ES" sz="1100"/>
              <a:t>De cada uno de los equipos de la liga es necesario registrar el nombre del equipo, nombre del estadio en el que juega, el año de fundación del equipo y la ciudad de la que es el equipo. </a:t>
            </a:r>
          </a:p>
          <a:p>
            <a:pPr marL="815975" lvl="1" indent="-358775" algn="just">
              <a:spcAft>
                <a:spcPts val="1200"/>
              </a:spcAft>
              <a:buFont typeface="Arial" charset="0"/>
              <a:buChar char="•"/>
            </a:pPr>
            <a:r>
              <a:rPr lang="es-ES" sz="1100"/>
              <a:t>Cada equipo también tiene un código que lo identifica de manera única. </a:t>
            </a:r>
          </a:p>
          <a:p>
            <a:pPr marL="815975" lvl="1" indent="-358775" algn="just">
              <a:spcAft>
                <a:spcPts val="1200"/>
              </a:spcAft>
              <a:buFont typeface="Arial" charset="0"/>
              <a:buChar char="•"/>
            </a:pPr>
            <a:r>
              <a:rPr lang="es-ES" sz="1100"/>
              <a:t>Un jugador solo puede pertenecer a un único equipo.</a:t>
            </a:r>
          </a:p>
          <a:p>
            <a:pPr marL="815975" lvl="1" indent="-358775" algn="just">
              <a:spcAft>
                <a:spcPts val="1200"/>
              </a:spcAft>
              <a:buFont typeface="Arial" charset="0"/>
              <a:buChar char="•"/>
            </a:pPr>
            <a:r>
              <a:rPr lang="es-ES" sz="1100"/>
              <a:t>De cada partido que los equipos de la liga juegan hay que registrar la fecha en la que se juega el partido, los goles que ha metido el equipo de casa y los goles que ha metido el equipo de fuera.</a:t>
            </a:r>
          </a:p>
          <a:p>
            <a:pPr marL="815975" lvl="1" indent="-358775" algn="just">
              <a:spcAft>
                <a:spcPts val="1200"/>
              </a:spcAft>
              <a:buFont typeface="Arial" charset="0"/>
              <a:buChar char="•"/>
            </a:pPr>
            <a:r>
              <a:rPr lang="es-ES" sz="1100"/>
              <a:t>Cada partido tendrá un código numérico para identificar el partido.</a:t>
            </a:r>
          </a:p>
          <a:p>
            <a:pPr marL="815975" lvl="1" indent="-358775" algn="just">
              <a:spcAft>
                <a:spcPts val="1200"/>
              </a:spcAft>
              <a:buFont typeface="Arial" charset="0"/>
              <a:buChar char="•"/>
            </a:pPr>
            <a:r>
              <a:rPr lang="es-ES" sz="1100"/>
              <a:t>También se quiere llevar un recuento de los goles que hay en cada partido y de cada gol, se quiere almacenar el minuto en el que se realizar el gol y la descripción del gol. </a:t>
            </a:r>
          </a:p>
          <a:p>
            <a:pPr marL="815975" lvl="1" indent="-358775" algn="just">
              <a:spcAft>
                <a:spcPts val="1200"/>
              </a:spcAft>
              <a:buFont typeface="Arial" charset="0"/>
              <a:buChar char="•"/>
            </a:pPr>
            <a:r>
              <a:rPr lang="es-ES" sz="1100"/>
              <a:t>Un partido tiene varios goles y un jugador puede meter varios goles en un partido.</a:t>
            </a:r>
          </a:p>
          <a:p>
            <a:pPr marL="815975" lvl="1" indent="-358775" algn="just">
              <a:spcAft>
                <a:spcPts val="1200"/>
              </a:spcAft>
              <a:buFont typeface="Arial" charset="0"/>
              <a:buChar char="•"/>
            </a:pPr>
            <a:r>
              <a:rPr lang="es-ES" sz="1100"/>
              <a:t>Por último se quiere almacenar, en la base de datos, los datos de los presidentes de los equipos de fútbol (CURP, nombre, fecha de nacimiento, equipo del que es presidente y año en el que fue elegido presidente). </a:t>
            </a:r>
          </a:p>
          <a:p>
            <a:pPr marL="815975" lvl="1" indent="-358775" algn="just">
              <a:spcAft>
                <a:spcPts val="1200"/>
              </a:spcAft>
              <a:buFont typeface="Arial" charset="0"/>
              <a:buChar char="•"/>
            </a:pPr>
            <a:r>
              <a:rPr lang="es-ES" sz="1100"/>
              <a:t>Un equipo de fútbol tan sólo puede tener un presidente, y una persona sólo puede ser presidente de un equipo de la liga.</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00355" name="4 CuadroTexto"/>
          <p:cNvSpPr txBox="1">
            <a:spLocks noChangeArrowheads="1"/>
          </p:cNvSpPr>
          <p:nvPr/>
        </p:nvSpPr>
        <p:spPr bwMode="auto">
          <a:xfrm>
            <a:off x="714375" y="1920875"/>
            <a:ext cx="7786688" cy="2794000"/>
          </a:xfrm>
          <a:prstGeom prst="rect">
            <a:avLst/>
          </a:prstGeom>
          <a:noFill/>
          <a:ln w="9525">
            <a:noFill/>
            <a:miter lim="800000"/>
            <a:headEnd/>
            <a:tailEnd/>
          </a:ln>
        </p:spPr>
        <p:txBody>
          <a:bodyPr>
            <a:spAutoFit/>
          </a:bodyPr>
          <a:lstStyle/>
          <a:p>
            <a:pPr algn="just">
              <a:lnSpc>
                <a:spcPct val="150000"/>
              </a:lnSpc>
              <a:defRPr/>
            </a:pPr>
            <a:r>
              <a:rPr lang="es-ES" sz="2400" dirty="0"/>
              <a:t>El Modelo </a:t>
            </a:r>
            <a:r>
              <a:rPr lang="es-ES" sz="2400" b="1" dirty="0">
                <a:solidFill>
                  <a:schemeClr val="accent6">
                    <a:lumMod val="75000"/>
                  </a:schemeClr>
                </a:solidFill>
              </a:rPr>
              <a:t>Entidad-Relación Extendido </a:t>
            </a:r>
            <a:r>
              <a:rPr lang="es-ES" sz="2400" dirty="0"/>
              <a:t>incluye todos los conceptos del Entidad-Relación e incorpora otros nuevos. Habrá que tener en cuenta que no existe una terminología estandarizada para estos conceptos, por lo que usaremos la mas difundida.</a:t>
            </a:r>
            <a:endParaRPr lang="es-ES" sz="2400" b="1" dirty="0">
              <a:solidFill>
                <a:srgbClr val="FF0000"/>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4 Rectángulo"/>
          <p:cNvSpPr>
            <a:spLocks noChangeArrowheads="1"/>
          </p:cNvSpPr>
          <p:nvPr/>
        </p:nvSpPr>
        <p:spPr bwMode="auto">
          <a:xfrm>
            <a:off x="2500313" y="2286000"/>
            <a:ext cx="4143375" cy="2678113"/>
          </a:xfrm>
          <a:prstGeom prst="rect">
            <a:avLst/>
          </a:prstGeom>
          <a:noFill/>
          <a:ln w="9525">
            <a:noFill/>
            <a:miter lim="800000"/>
            <a:headEnd/>
            <a:tailEnd/>
          </a:ln>
        </p:spPr>
        <p:txBody>
          <a:bodyPr>
            <a:spAutoFit/>
          </a:bodyPr>
          <a:lstStyle/>
          <a:p>
            <a:pPr indent="457200" algn="just">
              <a:buFont typeface="Arial" charset="0"/>
              <a:buChar char="•"/>
            </a:pPr>
            <a:r>
              <a:rPr lang="es-ES" sz="2800"/>
              <a:t>Subclase</a:t>
            </a:r>
          </a:p>
          <a:p>
            <a:pPr indent="457200" algn="just">
              <a:buFont typeface="Arial" charset="0"/>
              <a:buChar char="•"/>
            </a:pPr>
            <a:r>
              <a:rPr lang="es-ES" sz="2800"/>
              <a:t>Superclase</a:t>
            </a:r>
          </a:p>
          <a:p>
            <a:pPr indent="457200" algn="just">
              <a:buFont typeface="Arial" charset="0"/>
              <a:buChar char="•"/>
            </a:pPr>
            <a:r>
              <a:rPr lang="es-ES" sz="2800"/>
              <a:t>Herencia</a:t>
            </a:r>
          </a:p>
          <a:p>
            <a:pPr indent="457200" algn="just">
              <a:buFont typeface="Arial" charset="0"/>
              <a:buChar char="•"/>
            </a:pPr>
            <a:r>
              <a:rPr lang="es-ES" sz="2800"/>
              <a:t>Especialización</a:t>
            </a:r>
          </a:p>
          <a:p>
            <a:pPr indent="457200" algn="just">
              <a:buFont typeface="Arial" charset="0"/>
              <a:buChar char="•"/>
            </a:pPr>
            <a:r>
              <a:rPr lang="es-ES" sz="2800"/>
              <a:t>Generalización</a:t>
            </a:r>
          </a:p>
          <a:p>
            <a:pPr indent="457200" algn="just">
              <a:buFont typeface="Arial" charset="0"/>
              <a:buChar char="•"/>
            </a:pPr>
            <a:r>
              <a:rPr lang="es-ES" sz="2800"/>
              <a:t>Categoría</a:t>
            </a:r>
          </a:p>
        </p:txBody>
      </p:sp>
      <p:sp>
        <p:nvSpPr>
          <p:cNvPr id="103427"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03428" name="4 CuadroTexto"/>
          <p:cNvSpPr txBox="1">
            <a:spLocks noChangeArrowheads="1"/>
          </p:cNvSpPr>
          <p:nvPr/>
        </p:nvSpPr>
        <p:spPr bwMode="auto">
          <a:xfrm>
            <a:off x="1857375" y="1143000"/>
            <a:ext cx="5100638" cy="523875"/>
          </a:xfrm>
          <a:prstGeom prst="rect">
            <a:avLst/>
          </a:prstGeom>
          <a:noFill/>
          <a:ln w="9525">
            <a:noFill/>
            <a:miter lim="800000"/>
            <a:headEnd/>
            <a:tailEnd/>
          </a:ln>
        </p:spPr>
        <p:txBody>
          <a:bodyPr wrap="none">
            <a:spAutoFit/>
          </a:bodyPr>
          <a:lstStyle/>
          <a:p>
            <a:pPr marL="342900" indent="-342900"/>
            <a:r>
              <a:rPr lang="es-ES" sz="2800" b="1"/>
              <a:t>Incorpora nuevos conceptos</a:t>
            </a:r>
            <a:endParaRPr lang="es-MX" sz="2800" b="1"/>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1 Rectángulo"/>
          <p:cNvSpPr>
            <a:spLocks noChangeArrowheads="1"/>
          </p:cNvSpPr>
          <p:nvPr/>
        </p:nvSpPr>
        <p:spPr bwMode="auto">
          <a:xfrm>
            <a:off x="1214438" y="1928813"/>
            <a:ext cx="6929437" cy="3902075"/>
          </a:xfrm>
          <a:prstGeom prst="rect">
            <a:avLst/>
          </a:prstGeom>
          <a:noFill/>
          <a:ln w="9525">
            <a:noFill/>
            <a:miter lim="800000"/>
            <a:headEnd/>
            <a:tailEnd/>
          </a:ln>
        </p:spPr>
        <p:txBody>
          <a:bodyPr>
            <a:spAutoFit/>
          </a:bodyPr>
          <a:lstStyle/>
          <a:p>
            <a:pPr algn="just">
              <a:lnSpc>
                <a:spcPct val="150000"/>
              </a:lnSpc>
            </a:pPr>
            <a:r>
              <a:rPr lang="es-ES" sz="2400"/>
              <a:t>En el modelo Entidad-Relación, una entidad agrupa un conjunto de ocurrencias de entidad del mismo tipo. En muchos casos, estas ocurrencias se pueden agrupar a su vez en otros subconjuntos que tienen un significado propio para los propósitos de la Base de Datos y, por tanto, deberían representarse de forma explícita.</a:t>
            </a:r>
          </a:p>
        </p:txBody>
      </p:sp>
      <p:sp>
        <p:nvSpPr>
          <p:cNvPr id="104451" name="2 Rectángulo"/>
          <p:cNvSpPr>
            <a:spLocks noChangeArrowheads="1"/>
          </p:cNvSpPr>
          <p:nvPr/>
        </p:nvSpPr>
        <p:spPr bwMode="auto">
          <a:xfrm>
            <a:off x="1143000" y="1071563"/>
            <a:ext cx="4081463" cy="523875"/>
          </a:xfrm>
          <a:prstGeom prst="rect">
            <a:avLst/>
          </a:prstGeom>
          <a:noFill/>
          <a:ln w="9525">
            <a:noFill/>
            <a:miter lim="800000"/>
            <a:headEnd/>
            <a:tailEnd/>
          </a:ln>
        </p:spPr>
        <p:txBody>
          <a:bodyPr wrap="none">
            <a:spAutoFit/>
          </a:bodyPr>
          <a:lstStyle/>
          <a:p>
            <a:r>
              <a:rPr lang="es-ES" sz="2800" b="1"/>
              <a:t>Subclase y Superclase</a:t>
            </a:r>
          </a:p>
        </p:txBody>
      </p:sp>
      <p:sp>
        <p:nvSpPr>
          <p:cNvPr id="104452"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1 Rectángulo"/>
          <p:cNvSpPr>
            <a:spLocks noChangeArrowheads="1"/>
          </p:cNvSpPr>
          <p:nvPr/>
        </p:nvSpPr>
        <p:spPr bwMode="auto">
          <a:xfrm>
            <a:off x="1143000" y="1071563"/>
            <a:ext cx="6297613" cy="523875"/>
          </a:xfrm>
          <a:prstGeom prst="rect">
            <a:avLst/>
          </a:prstGeom>
          <a:noFill/>
          <a:ln w="9525">
            <a:noFill/>
            <a:miter lim="800000"/>
            <a:headEnd/>
            <a:tailEnd/>
          </a:ln>
        </p:spPr>
        <p:txBody>
          <a:bodyPr wrap="none">
            <a:spAutoFit/>
          </a:bodyPr>
          <a:lstStyle/>
          <a:p>
            <a:r>
              <a:rPr lang="es-ES" sz="2800" b="1"/>
              <a:t>Ejemplo de Subclase y Superclase</a:t>
            </a:r>
          </a:p>
        </p:txBody>
      </p:sp>
      <p:sp>
        <p:nvSpPr>
          <p:cNvPr id="105475"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4" name="3 CuadroTexto"/>
          <p:cNvSpPr txBox="1">
            <a:spLocks noChangeArrowheads="1"/>
          </p:cNvSpPr>
          <p:nvPr/>
        </p:nvSpPr>
        <p:spPr bwMode="auto">
          <a:xfrm>
            <a:off x="1857375" y="3429000"/>
            <a:ext cx="1654175" cy="461963"/>
          </a:xfrm>
          <a:prstGeom prst="rect">
            <a:avLst/>
          </a:prstGeom>
          <a:noFill/>
          <a:ln w="9525">
            <a:noFill/>
            <a:miter lim="800000"/>
            <a:headEnd/>
            <a:tailEnd/>
          </a:ln>
        </p:spPr>
        <p:txBody>
          <a:bodyPr wrap="none">
            <a:spAutoFit/>
          </a:bodyPr>
          <a:lstStyle/>
          <a:p>
            <a:r>
              <a:rPr lang="es-ES" sz="2400" b="1">
                <a:solidFill>
                  <a:srgbClr val="FF0000"/>
                </a:solidFill>
              </a:rPr>
              <a:t>Empleado</a:t>
            </a:r>
          </a:p>
        </p:txBody>
      </p:sp>
      <p:sp>
        <p:nvSpPr>
          <p:cNvPr id="5" name="4 Abrir llave"/>
          <p:cNvSpPr/>
          <p:nvPr/>
        </p:nvSpPr>
        <p:spPr>
          <a:xfrm>
            <a:off x="3500438" y="2000250"/>
            <a:ext cx="928687" cy="3357563"/>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s-ES"/>
          </a:p>
        </p:txBody>
      </p:sp>
      <p:sp>
        <p:nvSpPr>
          <p:cNvPr id="6" name="5 CuadroTexto"/>
          <p:cNvSpPr txBox="1">
            <a:spLocks noChangeArrowheads="1"/>
          </p:cNvSpPr>
          <p:nvPr/>
        </p:nvSpPr>
        <p:spPr bwMode="auto">
          <a:xfrm>
            <a:off x="4143375" y="2168525"/>
            <a:ext cx="2547938" cy="3046413"/>
          </a:xfrm>
          <a:prstGeom prst="rect">
            <a:avLst/>
          </a:prstGeom>
          <a:noFill/>
          <a:ln w="9525">
            <a:noFill/>
            <a:miter lim="800000"/>
            <a:headEnd/>
            <a:tailEnd/>
          </a:ln>
        </p:spPr>
        <p:txBody>
          <a:bodyPr wrap="none">
            <a:spAutoFit/>
          </a:bodyPr>
          <a:lstStyle/>
          <a:p>
            <a:pPr>
              <a:buFont typeface="Arial" charset="0"/>
              <a:buChar char="•"/>
            </a:pPr>
            <a:r>
              <a:rPr lang="es-ES" sz="2400" b="1">
                <a:solidFill>
                  <a:schemeClr val="accent1"/>
                </a:solidFill>
              </a:rPr>
              <a:t> Secretaria</a:t>
            </a:r>
          </a:p>
          <a:p>
            <a:pPr>
              <a:buFont typeface="Arial" charset="0"/>
              <a:buChar char="•"/>
            </a:pPr>
            <a:r>
              <a:rPr lang="es-ES" sz="2400" b="1">
                <a:solidFill>
                  <a:schemeClr val="accent1"/>
                </a:solidFill>
              </a:rPr>
              <a:t> Ingeniero</a:t>
            </a:r>
          </a:p>
          <a:p>
            <a:pPr>
              <a:buFont typeface="Arial" charset="0"/>
              <a:buChar char="•"/>
            </a:pPr>
            <a:r>
              <a:rPr lang="es-ES" sz="2400" b="1">
                <a:solidFill>
                  <a:schemeClr val="accent1"/>
                </a:solidFill>
              </a:rPr>
              <a:t> Jefe</a:t>
            </a:r>
          </a:p>
          <a:p>
            <a:pPr>
              <a:buFont typeface="Arial" charset="0"/>
              <a:buChar char="•"/>
            </a:pPr>
            <a:r>
              <a:rPr lang="es-ES" sz="2400" b="1">
                <a:solidFill>
                  <a:schemeClr val="accent1"/>
                </a:solidFill>
              </a:rPr>
              <a:t> Técnico</a:t>
            </a:r>
          </a:p>
          <a:p>
            <a:pPr>
              <a:buFont typeface="Arial" charset="0"/>
              <a:buChar char="•"/>
            </a:pPr>
            <a:r>
              <a:rPr lang="es-ES" sz="2400" b="1">
                <a:solidFill>
                  <a:schemeClr val="accent1"/>
                </a:solidFill>
              </a:rPr>
              <a:t> Asalariado</a:t>
            </a:r>
          </a:p>
          <a:p>
            <a:pPr>
              <a:buFont typeface="Arial" charset="0"/>
              <a:buChar char="•"/>
            </a:pPr>
            <a:r>
              <a:rPr lang="es-ES" sz="2400" b="1">
                <a:solidFill>
                  <a:schemeClr val="accent1"/>
                </a:solidFill>
              </a:rPr>
              <a:t> Subcontratado</a:t>
            </a:r>
          </a:p>
          <a:p>
            <a:pPr>
              <a:buFont typeface="Arial" charset="0"/>
              <a:buChar char="•"/>
            </a:pPr>
            <a:r>
              <a:rPr lang="es-ES" sz="2400" b="1">
                <a:solidFill>
                  <a:schemeClr val="accent1"/>
                </a:solidFill>
              </a:rPr>
              <a:t> ….</a:t>
            </a:r>
          </a:p>
          <a:p>
            <a:pPr>
              <a:buFont typeface="Arial" charset="0"/>
              <a:buChar char="•"/>
            </a:pPr>
            <a:r>
              <a:rPr lang="es-ES" sz="2400" b="1">
                <a:solidFill>
                  <a:schemeClr val="accent1"/>
                </a:solidFill>
              </a:rPr>
              <a:t> …..</a:t>
            </a:r>
          </a:p>
        </p:txBody>
      </p:sp>
      <p:cxnSp>
        <p:nvCxnSpPr>
          <p:cNvPr id="8" name="7 Conector recto de flecha"/>
          <p:cNvCxnSpPr/>
          <p:nvPr/>
        </p:nvCxnSpPr>
        <p:spPr>
          <a:xfrm rot="10800000">
            <a:off x="6000750" y="2428875"/>
            <a:ext cx="1428750" cy="85725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0" name="9 Conector recto de flecha"/>
          <p:cNvCxnSpPr/>
          <p:nvPr/>
        </p:nvCxnSpPr>
        <p:spPr>
          <a:xfrm rot="10800000">
            <a:off x="5857875" y="2857500"/>
            <a:ext cx="1581150" cy="43815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3" name="12 Conector recto de flecha"/>
          <p:cNvCxnSpPr/>
          <p:nvPr/>
        </p:nvCxnSpPr>
        <p:spPr>
          <a:xfrm rot="10800000">
            <a:off x="5429250" y="3214688"/>
            <a:ext cx="1928813" cy="71437"/>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p:nvPr/>
        </p:nvCxnSpPr>
        <p:spPr>
          <a:xfrm rot="10800000" flipV="1">
            <a:off x="5643563" y="3286125"/>
            <a:ext cx="1785937" cy="214313"/>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9" name="18 Conector recto de flecha"/>
          <p:cNvCxnSpPr/>
          <p:nvPr/>
        </p:nvCxnSpPr>
        <p:spPr>
          <a:xfrm rot="10800000" flipV="1">
            <a:off x="6000750" y="3286125"/>
            <a:ext cx="1428750" cy="57150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2" name="21 Conector recto de flecha"/>
          <p:cNvCxnSpPr/>
          <p:nvPr/>
        </p:nvCxnSpPr>
        <p:spPr>
          <a:xfrm rot="5400000">
            <a:off x="6500812" y="3357563"/>
            <a:ext cx="1000125" cy="85725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5" name="24 Rectángulo"/>
          <p:cNvSpPr/>
          <p:nvPr/>
        </p:nvSpPr>
        <p:spPr>
          <a:xfrm>
            <a:off x="7286625" y="2997200"/>
            <a:ext cx="1643063" cy="646113"/>
          </a:xfrm>
          <a:prstGeom prst="rect">
            <a:avLst/>
          </a:prstGeom>
        </p:spPr>
        <p:txBody>
          <a:bodyPr>
            <a:spAutoFit/>
          </a:bodyPr>
          <a:lstStyle/>
          <a:p>
            <a:pPr algn="ctr">
              <a:defRPr/>
            </a:pPr>
            <a:r>
              <a:rPr lang="es-ES" b="1" dirty="0">
                <a:solidFill>
                  <a:schemeClr val="accent6">
                    <a:lumMod val="75000"/>
                  </a:schemeClr>
                </a:solidFill>
              </a:rPr>
              <a:t>Subclases</a:t>
            </a:r>
            <a:r>
              <a:rPr lang="es-ES" b="1" dirty="0"/>
              <a:t> de Empleado</a:t>
            </a:r>
            <a:endParaRPr lang="es-ES" dirty="0"/>
          </a:p>
        </p:txBody>
      </p:sp>
      <p:cxnSp>
        <p:nvCxnSpPr>
          <p:cNvPr id="26" name="25 Conector recto de flecha"/>
          <p:cNvCxnSpPr>
            <a:endCxn id="4" idx="2"/>
          </p:cNvCxnSpPr>
          <p:nvPr/>
        </p:nvCxnSpPr>
        <p:spPr>
          <a:xfrm flipV="1">
            <a:off x="1000125" y="3890963"/>
            <a:ext cx="1684338" cy="752475"/>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9" name="28 Rectángulo"/>
          <p:cNvSpPr/>
          <p:nvPr/>
        </p:nvSpPr>
        <p:spPr>
          <a:xfrm>
            <a:off x="785813" y="4786313"/>
            <a:ext cx="1643062" cy="369887"/>
          </a:xfrm>
          <a:prstGeom prst="rect">
            <a:avLst/>
          </a:prstGeom>
        </p:spPr>
        <p:txBody>
          <a:bodyPr>
            <a:spAutoFit/>
          </a:bodyPr>
          <a:lstStyle/>
          <a:p>
            <a:pPr algn="ctr">
              <a:defRPr/>
            </a:pPr>
            <a:r>
              <a:rPr lang="es-ES" b="1" dirty="0">
                <a:solidFill>
                  <a:schemeClr val="accent6">
                    <a:lumMod val="75000"/>
                  </a:schemeClr>
                </a:solidFill>
              </a:rPr>
              <a:t>Superclase</a:t>
            </a:r>
            <a:endParaRPr lang="es-E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10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right)">
                                      <p:cBhvr>
                                        <p:cTn id="21" dur="500"/>
                                        <p:tgtEl>
                                          <p:spTgt spid="8"/>
                                        </p:tgtEl>
                                      </p:cBhvr>
                                    </p:animEffect>
                                  </p:childTnLst>
                                </p:cTn>
                              </p:par>
                              <p:par>
                                <p:cTn id="22" presetID="22" presetClass="entr" presetSubtype="2"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right)">
                                      <p:cBhvr>
                                        <p:cTn id="24" dur="500"/>
                                        <p:tgtEl>
                                          <p:spTgt spid="10"/>
                                        </p:tgtEl>
                                      </p:cBhvr>
                                    </p:animEffect>
                                  </p:childTnLst>
                                </p:cTn>
                              </p:par>
                              <p:par>
                                <p:cTn id="25" presetID="22" presetClass="entr" presetSubtype="2"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right)">
                                      <p:cBhvr>
                                        <p:cTn id="27" dur="500"/>
                                        <p:tgtEl>
                                          <p:spTgt spid="13"/>
                                        </p:tgtEl>
                                      </p:cBhvr>
                                    </p:animEffect>
                                  </p:childTnLst>
                                </p:cTn>
                              </p:par>
                              <p:par>
                                <p:cTn id="28" presetID="22" presetClass="entr" presetSubtype="2"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right)">
                                      <p:cBhvr>
                                        <p:cTn id="30" dur="500"/>
                                        <p:tgtEl>
                                          <p:spTgt spid="16"/>
                                        </p:tgtEl>
                                      </p:cBhvr>
                                    </p:animEffect>
                                  </p:childTnLst>
                                </p:cTn>
                              </p:par>
                              <p:par>
                                <p:cTn id="31" presetID="22" presetClass="entr" presetSubtype="2"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right)">
                                      <p:cBhvr>
                                        <p:cTn id="33" dur="500"/>
                                        <p:tgtEl>
                                          <p:spTgt spid="19"/>
                                        </p:tgtEl>
                                      </p:cBhvr>
                                    </p:animEffect>
                                  </p:childTnLst>
                                </p:cTn>
                              </p:par>
                              <p:par>
                                <p:cTn id="34" presetID="22" presetClass="entr" presetSubtype="2"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right)">
                                      <p:cBhvr>
                                        <p:cTn id="36" dur="500"/>
                                        <p:tgtEl>
                                          <p:spTgt spid="22"/>
                                        </p:tgtEl>
                                      </p:cBhvr>
                                    </p:animEffect>
                                  </p:childTnLst>
                                </p:cTn>
                              </p:par>
                              <p:par>
                                <p:cTn id="37" presetID="22" presetClass="entr" presetSubtype="2"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wipe(right)">
                                      <p:cBhvr>
                                        <p:cTn id="39" dur="50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ipe(left)">
                                      <p:cBhvr>
                                        <p:cTn id="44" dur="500"/>
                                        <p:tgtEl>
                                          <p:spTgt spid="26"/>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left)">
                                      <p:cBhvr>
                                        <p:cTn id="4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25" grpId="0"/>
      <p:bldP spid="29"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1 Rectángulo"/>
          <p:cNvSpPr>
            <a:spLocks noChangeArrowheads="1"/>
          </p:cNvSpPr>
          <p:nvPr/>
        </p:nvSpPr>
        <p:spPr bwMode="auto">
          <a:xfrm>
            <a:off x="1143000" y="1071563"/>
            <a:ext cx="6297613" cy="523875"/>
          </a:xfrm>
          <a:prstGeom prst="rect">
            <a:avLst/>
          </a:prstGeom>
          <a:noFill/>
          <a:ln w="9525">
            <a:noFill/>
            <a:miter lim="800000"/>
            <a:headEnd/>
            <a:tailEnd/>
          </a:ln>
        </p:spPr>
        <p:txBody>
          <a:bodyPr wrap="none">
            <a:spAutoFit/>
          </a:bodyPr>
          <a:lstStyle/>
          <a:p>
            <a:r>
              <a:rPr lang="es-ES" sz="2800" b="1"/>
              <a:t>Ejemplo de Subclase y Superclase</a:t>
            </a:r>
          </a:p>
        </p:txBody>
      </p:sp>
      <p:sp>
        <p:nvSpPr>
          <p:cNvPr id="106499"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4" name="3 CuadroTexto"/>
          <p:cNvSpPr txBox="1">
            <a:spLocks noChangeArrowheads="1"/>
          </p:cNvSpPr>
          <p:nvPr/>
        </p:nvSpPr>
        <p:spPr bwMode="auto">
          <a:xfrm>
            <a:off x="1857375" y="3429000"/>
            <a:ext cx="1447800" cy="461963"/>
          </a:xfrm>
          <a:prstGeom prst="rect">
            <a:avLst/>
          </a:prstGeom>
          <a:noFill/>
          <a:ln w="9525">
            <a:noFill/>
            <a:miter lim="800000"/>
            <a:headEnd/>
            <a:tailEnd/>
          </a:ln>
        </p:spPr>
        <p:txBody>
          <a:bodyPr wrap="none">
            <a:spAutoFit/>
          </a:bodyPr>
          <a:lstStyle/>
          <a:p>
            <a:r>
              <a:rPr lang="es-ES" sz="2400" b="1">
                <a:solidFill>
                  <a:srgbClr val="FF0000"/>
                </a:solidFill>
              </a:rPr>
              <a:t>Vehículo</a:t>
            </a:r>
          </a:p>
        </p:txBody>
      </p:sp>
      <p:sp>
        <p:nvSpPr>
          <p:cNvPr id="5" name="4 Abrir llave"/>
          <p:cNvSpPr/>
          <p:nvPr/>
        </p:nvSpPr>
        <p:spPr>
          <a:xfrm>
            <a:off x="3500438" y="2000250"/>
            <a:ext cx="928687" cy="3357563"/>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s-ES"/>
          </a:p>
        </p:txBody>
      </p:sp>
      <p:sp>
        <p:nvSpPr>
          <p:cNvPr id="6" name="5 CuadroTexto"/>
          <p:cNvSpPr txBox="1">
            <a:spLocks noChangeArrowheads="1"/>
          </p:cNvSpPr>
          <p:nvPr/>
        </p:nvSpPr>
        <p:spPr bwMode="auto">
          <a:xfrm>
            <a:off x="4143375" y="2143125"/>
            <a:ext cx="2070100" cy="2678113"/>
          </a:xfrm>
          <a:prstGeom prst="rect">
            <a:avLst/>
          </a:prstGeom>
          <a:noFill/>
          <a:ln w="9525">
            <a:noFill/>
            <a:miter lim="800000"/>
            <a:headEnd/>
            <a:tailEnd/>
          </a:ln>
        </p:spPr>
        <p:txBody>
          <a:bodyPr wrap="none">
            <a:spAutoFit/>
          </a:bodyPr>
          <a:lstStyle/>
          <a:p>
            <a:pPr>
              <a:buFont typeface="Arial" charset="0"/>
              <a:buChar char="•"/>
            </a:pPr>
            <a:r>
              <a:rPr lang="es-ES" sz="2400" b="1">
                <a:solidFill>
                  <a:schemeClr val="accent1"/>
                </a:solidFill>
              </a:rPr>
              <a:t> Camión</a:t>
            </a:r>
          </a:p>
          <a:p>
            <a:pPr>
              <a:buFont typeface="Arial" charset="0"/>
              <a:buChar char="•"/>
            </a:pPr>
            <a:r>
              <a:rPr lang="es-ES" sz="2400" b="1">
                <a:solidFill>
                  <a:schemeClr val="accent1"/>
                </a:solidFill>
              </a:rPr>
              <a:t> Turismo</a:t>
            </a:r>
          </a:p>
          <a:p>
            <a:pPr>
              <a:buFont typeface="Arial" charset="0"/>
              <a:buChar char="•"/>
            </a:pPr>
            <a:r>
              <a:rPr lang="es-ES" sz="2400" b="1">
                <a:solidFill>
                  <a:schemeClr val="accent1"/>
                </a:solidFill>
              </a:rPr>
              <a:t> Autobús</a:t>
            </a:r>
          </a:p>
          <a:p>
            <a:pPr>
              <a:buFont typeface="Arial" charset="0"/>
              <a:buChar char="•"/>
            </a:pPr>
            <a:r>
              <a:rPr lang="es-ES" sz="2400" b="1">
                <a:solidFill>
                  <a:schemeClr val="accent1"/>
                </a:solidFill>
              </a:rPr>
              <a:t> Motocicleta</a:t>
            </a:r>
          </a:p>
          <a:p>
            <a:pPr>
              <a:buFont typeface="Arial" charset="0"/>
              <a:buChar char="•"/>
            </a:pPr>
            <a:r>
              <a:rPr lang="es-ES" sz="2400" b="1">
                <a:solidFill>
                  <a:schemeClr val="accent1"/>
                </a:solidFill>
              </a:rPr>
              <a:t> Bicicleta</a:t>
            </a:r>
          </a:p>
          <a:p>
            <a:pPr>
              <a:buFont typeface="Arial" charset="0"/>
              <a:buChar char="•"/>
            </a:pPr>
            <a:r>
              <a:rPr lang="es-ES" sz="2400" b="1">
                <a:solidFill>
                  <a:schemeClr val="accent1"/>
                </a:solidFill>
              </a:rPr>
              <a:t> ….</a:t>
            </a:r>
          </a:p>
          <a:p>
            <a:pPr>
              <a:buFont typeface="Arial" charset="0"/>
              <a:buChar char="•"/>
            </a:pPr>
            <a:r>
              <a:rPr lang="es-ES" sz="2400" b="1">
                <a:solidFill>
                  <a:schemeClr val="accent1"/>
                </a:solidFill>
              </a:rPr>
              <a:t> …..</a:t>
            </a:r>
          </a:p>
        </p:txBody>
      </p:sp>
      <p:cxnSp>
        <p:nvCxnSpPr>
          <p:cNvPr id="8" name="7 Conector recto de flecha"/>
          <p:cNvCxnSpPr/>
          <p:nvPr/>
        </p:nvCxnSpPr>
        <p:spPr>
          <a:xfrm rot="10800000">
            <a:off x="6000750" y="2428875"/>
            <a:ext cx="1428750" cy="85725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0" name="9 Conector recto de flecha"/>
          <p:cNvCxnSpPr/>
          <p:nvPr/>
        </p:nvCxnSpPr>
        <p:spPr>
          <a:xfrm rot="10800000">
            <a:off x="5857875" y="2857500"/>
            <a:ext cx="1581150" cy="43815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3" name="12 Conector recto de flecha"/>
          <p:cNvCxnSpPr/>
          <p:nvPr/>
        </p:nvCxnSpPr>
        <p:spPr>
          <a:xfrm rot="10800000">
            <a:off x="5786438" y="3143250"/>
            <a:ext cx="1571625" cy="142875"/>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p:nvPr/>
        </p:nvCxnSpPr>
        <p:spPr>
          <a:xfrm rot="10800000" flipV="1">
            <a:off x="6143625" y="3286125"/>
            <a:ext cx="1285875" cy="28575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9" name="18 Conector recto de flecha"/>
          <p:cNvCxnSpPr/>
          <p:nvPr/>
        </p:nvCxnSpPr>
        <p:spPr>
          <a:xfrm rot="10800000" flipV="1">
            <a:off x="5786438" y="3286125"/>
            <a:ext cx="1643062" cy="64293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2" name="21 Conector recto de flecha"/>
          <p:cNvCxnSpPr/>
          <p:nvPr/>
        </p:nvCxnSpPr>
        <p:spPr>
          <a:xfrm rot="10800000" flipV="1">
            <a:off x="5572125" y="3286125"/>
            <a:ext cx="1857375" cy="121443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5" name="24 Rectángulo"/>
          <p:cNvSpPr/>
          <p:nvPr/>
        </p:nvSpPr>
        <p:spPr>
          <a:xfrm>
            <a:off x="7286625" y="2997200"/>
            <a:ext cx="1643063" cy="646113"/>
          </a:xfrm>
          <a:prstGeom prst="rect">
            <a:avLst/>
          </a:prstGeom>
        </p:spPr>
        <p:txBody>
          <a:bodyPr>
            <a:spAutoFit/>
          </a:bodyPr>
          <a:lstStyle/>
          <a:p>
            <a:pPr algn="ctr">
              <a:defRPr/>
            </a:pPr>
            <a:r>
              <a:rPr lang="es-ES" b="1" dirty="0">
                <a:solidFill>
                  <a:schemeClr val="accent6">
                    <a:lumMod val="75000"/>
                  </a:schemeClr>
                </a:solidFill>
              </a:rPr>
              <a:t>Subclases</a:t>
            </a:r>
            <a:r>
              <a:rPr lang="es-ES" b="1" dirty="0"/>
              <a:t> de Vehículo</a:t>
            </a:r>
            <a:endParaRPr lang="es-ES" dirty="0"/>
          </a:p>
        </p:txBody>
      </p:sp>
      <p:cxnSp>
        <p:nvCxnSpPr>
          <p:cNvPr id="26" name="25 Conector recto de flecha"/>
          <p:cNvCxnSpPr>
            <a:endCxn id="4" idx="2"/>
          </p:cNvCxnSpPr>
          <p:nvPr/>
        </p:nvCxnSpPr>
        <p:spPr>
          <a:xfrm flipV="1">
            <a:off x="1000125" y="3890963"/>
            <a:ext cx="1581150" cy="752475"/>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9" name="28 Rectángulo"/>
          <p:cNvSpPr/>
          <p:nvPr/>
        </p:nvSpPr>
        <p:spPr>
          <a:xfrm>
            <a:off x="785813" y="4786313"/>
            <a:ext cx="1643062" cy="369887"/>
          </a:xfrm>
          <a:prstGeom prst="rect">
            <a:avLst/>
          </a:prstGeom>
        </p:spPr>
        <p:txBody>
          <a:bodyPr>
            <a:spAutoFit/>
          </a:bodyPr>
          <a:lstStyle/>
          <a:p>
            <a:pPr algn="ctr">
              <a:defRPr/>
            </a:pPr>
            <a:r>
              <a:rPr lang="es-ES" b="1" dirty="0">
                <a:solidFill>
                  <a:schemeClr val="accent6">
                    <a:lumMod val="75000"/>
                  </a:schemeClr>
                </a:solidFill>
              </a:rPr>
              <a:t>Superclase</a:t>
            </a:r>
            <a:endParaRPr lang="es-E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10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right)">
                                      <p:cBhvr>
                                        <p:cTn id="21" dur="500"/>
                                        <p:tgtEl>
                                          <p:spTgt spid="8"/>
                                        </p:tgtEl>
                                      </p:cBhvr>
                                    </p:animEffect>
                                  </p:childTnLst>
                                </p:cTn>
                              </p:par>
                              <p:par>
                                <p:cTn id="22" presetID="22" presetClass="entr" presetSubtype="2"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right)">
                                      <p:cBhvr>
                                        <p:cTn id="24" dur="500"/>
                                        <p:tgtEl>
                                          <p:spTgt spid="10"/>
                                        </p:tgtEl>
                                      </p:cBhvr>
                                    </p:animEffect>
                                  </p:childTnLst>
                                </p:cTn>
                              </p:par>
                              <p:par>
                                <p:cTn id="25" presetID="22" presetClass="entr" presetSubtype="2"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right)">
                                      <p:cBhvr>
                                        <p:cTn id="27" dur="500"/>
                                        <p:tgtEl>
                                          <p:spTgt spid="13"/>
                                        </p:tgtEl>
                                      </p:cBhvr>
                                    </p:animEffect>
                                  </p:childTnLst>
                                </p:cTn>
                              </p:par>
                              <p:par>
                                <p:cTn id="28" presetID="22" presetClass="entr" presetSubtype="2"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right)">
                                      <p:cBhvr>
                                        <p:cTn id="30" dur="500"/>
                                        <p:tgtEl>
                                          <p:spTgt spid="16"/>
                                        </p:tgtEl>
                                      </p:cBhvr>
                                    </p:animEffect>
                                  </p:childTnLst>
                                </p:cTn>
                              </p:par>
                              <p:par>
                                <p:cTn id="31" presetID="22" presetClass="entr" presetSubtype="2"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right)">
                                      <p:cBhvr>
                                        <p:cTn id="33" dur="500"/>
                                        <p:tgtEl>
                                          <p:spTgt spid="19"/>
                                        </p:tgtEl>
                                      </p:cBhvr>
                                    </p:animEffect>
                                  </p:childTnLst>
                                </p:cTn>
                              </p:par>
                              <p:par>
                                <p:cTn id="34" presetID="22" presetClass="entr" presetSubtype="2"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right)">
                                      <p:cBhvr>
                                        <p:cTn id="36" dur="500"/>
                                        <p:tgtEl>
                                          <p:spTgt spid="22"/>
                                        </p:tgtEl>
                                      </p:cBhvr>
                                    </p:animEffect>
                                  </p:childTnLst>
                                </p:cTn>
                              </p:par>
                              <p:par>
                                <p:cTn id="37" presetID="22" presetClass="entr" presetSubtype="2"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wipe(right)">
                                      <p:cBhvr>
                                        <p:cTn id="39" dur="50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ipe(left)">
                                      <p:cBhvr>
                                        <p:cTn id="44" dur="500"/>
                                        <p:tgtEl>
                                          <p:spTgt spid="26"/>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left)">
                                      <p:cBhvr>
                                        <p:cTn id="4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25" grpId="0"/>
      <p:bldP spid="29"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07523" name="2 Rectángulo"/>
          <p:cNvSpPr>
            <a:spLocks noChangeArrowheads="1"/>
          </p:cNvSpPr>
          <p:nvPr/>
        </p:nvSpPr>
        <p:spPr bwMode="auto">
          <a:xfrm>
            <a:off x="1143000" y="1357313"/>
            <a:ext cx="6929438" cy="1685925"/>
          </a:xfrm>
          <a:prstGeom prst="rect">
            <a:avLst/>
          </a:prstGeom>
          <a:noFill/>
          <a:ln w="9525">
            <a:noFill/>
            <a:miter lim="800000"/>
            <a:headEnd/>
            <a:tailEnd/>
          </a:ln>
        </p:spPr>
        <p:txBody>
          <a:bodyPr>
            <a:spAutoFit/>
          </a:bodyPr>
          <a:lstStyle/>
          <a:p>
            <a:pPr algn="just">
              <a:lnSpc>
                <a:spcPct val="150000"/>
              </a:lnSpc>
            </a:pPr>
            <a:r>
              <a:rPr lang="es-ES" sz="2400"/>
              <a:t>La relación que se establece entre una Superclase y una Subclase, la llamaremos </a:t>
            </a:r>
            <a:r>
              <a:rPr lang="es-ES" sz="2400" b="1">
                <a:solidFill>
                  <a:srgbClr val="FF0000"/>
                </a:solidFill>
              </a:rPr>
              <a:t>Relación</a:t>
            </a:r>
            <a:r>
              <a:rPr lang="es-ES" sz="2400"/>
              <a:t> </a:t>
            </a:r>
            <a:r>
              <a:rPr lang="es-ES" sz="2400" b="1">
                <a:solidFill>
                  <a:srgbClr val="FF0000"/>
                </a:solidFill>
              </a:rPr>
              <a:t>clase/subclase</a:t>
            </a:r>
            <a:r>
              <a:rPr lang="es-ES" sz="2400"/>
              <a:t>.</a:t>
            </a:r>
          </a:p>
        </p:txBody>
      </p:sp>
      <p:sp>
        <p:nvSpPr>
          <p:cNvPr id="4" name="3 CuadroTexto"/>
          <p:cNvSpPr txBox="1">
            <a:spLocks noChangeArrowheads="1"/>
          </p:cNvSpPr>
          <p:nvPr/>
        </p:nvSpPr>
        <p:spPr bwMode="auto">
          <a:xfrm>
            <a:off x="2571750" y="3429000"/>
            <a:ext cx="3400425" cy="1570038"/>
          </a:xfrm>
          <a:prstGeom prst="rect">
            <a:avLst/>
          </a:prstGeom>
          <a:noFill/>
          <a:ln w="9525">
            <a:noFill/>
            <a:miter lim="800000"/>
            <a:headEnd/>
            <a:tailEnd/>
          </a:ln>
        </p:spPr>
        <p:txBody>
          <a:bodyPr wrap="none">
            <a:spAutoFit/>
          </a:bodyPr>
          <a:lstStyle/>
          <a:p>
            <a:r>
              <a:rPr lang="es-ES" sz="2400" b="1">
                <a:solidFill>
                  <a:srgbClr val="FF0000"/>
                </a:solidFill>
              </a:rPr>
              <a:t>Empleado / </a:t>
            </a:r>
            <a:r>
              <a:rPr lang="es-ES" sz="2400" b="1">
                <a:solidFill>
                  <a:schemeClr val="accent1"/>
                </a:solidFill>
              </a:rPr>
              <a:t>Secretaria</a:t>
            </a:r>
          </a:p>
          <a:p>
            <a:r>
              <a:rPr lang="es-ES" sz="2400" b="1">
                <a:solidFill>
                  <a:srgbClr val="FF0000"/>
                </a:solidFill>
              </a:rPr>
              <a:t>Empleado / </a:t>
            </a:r>
            <a:r>
              <a:rPr lang="es-ES" sz="2400" b="1">
                <a:solidFill>
                  <a:schemeClr val="accent1"/>
                </a:solidFill>
              </a:rPr>
              <a:t>Ingeniero</a:t>
            </a:r>
          </a:p>
          <a:p>
            <a:r>
              <a:rPr lang="es-ES" sz="2400" b="1">
                <a:solidFill>
                  <a:srgbClr val="FF0000"/>
                </a:solidFill>
              </a:rPr>
              <a:t>Vehículo / </a:t>
            </a:r>
            <a:r>
              <a:rPr lang="es-ES" sz="2400" b="1">
                <a:solidFill>
                  <a:schemeClr val="accent1"/>
                </a:solidFill>
              </a:rPr>
              <a:t>Camión</a:t>
            </a:r>
          </a:p>
          <a:p>
            <a:r>
              <a:rPr lang="es-ES" sz="2400" b="1">
                <a:solidFill>
                  <a:srgbClr val="FF0000"/>
                </a:solidFill>
              </a:rPr>
              <a:t>Vehículo / </a:t>
            </a:r>
            <a:r>
              <a:rPr lang="es-ES" sz="2400" b="1">
                <a:solidFill>
                  <a:schemeClr val="accent1"/>
                </a:solidFill>
              </a:rPr>
              <a:t>Motocicleta</a:t>
            </a:r>
          </a:p>
        </p:txBody>
      </p:sp>
      <p:grpSp>
        <p:nvGrpSpPr>
          <p:cNvPr id="2" name="4 Grupo"/>
          <p:cNvGrpSpPr/>
          <p:nvPr/>
        </p:nvGrpSpPr>
        <p:grpSpPr>
          <a:xfrm>
            <a:off x="7000892" y="3071810"/>
            <a:ext cx="1357322" cy="714380"/>
            <a:chOff x="4143372" y="4857760"/>
            <a:chExt cx="1357322" cy="714380"/>
          </a:xfrm>
          <a:scene3d>
            <a:camera prst="orthographicFront">
              <a:rot lat="0" lon="0" rev="0"/>
            </a:camera>
            <a:lightRig rig="balanced" dir="t">
              <a:rot lat="0" lon="0" rev="8700000"/>
            </a:lightRig>
          </a:scene3d>
        </p:grpSpPr>
        <p:sp>
          <p:nvSpPr>
            <p:cNvPr id="6" name="5 Triángulo isósceles"/>
            <p:cNvSpPr/>
            <p:nvPr/>
          </p:nvSpPr>
          <p:spPr>
            <a:xfrm rot="10800000">
              <a:off x="4143372" y="4857760"/>
              <a:ext cx="1357322" cy="714380"/>
            </a:xfrm>
            <a:prstGeom prst="triangle">
              <a:avLst/>
            </a:prstGeom>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dirty="0"/>
            </a:p>
          </p:txBody>
        </p:sp>
        <p:sp>
          <p:nvSpPr>
            <p:cNvPr id="7" name="6 CuadroTexto"/>
            <p:cNvSpPr txBox="1"/>
            <p:nvPr/>
          </p:nvSpPr>
          <p:spPr>
            <a:xfrm>
              <a:off x="4500562" y="4929198"/>
              <a:ext cx="654346" cy="276999"/>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p>
              <a:pPr>
                <a:defRPr/>
              </a:pPr>
              <a:r>
                <a:rPr lang="es-ES" sz="1200" b="1" dirty="0">
                  <a:solidFill>
                    <a:schemeClr val="bg1"/>
                  </a:solidFill>
                </a:rPr>
                <a:t>ES UN</a:t>
              </a:r>
            </a:p>
          </p:txBody>
        </p:sp>
      </p:grpSp>
      <p:grpSp>
        <p:nvGrpSpPr>
          <p:cNvPr id="3" name="7 Grupo"/>
          <p:cNvGrpSpPr/>
          <p:nvPr/>
        </p:nvGrpSpPr>
        <p:grpSpPr>
          <a:xfrm>
            <a:off x="7000892" y="4143380"/>
            <a:ext cx="1357322" cy="714380"/>
            <a:chOff x="4143372" y="4857760"/>
            <a:chExt cx="1357322" cy="714380"/>
          </a:xfrm>
          <a:scene3d>
            <a:camera prst="orthographicFront">
              <a:rot lat="0" lon="0" rev="0"/>
            </a:camera>
            <a:lightRig rig="balanced" dir="t">
              <a:rot lat="0" lon="0" rev="8700000"/>
            </a:lightRig>
          </a:scene3d>
        </p:grpSpPr>
        <p:sp>
          <p:nvSpPr>
            <p:cNvPr id="9" name="8 Triángulo isósceles"/>
            <p:cNvSpPr/>
            <p:nvPr/>
          </p:nvSpPr>
          <p:spPr>
            <a:xfrm rot="10800000">
              <a:off x="4143372" y="4857760"/>
              <a:ext cx="1357322" cy="714380"/>
            </a:xfrm>
            <a:prstGeom prst="triangle">
              <a:avLst/>
            </a:prstGeom>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dirty="0"/>
            </a:p>
          </p:txBody>
        </p:sp>
        <p:sp>
          <p:nvSpPr>
            <p:cNvPr id="10" name="9 CuadroTexto"/>
            <p:cNvSpPr txBox="1"/>
            <p:nvPr/>
          </p:nvSpPr>
          <p:spPr>
            <a:xfrm>
              <a:off x="4429124" y="4857760"/>
              <a:ext cx="801823" cy="461665"/>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p>
              <a:pPr algn="ctr">
                <a:defRPr/>
              </a:pPr>
              <a:r>
                <a:rPr lang="es-ES" sz="1200" b="1" dirty="0">
                  <a:solidFill>
                    <a:schemeClr val="bg1"/>
                  </a:solidFill>
                </a:rPr>
                <a:t>ES UN </a:t>
              </a:r>
            </a:p>
            <a:p>
              <a:pPr algn="ctr">
                <a:defRPr/>
              </a:pPr>
              <a:r>
                <a:rPr lang="es-ES" sz="1200" b="1" dirty="0">
                  <a:solidFill>
                    <a:schemeClr val="bg1"/>
                  </a:solidFill>
                </a:rPr>
                <a:t>TIPO DE</a:t>
              </a:r>
            </a:p>
          </p:txBody>
        </p:sp>
      </p:grpSp>
      <p:grpSp>
        <p:nvGrpSpPr>
          <p:cNvPr id="5" name="10 Grupo"/>
          <p:cNvGrpSpPr/>
          <p:nvPr/>
        </p:nvGrpSpPr>
        <p:grpSpPr>
          <a:xfrm>
            <a:off x="7000892" y="5286388"/>
            <a:ext cx="1357322" cy="714380"/>
            <a:chOff x="4143372" y="4857760"/>
            <a:chExt cx="1357322" cy="714380"/>
          </a:xfrm>
          <a:scene3d>
            <a:camera prst="orthographicFront">
              <a:rot lat="0" lon="0" rev="0"/>
            </a:camera>
            <a:lightRig rig="balanced" dir="t">
              <a:rot lat="0" lon="0" rev="8700000"/>
            </a:lightRig>
          </a:scene3d>
        </p:grpSpPr>
        <p:sp>
          <p:nvSpPr>
            <p:cNvPr id="12" name="11 Triángulo isósceles"/>
            <p:cNvSpPr/>
            <p:nvPr/>
          </p:nvSpPr>
          <p:spPr>
            <a:xfrm rot="10800000">
              <a:off x="4143372" y="4857760"/>
              <a:ext cx="1357322" cy="714380"/>
            </a:xfrm>
            <a:prstGeom prst="triangle">
              <a:avLst/>
            </a:prstGeom>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dirty="0"/>
            </a:p>
          </p:txBody>
        </p:sp>
        <p:sp>
          <p:nvSpPr>
            <p:cNvPr id="13" name="12 CuadroTexto"/>
            <p:cNvSpPr txBox="1"/>
            <p:nvPr/>
          </p:nvSpPr>
          <p:spPr>
            <a:xfrm>
              <a:off x="4572000" y="5000636"/>
              <a:ext cx="478722" cy="276999"/>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p>
              <a:pPr algn="ctr">
                <a:defRPr/>
              </a:pPr>
              <a:r>
                <a:rPr lang="es-ES" sz="1200" b="1" dirty="0">
                  <a:solidFill>
                    <a:schemeClr val="bg1"/>
                  </a:solidFill>
                </a:rPr>
                <a:t>IS A</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1000"/>
                                        <p:tgtEl>
                                          <p:spTgt spid="2"/>
                                        </p:tgtEl>
                                      </p:cBhvr>
                                    </p:animEffect>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up)">
                                      <p:cBhvr>
                                        <p:cTn id="16" dur="1000"/>
                                        <p:tgtEl>
                                          <p:spTgt spid="3"/>
                                        </p:tgtEl>
                                      </p:cBhvr>
                                    </p:animEffect>
                                  </p:childTnLst>
                                </p:cTn>
                              </p:par>
                            </p:childTnLst>
                          </p:cTn>
                        </p:par>
                        <p:par>
                          <p:cTn id="17" fill="hold">
                            <p:stCondLst>
                              <p:cond delay="2000"/>
                            </p:stCondLst>
                            <p:childTnLst>
                              <p:par>
                                <p:cTn id="18" presetID="22" presetClass="entr" presetSubtype="1"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1 Rectángulo"/>
          <p:cNvSpPr>
            <a:spLocks noChangeArrowheads="1"/>
          </p:cNvSpPr>
          <p:nvPr/>
        </p:nvSpPr>
        <p:spPr bwMode="auto">
          <a:xfrm>
            <a:off x="357188" y="1071563"/>
            <a:ext cx="8675687" cy="523875"/>
          </a:xfrm>
          <a:prstGeom prst="rect">
            <a:avLst/>
          </a:prstGeom>
          <a:noFill/>
          <a:ln w="9525">
            <a:noFill/>
            <a:miter lim="800000"/>
            <a:headEnd/>
            <a:tailEnd/>
          </a:ln>
        </p:spPr>
        <p:txBody>
          <a:bodyPr wrap="none">
            <a:spAutoFit/>
          </a:bodyPr>
          <a:lstStyle/>
          <a:p>
            <a:r>
              <a:rPr lang="es-ES" sz="2800" b="1"/>
              <a:t>Subclase y Superclase – </a:t>
            </a:r>
            <a:r>
              <a:rPr lang="es-ES" sz="2800" b="1">
                <a:solidFill>
                  <a:srgbClr val="FF0000"/>
                </a:solidFill>
              </a:rPr>
              <a:t>Notación en el Diagrama</a:t>
            </a:r>
          </a:p>
        </p:txBody>
      </p:sp>
      <p:sp>
        <p:nvSpPr>
          <p:cNvPr id="108547"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5" name="4 Rectángulo"/>
          <p:cNvSpPr/>
          <p:nvPr/>
        </p:nvSpPr>
        <p:spPr>
          <a:xfrm>
            <a:off x="3803832" y="2214554"/>
            <a:ext cx="1714512" cy="714380"/>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Empleado</a:t>
            </a:r>
          </a:p>
        </p:txBody>
      </p:sp>
      <p:cxnSp>
        <p:nvCxnSpPr>
          <p:cNvPr id="6" name="5 Conector recto"/>
          <p:cNvCxnSpPr>
            <a:endCxn id="0" idx="2"/>
          </p:cNvCxnSpPr>
          <p:nvPr/>
        </p:nvCxnSpPr>
        <p:spPr>
          <a:xfrm rot="16200000" flipV="1">
            <a:off x="4277519" y="3312319"/>
            <a:ext cx="785812" cy="1905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 name="10 Grupo"/>
          <p:cNvGrpSpPr/>
          <p:nvPr/>
        </p:nvGrpSpPr>
        <p:grpSpPr>
          <a:xfrm>
            <a:off x="4000496" y="3714752"/>
            <a:ext cx="1357322" cy="714380"/>
            <a:chOff x="4143372" y="4857760"/>
            <a:chExt cx="1357322" cy="714380"/>
          </a:xfrm>
          <a:scene3d>
            <a:camera prst="orthographicFront">
              <a:rot lat="0" lon="0" rev="0"/>
            </a:camera>
            <a:lightRig rig="balanced" dir="t">
              <a:rot lat="0" lon="0" rev="8700000"/>
            </a:lightRig>
          </a:scene3d>
        </p:grpSpPr>
        <p:sp>
          <p:nvSpPr>
            <p:cNvPr id="9" name="8 Triángulo isósceles"/>
            <p:cNvSpPr/>
            <p:nvPr/>
          </p:nvSpPr>
          <p:spPr>
            <a:xfrm rot="10800000">
              <a:off x="4143372" y="4857760"/>
              <a:ext cx="1357322" cy="714380"/>
            </a:xfrm>
            <a:prstGeom prst="triangle">
              <a:avLst/>
            </a:prstGeom>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2000" dirty="0"/>
            </a:p>
          </p:txBody>
        </p:sp>
        <p:sp>
          <p:nvSpPr>
            <p:cNvPr id="10" name="9 CuadroTexto"/>
            <p:cNvSpPr txBox="1"/>
            <p:nvPr/>
          </p:nvSpPr>
          <p:spPr>
            <a:xfrm>
              <a:off x="4429124" y="4929198"/>
              <a:ext cx="734496" cy="307777"/>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p>
              <a:pPr>
                <a:defRPr/>
              </a:pPr>
              <a:r>
                <a:rPr lang="es-ES" sz="1400" b="1" dirty="0">
                  <a:solidFill>
                    <a:schemeClr val="bg1"/>
                  </a:solidFill>
                </a:rPr>
                <a:t>ES UN</a:t>
              </a:r>
            </a:p>
          </p:txBody>
        </p:sp>
      </p:grpSp>
      <p:sp>
        <p:nvSpPr>
          <p:cNvPr id="16" name="15 Rectángulo"/>
          <p:cNvSpPr/>
          <p:nvPr/>
        </p:nvSpPr>
        <p:spPr>
          <a:xfrm>
            <a:off x="2098844" y="5010160"/>
            <a:ext cx="1615900" cy="704856"/>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Secretaria</a:t>
            </a:r>
          </a:p>
        </p:txBody>
      </p:sp>
      <p:sp>
        <p:nvSpPr>
          <p:cNvPr id="17" name="16 Rectángulo"/>
          <p:cNvSpPr/>
          <p:nvPr/>
        </p:nvSpPr>
        <p:spPr>
          <a:xfrm>
            <a:off x="3884794" y="5010160"/>
            <a:ext cx="1615900" cy="704856"/>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Ingeniero</a:t>
            </a:r>
          </a:p>
        </p:txBody>
      </p:sp>
      <p:sp>
        <p:nvSpPr>
          <p:cNvPr id="18" name="17 Rectángulo"/>
          <p:cNvSpPr/>
          <p:nvPr/>
        </p:nvSpPr>
        <p:spPr>
          <a:xfrm>
            <a:off x="5670744" y="5010160"/>
            <a:ext cx="1615900" cy="704856"/>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Técnico</a:t>
            </a:r>
          </a:p>
        </p:txBody>
      </p:sp>
      <p:cxnSp>
        <p:nvCxnSpPr>
          <p:cNvPr id="19" name="18 Conector recto"/>
          <p:cNvCxnSpPr>
            <a:stCxn id="0" idx="0"/>
            <a:endCxn id="9" idx="5"/>
          </p:cNvCxnSpPr>
          <p:nvPr/>
        </p:nvCxnSpPr>
        <p:spPr>
          <a:xfrm rot="5400000" flipH="1" flipV="1">
            <a:off x="3154363" y="3824288"/>
            <a:ext cx="938212" cy="14335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21 Conector recto"/>
          <p:cNvCxnSpPr>
            <a:stCxn id="0" idx="0"/>
            <a:endCxn id="9" idx="0"/>
          </p:cNvCxnSpPr>
          <p:nvPr/>
        </p:nvCxnSpPr>
        <p:spPr>
          <a:xfrm rot="16200000" flipV="1">
            <a:off x="4395787" y="4713288"/>
            <a:ext cx="581025" cy="127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26 Conector recto"/>
          <p:cNvCxnSpPr>
            <a:stCxn id="9" idx="1"/>
            <a:endCxn id="0" idx="0"/>
          </p:cNvCxnSpPr>
          <p:nvPr/>
        </p:nvCxnSpPr>
        <p:spPr>
          <a:xfrm>
            <a:off x="5018088" y="4071938"/>
            <a:ext cx="1460500" cy="9382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10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10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down)">
                                      <p:cBhvr>
                                        <p:cTn id="18" dur="500"/>
                                        <p:tgtEl>
                                          <p:spTgt spid="19"/>
                                        </p:tgtEl>
                                      </p:cBhvr>
                                    </p:animEffect>
                                  </p:childTnLst>
                                </p:cTn>
                              </p:par>
                              <p:par>
                                <p:cTn id="19" presetID="22" presetClass="entr" presetSubtype="4"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down)">
                                      <p:cBhvr>
                                        <p:cTn id="21" dur="500"/>
                                        <p:tgtEl>
                                          <p:spTgt spid="22"/>
                                        </p:tgtEl>
                                      </p:cBhvr>
                                    </p:animEffect>
                                  </p:childTnLst>
                                </p:cTn>
                              </p:par>
                              <p:par>
                                <p:cTn id="22" presetID="22" presetClass="entr" presetSubtype="4"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down)">
                                      <p:cBhvr>
                                        <p:cTn id="24" dur="500"/>
                                        <p:tgtEl>
                                          <p:spTgt spid="27"/>
                                        </p:tgtEl>
                                      </p:cBhvr>
                                    </p:animEffect>
                                  </p:childTnLst>
                                </p:cTn>
                              </p:par>
                            </p:childTnLst>
                          </p:cTn>
                        </p:par>
                        <p:par>
                          <p:cTn id="25" fill="hold">
                            <p:stCondLst>
                              <p:cond delay="500"/>
                            </p:stCondLst>
                            <p:childTnLst>
                              <p:par>
                                <p:cTn id="26" presetID="22" presetClass="entr" presetSubtype="4"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down)">
                                      <p:cBhvr>
                                        <p:cTn id="28" dur="500"/>
                                        <p:tgtEl>
                                          <p:spTgt spid="2"/>
                                        </p:tgtEl>
                                      </p:cBhvr>
                                    </p:animEffect>
                                  </p:childTnLst>
                                </p:cTn>
                              </p:par>
                            </p:childTnLst>
                          </p:cTn>
                        </p:par>
                        <p:par>
                          <p:cTn id="29" fill="hold">
                            <p:stCondLst>
                              <p:cond delay="1000"/>
                            </p:stCondLst>
                            <p:childTnLst>
                              <p:par>
                                <p:cTn id="30" presetID="22" presetClass="entr" presetSubtype="4"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down)">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1 Rectángulo"/>
          <p:cNvSpPr>
            <a:spLocks noChangeArrowheads="1"/>
          </p:cNvSpPr>
          <p:nvPr/>
        </p:nvSpPr>
        <p:spPr bwMode="auto">
          <a:xfrm>
            <a:off x="357188" y="1071563"/>
            <a:ext cx="8675687" cy="523875"/>
          </a:xfrm>
          <a:prstGeom prst="rect">
            <a:avLst/>
          </a:prstGeom>
          <a:noFill/>
          <a:ln w="9525">
            <a:noFill/>
            <a:miter lim="800000"/>
            <a:headEnd/>
            <a:tailEnd/>
          </a:ln>
        </p:spPr>
        <p:txBody>
          <a:bodyPr wrap="none">
            <a:spAutoFit/>
          </a:bodyPr>
          <a:lstStyle/>
          <a:p>
            <a:r>
              <a:rPr lang="es-ES" sz="2800" b="1"/>
              <a:t>Subclase y Superclase – </a:t>
            </a:r>
            <a:r>
              <a:rPr lang="es-ES" sz="2800" b="1">
                <a:solidFill>
                  <a:srgbClr val="FF0000"/>
                </a:solidFill>
              </a:rPr>
              <a:t>Notación en el Diagrama</a:t>
            </a:r>
          </a:p>
        </p:txBody>
      </p:sp>
      <p:sp>
        <p:nvSpPr>
          <p:cNvPr id="109571"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5" name="4 Rectángulo"/>
          <p:cNvSpPr/>
          <p:nvPr/>
        </p:nvSpPr>
        <p:spPr>
          <a:xfrm>
            <a:off x="3803832" y="2214554"/>
            <a:ext cx="1714512" cy="714380"/>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Vehículo</a:t>
            </a:r>
          </a:p>
        </p:txBody>
      </p:sp>
      <p:cxnSp>
        <p:nvCxnSpPr>
          <p:cNvPr id="6" name="5 Conector recto"/>
          <p:cNvCxnSpPr>
            <a:endCxn id="0" idx="2"/>
          </p:cNvCxnSpPr>
          <p:nvPr/>
        </p:nvCxnSpPr>
        <p:spPr>
          <a:xfrm rot="16200000" flipV="1">
            <a:off x="4277519" y="3312319"/>
            <a:ext cx="785812" cy="1905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 name="10 Grupo"/>
          <p:cNvGrpSpPr/>
          <p:nvPr/>
        </p:nvGrpSpPr>
        <p:grpSpPr>
          <a:xfrm>
            <a:off x="4000496" y="3714752"/>
            <a:ext cx="1357322" cy="714380"/>
            <a:chOff x="4143372" y="4857760"/>
            <a:chExt cx="1357322" cy="714380"/>
          </a:xfrm>
          <a:scene3d>
            <a:camera prst="orthographicFront">
              <a:rot lat="0" lon="0" rev="0"/>
            </a:camera>
            <a:lightRig rig="balanced" dir="t">
              <a:rot lat="0" lon="0" rev="8700000"/>
            </a:lightRig>
          </a:scene3d>
        </p:grpSpPr>
        <p:sp>
          <p:nvSpPr>
            <p:cNvPr id="9" name="8 Triángulo isósceles"/>
            <p:cNvSpPr/>
            <p:nvPr/>
          </p:nvSpPr>
          <p:spPr>
            <a:xfrm rot="10800000">
              <a:off x="4143372" y="4857760"/>
              <a:ext cx="1357322" cy="714380"/>
            </a:xfrm>
            <a:prstGeom prst="triangle">
              <a:avLst/>
            </a:prstGeom>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2000" dirty="0"/>
            </a:p>
          </p:txBody>
        </p:sp>
        <p:sp>
          <p:nvSpPr>
            <p:cNvPr id="10" name="9 CuadroTexto"/>
            <p:cNvSpPr txBox="1"/>
            <p:nvPr/>
          </p:nvSpPr>
          <p:spPr>
            <a:xfrm>
              <a:off x="4429124" y="4857760"/>
              <a:ext cx="801823" cy="461665"/>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p>
              <a:pPr algn="ctr">
                <a:defRPr/>
              </a:pPr>
              <a:r>
                <a:rPr lang="es-ES" sz="1200" b="1" dirty="0">
                  <a:solidFill>
                    <a:schemeClr val="bg1"/>
                  </a:solidFill>
                </a:rPr>
                <a:t>ES UN</a:t>
              </a:r>
            </a:p>
            <a:p>
              <a:pPr algn="ctr">
                <a:defRPr/>
              </a:pPr>
              <a:r>
                <a:rPr lang="es-ES" sz="1200" b="1" dirty="0">
                  <a:solidFill>
                    <a:schemeClr val="bg1"/>
                  </a:solidFill>
                </a:rPr>
                <a:t>TIPO DE</a:t>
              </a:r>
            </a:p>
          </p:txBody>
        </p:sp>
      </p:grpSp>
      <p:sp>
        <p:nvSpPr>
          <p:cNvPr id="16" name="15 Rectángulo"/>
          <p:cNvSpPr/>
          <p:nvPr/>
        </p:nvSpPr>
        <p:spPr>
          <a:xfrm>
            <a:off x="2098844" y="5010160"/>
            <a:ext cx="1615900" cy="704856"/>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Camión</a:t>
            </a:r>
          </a:p>
        </p:txBody>
      </p:sp>
      <p:sp>
        <p:nvSpPr>
          <p:cNvPr id="17" name="16 Rectángulo"/>
          <p:cNvSpPr/>
          <p:nvPr/>
        </p:nvSpPr>
        <p:spPr>
          <a:xfrm>
            <a:off x="3884794" y="5010160"/>
            <a:ext cx="1615900" cy="704856"/>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Auto</a:t>
            </a:r>
          </a:p>
        </p:txBody>
      </p:sp>
      <p:sp>
        <p:nvSpPr>
          <p:cNvPr id="18" name="17 Rectángulo"/>
          <p:cNvSpPr/>
          <p:nvPr/>
        </p:nvSpPr>
        <p:spPr>
          <a:xfrm>
            <a:off x="5670744" y="5010160"/>
            <a:ext cx="1615900" cy="704856"/>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Motocicleta</a:t>
            </a:r>
          </a:p>
        </p:txBody>
      </p:sp>
      <p:cxnSp>
        <p:nvCxnSpPr>
          <p:cNvPr id="19" name="18 Conector recto"/>
          <p:cNvCxnSpPr>
            <a:stCxn id="0" idx="0"/>
            <a:endCxn id="9" idx="5"/>
          </p:cNvCxnSpPr>
          <p:nvPr/>
        </p:nvCxnSpPr>
        <p:spPr>
          <a:xfrm rot="5400000" flipH="1" flipV="1">
            <a:off x="3154363" y="3824288"/>
            <a:ext cx="938212" cy="14335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21 Conector recto"/>
          <p:cNvCxnSpPr>
            <a:stCxn id="0" idx="0"/>
            <a:endCxn id="9" idx="0"/>
          </p:cNvCxnSpPr>
          <p:nvPr/>
        </p:nvCxnSpPr>
        <p:spPr>
          <a:xfrm rot="16200000" flipV="1">
            <a:off x="4395787" y="4713288"/>
            <a:ext cx="581025" cy="127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26 Conector recto"/>
          <p:cNvCxnSpPr>
            <a:stCxn id="9" idx="1"/>
            <a:endCxn id="0" idx="0"/>
          </p:cNvCxnSpPr>
          <p:nvPr/>
        </p:nvCxnSpPr>
        <p:spPr>
          <a:xfrm>
            <a:off x="5018088" y="4071938"/>
            <a:ext cx="1460500" cy="9382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10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10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down)">
                                      <p:cBhvr>
                                        <p:cTn id="18" dur="500"/>
                                        <p:tgtEl>
                                          <p:spTgt spid="19"/>
                                        </p:tgtEl>
                                      </p:cBhvr>
                                    </p:animEffect>
                                  </p:childTnLst>
                                </p:cTn>
                              </p:par>
                              <p:par>
                                <p:cTn id="19" presetID="22" presetClass="entr" presetSubtype="4"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down)">
                                      <p:cBhvr>
                                        <p:cTn id="21" dur="500"/>
                                        <p:tgtEl>
                                          <p:spTgt spid="22"/>
                                        </p:tgtEl>
                                      </p:cBhvr>
                                    </p:animEffect>
                                  </p:childTnLst>
                                </p:cTn>
                              </p:par>
                              <p:par>
                                <p:cTn id="22" presetID="22" presetClass="entr" presetSubtype="4"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down)">
                                      <p:cBhvr>
                                        <p:cTn id="24" dur="500"/>
                                        <p:tgtEl>
                                          <p:spTgt spid="27"/>
                                        </p:tgtEl>
                                      </p:cBhvr>
                                    </p:animEffect>
                                  </p:childTnLst>
                                </p:cTn>
                              </p:par>
                            </p:childTnLst>
                          </p:cTn>
                        </p:par>
                        <p:par>
                          <p:cTn id="25" fill="hold">
                            <p:stCondLst>
                              <p:cond delay="500"/>
                            </p:stCondLst>
                            <p:childTnLst>
                              <p:par>
                                <p:cTn id="26" presetID="22" presetClass="entr" presetSubtype="4"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down)">
                                      <p:cBhvr>
                                        <p:cTn id="28" dur="500"/>
                                        <p:tgtEl>
                                          <p:spTgt spid="2"/>
                                        </p:tgtEl>
                                      </p:cBhvr>
                                    </p:animEffect>
                                  </p:childTnLst>
                                </p:cTn>
                              </p:par>
                            </p:childTnLst>
                          </p:cTn>
                        </p:par>
                        <p:par>
                          <p:cTn id="29" fill="hold">
                            <p:stCondLst>
                              <p:cond delay="1000"/>
                            </p:stCondLst>
                            <p:childTnLst>
                              <p:par>
                                <p:cTn id="30" presetID="22" presetClass="entr" presetSubtype="4"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down)">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1 Rectángulo"/>
          <p:cNvSpPr>
            <a:spLocks noChangeArrowheads="1"/>
          </p:cNvSpPr>
          <p:nvPr/>
        </p:nvSpPr>
        <p:spPr bwMode="auto">
          <a:xfrm>
            <a:off x="357188" y="1071563"/>
            <a:ext cx="8675687" cy="523875"/>
          </a:xfrm>
          <a:prstGeom prst="rect">
            <a:avLst/>
          </a:prstGeom>
          <a:noFill/>
          <a:ln w="9525">
            <a:noFill/>
            <a:miter lim="800000"/>
            <a:headEnd/>
            <a:tailEnd/>
          </a:ln>
        </p:spPr>
        <p:txBody>
          <a:bodyPr wrap="none">
            <a:spAutoFit/>
          </a:bodyPr>
          <a:lstStyle/>
          <a:p>
            <a:r>
              <a:rPr lang="es-ES" sz="2800" b="1"/>
              <a:t>Subclase y Superclase – </a:t>
            </a:r>
            <a:r>
              <a:rPr lang="es-ES" sz="2800" b="1">
                <a:solidFill>
                  <a:srgbClr val="FF0000"/>
                </a:solidFill>
              </a:rPr>
              <a:t>Notación en el Diagrama</a:t>
            </a:r>
          </a:p>
        </p:txBody>
      </p:sp>
      <p:sp>
        <p:nvSpPr>
          <p:cNvPr id="110595"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5" name="4 Rectángulo"/>
          <p:cNvSpPr/>
          <p:nvPr/>
        </p:nvSpPr>
        <p:spPr>
          <a:xfrm>
            <a:off x="3803832" y="2214554"/>
            <a:ext cx="1714512" cy="714380"/>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Empleado Hospital</a:t>
            </a:r>
          </a:p>
        </p:txBody>
      </p:sp>
      <p:cxnSp>
        <p:nvCxnSpPr>
          <p:cNvPr id="6" name="5 Conector recto"/>
          <p:cNvCxnSpPr>
            <a:endCxn id="0" idx="2"/>
          </p:cNvCxnSpPr>
          <p:nvPr/>
        </p:nvCxnSpPr>
        <p:spPr>
          <a:xfrm rot="16200000" flipV="1">
            <a:off x="4277519" y="3312319"/>
            <a:ext cx="785812" cy="1905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 name="10 Grupo"/>
          <p:cNvGrpSpPr/>
          <p:nvPr/>
        </p:nvGrpSpPr>
        <p:grpSpPr>
          <a:xfrm>
            <a:off x="4000496" y="3714752"/>
            <a:ext cx="1357322" cy="714380"/>
            <a:chOff x="4143372" y="4857760"/>
            <a:chExt cx="1357322" cy="714380"/>
          </a:xfrm>
          <a:scene3d>
            <a:camera prst="orthographicFront">
              <a:rot lat="0" lon="0" rev="0"/>
            </a:camera>
            <a:lightRig rig="balanced" dir="t">
              <a:rot lat="0" lon="0" rev="8700000"/>
            </a:lightRig>
          </a:scene3d>
        </p:grpSpPr>
        <p:sp>
          <p:nvSpPr>
            <p:cNvPr id="9" name="8 Triángulo isósceles"/>
            <p:cNvSpPr/>
            <p:nvPr/>
          </p:nvSpPr>
          <p:spPr>
            <a:xfrm rot="10800000">
              <a:off x="4143372" y="4857760"/>
              <a:ext cx="1357322" cy="714380"/>
            </a:xfrm>
            <a:prstGeom prst="triangle">
              <a:avLst/>
            </a:prstGeom>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2000" dirty="0"/>
            </a:p>
          </p:txBody>
        </p:sp>
        <p:sp>
          <p:nvSpPr>
            <p:cNvPr id="10" name="9 CuadroTexto"/>
            <p:cNvSpPr txBox="1"/>
            <p:nvPr/>
          </p:nvSpPr>
          <p:spPr>
            <a:xfrm>
              <a:off x="4500562" y="4929198"/>
              <a:ext cx="527452" cy="307777"/>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p>
              <a:pPr>
                <a:defRPr/>
              </a:pPr>
              <a:r>
                <a:rPr lang="es-ES" sz="1400" b="1" dirty="0">
                  <a:solidFill>
                    <a:schemeClr val="bg1"/>
                  </a:solidFill>
                </a:rPr>
                <a:t>IS A</a:t>
              </a:r>
            </a:p>
          </p:txBody>
        </p:sp>
      </p:grpSp>
      <p:sp>
        <p:nvSpPr>
          <p:cNvPr id="16" name="15 Rectángulo"/>
          <p:cNvSpPr/>
          <p:nvPr/>
        </p:nvSpPr>
        <p:spPr>
          <a:xfrm>
            <a:off x="2098844" y="5010160"/>
            <a:ext cx="1615900" cy="704856"/>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Médico</a:t>
            </a:r>
          </a:p>
        </p:txBody>
      </p:sp>
      <p:sp>
        <p:nvSpPr>
          <p:cNvPr id="17" name="16 Rectángulo"/>
          <p:cNvSpPr/>
          <p:nvPr/>
        </p:nvSpPr>
        <p:spPr>
          <a:xfrm>
            <a:off x="3884794" y="5010160"/>
            <a:ext cx="1615900" cy="704856"/>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Enfermera</a:t>
            </a:r>
          </a:p>
        </p:txBody>
      </p:sp>
      <p:sp>
        <p:nvSpPr>
          <p:cNvPr id="18" name="17 Rectángulo"/>
          <p:cNvSpPr/>
          <p:nvPr/>
        </p:nvSpPr>
        <p:spPr>
          <a:xfrm>
            <a:off x="5670744" y="5010160"/>
            <a:ext cx="1615900" cy="704856"/>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Auxiliar</a:t>
            </a:r>
          </a:p>
        </p:txBody>
      </p:sp>
      <p:cxnSp>
        <p:nvCxnSpPr>
          <p:cNvPr id="19" name="18 Conector recto"/>
          <p:cNvCxnSpPr>
            <a:stCxn id="0" idx="0"/>
            <a:endCxn id="9" idx="5"/>
          </p:cNvCxnSpPr>
          <p:nvPr/>
        </p:nvCxnSpPr>
        <p:spPr>
          <a:xfrm rot="5400000" flipH="1" flipV="1">
            <a:off x="3154363" y="3824288"/>
            <a:ext cx="938212" cy="14335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21 Conector recto"/>
          <p:cNvCxnSpPr>
            <a:stCxn id="0" idx="0"/>
            <a:endCxn id="9" idx="0"/>
          </p:cNvCxnSpPr>
          <p:nvPr/>
        </p:nvCxnSpPr>
        <p:spPr>
          <a:xfrm rot="16200000" flipV="1">
            <a:off x="4395787" y="4713288"/>
            <a:ext cx="581025" cy="127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26 Conector recto"/>
          <p:cNvCxnSpPr>
            <a:stCxn id="9" idx="1"/>
            <a:endCxn id="0" idx="0"/>
          </p:cNvCxnSpPr>
          <p:nvPr/>
        </p:nvCxnSpPr>
        <p:spPr>
          <a:xfrm>
            <a:off x="5018088" y="4071938"/>
            <a:ext cx="1460500" cy="9382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10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10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down)">
                                      <p:cBhvr>
                                        <p:cTn id="18" dur="500"/>
                                        <p:tgtEl>
                                          <p:spTgt spid="19"/>
                                        </p:tgtEl>
                                      </p:cBhvr>
                                    </p:animEffect>
                                  </p:childTnLst>
                                </p:cTn>
                              </p:par>
                              <p:par>
                                <p:cTn id="19" presetID="22" presetClass="entr" presetSubtype="4"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down)">
                                      <p:cBhvr>
                                        <p:cTn id="21" dur="500"/>
                                        <p:tgtEl>
                                          <p:spTgt spid="22"/>
                                        </p:tgtEl>
                                      </p:cBhvr>
                                    </p:animEffect>
                                  </p:childTnLst>
                                </p:cTn>
                              </p:par>
                              <p:par>
                                <p:cTn id="22" presetID="22" presetClass="entr" presetSubtype="4"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down)">
                                      <p:cBhvr>
                                        <p:cTn id="24" dur="500"/>
                                        <p:tgtEl>
                                          <p:spTgt spid="27"/>
                                        </p:tgtEl>
                                      </p:cBhvr>
                                    </p:animEffect>
                                  </p:childTnLst>
                                </p:cTn>
                              </p:par>
                            </p:childTnLst>
                          </p:cTn>
                        </p:par>
                        <p:par>
                          <p:cTn id="25" fill="hold">
                            <p:stCondLst>
                              <p:cond delay="500"/>
                            </p:stCondLst>
                            <p:childTnLst>
                              <p:par>
                                <p:cTn id="26" presetID="22" presetClass="entr" presetSubtype="4"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down)">
                                      <p:cBhvr>
                                        <p:cTn id="28" dur="500"/>
                                        <p:tgtEl>
                                          <p:spTgt spid="2"/>
                                        </p:tgtEl>
                                      </p:cBhvr>
                                    </p:animEffect>
                                  </p:childTnLst>
                                </p:cTn>
                              </p:par>
                            </p:childTnLst>
                          </p:cTn>
                        </p:par>
                        <p:par>
                          <p:cTn id="29" fill="hold">
                            <p:stCondLst>
                              <p:cond delay="1000"/>
                            </p:stCondLst>
                            <p:childTnLst>
                              <p:par>
                                <p:cTn id="30" presetID="22" presetClass="entr" presetSubtype="4"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down)">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1 Rectángulo"/>
          <p:cNvSpPr>
            <a:spLocks noChangeArrowheads="1"/>
          </p:cNvSpPr>
          <p:nvPr/>
        </p:nvSpPr>
        <p:spPr bwMode="auto">
          <a:xfrm>
            <a:off x="357188" y="1857375"/>
            <a:ext cx="8501062" cy="3970338"/>
          </a:xfrm>
          <a:prstGeom prst="rect">
            <a:avLst/>
          </a:prstGeom>
          <a:noFill/>
          <a:ln w="9525">
            <a:noFill/>
            <a:miter lim="800000"/>
            <a:headEnd/>
            <a:tailEnd/>
          </a:ln>
        </p:spPr>
        <p:txBody>
          <a:bodyPr>
            <a:spAutoFit/>
          </a:bodyPr>
          <a:lstStyle/>
          <a:p>
            <a:pPr marL="179388" indent="-179388" algn="just">
              <a:lnSpc>
                <a:spcPct val="150000"/>
              </a:lnSpc>
              <a:buFont typeface="Arial" charset="0"/>
              <a:buChar char="•"/>
            </a:pPr>
            <a:r>
              <a:rPr lang="es-ES" sz="2400"/>
              <a:t>Una instancia de subtipo </a:t>
            </a:r>
            <a:r>
              <a:rPr lang="es-ES" sz="2400" b="1">
                <a:solidFill>
                  <a:srgbClr val="FF0000"/>
                </a:solidFill>
              </a:rPr>
              <a:t>también es instancia del supertipo</a:t>
            </a:r>
            <a:r>
              <a:rPr lang="es-ES" sz="2400"/>
              <a:t> y es la misma instancia, pero con un papel específico distinto.</a:t>
            </a:r>
          </a:p>
          <a:p>
            <a:pPr marL="179388" indent="-179388" algn="just">
              <a:lnSpc>
                <a:spcPct val="150000"/>
              </a:lnSpc>
              <a:buFont typeface="Arial" charset="0"/>
              <a:buChar char="•"/>
            </a:pPr>
            <a:r>
              <a:rPr lang="es-ES" sz="2400"/>
              <a:t>Una instancia no puede existir sólo por ser miembro de un subtipo: también </a:t>
            </a:r>
            <a:r>
              <a:rPr lang="es-ES" sz="2400" b="1">
                <a:solidFill>
                  <a:srgbClr val="FF0000"/>
                </a:solidFill>
              </a:rPr>
              <a:t>debe ser miembro del supertipo</a:t>
            </a:r>
          </a:p>
          <a:p>
            <a:pPr marL="179388" indent="-179388" algn="just">
              <a:lnSpc>
                <a:spcPct val="150000"/>
              </a:lnSpc>
              <a:buFont typeface="Arial" charset="0"/>
              <a:buChar char="•"/>
            </a:pPr>
            <a:r>
              <a:rPr lang="es-ES" sz="2400"/>
              <a:t>Una instancia del supertipo </a:t>
            </a:r>
            <a:r>
              <a:rPr lang="es-ES" sz="2400" b="1">
                <a:solidFill>
                  <a:srgbClr val="FF0000"/>
                </a:solidFill>
              </a:rPr>
              <a:t>puede no ser miembro de ningún subtipo</a:t>
            </a:r>
            <a:endParaRPr lang="es-ES" b="1">
              <a:solidFill>
                <a:srgbClr val="FF0000"/>
              </a:solidFill>
            </a:endParaRPr>
          </a:p>
        </p:txBody>
      </p:sp>
      <p:sp>
        <p:nvSpPr>
          <p:cNvPr id="111619" name="2 Rectángulo"/>
          <p:cNvSpPr>
            <a:spLocks noChangeArrowheads="1"/>
          </p:cNvSpPr>
          <p:nvPr/>
        </p:nvSpPr>
        <p:spPr bwMode="auto">
          <a:xfrm>
            <a:off x="785813" y="1071563"/>
            <a:ext cx="7777162" cy="461962"/>
          </a:xfrm>
          <a:prstGeom prst="rect">
            <a:avLst/>
          </a:prstGeom>
          <a:noFill/>
          <a:ln w="9525">
            <a:noFill/>
            <a:miter lim="800000"/>
            <a:headEnd/>
            <a:tailEnd/>
          </a:ln>
        </p:spPr>
        <p:txBody>
          <a:bodyPr wrap="none">
            <a:spAutoFit/>
          </a:bodyPr>
          <a:lstStyle/>
          <a:p>
            <a:r>
              <a:rPr lang="es-ES" sz="2400" b="1" u="sng"/>
              <a:t>Algunas consideraciones de Subclase y Superclase</a:t>
            </a:r>
            <a:endParaRPr lang="es-ES" sz="2400" b="1" u="sng">
              <a:solidFill>
                <a:srgbClr val="FF0000"/>
              </a:solidFill>
            </a:endParaRPr>
          </a:p>
        </p:txBody>
      </p:sp>
      <p:sp>
        <p:nvSpPr>
          <p:cNvPr id="111620"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1 Rectángulo"/>
          <p:cNvSpPr>
            <a:spLocks noChangeArrowheads="1"/>
          </p:cNvSpPr>
          <p:nvPr/>
        </p:nvSpPr>
        <p:spPr bwMode="auto">
          <a:xfrm>
            <a:off x="1285875" y="2035175"/>
            <a:ext cx="6715125" cy="2678113"/>
          </a:xfrm>
          <a:prstGeom prst="rect">
            <a:avLst/>
          </a:prstGeom>
          <a:noFill/>
          <a:ln w="9525">
            <a:noFill/>
            <a:miter lim="800000"/>
            <a:headEnd/>
            <a:tailEnd/>
          </a:ln>
        </p:spPr>
        <p:txBody>
          <a:bodyPr>
            <a:spAutoFit/>
          </a:bodyPr>
          <a:lstStyle/>
          <a:p>
            <a:pPr algn="just"/>
            <a:r>
              <a:rPr lang="es-ES" sz="2800"/>
              <a:t>Las Subclases están unidas mediante líneas a un circulo, que conecta con la superclase. El símbolo de pertenencia en las líneas entre las subclases y el circulo representan la </a:t>
            </a:r>
            <a:r>
              <a:rPr lang="es-ES" sz="2800" b="1"/>
              <a:t>dirección de la relación clase/subclase</a:t>
            </a:r>
            <a:r>
              <a:rPr lang="es-ES" sz="2800"/>
              <a:t>. </a:t>
            </a:r>
          </a:p>
        </p:txBody>
      </p:sp>
      <p:sp>
        <p:nvSpPr>
          <p:cNvPr id="112643" name="1 Rectángulo"/>
          <p:cNvSpPr>
            <a:spLocks noChangeArrowheads="1"/>
          </p:cNvSpPr>
          <p:nvPr/>
        </p:nvSpPr>
        <p:spPr bwMode="auto">
          <a:xfrm>
            <a:off x="357188" y="714375"/>
            <a:ext cx="6858000" cy="523875"/>
          </a:xfrm>
          <a:prstGeom prst="rect">
            <a:avLst/>
          </a:prstGeom>
          <a:noFill/>
          <a:ln w="9525">
            <a:noFill/>
            <a:miter lim="800000"/>
            <a:headEnd/>
            <a:tailEnd/>
          </a:ln>
        </p:spPr>
        <p:txBody>
          <a:bodyPr wrap="none">
            <a:spAutoFit/>
          </a:bodyPr>
          <a:lstStyle/>
          <a:p>
            <a:r>
              <a:rPr lang="es-ES" sz="2800" b="1"/>
              <a:t>Subclase y Superclase – </a:t>
            </a:r>
            <a:r>
              <a:rPr lang="es-ES" sz="2800" b="1">
                <a:solidFill>
                  <a:srgbClr val="FF0000"/>
                </a:solidFill>
              </a:rPr>
              <a:t>Otra</a:t>
            </a:r>
            <a:r>
              <a:rPr lang="es-ES" sz="2800" b="1"/>
              <a:t> </a:t>
            </a:r>
            <a:r>
              <a:rPr lang="es-ES" sz="2800" b="1">
                <a:solidFill>
                  <a:srgbClr val="FF0000"/>
                </a:solidFill>
              </a:rPr>
              <a:t>Notación</a:t>
            </a:r>
          </a:p>
        </p:txBody>
      </p:sp>
      <p:sp>
        <p:nvSpPr>
          <p:cNvPr id="112644"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1 Rectángulo"/>
          <p:cNvSpPr>
            <a:spLocks noChangeArrowheads="1"/>
          </p:cNvSpPr>
          <p:nvPr/>
        </p:nvSpPr>
        <p:spPr bwMode="auto">
          <a:xfrm>
            <a:off x="357188" y="714375"/>
            <a:ext cx="6858000" cy="523875"/>
          </a:xfrm>
          <a:prstGeom prst="rect">
            <a:avLst/>
          </a:prstGeom>
          <a:noFill/>
          <a:ln w="9525">
            <a:noFill/>
            <a:miter lim="800000"/>
            <a:headEnd/>
            <a:tailEnd/>
          </a:ln>
        </p:spPr>
        <p:txBody>
          <a:bodyPr wrap="none">
            <a:spAutoFit/>
          </a:bodyPr>
          <a:lstStyle/>
          <a:p>
            <a:r>
              <a:rPr lang="es-ES" sz="2800" b="1"/>
              <a:t>Subclase y Superclase – </a:t>
            </a:r>
            <a:r>
              <a:rPr lang="es-ES" sz="2800" b="1">
                <a:solidFill>
                  <a:srgbClr val="FF0000"/>
                </a:solidFill>
              </a:rPr>
              <a:t>Otra</a:t>
            </a:r>
            <a:r>
              <a:rPr lang="es-ES" sz="2800" b="1"/>
              <a:t> </a:t>
            </a:r>
            <a:r>
              <a:rPr lang="es-ES" sz="2800" b="1">
                <a:solidFill>
                  <a:srgbClr val="FF0000"/>
                </a:solidFill>
              </a:rPr>
              <a:t>Notación</a:t>
            </a:r>
          </a:p>
        </p:txBody>
      </p:sp>
      <p:sp>
        <p:nvSpPr>
          <p:cNvPr id="113667"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4" name="3 Rectángulo"/>
          <p:cNvSpPr/>
          <p:nvPr/>
        </p:nvSpPr>
        <p:spPr>
          <a:xfrm>
            <a:off x="3803832" y="2214554"/>
            <a:ext cx="1714512" cy="714380"/>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Empleado Hospital</a:t>
            </a:r>
          </a:p>
        </p:txBody>
      </p:sp>
      <p:cxnSp>
        <p:nvCxnSpPr>
          <p:cNvPr id="5" name="4 Conector recto"/>
          <p:cNvCxnSpPr>
            <a:stCxn id="0" idx="0"/>
          </p:cNvCxnSpPr>
          <p:nvPr/>
        </p:nvCxnSpPr>
        <p:spPr>
          <a:xfrm rot="16200000" flipV="1">
            <a:off x="4279900" y="3309938"/>
            <a:ext cx="781050" cy="1905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8 Rectángulo"/>
          <p:cNvSpPr/>
          <p:nvPr/>
        </p:nvSpPr>
        <p:spPr>
          <a:xfrm>
            <a:off x="2098844" y="5010160"/>
            <a:ext cx="1615900" cy="704856"/>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Médico</a:t>
            </a:r>
          </a:p>
        </p:txBody>
      </p:sp>
      <p:sp>
        <p:nvSpPr>
          <p:cNvPr id="10" name="9 Rectángulo"/>
          <p:cNvSpPr/>
          <p:nvPr/>
        </p:nvSpPr>
        <p:spPr>
          <a:xfrm>
            <a:off x="3884794" y="5010160"/>
            <a:ext cx="1615900" cy="704856"/>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Enfermera</a:t>
            </a:r>
          </a:p>
        </p:txBody>
      </p:sp>
      <p:sp>
        <p:nvSpPr>
          <p:cNvPr id="11" name="10 Rectángulo"/>
          <p:cNvSpPr/>
          <p:nvPr/>
        </p:nvSpPr>
        <p:spPr>
          <a:xfrm>
            <a:off x="5670744" y="5010160"/>
            <a:ext cx="1615900" cy="704856"/>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Auxiliar</a:t>
            </a:r>
          </a:p>
        </p:txBody>
      </p:sp>
      <p:cxnSp>
        <p:nvCxnSpPr>
          <p:cNvPr id="12" name="11 Conector recto"/>
          <p:cNvCxnSpPr>
            <a:endCxn id="0" idx="2"/>
          </p:cNvCxnSpPr>
          <p:nvPr/>
        </p:nvCxnSpPr>
        <p:spPr>
          <a:xfrm flipV="1">
            <a:off x="2906713" y="3952875"/>
            <a:ext cx="1522412" cy="10572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12 Conector recto"/>
          <p:cNvCxnSpPr>
            <a:endCxn id="0" idx="4"/>
          </p:cNvCxnSpPr>
          <p:nvPr/>
        </p:nvCxnSpPr>
        <p:spPr>
          <a:xfrm rot="16200000" flipV="1">
            <a:off x="4279106" y="4596607"/>
            <a:ext cx="814387" cy="127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13 Conector recto"/>
          <p:cNvCxnSpPr>
            <a:stCxn id="0" idx="6"/>
          </p:cNvCxnSpPr>
          <p:nvPr/>
        </p:nvCxnSpPr>
        <p:spPr>
          <a:xfrm>
            <a:off x="4929188" y="3952875"/>
            <a:ext cx="1549400" cy="10572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14 Elipse"/>
          <p:cNvSpPr/>
          <p:nvPr/>
        </p:nvSpPr>
        <p:spPr>
          <a:xfrm>
            <a:off x="4429124" y="3710549"/>
            <a:ext cx="500066" cy="485772"/>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2000" dirty="0"/>
          </a:p>
        </p:txBody>
      </p:sp>
      <p:sp>
        <p:nvSpPr>
          <p:cNvPr id="113687" name="24 CuadroTexto"/>
          <p:cNvSpPr txBox="1">
            <a:spLocks noChangeArrowheads="1"/>
          </p:cNvSpPr>
          <p:nvPr/>
        </p:nvSpPr>
        <p:spPr bwMode="auto">
          <a:xfrm rot="-5400000">
            <a:off x="4677570" y="3802856"/>
            <a:ext cx="500062" cy="1323975"/>
          </a:xfrm>
          <a:prstGeom prst="rect">
            <a:avLst/>
          </a:prstGeom>
          <a:noFill/>
          <a:ln w="9525">
            <a:noFill/>
            <a:miter lim="800000"/>
            <a:headEnd/>
            <a:tailEnd/>
          </a:ln>
        </p:spPr>
        <p:txBody>
          <a:bodyPr>
            <a:spAutoFit/>
          </a:bodyPr>
          <a:lstStyle/>
          <a:p>
            <a:r>
              <a:rPr lang="es-ES" sz="4000" b="1">
                <a:solidFill>
                  <a:schemeClr val="accent1"/>
                </a:solidFill>
                <a:sym typeface="Symbol" pitchFamily="18" charset="2"/>
              </a:rPr>
              <a:t></a:t>
            </a:r>
            <a:endParaRPr lang="es-ES" sz="4000" b="1">
              <a:solidFill>
                <a:schemeClr val="accent1"/>
              </a:solidFill>
            </a:endParaRPr>
          </a:p>
          <a:p>
            <a:endParaRPr lang="es-ES" sz="4000" b="1">
              <a:solidFill>
                <a:schemeClr val="accent1"/>
              </a:solidFill>
            </a:endParaRPr>
          </a:p>
        </p:txBody>
      </p:sp>
      <p:sp>
        <p:nvSpPr>
          <p:cNvPr id="113688" name="25 CuadroTexto"/>
          <p:cNvSpPr txBox="1">
            <a:spLocks noChangeArrowheads="1"/>
          </p:cNvSpPr>
          <p:nvPr/>
        </p:nvSpPr>
        <p:spPr bwMode="auto">
          <a:xfrm rot="-8699970">
            <a:off x="5210175" y="3367088"/>
            <a:ext cx="500063" cy="1323975"/>
          </a:xfrm>
          <a:prstGeom prst="rect">
            <a:avLst/>
          </a:prstGeom>
          <a:noFill/>
          <a:ln w="9525">
            <a:noFill/>
            <a:miter lim="800000"/>
            <a:headEnd/>
            <a:tailEnd/>
          </a:ln>
        </p:spPr>
        <p:txBody>
          <a:bodyPr>
            <a:spAutoFit/>
          </a:bodyPr>
          <a:lstStyle/>
          <a:p>
            <a:r>
              <a:rPr lang="es-ES" sz="4000" b="1">
                <a:solidFill>
                  <a:schemeClr val="accent1"/>
                </a:solidFill>
                <a:sym typeface="Symbol" pitchFamily="18" charset="2"/>
              </a:rPr>
              <a:t></a:t>
            </a:r>
            <a:endParaRPr lang="es-ES" sz="4000" b="1">
              <a:solidFill>
                <a:schemeClr val="accent1"/>
              </a:solidFill>
            </a:endParaRPr>
          </a:p>
          <a:p>
            <a:endParaRPr lang="es-ES" sz="4000" b="1">
              <a:solidFill>
                <a:schemeClr val="accent1"/>
              </a:solidFill>
            </a:endParaRPr>
          </a:p>
        </p:txBody>
      </p:sp>
      <p:sp>
        <p:nvSpPr>
          <p:cNvPr id="113689" name="26 CuadroTexto"/>
          <p:cNvSpPr txBox="1">
            <a:spLocks noChangeArrowheads="1"/>
          </p:cNvSpPr>
          <p:nvPr/>
        </p:nvSpPr>
        <p:spPr bwMode="auto">
          <a:xfrm rot="-2185064">
            <a:off x="3678238" y="3862388"/>
            <a:ext cx="500062" cy="708025"/>
          </a:xfrm>
          <a:prstGeom prst="rect">
            <a:avLst/>
          </a:prstGeom>
          <a:noFill/>
          <a:ln w="9525">
            <a:noFill/>
            <a:miter lim="800000"/>
            <a:headEnd/>
            <a:tailEnd/>
          </a:ln>
        </p:spPr>
        <p:txBody>
          <a:bodyPr>
            <a:spAutoFit/>
          </a:bodyPr>
          <a:lstStyle/>
          <a:p>
            <a:r>
              <a:rPr lang="es-ES" sz="4000" b="1">
                <a:solidFill>
                  <a:schemeClr val="accent1"/>
                </a:solidFill>
                <a:sym typeface="Symbol" pitchFamily="18" charset="2"/>
              </a:rPr>
              <a:t></a:t>
            </a:r>
            <a:endParaRPr lang="es-ES" sz="4000" b="1">
              <a:solidFill>
                <a:schemeClr val="accent1"/>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1 Rectángulo"/>
          <p:cNvSpPr>
            <a:spLocks noChangeArrowheads="1"/>
          </p:cNvSpPr>
          <p:nvPr/>
        </p:nvSpPr>
        <p:spPr bwMode="auto">
          <a:xfrm>
            <a:off x="357188" y="714375"/>
            <a:ext cx="5097462" cy="523875"/>
          </a:xfrm>
          <a:prstGeom prst="rect">
            <a:avLst/>
          </a:prstGeom>
          <a:noFill/>
          <a:ln w="9525">
            <a:noFill/>
            <a:miter lim="800000"/>
            <a:headEnd/>
            <a:tailEnd/>
          </a:ln>
        </p:spPr>
        <p:txBody>
          <a:bodyPr wrap="none">
            <a:spAutoFit/>
          </a:bodyPr>
          <a:lstStyle/>
          <a:p>
            <a:r>
              <a:rPr lang="es-ES" sz="2800" b="1"/>
              <a:t>¿Cuándo utilizar Subclases?</a:t>
            </a:r>
          </a:p>
        </p:txBody>
      </p:sp>
      <p:sp>
        <p:nvSpPr>
          <p:cNvPr id="114691"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14692" name="3 Rectángulo"/>
          <p:cNvSpPr>
            <a:spLocks noChangeArrowheads="1"/>
          </p:cNvSpPr>
          <p:nvPr/>
        </p:nvSpPr>
        <p:spPr bwMode="auto">
          <a:xfrm>
            <a:off x="1500188" y="1857375"/>
            <a:ext cx="6429375" cy="3540125"/>
          </a:xfrm>
          <a:prstGeom prst="rect">
            <a:avLst/>
          </a:prstGeom>
          <a:noFill/>
          <a:ln w="9525">
            <a:noFill/>
            <a:miter lim="800000"/>
            <a:headEnd/>
            <a:tailEnd/>
          </a:ln>
        </p:spPr>
        <p:txBody>
          <a:bodyPr>
            <a:spAutoFit/>
          </a:bodyPr>
          <a:lstStyle/>
          <a:p>
            <a:pPr marL="457200" indent="-457200" algn="just">
              <a:buFont typeface="Lucida Sans Unicode" pitchFamily="34" charset="0"/>
              <a:buAutoNum type="arabicPeriod"/>
            </a:pPr>
            <a:r>
              <a:rPr lang="es-ES" sz="2800"/>
              <a:t>Cuando hay atributos que sólo tienen sentido para algunas instancias de un tipo y no para todas. </a:t>
            </a:r>
          </a:p>
          <a:p>
            <a:pPr marL="457200" indent="-457200" algn="just">
              <a:buFont typeface="Lucida Sans Unicode" pitchFamily="34" charset="0"/>
              <a:buAutoNum type="arabicPeriod"/>
            </a:pPr>
            <a:endParaRPr lang="es-ES" sz="2800"/>
          </a:p>
          <a:p>
            <a:pPr marL="457200" indent="-457200" algn="just">
              <a:buFont typeface="Lucida Sans Unicode" pitchFamily="34" charset="0"/>
              <a:buAutoNum type="arabicPeriod"/>
            </a:pPr>
            <a:r>
              <a:rPr lang="es-ES" sz="2800"/>
              <a:t>Cuando hay tipos de relación en los que sólo participan algunas entidades de un tipo y no todas.</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1 Rectángulo"/>
          <p:cNvSpPr>
            <a:spLocks noChangeArrowheads="1"/>
          </p:cNvSpPr>
          <p:nvPr/>
        </p:nvSpPr>
        <p:spPr bwMode="auto">
          <a:xfrm>
            <a:off x="1143000" y="1071563"/>
            <a:ext cx="1704975" cy="523875"/>
          </a:xfrm>
          <a:prstGeom prst="rect">
            <a:avLst/>
          </a:prstGeom>
          <a:noFill/>
          <a:ln w="9525">
            <a:noFill/>
            <a:miter lim="800000"/>
            <a:headEnd/>
            <a:tailEnd/>
          </a:ln>
        </p:spPr>
        <p:txBody>
          <a:bodyPr wrap="none">
            <a:spAutoFit/>
          </a:bodyPr>
          <a:lstStyle/>
          <a:p>
            <a:r>
              <a:rPr lang="es-ES" sz="2800" b="1"/>
              <a:t>Herencia</a:t>
            </a:r>
          </a:p>
        </p:txBody>
      </p:sp>
      <p:sp>
        <p:nvSpPr>
          <p:cNvPr id="115715"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15716" name="3 Rectángulo"/>
          <p:cNvSpPr>
            <a:spLocks noChangeArrowheads="1"/>
          </p:cNvSpPr>
          <p:nvPr/>
        </p:nvSpPr>
        <p:spPr bwMode="auto">
          <a:xfrm>
            <a:off x="1143000" y="2000250"/>
            <a:ext cx="7000875" cy="3786188"/>
          </a:xfrm>
          <a:prstGeom prst="rect">
            <a:avLst/>
          </a:prstGeom>
          <a:noFill/>
          <a:ln w="9525">
            <a:noFill/>
            <a:miter lim="800000"/>
            <a:headEnd/>
            <a:tailEnd/>
          </a:ln>
        </p:spPr>
        <p:txBody>
          <a:bodyPr>
            <a:spAutoFit/>
          </a:bodyPr>
          <a:lstStyle/>
          <a:p>
            <a:pPr marL="358775" indent="-358775" algn="just">
              <a:buFont typeface="Arial" charset="0"/>
              <a:buChar char="•"/>
            </a:pPr>
            <a:r>
              <a:rPr lang="es-ES" sz="2400"/>
              <a:t>Una Subclase puede tener atributos propios y participar en relaciones por separado.</a:t>
            </a:r>
          </a:p>
          <a:p>
            <a:pPr marL="358775" indent="-358775" algn="just">
              <a:buFont typeface="Arial" charset="0"/>
              <a:buChar char="•"/>
            </a:pPr>
            <a:endParaRPr lang="es-ES" sz="2400"/>
          </a:p>
          <a:p>
            <a:pPr marL="358775" indent="-358775" algn="just">
              <a:buFont typeface="Arial" charset="0"/>
              <a:buChar char="•"/>
            </a:pPr>
            <a:r>
              <a:rPr lang="es-ES" sz="2400"/>
              <a:t>Los atributos aplicables solamente a cada una de las Subclases, se denominan </a:t>
            </a:r>
            <a:r>
              <a:rPr lang="es-ES" sz="2400" b="1">
                <a:solidFill>
                  <a:srgbClr val="FF0000"/>
                </a:solidFill>
              </a:rPr>
              <a:t>atributos específicos de la subclase</a:t>
            </a:r>
            <a:r>
              <a:rPr lang="es-ES" sz="2400" b="1"/>
              <a:t>.</a:t>
            </a:r>
          </a:p>
          <a:p>
            <a:pPr marL="358775" indent="-358775" algn="just"/>
            <a:endParaRPr lang="es-ES" sz="2400"/>
          </a:p>
          <a:p>
            <a:pPr marL="358775" indent="-358775" algn="just">
              <a:buFont typeface="Arial" charset="0"/>
              <a:buChar char="•"/>
            </a:pPr>
            <a:r>
              <a:rPr lang="es-ES" sz="2400"/>
              <a:t>Una Subclase </a:t>
            </a:r>
            <a:r>
              <a:rPr lang="es-ES" sz="2400" b="1">
                <a:solidFill>
                  <a:srgbClr val="FF0000"/>
                </a:solidFill>
              </a:rPr>
              <a:t>hereda</a:t>
            </a:r>
            <a:r>
              <a:rPr lang="es-ES" sz="2400"/>
              <a:t> todos los atributos de la Superclase, y todas las relaciones en las que participa la Superclase.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1 Rectángulo"/>
          <p:cNvSpPr>
            <a:spLocks noChangeArrowheads="1"/>
          </p:cNvSpPr>
          <p:nvPr/>
        </p:nvSpPr>
        <p:spPr bwMode="auto">
          <a:xfrm>
            <a:off x="1143000" y="714375"/>
            <a:ext cx="1704975" cy="523875"/>
          </a:xfrm>
          <a:prstGeom prst="rect">
            <a:avLst/>
          </a:prstGeom>
          <a:noFill/>
          <a:ln w="9525">
            <a:noFill/>
            <a:miter lim="800000"/>
            <a:headEnd/>
            <a:tailEnd/>
          </a:ln>
        </p:spPr>
        <p:txBody>
          <a:bodyPr wrap="none">
            <a:spAutoFit/>
          </a:bodyPr>
          <a:lstStyle/>
          <a:p>
            <a:r>
              <a:rPr lang="es-ES" sz="2800" b="1"/>
              <a:t>Herencia</a:t>
            </a:r>
          </a:p>
        </p:txBody>
      </p:sp>
      <p:sp>
        <p:nvSpPr>
          <p:cNvPr id="116739"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4" name="3 Rectángulo"/>
          <p:cNvSpPr/>
          <p:nvPr/>
        </p:nvSpPr>
        <p:spPr>
          <a:xfrm>
            <a:off x="3705220" y="2295516"/>
            <a:ext cx="1714512" cy="357190"/>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Vehículo</a:t>
            </a:r>
          </a:p>
        </p:txBody>
      </p:sp>
      <p:cxnSp>
        <p:nvCxnSpPr>
          <p:cNvPr id="5" name="4 Conector recto"/>
          <p:cNvCxnSpPr>
            <a:endCxn id="0" idx="2"/>
          </p:cNvCxnSpPr>
          <p:nvPr/>
        </p:nvCxnSpPr>
        <p:spPr>
          <a:xfrm rot="16200000" flipV="1">
            <a:off x="4178301" y="3036887"/>
            <a:ext cx="785812" cy="17463"/>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 name="10 Grupo"/>
          <p:cNvGrpSpPr/>
          <p:nvPr/>
        </p:nvGrpSpPr>
        <p:grpSpPr>
          <a:xfrm>
            <a:off x="3901884" y="3224210"/>
            <a:ext cx="1357322" cy="714380"/>
            <a:chOff x="4143372" y="4857760"/>
            <a:chExt cx="1357322" cy="714380"/>
          </a:xfrm>
          <a:scene3d>
            <a:camera prst="orthographicFront">
              <a:rot lat="0" lon="0" rev="0"/>
            </a:camera>
            <a:lightRig rig="balanced" dir="t">
              <a:rot lat="0" lon="0" rev="8700000"/>
            </a:lightRig>
          </a:scene3d>
        </p:grpSpPr>
        <p:sp>
          <p:nvSpPr>
            <p:cNvPr id="7" name="6 Triángulo isósceles"/>
            <p:cNvSpPr/>
            <p:nvPr/>
          </p:nvSpPr>
          <p:spPr>
            <a:xfrm rot="10800000">
              <a:off x="4143372" y="4857760"/>
              <a:ext cx="1357322" cy="714380"/>
            </a:xfrm>
            <a:prstGeom prst="triangle">
              <a:avLst/>
            </a:prstGeom>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2000" dirty="0"/>
            </a:p>
          </p:txBody>
        </p:sp>
        <p:sp>
          <p:nvSpPr>
            <p:cNvPr id="8" name="7 CuadroTexto"/>
            <p:cNvSpPr txBox="1"/>
            <p:nvPr/>
          </p:nvSpPr>
          <p:spPr>
            <a:xfrm>
              <a:off x="4429124" y="4929198"/>
              <a:ext cx="734496" cy="307777"/>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p>
              <a:pPr algn="ctr">
                <a:defRPr/>
              </a:pPr>
              <a:r>
                <a:rPr lang="es-ES" sz="1400" b="1" dirty="0">
                  <a:solidFill>
                    <a:schemeClr val="bg1"/>
                  </a:solidFill>
                </a:rPr>
                <a:t>ES UN</a:t>
              </a:r>
            </a:p>
          </p:txBody>
        </p:sp>
      </p:grpSp>
      <p:sp>
        <p:nvSpPr>
          <p:cNvPr id="9" name="8 Rectángulo"/>
          <p:cNvSpPr/>
          <p:nvPr/>
        </p:nvSpPr>
        <p:spPr>
          <a:xfrm>
            <a:off x="2000232" y="4152904"/>
            <a:ext cx="1615900" cy="419104"/>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Camión</a:t>
            </a:r>
          </a:p>
        </p:txBody>
      </p:sp>
      <p:sp>
        <p:nvSpPr>
          <p:cNvPr id="10" name="9 Rectángulo"/>
          <p:cNvSpPr/>
          <p:nvPr/>
        </p:nvSpPr>
        <p:spPr>
          <a:xfrm>
            <a:off x="3786182" y="4152904"/>
            <a:ext cx="1615900" cy="419104"/>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Auto</a:t>
            </a:r>
          </a:p>
        </p:txBody>
      </p:sp>
      <p:sp>
        <p:nvSpPr>
          <p:cNvPr id="11" name="10 Rectángulo"/>
          <p:cNvSpPr/>
          <p:nvPr/>
        </p:nvSpPr>
        <p:spPr>
          <a:xfrm>
            <a:off x="5572132" y="4152904"/>
            <a:ext cx="1615900" cy="419104"/>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Motocicleta</a:t>
            </a:r>
          </a:p>
        </p:txBody>
      </p:sp>
      <p:cxnSp>
        <p:nvCxnSpPr>
          <p:cNvPr id="12" name="11 Conector recto"/>
          <p:cNvCxnSpPr>
            <a:stCxn id="0" idx="0"/>
          </p:cNvCxnSpPr>
          <p:nvPr/>
        </p:nvCxnSpPr>
        <p:spPr>
          <a:xfrm rot="5400000" flipH="1" flipV="1">
            <a:off x="3239294" y="3150394"/>
            <a:ext cx="571500" cy="14335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12 Conector recto"/>
          <p:cNvCxnSpPr>
            <a:stCxn id="0" idx="0"/>
          </p:cNvCxnSpPr>
          <p:nvPr/>
        </p:nvCxnSpPr>
        <p:spPr>
          <a:xfrm rot="16200000" flipV="1">
            <a:off x="4296569" y="3855244"/>
            <a:ext cx="581025" cy="1428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13 Conector recto"/>
          <p:cNvCxnSpPr>
            <a:endCxn id="0" idx="0"/>
          </p:cNvCxnSpPr>
          <p:nvPr/>
        </p:nvCxnSpPr>
        <p:spPr>
          <a:xfrm>
            <a:off x="4919663" y="3581400"/>
            <a:ext cx="1460500" cy="5715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14 Rectángulo"/>
          <p:cNvSpPr/>
          <p:nvPr/>
        </p:nvSpPr>
        <p:spPr>
          <a:xfrm>
            <a:off x="7715272" y="2295516"/>
            <a:ext cx="1285884" cy="357190"/>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Fabricante</a:t>
            </a:r>
          </a:p>
        </p:txBody>
      </p:sp>
      <p:cxnSp>
        <p:nvCxnSpPr>
          <p:cNvPr id="16" name="15 Conector recto"/>
          <p:cNvCxnSpPr>
            <a:stCxn id="0" idx="3"/>
            <a:endCxn id="0" idx="1"/>
          </p:cNvCxnSpPr>
          <p:nvPr/>
        </p:nvCxnSpPr>
        <p:spPr>
          <a:xfrm>
            <a:off x="5419725" y="2473325"/>
            <a:ext cx="295275" cy="4763"/>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16 Conector recto"/>
          <p:cNvCxnSpPr>
            <a:stCxn id="0" idx="1"/>
            <a:endCxn id="0" idx="3"/>
          </p:cNvCxnSpPr>
          <p:nvPr/>
        </p:nvCxnSpPr>
        <p:spPr>
          <a:xfrm rot="10800000" flipV="1">
            <a:off x="7358063" y="2473325"/>
            <a:ext cx="357187" cy="4763"/>
          </a:xfrm>
          <a:prstGeom prst="line">
            <a:avLst/>
          </a:prstGeom>
          <a:ln w="3175">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17 Decisión"/>
          <p:cNvSpPr/>
          <p:nvPr/>
        </p:nvSpPr>
        <p:spPr>
          <a:xfrm>
            <a:off x="5715008" y="2246770"/>
            <a:ext cx="1643074" cy="463648"/>
          </a:xfrm>
          <a:prstGeom prst="flowChartDecision">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Fabrica</a:t>
            </a:r>
          </a:p>
        </p:txBody>
      </p:sp>
      <p:sp>
        <p:nvSpPr>
          <p:cNvPr id="23" name="22 CuadroTexto"/>
          <p:cNvSpPr txBox="1">
            <a:spLocks noChangeArrowheads="1"/>
          </p:cNvSpPr>
          <p:nvPr/>
        </p:nvSpPr>
        <p:spPr bwMode="auto">
          <a:xfrm>
            <a:off x="6313488" y="1906588"/>
            <a:ext cx="473075" cy="307975"/>
          </a:xfrm>
          <a:prstGeom prst="rect">
            <a:avLst/>
          </a:prstGeom>
          <a:noFill/>
          <a:ln w="9525">
            <a:noFill/>
            <a:miter lim="800000"/>
            <a:headEnd/>
            <a:tailEnd/>
          </a:ln>
        </p:spPr>
        <p:txBody>
          <a:bodyPr wrap="none">
            <a:spAutoFit/>
          </a:bodyPr>
          <a:lstStyle/>
          <a:p>
            <a:r>
              <a:rPr lang="es-ES" sz="1400" b="1"/>
              <a:t>1:N</a:t>
            </a:r>
          </a:p>
        </p:txBody>
      </p:sp>
      <p:sp>
        <p:nvSpPr>
          <p:cNvPr id="36" name="35 Elipse"/>
          <p:cNvSpPr/>
          <p:nvPr/>
        </p:nvSpPr>
        <p:spPr>
          <a:xfrm>
            <a:off x="2928926" y="1285860"/>
            <a:ext cx="1357290"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100" b="1" dirty="0" err="1"/>
              <a:t>nummotor</a:t>
            </a:r>
            <a:endParaRPr lang="es-ES" sz="1100" b="1" dirty="0"/>
          </a:p>
        </p:txBody>
      </p:sp>
      <p:sp>
        <p:nvSpPr>
          <p:cNvPr id="37" name="36 Elipse"/>
          <p:cNvSpPr/>
          <p:nvPr/>
        </p:nvSpPr>
        <p:spPr>
          <a:xfrm>
            <a:off x="4572000" y="1285860"/>
            <a:ext cx="1357290"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100" b="1" dirty="0"/>
              <a:t>precio</a:t>
            </a:r>
          </a:p>
        </p:txBody>
      </p:sp>
      <p:cxnSp>
        <p:nvCxnSpPr>
          <p:cNvPr id="39" name="38 Conector recto"/>
          <p:cNvCxnSpPr>
            <a:stCxn id="0" idx="4"/>
            <a:endCxn id="0" idx="0"/>
          </p:cNvCxnSpPr>
          <p:nvPr/>
        </p:nvCxnSpPr>
        <p:spPr>
          <a:xfrm rot="16200000" flipH="1">
            <a:off x="3758407" y="1491456"/>
            <a:ext cx="652462" cy="9556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39 Conector recto"/>
          <p:cNvCxnSpPr>
            <a:stCxn id="0" idx="4"/>
            <a:endCxn id="0" idx="0"/>
          </p:cNvCxnSpPr>
          <p:nvPr/>
        </p:nvCxnSpPr>
        <p:spPr>
          <a:xfrm rot="5400000">
            <a:off x="4579938" y="1625600"/>
            <a:ext cx="652462" cy="687388"/>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49 Elipse"/>
          <p:cNvSpPr/>
          <p:nvPr/>
        </p:nvSpPr>
        <p:spPr>
          <a:xfrm>
            <a:off x="857224" y="2857496"/>
            <a:ext cx="1357290"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100" b="1" dirty="0" err="1"/>
              <a:t>numejes</a:t>
            </a:r>
            <a:endParaRPr lang="es-ES" sz="1100" b="1" dirty="0"/>
          </a:p>
        </p:txBody>
      </p:sp>
      <p:sp>
        <p:nvSpPr>
          <p:cNvPr id="51" name="50 Elipse"/>
          <p:cNvSpPr/>
          <p:nvPr/>
        </p:nvSpPr>
        <p:spPr>
          <a:xfrm>
            <a:off x="214282" y="3643314"/>
            <a:ext cx="1357290"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100" b="1" dirty="0"/>
              <a:t>tonelaje</a:t>
            </a:r>
          </a:p>
        </p:txBody>
      </p:sp>
      <p:cxnSp>
        <p:nvCxnSpPr>
          <p:cNvPr id="52" name="51 Conector recto"/>
          <p:cNvCxnSpPr>
            <a:stCxn id="0" idx="4"/>
          </p:cNvCxnSpPr>
          <p:nvPr/>
        </p:nvCxnSpPr>
        <p:spPr>
          <a:xfrm rot="16200000" flipH="1">
            <a:off x="1193801" y="3556000"/>
            <a:ext cx="1147762" cy="46513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52 Conector recto"/>
          <p:cNvCxnSpPr>
            <a:stCxn id="0" idx="4"/>
            <a:endCxn id="0" idx="1"/>
          </p:cNvCxnSpPr>
          <p:nvPr/>
        </p:nvCxnSpPr>
        <p:spPr>
          <a:xfrm rot="16200000" flipH="1">
            <a:off x="1265238" y="3627437"/>
            <a:ext cx="361950" cy="11080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2" name="71 Elipse"/>
          <p:cNvSpPr/>
          <p:nvPr/>
        </p:nvSpPr>
        <p:spPr>
          <a:xfrm>
            <a:off x="4643438" y="4786322"/>
            <a:ext cx="1428760"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100" b="1" dirty="0" err="1"/>
              <a:t>numpuertas</a:t>
            </a:r>
            <a:endParaRPr lang="es-ES" sz="1100" b="1" dirty="0"/>
          </a:p>
        </p:txBody>
      </p:sp>
      <p:sp>
        <p:nvSpPr>
          <p:cNvPr id="73" name="72 Elipse"/>
          <p:cNvSpPr/>
          <p:nvPr/>
        </p:nvSpPr>
        <p:spPr>
          <a:xfrm>
            <a:off x="3786182" y="5214950"/>
            <a:ext cx="1500198"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100" b="1" dirty="0" err="1"/>
              <a:t>numpuestos</a:t>
            </a:r>
            <a:endParaRPr lang="es-ES" sz="1100" b="1" dirty="0"/>
          </a:p>
        </p:txBody>
      </p:sp>
      <p:cxnSp>
        <p:nvCxnSpPr>
          <p:cNvPr id="74" name="73 Conector recto"/>
          <p:cNvCxnSpPr>
            <a:stCxn id="0" idx="2"/>
            <a:endCxn id="0" idx="0"/>
          </p:cNvCxnSpPr>
          <p:nvPr/>
        </p:nvCxnSpPr>
        <p:spPr>
          <a:xfrm rot="16200000" flipH="1">
            <a:off x="4868862" y="4297363"/>
            <a:ext cx="214313" cy="763588"/>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74 Conector recto"/>
          <p:cNvCxnSpPr>
            <a:stCxn id="0" idx="2"/>
            <a:endCxn id="0" idx="0"/>
          </p:cNvCxnSpPr>
          <p:nvPr/>
        </p:nvCxnSpPr>
        <p:spPr>
          <a:xfrm rot="5400000">
            <a:off x="4243388" y="4864100"/>
            <a:ext cx="642938" cy="5873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4" name="83 Elipse"/>
          <p:cNvSpPr/>
          <p:nvPr/>
        </p:nvSpPr>
        <p:spPr>
          <a:xfrm>
            <a:off x="7429520" y="3571876"/>
            <a:ext cx="1428760" cy="357190"/>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100" b="1" dirty="0" err="1"/>
              <a:t>cilindraje</a:t>
            </a:r>
            <a:endParaRPr lang="es-ES" sz="1100" b="1" dirty="0"/>
          </a:p>
        </p:txBody>
      </p:sp>
      <p:cxnSp>
        <p:nvCxnSpPr>
          <p:cNvPr id="85" name="84 Conector recto"/>
          <p:cNvCxnSpPr>
            <a:stCxn id="0" idx="3"/>
            <a:endCxn id="0" idx="2"/>
          </p:cNvCxnSpPr>
          <p:nvPr/>
        </p:nvCxnSpPr>
        <p:spPr>
          <a:xfrm flipV="1">
            <a:off x="7188200" y="3751263"/>
            <a:ext cx="241300" cy="61118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4" name="93 Rectángulo"/>
          <p:cNvSpPr/>
          <p:nvPr/>
        </p:nvSpPr>
        <p:spPr>
          <a:xfrm>
            <a:off x="2187652" y="5929330"/>
            <a:ext cx="1285884" cy="357190"/>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Remolque</a:t>
            </a:r>
          </a:p>
        </p:txBody>
      </p:sp>
      <p:sp>
        <p:nvSpPr>
          <p:cNvPr id="112" name="111 Decisión"/>
          <p:cNvSpPr/>
          <p:nvPr/>
        </p:nvSpPr>
        <p:spPr>
          <a:xfrm>
            <a:off x="2112011" y="5072074"/>
            <a:ext cx="1428760" cy="463648"/>
          </a:xfrm>
          <a:prstGeom prst="flowChartDecision">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400" b="1" dirty="0"/>
              <a:t>Lleva</a:t>
            </a:r>
          </a:p>
        </p:txBody>
      </p:sp>
      <p:cxnSp>
        <p:nvCxnSpPr>
          <p:cNvPr id="114" name="113 Conector recto"/>
          <p:cNvCxnSpPr>
            <a:stCxn id="0" idx="2"/>
            <a:endCxn id="0" idx="0"/>
          </p:cNvCxnSpPr>
          <p:nvPr/>
        </p:nvCxnSpPr>
        <p:spPr>
          <a:xfrm rot="16200000" flipH="1">
            <a:off x="2566987" y="4813301"/>
            <a:ext cx="500063" cy="17462"/>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116 Conector recto"/>
          <p:cNvCxnSpPr>
            <a:stCxn id="0" idx="0"/>
            <a:endCxn id="0" idx="2"/>
          </p:cNvCxnSpPr>
          <p:nvPr/>
        </p:nvCxnSpPr>
        <p:spPr>
          <a:xfrm rot="16200000" flipV="1">
            <a:off x="2631282" y="5730081"/>
            <a:ext cx="393700" cy="4763"/>
          </a:xfrm>
          <a:prstGeom prst="line">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22" name="121 CuadroTexto"/>
          <p:cNvSpPr txBox="1">
            <a:spLocks noChangeArrowheads="1"/>
          </p:cNvSpPr>
          <p:nvPr/>
        </p:nvSpPr>
        <p:spPr bwMode="auto">
          <a:xfrm>
            <a:off x="1700213" y="5143500"/>
            <a:ext cx="442912" cy="307975"/>
          </a:xfrm>
          <a:prstGeom prst="rect">
            <a:avLst/>
          </a:prstGeom>
          <a:noFill/>
          <a:ln w="9525">
            <a:noFill/>
            <a:miter lim="800000"/>
            <a:headEnd/>
            <a:tailEnd/>
          </a:ln>
        </p:spPr>
        <p:txBody>
          <a:bodyPr wrap="none">
            <a:spAutoFit/>
          </a:bodyPr>
          <a:lstStyle/>
          <a:p>
            <a:r>
              <a:rPr lang="es-ES" sz="1400" b="1"/>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down)">
                                      <p:cBhvr>
                                        <p:cTn id="18" dur="500"/>
                                        <p:tgtEl>
                                          <p:spTgt spid="12"/>
                                        </p:tgtEl>
                                      </p:cBhvr>
                                    </p:animEffect>
                                  </p:childTnLst>
                                </p:cTn>
                              </p:par>
                              <p:par>
                                <p:cTn id="19" presetID="22" presetClass="entr" presetSubtype="4"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down)">
                                      <p:cBhvr>
                                        <p:cTn id="21" dur="500"/>
                                        <p:tgtEl>
                                          <p:spTgt spid="13"/>
                                        </p:tgtEl>
                                      </p:cBhvr>
                                    </p:animEffect>
                                  </p:childTnLst>
                                </p:cTn>
                              </p:par>
                              <p:par>
                                <p:cTn id="22" presetID="22" presetClass="entr" presetSubtype="4"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childTnLst>
                          </p:cTn>
                        </p:par>
                        <p:par>
                          <p:cTn id="25" fill="hold">
                            <p:stCondLst>
                              <p:cond delay="500"/>
                            </p:stCondLst>
                            <p:childTnLst>
                              <p:par>
                                <p:cTn id="26" presetID="22" presetClass="entr" presetSubtype="4"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down)">
                                      <p:cBhvr>
                                        <p:cTn id="28" dur="500"/>
                                        <p:tgtEl>
                                          <p:spTgt spid="2"/>
                                        </p:tgtEl>
                                      </p:cBhvr>
                                    </p:animEffect>
                                  </p:childTnLst>
                                </p:cTn>
                              </p:par>
                            </p:childTnLst>
                          </p:cTn>
                        </p:par>
                        <p:par>
                          <p:cTn id="29" fill="hold">
                            <p:stCondLst>
                              <p:cond delay="1000"/>
                            </p:stCondLst>
                            <p:childTnLst>
                              <p:par>
                                <p:cTn id="30" presetID="22" presetClass="entr" presetSubtype="4"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down)">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10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wipe(down)">
                                      <p:cBhvr>
                                        <p:cTn id="42" dur="500"/>
                                        <p:tgtEl>
                                          <p:spTgt spid="36"/>
                                        </p:tgtEl>
                                      </p:cBhvr>
                                    </p:animEffect>
                                  </p:childTnLst>
                                </p:cTn>
                              </p:par>
                              <p:par>
                                <p:cTn id="43" presetID="22" presetClass="entr" presetSubtype="4" fill="hold" nodeType="with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wipe(down)">
                                      <p:cBhvr>
                                        <p:cTn id="45" dur="500"/>
                                        <p:tgtEl>
                                          <p:spTgt spid="37"/>
                                        </p:tgtEl>
                                      </p:cBhvr>
                                    </p:animEffect>
                                  </p:childTnLst>
                                </p:cTn>
                              </p:par>
                              <p:par>
                                <p:cTn id="46" presetID="22" presetClass="entr" presetSubtype="4" fill="hold" nodeType="with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wipe(down)">
                                      <p:cBhvr>
                                        <p:cTn id="48" dur="500"/>
                                        <p:tgtEl>
                                          <p:spTgt spid="39"/>
                                        </p:tgtEl>
                                      </p:cBhvr>
                                    </p:animEffect>
                                  </p:childTnLst>
                                </p:cTn>
                              </p:par>
                              <p:par>
                                <p:cTn id="49" presetID="22" presetClass="entr" presetSubtype="4" fill="hold" nodeType="with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wipe(down)">
                                      <p:cBhvr>
                                        <p:cTn id="51" dur="500"/>
                                        <p:tgtEl>
                                          <p:spTgt spid="40"/>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1000"/>
                                        <p:tgtEl>
                                          <p:spTgt spid="1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wipe(right)">
                                      <p:cBhvr>
                                        <p:cTn id="61" dur="500"/>
                                        <p:tgtEl>
                                          <p:spTgt spid="16"/>
                                        </p:tgtEl>
                                      </p:cBhvr>
                                    </p:animEffect>
                                  </p:childTnLst>
                                </p:cTn>
                              </p:par>
                              <p:par>
                                <p:cTn id="62" presetID="22" presetClass="entr" presetSubtype="2" fill="hold"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wipe(right)">
                                      <p:cBhvr>
                                        <p:cTn id="64" dur="500"/>
                                        <p:tgtEl>
                                          <p:spTgt spid="17"/>
                                        </p:tgtEl>
                                      </p:cBhvr>
                                    </p:animEffect>
                                  </p:childTnLst>
                                </p:cTn>
                              </p:par>
                              <p:par>
                                <p:cTn id="65" presetID="22" presetClass="entr" presetSubtype="2" fill="hold"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right)">
                                      <p:cBhvr>
                                        <p:cTn id="67" dur="500"/>
                                        <p:tgtEl>
                                          <p:spTgt spid="18"/>
                                        </p:tgtEl>
                                      </p:cBhvr>
                                    </p:animEffect>
                                  </p:childTnLst>
                                </p:cTn>
                              </p:par>
                              <p:par>
                                <p:cTn id="68" presetID="22" presetClass="entr" presetSubtype="2"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wipe(right)">
                                      <p:cBhvr>
                                        <p:cTn id="70" dur="500"/>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50"/>
                                        </p:tgtEl>
                                        <p:attrNameLst>
                                          <p:attrName>style.visibility</p:attrName>
                                        </p:attrNameLst>
                                      </p:cBhvr>
                                      <p:to>
                                        <p:strVal val="visible"/>
                                      </p:to>
                                    </p:set>
                                    <p:animEffect transition="in" filter="wipe(down)">
                                      <p:cBhvr>
                                        <p:cTn id="75" dur="500"/>
                                        <p:tgtEl>
                                          <p:spTgt spid="50"/>
                                        </p:tgtEl>
                                      </p:cBhvr>
                                    </p:animEffect>
                                  </p:childTnLst>
                                </p:cTn>
                              </p:par>
                              <p:par>
                                <p:cTn id="76" presetID="22" presetClass="entr" presetSubtype="4" fill="hold" nodeType="withEffect">
                                  <p:stCondLst>
                                    <p:cond delay="0"/>
                                  </p:stCondLst>
                                  <p:childTnLst>
                                    <p:set>
                                      <p:cBhvr>
                                        <p:cTn id="77" dur="1" fill="hold">
                                          <p:stCondLst>
                                            <p:cond delay="0"/>
                                          </p:stCondLst>
                                        </p:cTn>
                                        <p:tgtEl>
                                          <p:spTgt spid="51"/>
                                        </p:tgtEl>
                                        <p:attrNameLst>
                                          <p:attrName>style.visibility</p:attrName>
                                        </p:attrNameLst>
                                      </p:cBhvr>
                                      <p:to>
                                        <p:strVal val="visible"/>
                                      </p:to>
                                    </p:set>
                                    <p:animEffect transition="in" filter="wipe(down)">
                                      <p:cBhvr>
                                        <p:cTn id="78" dur="500"/>
                                        <p:tgtEl>
                                          <p:spTgt spid="51"/>
                                        </p:tgtEl>
                                      </p:cBhvr>
                                    </p:animEffect>
                                  </p:childTnLst>
                                </p:cTn>
                              </p:par>
                              <p:par>
                                <p:cTn id="79" presetID="22" presetClass="entr" presetSubtype="4" fill="hold" nodeType="withEffect">
                                  <p:stCondLst>
                                    <p:cond delay="0"/>
                                  </p:stCondLst>
                                  <p:childTnLst>
                                    <p:set>
                                      <p:cBhvr>
                                        <p:cTn id="80" dur="1" fill="hold">
                                          <p:stCondLst>
                                            <p:cond delay="0"/>
                                          </p:stCondLst>
                                        </p:cTn>
                                        <p:tgtEl>
                                          <p:spTgt spid="52"/>
                                        </p:tgtEl>
                                        <p:attrNameLst>
                                          <p:attrName>style.visibility</p:attrName>
                                        </p:attrNameLst>
                                      </p:cBhvr>
                                      <p:to>
                                        <p:strVal val="visible"/>
                                      </p:to>
                                    </p:set>
                                    <p:animEffect transition="in" filter="wipe(down)">
                                      <p:cBhvr>
                                        <p:cTn id="81" dur="500"/>
                                        <p:tgtEl>
                                          <p:spTgt spid="52"/>
                                        </p:tgtEl>
                                      </p:cBhvr>
                                    </p:animEffect>
                                  </p:childTnLst>
                                </p:cTn>
                              </p:par>
                              <p:par>
                                <p:cTn id="82" presetID="22" presetClass="entr" presetSubtype="4" fill="hold" nodeType="withEffect">
                                  <p:stCondLst>
                                    <p:cond delay="0"/>
                                  </p:stCondLst>
                                  <p:childTnLst>
                                    <p:set>
                                      <p:cBhvr>
                                        <p:cTn id="83" dur="1" fill="hold">
                                          <p:stCondLst>
                                            <p:cond delay="0"/>
                                          </p:stCondLst>
                                        </p:cTn>
                                        <p:tgtEl>
                                          <p:spTgt spid="53"/>
                                        </p:tgtEl>
                                        <p:attrNameLst>
                                          <p:attrName>style.visibility</p:attrName>
                                        </p:attrNameLst>
                                      </p:cBhvr>
                                      <p:to>
                                        <p:strVal val="visible"/>
                                      </p:to>
                                    </p:set>
                                    <p:animEffect transition="in" filter="wipe(down)">
                                      <p:cBhvr>
                                        <p:cTn id="84" dur="500"/>
                                        <p:tgtEl>
                                          <p:spTgt spid="53"/>
                                        </p:tgtEl>
                                      </p:cBhvr>
                                    </p:animEffect>
                                  </p:childTnLst>
                                </p:cTn>
                              </p:par>
                              <p:par>
                                <p:cTn id="85" presetID="22" presetClass="entr" presetSubtype="1" fill="hold" nodeType="withEffect">
                                  <p:stCondLst>
                                    <p:cond delay="0"/>
                                  </p:stCondLst>
                                  <p:childTnLst>
                                    <p:set>
                                      <p:cBhvr>
                                        <p:cTn id="86" dur="1" fill="hold">
                                          <p:stCondLst>
                                            <p:cond delay="0"/>
                                          </p:stCondLst>
                                        </p:cTn>
                                        <p:tgtEl>
                                          <p:spTgt spid="72"/>
                                        </p:tgtEl>
                                        <p:attrNameLst>
                                          <p:attrName>style.visibility</p:attrName>
                                        </p:attrNameLst>
                                      </p:cBhvr>
                                      <p:to>
                                        <p:strVal val="visible"/>
                                      </p:to>
                                    </p:set>
                                    <p:animEffect transition="in" filter="wipe(up)">
                                      <p:cBhvr>
                                        <p:cTn id="87" dur="500"/>
                                        <p:tgtEl>
                                          <p:spTgt spid="72"/>
                                        </p:tgtEl>
                                      </p:cBhvr>
                                    </p:animEffect>
                                  </p:childTnLst>
                                </p:cTn>
                              </p:par>
                              <p:par>
                                <p:cTn id="88" presetID="22" presetClass="entr" presetSubtype="1" fill="hold" nodeType="withEffect">
                                  <p:stCondLst>
                                    <p:cond delay="0"/>
                                  </p:stCondLst>
                                  <p:childTnLst>
                                    <p:set>
                                      <p:cBhvr>
                                        <p:cTn id="89" dur="1" fill="hold">
                                          <p:stCondLst>
                                            <p:cond delay="0"/>
                                          </p:stCondLst>
                                        </p:cTn>
                                        <p:tgtEl>
                                          <p:spTgt spid="73"/>
                                        </p:tgtEl>
                                        <p:attrNameLst>
                                          <p:attrName>style.visibility</p:attrName>
                                        </p:attrNameLst>
                                      </p:cBhvr>
                                      <p:to>
                                        <p:strVal val="visible"/>
                                      </p:to>
                                    </p:set>
                                    <p:animEffect transition="in" filter="wipe(up)">
                                      <p:cBhvr>
                                        <p:cTn id="90" dur="500"/>
                                        <p:tgtEl>
                                          <p:spTgt spid="73"/>
                                        </p:tgtEl>
                                      </p:cBhvr>
                                    </p:animEffect>
                                  </p:childTnLst>
                                </p:cTn>
                              </p:par>
                              <p:par>
                                <p:cTn id="91" presetID="22" presetClass="entr" presetSubtype="1" fill="hold" nodeType="withEffect">
                                  <p:stCondLst>
                                    <p:cond delay="0"/>
                                  </p:stCondLst>
                                  <p:childTnLst>
                                    <p:set>
                                      <p:cBhvr>
                                        <p:cTn id="92" dur="1" fill="hold">
                                          <p:stCondLst>
                                            <p:cond delay="0"/>
                                          </p:stCondLst>
                                        </p:cTn>
                                        <p:tgtEl>
                                          <p:spTgt spid="74"/>
                                        </p:tgtEl>
                                        <p:attrNameLst>
                                          <p:attrName>style.visibility</p:attrName>
                                        </p:attrNameLst>
                                      </p:cBhvr>
                                      <p:to>
                                        <p:strVal val="visible"/>
                                      </p:to>
                                    </p:set>
                                    <p:animEffect transition="in" filter="wipe(up)">
                                      <p:cBhvr>
                                        <p:cTn id="93" dur="500"/>
                                        <p:tgtEl>
                                          <p:spTgt spid="74"/>
                                        </p:tgtEl>
                                      </p:cBhvr>
                                    </p:animEffect>
                                  </p:childTnLst>
                                </p:cTn>
                              </p:par>
                              <p:par>
                                <p:cTn id="94" presetID="22" presetClass="entr" presetSubtype="1" fill="hold" nodeType="withEffect">
                                  <p:stCondLst>
                                    <p:cond delay="0"/>
                                  </p:stCondLst>
                                  <p:childTnLst>
                                    <p:set>
                                      <p:cBhvr>
                                        <p:cTn id="95" dur="1" fill="hold">
                                          <p:stCondLst>
                                            <p:cond delay="0"/>
                                          </p:stCondLst>
                                        </p:cTn>
                                        <p:tgtEl>
                                          <p:spTgt spid="75"/>
                                        </p:tgtEl>
                                        <p:attrNameLst>
                                          <p:attrName>style.visibility</p:attrName>
                                        </p:attrNameLst>
                                      </p:cBhvr>
                                      <p:to>
                                        <p:strVal val="visible"/>
                                      </p:to>
                                    </p:set>
                                    <p:animEffect transition="in" filter="wipe(up)">
                                      <p:cBhvr>
                                        <p:cTn id="96" dur="500"/>
                                        <p:tgtEl>
                                          <p:spTgt spid="75"/>
                                        </p:tgtEl>
                                      </p:cBhvr>
                                    </p:animEffect>
                                  </p:childTnLst>
                                </p:cTn>
                              </p:par>
                              <p:par>
                                <p:cTn id="97" presetID="22" presetClass="entr" presetSubtype="8" fill="hold" nodeType="withEffect">
                                  <p:stCondLst>
                                    <p:cond delay="0"/>
                                  </p:stCondLst>
                                  <p:childTnLst>
                                    <p:set>
                                      <p:cBhvr>
                                        <p:cTn id="98" dur="1" fill="hold">
                                          <p:stCondLst>
                                            <p:cond delay="0"/>
                                          </p:stCondLst>
                                        </p:cTn>
                                        <p:tgtEl>
                                          <p:spTgt spid="84"/>
                                        </p:tgtEl>
                                        <p:attrNameLst>
                                          <p:attrName>style.visibility</p:attrName>
                                        </p:attrNameLst>
                                      </p:cBhvr>
                                      <p:to>
                                        <p:strVal val="visible"/>
                                      </p:to>
                                    </p:set>
                                    <p:animEffect transition="in" filter="wipe(left)">
                                      <p:cBhvr>
                                        <p:cTn id="99" dur="500"/>
                                        <p:tgtEl>
                                          <p:spTgt spid="84"/>
                                        </p:tgtEl>
                                      </p:cBhvr>
                                    </p:animEffect>
                                  </p:childTnLst>
                                </p:cTn>
                              </p:par>
                              <p:par>
                                <p:cTn id="100" presetID="22" presetClass="entr" presetSubtype="8" fill="hold" nodeType="withEffect">
                                  <p:stCondLst>
                                    <p:cond delay="0"/>
                                  </p:stCondLst>
                                  <p:childTnLst>
                                    <p:set>
                                      <p:cBhvr>
                                        <p:cTn id="101" dur="1" fill="hold">
                                          <p:stCondLst>
                                            <p:cond delay="0"/>
                                          </p:stCondLst>
                                        </p:cTn>
                                        <p:tgtEl>
                                          <p:spTgt spid="85"/>
                                        </p:tgtEl>
                                        <p:attrNameLst>
                                          <p:attrName>style.visibility</p:attrName>
                                        </p:attrNameLst>
                                      </p:cBhvr>
                                      <p:to>
                                        <p:strVal val="visible"/>
                                      </p:to>
                                    </p:set>
                                    <p:animEffect transition="in" filter="wipe(left)">
                                      <p:cBhvr>
                                        <p:cTn id="102" dur="500"/>
                                        <p:tgtEl>
                                          <p:spTgt spid="85"/>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94"/>
                                        </p:tgtEl>
                                        <p:attrNameLst>
                                          <p:attrName>style.visibility</p:attrName>
                                        </p:attrNameLst>
                                      </p:cBhvr>
                                      <p:to>
                                        <p:strVal val="visible"/>
                                      </p:to>
                                    </p:set>
                                    <p:animEffect transition="in" filter="fade">
                                      <p:cBhvr>
                                        <p:cTn id="107" dur="1000"/>
                                        <p:tgtEl>
                                          <p:spTgt spid="94"/>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112"/>
                                        </p:tgtEl>
                                        <p:attrNameLst>
                                          <p:attrName>style.visibility</p:attrName>
                                        </p:attrNameLst>
                                      </p:cBhvr>
                                      <p:to>
                                        <p:strVal val="visible"/>
                                      </p:to>
                                    </p:set>
                                    <p:animEffect transition="in" filter="fade">
                                      <p:cBhvr>
                                        <p:cTn id="112" dur="500"/>
                                        <p:tgtEl>
                                          <p:spTgt spid="112"/>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22"/>
                                        </p:tgtEl>
                                        <p:attrNameLst>
                                          <p:attrName>style.visibility</p:attrName>
                                        </p:attrNameLst>
                                      </p:cBhvr>
                                      <p:to>
                                        <p:strVal val="visible"/>
                                      </p:to>
                                    </p:set>
                                    <p:animEffect transition="in" filter="fade">
                                      <p:cBhvr>
                                        <p:cTn id="115" dur="500"/>
                                        <p:tgtEl>
                                          <p:spTgt spid="122"/>
                                        </p:tgtEl>
                                      </p:cBhvr>
                                    </p:animEffect>
                                  </p:childTnLst>
                                </p:cTn>
                              </p:par>
                              <p:par>
                                <p:cTn id="116" presetID="22" presetClass="entr" presetSubtype="4" fill="hold" nodeType="withEffect">
                                  <p:stCondLst>
                                    <p:cond delay="0"/>
                                  </p:stCondLst>
                                  <p:childTnLst>
                                    <p:set>
                                      <p:cBhvr>
                                        <p:cTn id="117" dur="1" fill="hold">
                                          <p:stCondLst>
                                            <p:cond delay="0"/>
                                          </p:stCondLst>
                                        </p:cTn>
                                        <p:tgtEl>
                                          <p:spTgt spid="114"/>
                                        </p:tgtEl>
                                        <p:attrNameLst>
                                          <p:attrName>style.visibility</p:attrName>
                                        </p:attrNameLst>
                                      </p:cBhvr>
                                      <p:to>
                                        <p:strVal val="visible"/>
                                      </p:to>
                                    </p:set>
                                    <p:animEffect transition="in" filter="wipe(down)">
                                      <p:cBhvr>
                                        <p:cTn id="118" dur="500"/>
                                        <p:tgtEl>
                                          <p:spTgt spid="114"/>
                                        </p:tgtEl>
                                      </p:cBhvr>
                                    </p:animEffect>
                                  </p:childTnLst>
                                </p:cTn>
                              </p:par>
                              <p:par>
                                <p:cTn id="119" presetID="22" presetClass="entr" presetSubtype="1" fill="hold" nodeType="withEffect">
                                  <p:stCondLst>
                                    <p:cond delay="0"/>
                                  </p:stCondLst>
                                  <p:childTnLst>
                                    <p:set>
                                      <p:cBhvr>
                                        <p:cTn id="120" dur="1" fill="hold">
                                          <p:stCondLst>
                                            <p:cond delay="0"/>
                                          </p:stCondLst>
                                        </p:cTn>
                                        <p:tgtEl>
                                          <p:spTgt spid="117"/>
                                        </p:tgtEl>
                                        <p:attrNameLst>
                                          <p:attrName>style.visibility</p:attrName>
                                        </p:attrNameLst>
                                      </p:cBhvr>
                                      <p:to>
                                        <p:strVal val="visible"/>
                                      </p:to>
                                    </p:set>
                                    <p:animEffect transition="in" filter="wipe(up)">
                                      <p:cBhvr>
                                        <p:cTn id="121"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122"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1 Rectángulo"/>
          <p:cNvSpPr>
            <a:spLocks noChangeArrowheads="1"/>
          </p:cNvSpPr>
          <p:nvPr/>
        </p:nvSpPr>
        <p:spPr bwMode="auto">
          <a:xfrm>
            <a:off x="1143000" y="714375"/>
            <a:ext cx="2862263" cy="523875"/>
          </a:xfrm>
          <a:prstGeom prst="rect">
            <a:avLst/>
          </a:prstGeom>
          <a:noFill/>
          <a:ln w="9525">
            <a:noFill/>
            <a:miter lim="800000"/>
            <a:headEnd/>
            <a:tailEnd/>
          </a:ln>
        </p:spPr>
        <p:txBody>
          <a:bodyPr wrap="none">
            <a:spAutoFit/>
          </a:bodyPr>
          <a:lstStyle/>
          <a:p>
            <a:r>
              <a:rPr lang="es-ES" sz="2800" b="1"/>
              <a:t>Especialización</a:t>
            </a:r>
          </a:p>
        </p:txBody>
      </p:sp>
      <p:sp>
        <p:nvSpPr>
          <p:cNvPr id="117763"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17764" name="3 Rectángulo"/>
          <p:cNvSpPr>
            <a:spLocks noChangeArrowheads="1"/>
          </p:cNvSpPr>
          <p:nvPr/>
        </p:nvSpPr>
        <p:spPr bwMode="auto">
          <a:xfrm>
            <a:off x="1214438" y="1714500"/>
            <a:ext cx="6929437" cy="3786188"/>
          </a:xfrm>
          <a:prstGeom prst="rect">
            <a:avLst/>
          </a:prstGeom>
          <a:noFill/>
          <a:ln w="9525">
            <a:noFill/>
            <a:miter lim="800000"/>
            <a:headEnd/>
            <a:tailEnd/>
          </a:ln>
        </p:spPr>
        <p:txBody>
          <a:bodyPr>
            <a:spAutoFit/>
          </a:bodyPr>
          <a:lstStyle/>
          <a:p>
            <a:pPr algn="just"/>
            <a:r>
              <a:rPr lang="es-ES" sz="2400"/>
              <a:t>El proceso por el que se definen las diferentes subclases de una superclase se conoce como </a:t>
            </a:r>
            <a:r>
              <a:rPr lang="es-ES" sz="2400" b="1">
                <a:solidFill>
                  <a:srgbClr val="FF0000"/>
                </a:solidFill>
              </a:rPr>
              <a:t>especialización</a:t>
            </a:r>
            <a:r>
              <a:rPr lang="es-ES" sz="2400" b="1"/>
              <a:t>. </a:t>
            </a:r>
            <a:r>
              <a:rPr lang="es-ES" sz="2400"/>
              <a:t>El conjunto de subclases se define basándonos en características diferenciadoras de las ocurrencias de entidad de la superclase.</a:t>
            </a:r>
          </a:p>
          <a:p>
            <a:pPr algn="just"/>
            <a:endParaRPr lang="es-ES" sz="2400"/>
          </a:p>
          <a:p>
            <a:pPr algn="just"/>
            <a:r>
              <a:rPr lang="es-ES" sz="2400"/>
              <a:t>Podemos tener varias especializaciones de una misma entidad basándonos en distintos criterios o </a:t>
            </a:r>
            <a:r>
              <a:rPr lang="es-ES" sz="2400" b="1">
                <a:solidFill>
                  <a:srgbClr val="FF0000"/>
                </a:solidFill>
              </a:rPr>
              <a:t>discriminantes</a:t>
            </a:r>
            <a:r>
              <a:rPr lang="es-ES" sz="2400"/>
              <a:t>.</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1 Rectángulo"/>
          <p:cNvSpPr>
            <a:spLocks noChangeArrowheads="1"/>
          </p:cNvSpPr>
          <p:nvPr/>
        </p:nvSpPr>
        <p:spPr bwMode="auto">
          <a:xfrm>
            <a:off x="1143000" y="714375"/>
            <a:ext cx="4876800" cy="523875"/>
          </a:xfrm>
          <a:prstGeom prst="rect">
            <a:avLst/>
          </a:prstGeom>
          <a:noFill/>
          <a:ln w="9525">
            <a:noFill/>
            <a:miter lim="800000"/>
            <a:headEnd/>
            <a:tailEnd/>
          </a:ln>
        </p:spPr>
        <p:txBody>
          <a:bodyPr wrap="none">
            <a:spAutoFit/>
          </a:bodyPr>
          <a:lstStyle/>
          <a:p>
            <a:r>
              <a:rPr lang="es-ES" sz="2800" b="1"/>
              <a:t>Ejemplo de Especialización</a:t>
            </a:r>
          </a:p>
        </p:txBody>
      </p:sp>
      <p:sp>
        <p:nvSpPr>
          <p:cNvPr id="118787"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4" name="3 Rectángulo"/>
          <p:cNvSpPr/>
          <p:nvPr/>
        </p:nvSpPr>
        <p:spPr>
          <a:xfrm>
            <a:off x="3803832" y="2000240"/>
            <a:ext cx="1714512" cy="714380"/>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Empleado</a:t>
            </a:r>
          </a:p>
        </p:txBody>
      </p:sp>
      <p:cxnSp>
        <p:nvCxnSpPr>
          <p:cNvPr id="5" name="4 Conector recto"/>
          <p:cNvCxnSpPr/>
          <p:nvPr/>
        </p:nvCxnSpPr>
        <p:spPr>
          <a:xfrm rot="16200000" flipV="1">
            <a:off x="4277518" y="3098007"/>
            <a:ext cx="785813" cy="1905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 name="10 Grupo"/>
          <p:cNvGrpSpPr/>
          <p:nvPr/>
        </p:nvGrpSpPr>
        <p:grpSpPr>
          <a:xfrm>
            <a:off x="4000496" y="3500438"/>
            <a:ext cx="1357322" cy="714380"/>
            <a:chOff x="4143372" y="4857760"/>
            <a:chExt cx="1357322" cy="714380"/>
          </a:xfrm>
          <a:scene3d>
            <a:camera prst="orthographicFront">
              <a:rot lat="0" lon="0" rev="0"/>
            </a:camera>
            <a:lightRig rig="balanced" dir="t">
              <a:rot lat="0" lon="0" rev="8700000"/>
            </a:lightRig>
          </a:scene3d>
        </p:grpSpPr>
        <p:sp>
          <p:nvSpPr>
            <p:cNvPr id="7" name="6 Triángulo isósceles"/>
            <p:cNvSpPr/>
            <p:nvPr/>
          </p:nvSpPr>
          <p:spPr>
            <a:xfrm rot="10800000">
              <a:off x="4143372" y="4857760"/>
              <a:ext cx="1357322" cy="714380"/>
            </a:xfrm>
            <a:prstGeom prst="triangle">
              <a:avLst/>
            </a:prstGeom>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2000" dirty="0"/>
            </a:p>
          </p:txBody>
        </p:sp>
        <p:sp>
          <p:nvSpPr>
            <p:cNvPr id="8" name="7 CuadroTexto"/>
            <p:cNvSpPr txBox="1"/>
            <p:nvPr/>
          </p:nvSpPr>
          <p:spPr>
            <a:xfrm>
              <a:off x="4429124" y="4929198"/>
              <a:ext cx="734496" cy="307777"/>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p>
              <a:pPr>
                <a:defRPr/>
              </a:pPr>
              <a:r>
                <a:rPr lang="es-ES" sz="1400" b="1" dirty="0">
                  <a:solidFill>
                    <a:schemeClr val="bg1"/>
                  </a:solidFill>
                </a:rPr>
                <a:t>ES UN</a:t>
              </a:r>
            </a:p>
          </p:txBody>
        </p:sp>
      </p:grpSp>
      <p:sp>
        <p:nvSpPr>
          <p:cNvPr id="9" name="8 Rectángulo"/>
          <p:cNvSpPr/>
          <p:nvPr/>
        </p:nvSpPr>
        <p:spPr>
          <a:xfrm>
            <a:off x="2098844" y="4795846"/>
            <a:ext cx="1615900" cy="704856"/>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Secretaria</a:t>
            </a:r>
          </a:p>
        </p:txBody>
      </p:sp>
      <p:sp>
        <p:nvSpPr>
          <p:cNvPr id="10" name="9 Rectángulo"/>
          <p:cNvSpPr/>
          <p:nvPr/>
        </p:nvSpPr>
        <p:spPr>
          <a:xfrm>
            <a:off x="3884794" y="4795846"/>
            <a:ext cx="1615900" cy="704856"/>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Ingeniero</a:t>
            </a:r>
          </a:p>
        </p:txBody>
      </p:sp>
      <p:sp>
        <p:nvSpPr>
          <p:cNvPr id="11" name="10 Rectángulo"/>
          <p:cNvSpPr/>
          <p:nvPr/>
        </p:nvSpPr>
        <p:spPr>
          <a:xfrm>
            <a:off x="5670744" y="4795846"/>
            <a:ext cx="1615900" cy="704856"/>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Técnico</a:t>
            </a:r>
          </a:p>
        </p:txBody>
      </p:sp>
      <p:cxnSp>
        <p:nvCxnSpPr>
          <p:cNvPr id="12" name="11 Conector recto"/>
          <p:cNvCxnSpPr/>
          <p:nvPr/>
        </p:nvCxnSpPr>
        <p:spPr>
          <a:xfrm rot="5400000" flipH="1" flipV="1">
            <a:off x="3154362" y="3609976"/>
            <a:ext cx="938213" cy="14335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12 Conector recto"/>
          <p:cNvCxnSpPr/>
          <p:nvPr/>
        </p:nvCxnSpPr>
        <p:spPr>
          <a:xfrm rot="16200000" flipV="1">
            <a:off x="4395787" y="4498976"/>
            <a:ext cx="581025" cy="127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13 Conector recto"/>
          <p:cNvCxnSpPr/>
          <p:nvPr/>
        </p:nvCxnSpPr>
        <p:spPr>
          <a:xfrm>
            <a:off x="5018088" y="3857625"/>
            <a:ext cx="1460500" cy="938213"/>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 name="21 Grupo"/>
          <p:cNvGrpSpPr>
            <a:grpSpLocks/>
          </p:cNvGrpSpPr>
          <p:nvPr/>
        </p:nvGrpSpPr>
        <p:grpSpPr bwMode="auto">
          <a:xfrm>
            <a:off x="1927225" y="3441700"/>
            <a:ext cx="2216150" cy="369888"/>
            <a:chOff x="1927203" y="3442447"/>
            <a:chExt cx="2216169" cy="369332"/>
          </a:xfrm>
        </p:grpSpPr>
        <p:sp>
          <p:nvSpPr>
            <p:cNvPr id="15" name="14 Elipse"/>
            <p:cNvSpPr/>
            <p:nvPr/>
          </p:nvSpPr>
          <p:spPr>
            <a:xfrm>
              <a:off x="3165076" y="3451691"/>
              <a:ext cx="357190" cy="342896"/>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1600" b="1" dirty="0"/>
            </a:p>
          </p:txBody>
        </p:sp>
        <p:cxnSp>
          <p:nvCxnSpPr>
            <p:cNvPr id="16" name="15 Conector recto"/>
            <p:cNvCxnSpPr/>
            <p:nvPr/>
          </p:nvCxnSpPr>
          <p:spPr>
            <a:xfrm rot="16200000" flipH="1" flipV="1">
              <a:off x="3818726" y="3298505"/>
              <a:ext cx="1585" cy="647706"/>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8819" name="20 CuadroTexto"/>
            <p:cNvSpPr txBox="1">
              <a:spLocks noChangeArrowheads="1"/>
            </p:cNvSpPr>
            <p:nvPr/>
          </p:nvSpPr>
          <p:spPr bwMode="auto">
            <a:xfrm>
              <a:off x="1927203" y="3442447"/>
              <a:ext cx="1184940" cy="369332"/>
            </a:xfrm>
            <a:prstGeom prst="rect">
              <a:avLst/>
            </a:prstGeom>
            <a:noFill/>
            <a:ln w="9525">
              <a:noFill/>
              <a:miter lim="800000"/>
              <a:headEnd/>
              <a:tailEnd/>
            </a:ln>
          </p:spPr>
          <p:txBody>
            <a:bodyPr wrap="none">
              <a:spAutoFit/>
            </a:bodyPr>
            <a:lstStyle/>
            <a:p>
              <a:r>
                <a:rPr lang="es-ES" b="1" i="1">
                  <a:solidFill>
                    <a:schemeClr val="accent1"/>
                  </a:solidFill>
                </a:rPr>
                <a:t>actividad</a:t>
              </a:r>
            </a:p>
          </p:txBody>
        </p:sp>
      </p:grpSp>
      <p:grpSp>
        <p:nvGrpSpPr>
          <p:cNvPr id="6" name="31 Grupo"/>
          <p:cNvGrpSpPr>
            <a:grpSpLocks/>
          </p:cNvGrpSpPr>
          <p:nvPr/>
        </p:nvGrpSpPr>
        <p:grpSpPr bwMode="auto">
          <a:xfrm>
            <a:off x="7358063" y="2201863"/>
            <a:ext cx="1677987" cy="3084512"/>
            <a:chOff x="7358082" y="2202412"/>
            <a:chExt cx="1677688" cy="3083975"/>
          </a:xfrm>
        </p:grpSpPr>
        <p:sp>
          <p:nvSpPr>
            <p:cNvPr id="23" name="22 Forma libre"/>
            <p:cNvSpPr/>
            <p:nvPr/>
          </p:nvSpPr>
          <p:spPr>
            <a:xfrm>
              <a:off x="7358082" y="2527792"/>
              <a:ext cx="1072959" cy="2758595"/>
            </a:xfrm>
            <a:custGeom>
              <a:avLst/>
              <a:gdLst>
                <a:gd name="connsiteX0" fmla="*/ 0 w 995082"/>
                <a:gd name="connsiteY0" fmla="*/ 2702859 h 2742168"/>
                <a:gd name="connsiteX1" fmla="*/ 40341 w 995082"/>
                <a:gd name="connsiteY1" fmla="*/ 2729753 h 2742168"/>
                <a:gd name="connsiteX2" fmla="*/ 228600 w 995082"/>
                <a:gd name="connsiteY2" fmla="*/ 2272553 h 2742168"/>
                <a:gd name="connsiteX3" fmla="*/ 322729 w 995082"/>
                <a:gd name="connsiteY3" fmla="*/ 1909482 h 2742168"/>
                <a:gd name="connsiteX4" fmla="*/ 564776 w 995082"/>
                <a:gd name="connsiteY4" fmla="*/ 1223682 h 2742168"/>
                <a:gd name="connsiteX5" fmla="*/ 712694 w 995082"/>
                <a:gd name="connsiteY5" fmla="*/ 968188 h 2742168"/>
                <a:gd name="connsiteX6" fmla="*/ 753035 w 995082"/>
                <a:gd name="connsiteY6" fmla="*/ 1021977 h 2742168"/>
                <a:gd name="connsiteX7" fmla="*/ 793376 w 995082"/>
                <a:gd name="connsiteY7" fmla="*/ 1264024 h 2742168"/>
                <a:gd name="connsiteX8" fmla="*/ 833717 w 995082"/>
                <a:gd name="connsiteY8" fmla="*/ 1290918 h 2742168"/>
                <a:gd name="connsiteX9" fmla="*/ 874058 w 995082"/>
                <a:gd name="connsiteY9" fmla="*/ 1264024 h 2742168"/>
                <a:gd name="connsiteX10" fmla="*/ 927847 w 995082"/>
                <a:gd name="connsiteY10" fmla="*/ 1129553 h 2742168"/>
                <a:gd name="connsiteX11" fmla="*/ 995082 w 995082"/>
                <a:gd name="connsiteY11" fmla="*/ 833718 h 2742168"/>
                <a:gd name="connsiteX12" fmla="*/ 981635 w 995082"/>
                <a:gd name="connsiteY12" fmla="*/ 0 h 2742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95082" h="2742168">
                  <a:moveTo>
                    <a:pt x="0" y="2702859"/>
                  </a:moveTo>
                  <a:cubicBezTo>
                    <a:pt x="13447" y="2711824"/>
                    <a:pt x="29995" y="2742168"/>
                    <a:pt x="40341" y="2729753"/>
                  </a:cubicBezTo>
                  <a:cubicBezTo>
                    <a:pt x="106198" y="2650724"/>
                    <a:pt x="207068" y="2344840"/>
                    <a:pt x="228600" y="2272553"/>
                  </a:cubicBezTo>
                  <a:cubicBezTo>
                    <a:pt x="264292" y="2152731"/>
                    <a:pt x="288382" y="2029696"/>
                    <a:pt x="322729" y="1909482"/>
                  </a:cubicBezTo>
                  <a:cubicBezTo>
                    <a:pt x="391601" y="1668430"/>
                    <a:pt x="470720" y="1458822"/>
                    <a:pt x="564776" y="1223682"/>
                  </a:cubicBezTo>
                  <a:cubicBezTo>
                    <a:pt x="655263" y="997465"/>
                    <a:pt x="599895" y="1052786"/>
                    <a:pt x="712694" y="968188"/>
                  </a:cubicBezTo>
                  <a:cubicBezTo>
                    <a:pt x="726141" y="986118"/>
                    <a:pt x="747902" y="1000161"/>
                    <a:pt x="753035" y="1021977"/>
                  </a:cubicBezTo>
                  <a:cubicBezTo>
                    <a:pt x="769887" y="1093597"/>
                    <a:pt x="744136" y="1195087"/>
                    <a:pt x="793376" y="1264024"/>
                  </a:cubicBezTo>
                  <a:cubicBezTo>
                    <a:pt x="802769" y="1277175"/>
                    <a:pt x="820270" y="1281953"/>
                    <a:pt x="833717" y="1290918"/>
                  </a:cubicBezTo>
                  <a:cubicBezTo>
                    <a:pt x="847164" y="1281953"/>
                    <a:pt x="863712" y="1276440"/>
                    <a:pt x="874058" y="1264024"/>
                  </a:cubicBezTo>
                  <a:cubicBezTo>
                    <a:pt x="894443" y="1239562"/>
                    <a:pt x="921747" y="1151919"/>
                    <a:pt x="927847" y="1129553"/>
                  </a:cubicBezTo>
                  <a:cubicBezTo>
                    <a:pt x="979618" y="939728"/>
                    <a:pt x="972665" y="968222"/>
                    <a:pt x="995082" y="833718"/>
                  </a:cubicBezTo>
                  <a:cubicBezTo>
                    <a:pt x="981326" y="35861"/>
                    <a:pt x="981635" y="313803"/>
                    <a:pt x="981635" y="0"/>
                  </a:cubicBezTo>
                </a:path>
              </a:pathLst>
            </a:cu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s-ES"/>
            </a:p>
          </p:txBody>
        </p:sp>
        <p:sp>
          <p:nvSpPr>
            <p:cNvPr id="118814" name="23 CuadroTexto"/>
            <p:cNvSpPr txBox="1">
              <a:spLocks noChangeArrowheads="1"/>
            </p:cNvSpPr>
            <p:nvPr/>
          </p:nvSpPr>
          <p:spPr bwMode="auto">
            <a:xfrm>
              <a:off x="7786710" y="2202412"/>
              <a:ext cx="1249060" cy="369332"/>
            </a:xfrm>
            <a:prstGeom prst="rect">
              <a:avLst/>
            </a:prstGeom>
            <a:noFill/>
            <a:ln w="9525">
              <a:noFill/>
              <a:miter lim="800000"/>
              <a:headEnd/>
              <a:tailEnd/>
            </a:ln>
          </p:spPr>
          <p:txBody>
            <a:bodyPr wrap="none">
              <a:spAutoFit/>
            </a:bodyPr>
            <a:lstStyle/>
            <a:p>
              <a:r>
                <a:rPr lang="es-ES" i="1"/>
                <a:t>Subclases</a:t>
              </a:r>
            </a:p>
          </p:txBody>
        </p:sp>
      </p:grpSp>
      <p:grpSp>
        <p:nvGrpSpPr>
          <p:cNvPr id="17" name="32 Grupo"/>
          <p:cNvGrpSpPr>
            <a:grpSpLocks/>
          </p:cNvGrpSpPr>
          <p:nvPr/>
        </p:nvGrpSpPr>
        <p:grpSpPr bwMode="auto">
          <a:xfrm>
            <a:off x="5540375" y="658813"/>
            <a:ext cx="3370263" cy="1344612"/>
            <a:chOff x="5540188" y="658906"/>
            <a:chExt cx="3371036" cy="1344706"/>
          </a:xfrm>
        </p:grpSpPr>
        <p:sp>
          <p:nvSpPr>
            <p:cNvPr id="25" name="24 Forma libre"/>
            <p:cNvSpPr/>
            <p:nvPr/>
          </p:nvSpPr>
          <p:spPr>
            <a:xfrm>
              <a:off x="5540188" y="658906"/>
              <a:ext cx="2057872" cy="1344706"/>
            </a:xfrm>
            <a:custGeom>
              <a:avLst/>
              <a:gdLst>
                <a:gd name="connsiteX0" fmla="*/ 0 w 2057400"/>
                <a:gd name="connsiteY0" fmla="*/ 1344706 h 1344706"/>
                <a:gd name="connsiteX1" fmla="*/ 215153 w 2057400"/>
                <a:gd name="connsiteY1" fmla="*/ 658906 h 1344706"/>
                <a:gd name="connsiteX2" fmla="*/ 363071 w 2057400"/>
                <a:gd name="connsiteY2" fmla="*/ 524435 h 1344706"/>
                <a:gd name="connsiteX3" fmla="*/ 564777 w 2057400"/>
                <a:gd name="connsiteY3" fmla="*/ 618565 h 1344706"/>
                <a:gd name="connsiteX4" fmla="*/ 605118 w 2057400"/>
                <a:gd name="connsiteY4" fmla="*/ 672353 h 1344706"/>
                <a:gd name="connsiteX5" fmla="*/ 658906 w 2057400"/>
                <a:gd name="connsiteY5" fmla="*/ 712694 h 1344706"/>
                <a:gd name="connsiteX6" fmla="*/ 685800 w 2057400"/>
                <a:gd name="connsiteY6" fmla="*/ 753035 h 1344706"/>
                <a:gd name="connsiteX7" fmla="*/ 779930 w 2057400"/>
                <a:gd name="connsiteY7" fmla="*/ 793376 h 1344706"/>
                <a:gd name="connsiteX8" fmla="*/ 874059 w 2057400"/>
                <a:gd name="connsiteY8" fmla="*/ 766482 h 1344706"/>
                <a:gd name="connsiteX9" fmla="*/ 941294 w 2057400"/>
                <a:gd name="connsiteY9" fmla="*/ 726141 h 1344706"/>
                <a:gd name="connsiteX10" fmla="*/ 1008530 w 2057400"/>
                <a:gd name="connsiteY10" fmla="*/ 672353 h 1344706"/>
                <a:gd name="connsiteX11" fmla="*/ 1183341 w 2057400"/>
                <a:gd name="connsiteY11" fmla="*/ 457200 h 1344706"/>
                <a:gd name="connsiteX12" fmla="*/ 1304365 w 2057400"/>
                <a:gd name="connsiteY12" fmla="*/ 322729 h 1344706"/>
                <a:gd name="connsiteX13" fmla="*/ 1492624 w 2057400"/>
                <a:gd name="connsiteY13" fmla="*/ 107576 h 1344706"/>
                <a:gd name="connsiteX14" fmla="*/ 1600200 w 2057400"/>
                <a:gd name="connsiteY14" fmla="*/ 0 h 1344706"/>
                <a:gd name="connsiteX15" fmla="*/ 1667436 w 2057400"/>
                <a:gd name="connsiteY15" fmla="*/ 40341 h 1344706"/>
                <a:gd name="connsiteX16" fmla="*/ 1680883 w 2057400"/>
                <a:gd name="connsiteY16" fmla="*/ 80682 h 1344706"/>
                <a:gd name="connsiteX17" fmla="*/ 1707777 w 2057400"/>
                <a:gd name="connsiteY17" fmla="*/ 201706 h 1344706"/>
                <a:gd name="connsiteX18" fmla="*/ 1761565 w 2057400"/>
                <a:gd name="connsiteY18" fmla="*/ 309282 h 1344706"/>
                <a:gd name="connsiteX19" fmla="*/ 1828800 w 2057400"/>
                <a:gd name="connsiteY19" fmla="*/ 349623 h 1344706"/>
                <a:gd name="connsiteX20" fmla="*/ 1909483 w 2057400"/>
                <a:gd name="connsiteY20" fmla="*/ 403412 h 1344706"/>
                <a:gd name="connsiteX21" fmla="*/ 1936377 w 2057400"/>
                <a:gd name="connsiteY21" fmla="*/ 443753 h 1344706"/>
                <a:gd name="connsiteX22" fmla="*/ 1976718 w 2057400"/>
                <a:gd name="connsiteY22" fmla="*/ 591670 h 1344706"/>
                <a:gd name="connsiteX23" fmla="*/ 2057400 w 2057400"/>
                <a:gd name="connsiteY23" fmla="*/ 537882 h 134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57400" h="1344706">
                  <a:moveTo>
                    <a:pt x="0" y="1344706"/>
                  </a:moveTo>
                  <a:cubicBezTo>
                    <a:pt x="44706" y="1076468"/>
                    <a:pt x="33636" y="1117018"/>
                    <a:pt x="215153" y="658906"/>
                  </a:cubicBezTo>
                  <a:cubicBezTo>
                    <a:pt x="256975" y="553356"/>
                    <a:pt x="282945" y="556486"/>
                    <a:pt x="363071" y="524435"/>
                  </a:cubicBezTo>
                  <a:cubicBezTo>
                    <a:pt x="443988" y="553859"/>
                    <a:pt x="506636" y="560424"/>
                    <a:pt x="564777" y="618565"/>
                  </a:cubicBezTo>
                  <a:cubicBezTo>
                    <a:pt x="580624" y="634412"/>
                    <a:pt x="589271" y="656506"/>
                    <a:pt x="605118" y="672353"/>
                  </a:cubicBezTo>
                  <a:cubicBezTo>
                    <a:pt x="620965" y="688200"/>
                    <a:pt x="643059" y="696847"/>
                    <a:pt x="658906" y="712694"/>
                  </a:cubicBezTo>
                  <a:cubicBezTo>
                    <a:pt x="670334" y="724122"/>
                    <a:pt x="673385" y="742689"/>
                    <a:pt x="685800" y="753035"/>
                  </a:cubicBezTo>
                  <a:cubicBezTo>
                    <a:pt x="707956" y="771498"/>
                    <a:pt x="751904" y="784034"/>
                    <a:pt x="779930" y="793376"/>
                  </a:cubicBezTo>
                  <a:cubicBezTo>
                    <a:pt x="811306" y="784411"/>
                    <a:pt x="843937" y="779033"/>
                    <a:pt x="874059" y="766482"/>
                  </a:cubicBezTo>
                  <a:cubicBezTo>
                    <a:pt x="898185" y="756430"/>
                    <a:pt x="919882" y="741129"/>
                    <a:pt x="941294" y="726141"/>
                  </a:cubicBezTo>
                  <a:cubicBezTo>
                    <a:pt x="964807" y="709682"/>
                    <a:pt x="988235" y="692648"/>
                    <a:pt x="1008530" y="672353"/>
                  </a:cubicBezTo>
                  <a:cubicBezTo>
                    <a:pt x="1071798" y="609085"/>
                    <a:pt x="1126508" y="524690"/>
                    <a:pt x="1183341" y="457200"/>
                  </a:cubicBezTo>
                  <a:cubicBezTo>
                    <a:pt x="1222185" y="411073"/>
                    <a:pt x="1266693" y="369819"/>
                    <a:pt x="1304365" y="322729"/>
                  </a:cubicBezTo>
                  <a:cubicBezTo>
                    <a:pt x="1531855" y="38366"/>
                    <a:pt x="1274124" y="311510"/>
                    <a:pt x="1492624" y="107576"/>
                  </a:cubicBezTo>
                  <a:cubicBezTo>
                    <a:pt x="1529697" y="72974"/>
                    <a:pt x="1600200" y="0"/>
                    <a:pt x="1600200" y="0"/>
                  </a:cubicBezTo>
                  <a:cubicBezTo>
                    <a:pt x="1631931" y="10577"/>
                    <a:pt x="1648977" y="9578"/>
                    <a:pt x="1667436" y="40341"/>
                  </a:cubicBezTo>
                  <a:cubicBezTo>
                    <a:pt x="1674729" y="52495"/>
                    <a:pt x="1676401" y="67235"/>
                    <a:pt x="1680883" y="80682"/>
                  </a:cubicBezTo>
                  <a:cubicBezTo>
                    <a:pt x="1687723" y="121724"/>
                    <a:pt x="1690354" y="163375"/>
                    <a:pt x="1707777" y="201706"/>
                  </a:cubicBezTo>
                  <a:cubicBezTo>
                    <a:pt x="1724367" y="238204"/>
                    <a:pt x="1727187" y="288655"/>
                    <a:pt x="1761565" y="309282"/>
                  </a:cubicBezTo>
                  <a:cubicBezTo>
                    <a:pt x="1783977" y="322729"/>
                    <a:pt x="1806750" y="335591"/>
                    <a:pt x="1828800" y="349623"/>
                  </a:cubicBezTo>
                  <a:cubicBezTo>
                    <a:pt x="1856070" y="366976"/>
                    <a:pt x="1909483" y="403412"/>
                    <a:pt x="1909483" y="403412"/>
                  </a:cubicBezTo>
                  <a:cubicBezTo>
                    <a:pt x="1918448" y="416859"/>
                    <a:pt x="1932125" y="428161"/>
                    <a:pt x="1936377" y="443753"/>
                  </a:cubicBezTo>
                  <a:cubicBezTo>
                    <a:pt x="1982732" y="613720"/>
                    <a:pt x="1915958" y="500530"/>
                    <a:pt x="1976718" y="591670"/>
                  </a:cubicBezTo>
                  <a:cubicBezTo>
                    <a:pt x="2038524" y="545315"/>
                    <a:pt x="2010460" y="561352"/>
                    <a:pt x="2057400" y="537882"/>
                  </a:cubicBezTo>
                </a:path>
              </a:pathLst>
            </a:cu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s-ES"/>
            </a:p>
          </p:txBody>
        </p:sp>
        <p:sp>
          <p:nvSpPr>
            <p:cNvPr id="118812" name="25 CuadroTexto"/>
            <p:cNvSpPr txBox="1">
              <a:spLocks noChangeArrowheads="1"/>
            </p:cNvSpPr>
            <p:nvPr/>
          </p:nvSpPr>
          <p:spPr bwMode="auto">
            <a:xfrm>
              <a:off x="7572396" y="1019063"/>
              <a:ext cx="1338828" cy="369332"/>
            </a:xfrm>
            <a:prstGeom prst="rect">
              <a:avLst/>
            </a:prstGeom>
            <a:noFill/>
            <a:ln w="9525">
              <a:noFill/>
              <a:miter lim="800000"/>
              <a:headEnd/>
              <a:tailEnd/>
            </a:ln>
          </p:spPr>
          <p:txBody>
            <a:bodyPr wrap="none">
              <a:spAutoFit/>
            </a:bodyPr>
            <a:lstStyle/>
            <a:p>
              <a:r>
                <a:rPr lang="es-ES" i="1"/>
                <a:t>Superclase</a:t>
              </a:r>
            </a:p>
          </p:txBody>
        </p:sp>
      </p:grpSp>
      <p:grpSp>
        <p:nvGrpSpPr>
          <p:cNvPr id="18" name="34 Grupo"/>
          <p:cNvGrpSpPr>
            <a:grpSpLocks/>
          </p:cNvGrpSpPr>
          <p:nvPr/>
        </p:nvGrpSpPr>
        <p:grpSpPr bwMode="auto">
          <a:xfrm>
            <a:off x="703263" y="1701800"/>
            <a:ext cx="2524125" cy="1700213"/>
            <a:chOff x="703500" y="1702346"/>
            <a:chExt cx="2523794" cy="1699760"/>
          </a:xfrm>
        </p:grpSpPr>
        <p:sp>
          <p:nvSpPr>
            <p:cNvPr id="30" name="29 Forma libre"/>
            <p:cNvSpPr/>
            <p:nvPr/>
          </p:nvSpPr>
          <p:spPr>
            <a:xfrm>
              <a:off x="1586034" y="2057851"/>
              <a:ext cx="1641260" cy="1344255"/>
            </a:xfrm>
            <a:custGeom>
              <a:avLst/>
              <a:gdLst>
                <a:gd name="connsiteX0" fmla="*/ 1640541 w 1640541"/>
                <a:gd name="connsiteY0" fmla="*/ 1344706 h 1344706"/>
                <a:gd name="connsiteX1" fmla="*/ 1546412 w 1640541"/>
                <a:gd name="connsiteY1" fmla="*/ 833718 h 1344706"/>
                <a:gd name="connsiteX2" fmla="*/ 1438835 w 1640541"/>
                <a:gd name="connsiteY2" fmla="*/ 806824 h 1344706"/>
                <a:gd name="connsiteX3" fmla="*/ 1371600 w 1640541"/>
                <a:gd name="connsiteY3" fmla="*/ 887506 h 1344706"/>
                <a:gd name="connsiteX4" fmla="*/ 1183341 w 1640541"/>
                <a:gd name="connsiteY4" fmla="*/ 1210235 h 1344706"/>
                <a:gd name="connsiteX5" fmla="*/ 1089212 w 1640541"/>
                <a:gd name="connsiteY5" fmla="*/ 1277471 h 1344706"/>
                <a:gd name="connsiteX6" fmla="*/ 1062318 w 1640541"/>
                <a:gd name="connsiteY6" fmla="*/ 1210235 h 1344706"/>
                <a:gd name="connsiteX7" fmla="*/ 1035423 w 1640541"/>
                <a:gd name="connsiteY7" fmla="*/ 1169894 h 1344706"/>
                <a:gd name="connsiteX8" fmla="*/ 1008529 w 1640541"/>
                <a:gd name="connsiteY8" fmla="*/ 1102659 h 1344706"/>
                <a:gd name="connsiteX9" fmla="*/ 954741 w 1640541"/>
                <a:gd name="connsiteY9" fmla="*/ 981635 h 1344706"/>
                <a:gd name="connsiteX10" fmla="*/ 914400 w 1640541"/>
                <a:gd name="connsiteY10" fmla="*/ 954741 h 1344706"/>
                <a:gd name="connsiteX11" fmla="*/ 820271 w 1640541"/>
                <a:gd name="connsiteY11" fmla="*/ 981635 h 1344706"/>
                <a:gd name="connsiteX12" fmla="*/ 699247 w 1640541"/>
                <a:gd name="connsiteY12" fmla="*/ 1035424 h 1344706"/>
                <a:gd name="connsiteX13" fmla="*/ 618565 w 1640541"/>
                <a:gd name="connsiteY13" fmla="*/ 1075765 h 1344706"/>
                <a:gd name="connsiteX14" fmla="*/ 578223 w 1640541"/>
                <a:gd name="connsiteY14" fmla="*/ 1048871 h 1344706"/>
                <a:gd name="connsiteX15" fmla="*/ 564776 w 1640541"/>
                <a:gd name="connsiteY15" fmla="*/ 927847 h 1344706"/>
                <a:gd name="connsiteX16" fmla="*/ 551329 w 1640541"/>
                <a:gd name="connsiteY16" fmla="*/ 887506 h 1344706"/>
                <a:gd name="connsiteX17" fmla="*/ 497541 w 1640541"/>
                <a:gd name="connsiteY17" fmla="*/ 874059 h 1344706"/>
                <a:gd name="connsiteX18" fmla="*/ 389965 w 1640541"/>
                <a:gd name="connsiteY18" fmla="*/ 779929 h 1344706"/>
                <a:gd name="connsiteX19" fmla="*/ 349623 w 1640541"/>
                <a:gd name="connsiteY19" fmla="*/ 739588 h 1344706"/>
                <a:gd name="connsiteX20" fmla="*/ 322729 w 1640541"/>
                <a:gd name="connsiteY20" fmla="*/ 658906 h 1344706"/>
                <a:gd name="connsiteX21" fmla="*/ 268941 w 1640541"/>
                <a:gd name="connsiteY21" fmla="*/ 551329 h 1344706"/>
                <a:gd name="connsiteX22" fmla="*/ 255494 w 1640541"/>
                <a:gd name="connsiteY22" fmla="*/ 443753 h 1344706"/>
                <a:gd name="connsiteX23" fmla="*/ 201706 w 1640541"/>
                <a:gd name="connsiteY23" fmla="*/ 242047 h 1344706"/>
                <a:gd name="connsiteX24" fmla="*/ 174812 w 1640541"/>
                <a:gd name="connsiteY24" fmla="*/ 53788 h 1344706"/>
                <a:gd name="connsiteX25" fmla="*/ 161365 w 1640541"/>
                <a:gd name="connsiteY25" fmla="*/ 13447 h 1344706"/>
                <a:gd name="connsiteX26" fmla="*/ 121023 w 1640541"/>
                <a:gd name="connsiteY26" fmla="*/ 0 h 1344706"/>
                <a:gd name="connsiteX27" fmla="*/ 40341 w 1640541"/>
                <a:gd name="connsiteY27" fmla="*/ 26894 h 1344706"/>
                <a:gd name="connsiteX28" fmla="*/ 0 w 1640541"/>
                <a:gd name="connsiteY28" fmla="*/ 40341 h 134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40541" h="1344706">
                  <a:moveTo>
                    <a:pt x="1640541" y="1344706"/>
                  </a:moveTo>
                  <a:cubicBezTo>
                    <a:pt x="1609165" y="1174377"/>
                    <a:pt x="1581119" y="1003400"/>
                    <a:pt x="1546412" y="833718"/>
                  </a:cubicBezTo>
                  <a:cubicBezTo>
                    <a:pt x="1525212" y="730072"/>
                    <a:pt x="1524960" y="728529"/>
                    <a:pt x="1438835" y="806824"/>
                  </a:cubicBezTo>
                  <a:cubicBezTo>
                    <a:pt x="1412931" y="830373"/>
                    <a:pt x="1392303" y="859275"/>
                    <a:pt x="1371600" y="887506"/>
                  </a:cubicBezTo>
                  <a:cubicBezTo>
                    <a:pt x="1214825" y="1101290"/>
                    <a:pt x="1366895" y="919607"/>
                    <a:pt x="1183341" y="1210235"/>
                  </a:cubicBezTo>
                  <a:cubicBezTo>
                    <a:pt x="1149308" y="1264121"/>
                    <a:pt x="1136962" y="1261554"/>
                    <a:pt x="1089212" y="1277471"/>
                  </a:cubicBezTo>
                  <a:cubicBezTo>
                    <a:pt x="1080247" y="1255059"/>
                    <a:pt x="1073113" y="1231825"/>
                    <a:pt x="1062318" y="1210235"/>
                  </a:cubicBezTo>
                  <a:cubicBezTo>
                    <a:pt x="1055090" y="1195780"/>
                    <a:pt x="1042651" y="1184349"/>
                    <a:pt x="1035423" y="1169894"/>
                  </a:cubicBezTo>
                  <a:cubicBezTo>
                    <a:pt x="1024628" y="1148304"/>
                    <a:pt x="1016778" y="1125344"/>
                    <a:pt x="1008529" y="1102659"/>
                  </a:cubicBezTo>
                  <a:cubicBezTo>
                    <a:pt x="993312" y="1060811"/>
                    <a:pt x="987790" y="1014684"/>
                    <a:pt x="954741" y="981635"/>
                  </a:cubicBezTo>
                  <a:cubicBezTo>
                    <a:pt x="943313" y="970207"/>
                    <a:pt x="927847" y="963706"/>
                    <a:pt x="914400" y="954741"/>
                  </a:cubicBezTo>
                  <a:cubicBezTo>
                    <a:pt x="883024" y="963706"/>
                    <a:pt x="850393" y="969084"/>
                    <a:pt x="820271" y="981635"/>
                  </a:cubicBezTo>
                  <a:cubicBezTo>
                    <a:pt x="645787" y="1054336"/>
                    <a:pt x="843020" y="999478"/>
                    <a:pt x="699247" y="1035424"/>
                  </a:cubicBezTo>
                  <a:cubicBezTo>
                    <a:pt x="685198" y="1044790"/>
                    <a:pt x="640834" y="1079476"/>
                    <a:pt x="618565" y="1075765"/>
                  </a:cubicBezTo>
                  <a:cubicBezTo>
                    <a:pt x="602623" y="1073108"/>
                    <a:pt x="591670" y="1057836"/>
                    <a:pt x="578223" y="1048871"/>
                  </a:cubicBezTo>
                  <a:cubicBezTo>
                    <a:pt x="573741" y="1008530"/>
                    <a:pt x="571449" y="967884"/>
                    <a:pt x="564776" y="927847"/>
                  </a:cubicBezTo>
                  <a:cubicBezTo>
                    <a:pt x="562446" y="913865"/>
                    <a:pt x="562397" y="896361"/>
                    <a:pt x="551329" y="887506"/>
                  </a:cubicBezTo>
                  <a:cubicBezTo>
                    <a:pt x="536898" y="875961"/>
                    <a:pt x="515470" y="878541"/>
                    <a:pt x="497541" y="874059"/>
                  </a:cubicBezTo>
                  <a:cubicBezTo>
                    <a:pt x="430826" y="829583"/>
                    <a:pt x="468631" y="858595"/>
                    <a:pt x="389965" y="779929"/>
                  </a:cubicBezTo>
                  <a:lnTo>
                    <a:pt x="349623" y="739588"/>
                  </a:lnTo>
                  <a:cubicBezTo>
                    <a:pt x="340658" y="712694"/>
                    <a:pt x="338454" y="682494"/>
                    <a:pt x="322729" y="658906"/>
                  </a:cubicBezTo>
                  <a:cubicBezTo>
                    <a:pt x="282445" y="598481"/>
                    <a:pt x="301837" y="633570"/>
                    <a:pt x="268941" y="551329"/>
                  </a:cubicBezTo>
                  <a:cubicBezTo>
                    <a:pt x="264459" y="515470"/>
                    <a:pt x="262154" y="479272"/>
                    <a:pt x="255494" y="443753"/>
                  </a:cubicBezTo>
                  <a:cubicBezTo>
                    <a:pt x="246000" y="393119"/>
                    <a:pt x="216406" y="293496"/>
                    <a:pt x="201706" y="242047"/>
                  </a:cubicBezTo>
                  <a:cubicBezTo>
                    <a:pt x="195891" y="195523"/>
                    <a:pt x="185891" y="103642"/>
                    <a:pt x="174812" y="53788"/>
                  </a:cubicBezTo>
                  <a:cubicBezTo>
                    <a:pt x="171737" y="39951"/>
                    <a:pt x="171388" y="23470"/>
                    <a:pt x="161365" y="13447"/>
                  </a:cubicBezTo>
                  <a:cubicBezTo>
                    <a:pt x="151342" y="3424"/>
                    <a:pt x="134470" y="4482"/>
                    <a:pt x="121023" y="0"/>
                  </a:cubicBezTo>
                  <a:lnTo>
                    <a:pt x="40341" y="26894"/>
                  </a:lnTo>
                  <a:lnTo>
                    <a:pt x="0" y="40341"/>
                  </a:lnTo>
                </a:path>
              </a:pathLst>
            </a:cu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s-ES"/>
            </a:p>
          </p:txBody>
        </p:sp>
        <p:sp>
          <p:nvSpPr>
            <p:cNvPr id="118810" name="30 CuadroTexto"/>
            <p:cNvSpPr txBox="1">
              <a:spLocks noChangeArrowheads="1"/>
            </p:cNvSpPr>
            <p:nvPr/>
          </p:nvSpPr>
          <p:spPr bwMode="auto">
            <a:xfrm>
              <a:off x="703500" y="1702346"/>
              <a:ext cx="1582484" cy="369332"/>
            </a:xfrm>
            <a:prstGeom prst="rect">
              <a:avLst/>
            </a:prstGeom>
            <a:noFill/>
            <a:ln w="9525">
              <a:noFill/>
              <a:miter lim="800000"/>
              <a:headEnd/>
              <a:tailEnd/>
            </a:ln>
          </p:spPr>
          <p:txBody>
            <a:bodyPr wrap="none">
              <a:spAutoFit/>
            </a:bodyPr>
            <a:lstStyle/>
            <a:p>
              <a:r>
                <a:rPr lang="es-ES" i="1"/>
                <a:t>Discriminante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down)">
                                      <p:cBhvr>
                                        <p:cTn id="18" dur="500"/>
                                        <p:tgtEl>
                                          <p:spTgt spid="12"/>
                                        </p:tgtEl>
                                      </p:cBhvr>
                                    </p:animEffect>
                                  </p:childTnLst>
                                </p:cTn>
                              </p:par>
                              <p:par>
                                <p:cTn id="19" presetID="22" presetClass="entr" presetSubtype="4"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down)">
                                      <p:cBhvr>
                                        <p:cTn id="21" dur="500"/>
                                        <p:tgtEl>
                                          <p:spTgt spid="13"/>
                                        </p:tgtEl>
                                      </p:cBhvr>
                                    </p:animEffect>
                                  </p:childTnLst>
                                </p:cTn>
                              </p:par>
                              <p:par>
                                <p:cTn id="22" presetID="22" presetClass="entr" presetSubtype="4"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childTnLst>
                          </p:cTn>
                        </p:par>
                        <p:par>
                          <p:cTn id="25" fill="hold">
                            <p:stCondLst>
                              <p:cond delay="500"/>
                            </p:stCondLst>
                            <p:childTnLst>
                              <p:par>
                                <p:cTn id="26" presetID="22" presetClass="entr" presetSubtype="4"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down)">
                                      <p:cBhvr>
                                        <p:cTn id="28" dur="500"/>
                                        <p:tgtEl>
                                          <p:spTgt spid="2"/>
                                        </p:tgtEl>
                                      </p:cBhvr>
                                    </p:animEffect>
                                  </p:childTnLst>
                                </p:cTn>
                              </p:par>
                            </p:childTnLst>
                          </p:cTn>
                        </p:par>
                        <p:par>
                          <p:cTn id="29" fill="hold">
                            <p:stCondLst>
                              <p:cond delay="1000"/>
                            </p:stCondLst>
                            <p:childTnLst>
                              <p:par>
                                <p:cTn id="30" presetID="22" presetClass="entr" presetSubtype="4"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down)">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10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right)">
                                      <p:cBhvr>
                                        <p:cTn id="42" dur="10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up)">
                                      <p:cBhvr>
                                        <p:cTn id="47" dur="10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right)">
                                      <p:cBhvr>
                                        <p:cTn id="52" dur="10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left)">
                                      <p:cBhvr>
                                        <p:cTn id="57"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4" name="3 Rectángulo"/>
          <p:cNvSpPr/>
          <p:nvPr/>
        </p:nvSpPr>
        <p:spPr>
          <a:xfrm>
            <a:off x="4000496" y="1857364"/>
            <a:ext cx="1714512" cy="714380"/>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Empleado</a:t>
            </a:r>
          </a:p>
        </p:txBody>
      </p:sp>
      <p:cxnSp>
        <p:nvCxnSpPr>
          <p:cNvPr id="5" name="4 Conector recto"/>
          <p:cNvCxnSpPr>
            <a:endCxn id="0" idx="2"/>
          </p:cNvCxnSpPr>
          <p:nvPr/>
        </p:nvCxnSpPr>
        <p:spPr>
          <a:xfrm rot="5400000" flipH="1" flipV="1">
            <a:off x="3161506" y="1804194"/>
            <a:ext cx="928688" cy="24638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 name="10 Grupo"/>
          <p:cNvGrpSpPr/>
          <p:nvPr/>
        </p:nvGrpSpPr>
        <p:grpSpPr>
          <a:xfrm>
            <a:off x="1716071" y="3500438"/>
            <a:ext cx="1357322" cy="714380"/>
            <a:chOff x="4143372" y="4857760"/>
            <a:chExt cx="1357322" cy="714380"/>
          </a:xfrm>
          <a:scene3d>
            <a:camera prst="orthographicFront">
              <a:rot lat="0" lon="0" rev="0"/>
            </a:camera>
            <a:lightRig rig="balanced" dir="t">
              <a:rot lat="0" lon="0" rev="8700000"/>
            </a:lightRig>
          </a:scene3d>
        </p:grpSpPr>
        <p:sp>
          <p:nvSpPr>
            <p:cNvPr id="7" name="6 Triángulo isósceles"/>
            <p:cNvSpPr/>
            <p:nvPr/>
          </p:nvSpPr>
          <p:spPr>
            <a:xfrm rot="10800000">
              <a:off x="4143372" y="4857760"/>
              <a:ext cx="1357322" cy="714380"/>
            </a:xfrm>
            <a:prstGeom prst="triangle">
              <a:avLst/>
            </a:prstGeom>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2000" dirty="0"/>
            </a:p>
          </p:txBody>
        </p:sp>
        <p:sp>
          <p:nvSpPr>
            <p:cNvPr id="8" name="7 CuadroTexto"/>
            <p:cNvSpPr txBox="1"/>
            <p:nvPr/>
          </p:nvSpPr>
          <p:spPr>
            <a:xfrm>
              <a:off x="4429124" y="4929198"/>
              <a:ext cx="734496" cy="307777"/>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p>
              <a:pPr>
                <a:defRPr/>
              </a:pPr>
              <a:r>
                <a:rPr lang="es-ES" sz="1400" b="1" dirty="0">
                  <a:solidFill>
                    <a:schemeClr val="bg1"/>
                  </a:solidFill>
                </a:rPr>
                <a:t>ES UN</a:t>
              </a:r>
            </a:p>
          </p:txBody>
        </p:sp>
      </p:grpSp>
      <p:sp>
        <p:nvSpPr>
          <p:cNvPr id="9" name="8 Rectángulo"/>
          <p:cNvSpPr/>
          <p:nvPr/>
        </p:nvSpPr>
        <p:spPr>
          <a:xfrm>
            <a:off x="243047" y="4500570"/>
            <a:ext cx="1257119" cy="419104"/>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Secretaria</a:t>
            </a:r>
          </a:p>
        </p:txBody>
      </p:sp>
      <p:sp>
        <p:nvSpPr>
          <p:cNvPr id="10" name="9 Rectángulo"/>
          <p:cNvSpPr/>
          <p:nvPr/>
        </p:nvSpPr>
        <p:spPr>
          <a:xfrm>
            <a:off x="1772471" y="4500570"/>
            <a:ext cx="1257119" cy="419104"/>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Ingeniero</a:t>
            </a:r>
          </a:p>
        </p:txBody>
      </p:sp>
      <p:sp>
        <p:nvSpPr>
          <p:cNvPr id="11" name="10 Rectángulo"/>
          <p:cNvSpPr/>
          <p:nvPr/>
        </p:nvSpPr>
        <p:spPr>
          <a:xfrm>
            <a:off x="3143240" y="4500570"/>
            <a:ext cx="1257119" cy="419104"/>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Técnico</a:t>
            </a:r>
          </a:p>
        </p:txBody>
      </p:sp>
      <p:cxnSp>
        <p:nvCxnSpPr>
          <p:cNvPr id="12" name="11 Conector recto"/>
          <p:cNvCxnSpPr>
            <a:stCxn id="0" idx="0"/>
          </p:cNvCxnSpPr>
          <p:nvPr/>
        </p:nvCxnSpPr>
        <p:spPr>
          <a:xfrm rot="5400000" flipH="1" flipV="1">
            <a:off x="1142207" y="3586956"/>
            <a:ext cx="642938" cy="11842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12 Conector recto"/>
          <p:cNvCxnSpPr>
            <a:stCxn id="0" idx="0"/>
          </p:cNvCxnSpPr>
          <p:nvPr/>
        </p:nvCxnSpPr>
        <p:spPr>
          <a:xfrm rot="16200000" flipV="1">
            <a:off x="2254250" y="4354513"/>
            <a:ext cx="285750" cy="635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13 Conector recto"/>
          <p:cNvCxnSpPr>
            <a:endCxn id="0" idx="0"/>
          </p:cNvCxnSpPr>
          <p:nvPr/>
        </p:nvCxnSpPr>
        <p:spPr>
          <a:xfrm>
            <a:off x="2733675" y="3857625"/>
            <a:ext cx="1038225" cy="642938"/>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 name="21 Grupo"/>
          <p:cNvGrpSpPr>
            <a:grpSpLocks/>
          </p:cNvGrpSpPr>
          <p:nvPr/>
        </p:nvGrpSpPr>
        <p:grpSpPr bwMode="auto">
          <a:xfrm>
            <a:off x="428625" y="3000375"/>
            <a:ext cx="1430338" cy="793750"/>
            <a:chOff x="2713021" y="3000372"/>
            <a:chExt cx="1430351" cy="794215"/>
          </a:xfrm>
        </p:grpSpPr>
        <p:sp>
          <p:nvSpPr>
            <p:cNvPr id="15" name="14 Elipse"/>
            <p:cNvSpPr/>
            <p:nvPr/>
          </p:nvSpPr>
          <p:spPr>
            <a:xfrm>
              <a:off x="3165076" y="3451691"/>
              <a:ext cx="357190" cy="342896"/>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1600" b="1" dirty="0"/>
            </a:p>
          </p:txBody>
        </p:sp>
        <p:cxnSp>
          <p:nvCxnSpPr>
            <p:cNvPr id="16" name="15 Conector recto"/>
            <p:cNvCxnSpPr/>
            <p:nvPr/>
          </p:nvCxnSpPr>
          <p:spPr>
            <a:xfrm rot="16200000" flipH="1" flipV="1">
              <a:off x="3818725" y="3298390"/>
              <a:ext cx="1588" cy="647706"/>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9850" name="20 CuadroTexto"/>
            <p:cNvSpPr txBox="1">
              <a:spLocks noChangeArrowheads="1"/>
            </p:cNvSpPr>
            <p:nvPr/>
          </p:nvSpPr>
          <p:spPr bwMode="auto">
            <a:xfrm>
              <a:off x="2713021" y="3000372"/>
              <a:ext cx="1184940" cy="369332"/>
            </a:xfrm>
            <a:prstGeom prst="rect">
              <a:avLst/>
            </a:prstGeom>
            <a:noFill/>
            <a:ln w="9525">
              <a:noFill/>
              <a:miter lim="800000"/>
              <a:headEnd/>
              <a:tailEnd/>
            </a:ln>
          </p:spPr>
          <p:txBody>
            <a:bodyPr wrap="none">
              <a:spAutoFit/>
            </a:bodyPr>
            <a:lstStyle/>
            <a:p>
              <a:r>
                <a:rPr lang="es-ES" b="1" i="1">
                  <a:solidFill>
                    <a:schemeClr val="accent1"/>
                  </a:solidFill>
                </a:rPr>
                <a:t>actividad</a:t>
              </a:r>
            </a:p>
          </p:txBody>
        </p:sp>
      </p:grpSp>
      <p:cxnSp>
        <p:nvCxnSpPr>
          <p:cNvPr id="44" name="43 Conector recto"/>
          <p:cNvCxnSpPr>
            <a:endCxn id="0" idx="2"/>
          </p:cNvCxnSpPr>
          <p:nvPr/>
        </p:nvCxnSpPr>
        <p:spPr>
          <a:xfrm rot="16200000" flipV="1">
            <a:off x="5499893" y="1929607"/>
            <a:ext cx="938213" cy="22225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 name="10 Grupo"/>
          <p:cNvGrpSpPr/>
          <p:nvPr/>
        </p:nvGrpSpPr>
        <p:grpSpPr>
          <a:xfrm>
            <a:off x="6402214" y="3509962"/>
            <a:ext cx="1357322" cy="714380"/>
            <a:chOff x="4143372" y="4857760"/>
            <a:chExt cx="1357322" cy="714380"/>
          </a:xfrm>
          <a:scene3d>
            <a:camera prst="orthographicFront">
              <a:rot lat="0" lon="0" rev="0"/>
            </a:camera>
            <a:lightRig rig="balanced" dir="t">
              <a:rot lat="0" lon="0" rev="8700000"/>
            </a:lightRig>
          </a:scene3d>
        </p:grpSpPr>
        <p:sp>
          <p:nvSpPr>
            <p:cNvPr id="46" name="45 Triángulo isósceles"/>
            <p:cNvSpPr/>
            <p:nvPr/>
          </p:nvSpPr>
          <p:spPr>
            <a:xfrm rot="10800000">
              <a:off x="4143372" y="4857760"/>
              <a:ext cx="1357322" cy="714380"/>
            </a:xfrm>
            <a:prstGeom prst="triangle">
              <a:avLst/>
            </a:prstGeom>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2000" dirty="0"/>
            </a:p>
          </p:txBody>
        </p:sp>
        <p:sp>
          <p:nvSpPr>
            <p:cNvPr id="47" name="46 CuadroTexto"/>
            <p:cNvSpPr txBox="1"/>
            <p:nvPr/>
          </p:nvSpPr>
          <p:spPr>
            <a:xfrm>
              <a:off x="4429124" y="4929198"/>
              <a:ext cx="734496" cy="307777"/>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p>
              <a:pPr>
                <a:defRPr/>
              </a:pPr>
              <a:r>
                <a:rPr lang="es-ES" sz="1400" b="1" dirty="0">
                  <a:solidFill>
                    <a:schemeClr val="bg1"/>
                  </a:solidFill>
                </a:rPr>
                <a:t>ES UN</a:t>
              </a:r>
            </a:p>
          </p:txBody>
        </p:sp>
      </p:grpSp>
      <p:sp>
        <p:nvSpPr>
          <p:cNvPr id="48" name="47 Rectángulo"/>
          <p:cNvSpPr/>
          <p:nvPr/>
        </p:nvSpPr>
        <p:spPr>
          <a:xfrm>
            <a:off x="4929190" y="4510094"/>
            <a:ext cx="1257119" cy="419104"/>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Temporal</a:t>
            </a:r>
          </a:p>
        </p:txBody>
      </p:sp>
      <p:sp>
        <p:nvSpPr>
          <p:cNvPr id="50" name="49 Rectángulo"/>
          <p:cNvSpPr/>
          <p:nvPr/>
        </p:nvSpPr>
        <p:spPr>
          <a:xfrm>
            <a:off x="7643835" y="4510094"/>
            <a:ext cx="1442668" cy="419104"/>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Permanente</a:t>
            </a:r>
          </a:p>
        </p:txBody>
      </p:sp>
      <p:cxnSp>
        <p:nvCxnSpPr>
          <p:cNvPr id="51" name="50 Conector recto"/>
          <p:cNvCxnSpPr>
            <a:stCxn id="0" idx="0"/>
          </p:cNvCxnSpPr>
          <p:nvPr/>
        </p:nvCxnSpPr>
        <p:spPr>
          <a:xfrm rot="5400000" flipH="1" flipV="1">
            <a:off x="5828507" y="3596481"/>
            <a:ext cx="642938" cy="11842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52 Conector recto"/>
          <p:cNvCxnSpPr>
            <a:endCxn id="0" idx="0"/>
          </p:cNvCxnSpPr>
          <p:nvPr/>
        </p:nvCxnSpPr>
        <p:spPr>
          <a:xfrm>
            <a:off x="7419975" y="3867150"/>
            <a:ext cx="944563" cy="642938"/>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7" name="60 Grupo"/>
          <p:cNvGrpSpPr>
            <a:grpSpLocks/>
          </p:cNvGrpSpPr>
          <p:nvPr/>
        </p:nvGrpSpPr>
        <p:grpSpPr bwMode="auto">
          <a:xfrm>
            <a:off x="7586663" y="3022600"/>
            <a:ext cx="1285875" cy="781050"/>
            <a:chOff x="7586304" y="3023343"/>
            <a:chExt cx="1285852" cy="780768"/>
          </a:xfrm>
        </p:grpSpPr>
        <p:sp>
          <p:nvSpPr>
            <p:cNvPr id="55" name="54 Elipse"/>
            <p:cNvSpPr/>
            <p:nvPr/>
          </p:nvSpPr>
          <p:spPr>
            <a:xfrm>
              <a:off x="8229246" y="3461215"/>
              <a:ext cx="357190" cy="342896"/>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1600" b="1" dirty="0"/>
            </a:p>
          </p:txBody>
        </p:sp>
        <p:cxnSp>
          <p:nvCxnSpPr>
            <p:cNvPr id="56" name="55 Conector recto"/>
            <p:cNvCxnSpPr/>
            <p:nvPr/>
          </p:nvCxnSpPr>
          <p:spPr>
            <a:xfrm rot="16200000" flipH="1" flipV="1">
              <a:off x="7909354" y="3308086"/>
              <a:ext cx="1586" cy="647688"/>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9845" name="56 CuadroTexto"/>
            <p:cNvSpPr txBox="1">
              <a:spLocks noChangeArrowheads="1"/>
            </p:cNvSpPr>
            <p:nvPr/>
          </p:nvSpPr>
          <p:spPr bwMode="auto">
            <a:xfrm>
              <a:off x="7764160" y="3023343"/>
              <a:ext cx="1107996" cy="369332"/>
            </a:xfrm>
            <a:prstGeom prst="rect">
              <a:avLst/>
            </a:prstGeom>
            <a:noFill/>
            <a:ln w="9525">
              <a:noFill/>
              <a:miter lim="800000"/>
              <a:headEnd/>
              <a:tailEnd/>
            </a:ln>
          </p:spPr>
          <p:txBody>
            <a:bodyPr wrap="none">
              <a:spAutoFit/>
            </a:bodyPr>
            <a:lstStyle/>
            <a:p>
              <a:r>
                <a:rPr lang="es-ES" b="1" i="1">
                  <a:solidFill>
                    <a:schemeClr val="accent1"/>
                  </a:solidFill>
                </a:rPr>
                <a:t>contrato</a:t>
              </a:r>
            </a:p>
          </p:txBody>
        </p:sp>
      </p:grpSp>
      <p:sp>
        <p:nvSpPr>
          <p:cNvPr id="119840" name="61 Rectángulo"/>
          <p:cNvSpPr>
            <a:spLocks noChangeArrowheads="1"/>
          </p:cNvSpPr>
          <p:nvPr/>
        </p:nvSpPr>
        <p:spPr bwMode="auto">
          <a:xfrm>
            <a:off x="1143000" y="714375"/>
            <a:ext cx="4876800" cy="523875"/>
          </a:xfrm>
          <a:prstGeom prst="rect">
            <a:avLst/>
          </a:prstGeom>
          <a:noFill/>
          <a:ln w="9525">
            <a:noFill/>
            <a:miter lim="800000"/>
            <a:headEnd/>
            <a:tailEnd/>
          </a:ln>
        </p:spPr>
        <p:txBody>
          <a:bodyPr wrap="none">
            <a:spAutoFit/>
          </a:bodyPr>
          <a:lstStyle/>
          <a:p>
            <a:r>
              <a:rPr lang="es-ES" sz="2800" b="1"/>
              <a:t>Ejemplo de Especialización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down)">
                                      <p:cBhvr>
                                        <p:cTn id="18" dur="500"/>
                                        <p:tgtEl>
                                          <p:spTgt spid="12"/>
                                        </p:tgtEl>
                                      </p:cBhvr>
                                    </p:animEffect>
                                  </p:childTnLst>
                                </p:cTn>
                              </p:par>
                              <p:par>
                                <p:cTn id="19" presetID="22" presetClass="entr" presetSubtype="4"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down)">
                                      <p:cBhvr>
                                        <p:cTn id="21" dur="500"/>
                                        <p:tgtEl>
                                          <p:spTgt spid="13"/>
                                        </p:tgtEl>
                                      </p:cBhvr>
                                    </p:animEffect>
                                  </p:childTnLst>
                                </p:cTn>
                              </p:par>
                              <p:par>
                                <p:cTn id="22" presetID="22" presetClass="entr" presetSubtype="4"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childTnLst>
                          </p:cTn>
                        </p:par>
                        <p:par>
                          <p:cTn id="25" fill="hold">
                            <p:stCondLst>
                              <p:cond delay="500"/>
                            </p:stCondLst>
                            <p:childTnLst>
                              <p:par>
                                <p:cTn id="26" presetID="22" presetClass="entr" presetSubtype="4"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down)">
                                      <p:cBhvr>
                                        <p:cTn id="28" dur="500"/>
                                        <p:tgtEl>
                                          <p:spTgt spid="2"/>
                                        </p:tgtEl>
                                      </p:cBhvr>
                                    </p:animEffect>
                                  </p:childTnLst>
                                </p:cTn>
                              </p:par>
                            </p:childTnLst>
                          </p:cTn>
                        </p:par>
                        <p:par>
                          <p:cTn id="29" fill="hold">
                            <p:stCondLst>
                              <p:cond delay="1000"/>
                            </p:stCondLst>
                            <p:childTnLst>
                              <p:par>
                                <p:cTn id="30" presetID="22" presetClass="entr" presetSubtype="4"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down)">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10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right)">
                                      <p:cBhvr>
                                        <p:cTn id="42" dur="10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fade">
                                      <p:cBhvr>
                                        <p:cTn id="47" dur="1000"/>
                                        <p:tgtEl>
                                          <p:spTgt spid="48"/>
                                        </p:tgtEl>
                                      </p:cBhvr>
                                    </p:animEffect>
                                  </p:childTnLst>
                                </p:cTn>
                              </p:par>
                              <p:par>
                                <p:cTn id="48" presetID="10" presetClass="entr" presetSubtype="0" fill="hold" nodeType="withEffect">
                                  <p:stCondLst>
                                    <p:cond delay="0"/>
                                  </p:stCondLst>
                                  <p:childTnLst>
                                    <p:set>
                                      <p:cBhvr>
                                        <p:cTn id="49" dur="1" fill="hold">
                                          <p:stCondLst>
                                            <p:cond delay="0"/>
                                          </p:stCondLst>
                                        </p:cTn>
                                        <p:tgtEl>
                                          <p:spTgt spid="50"/>
                                        </p:tgtEl>
                                        <p:attrNameLst>
                                          <p:attrName>style.visibility</p:attrName>
                                        </p:attrNameLst>
                                      </p:cBhvr>
                                      <p:to>
                                        <p:strVal val="visible"/>
                                      </p:to>
                                    </p:set>
                                    <p:animEffect transition="in" filter="fade">
                                      <p:cBhvr>
                                        <p:cTn id="50" dur="1000"/>
                                        <p:tgtEl>
                                          <p:spTgt spid="5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51"/>
                                        </p:tgtEl>
                                        <p:attrNameLst>
                                          <p:attrName>style.visibility</p:attrName>
                                        </p:attrNameLst>
                                      </p:cBhvr>
                                      <p:to>
                                        <p:strVal val="visible"/>
                                      </p:to>
                                    </p:set>
                                    <p:animEffect transition="in" filter="wipe(down)">
                                      <p:cBhvr>
                                        <p:cTn id="55" dur="500"/>
                                        <p:tgtEl>
                                          <p:spTgt spid="51"/>
                                        </p:tgtEl>
                                      </p:cBhvr>
                                    </p:animEffect>
                                  </p:childTnLst>
                                </p:cTn>
                              </p:par>
                              <p:par>
                                <p:cTn id="56" presetID="22" presetClass="entr" presetSubtype="4" fill="hold" nodeType="withEffect">
                                  <p:stCondLst>
                                    <p:cond delay="0"/>
                                  </p:stCondLst>
                                  <p:childTnLst>
                                    <p:set>
                                      <p:cBhvr>
                                        <p:cTn id="57" dur="1" fill="hold">
                                          <p:stCondLst>
                                            <p:cond delay="0"/>
                                          </p:stCondLst>
                                        </p:cTn>
                                        <p:tgtEl>
                                          <p:spTgt spid="53"/>
                                        </p:tgtEl>
                                        <p:attrNameLst>
                                          <p:attrName>style.visibility</p:attrName>
                                        </p:attrNameLst>
                                      </p:cBhvr>
                                      <p:to>
                                        <p:strVal val="visible"/>
                                      </p:to>
                                    </p:set>
                                    <p:animEffect transition="in" filter="wipe(down)">
                                      <p:cBhvr>
                                        <p:cTn id="58" dur="500"/>
                                        <p:tgtEl>
                                          <p:spTgt spid="53"/>
                                        </p:tgtEl>
                                      </p:cBhvr>
                                    </p:animEffect>
                                  </p:childTnLst>
                                </p:cTn>
                              </p:par>
                            </p:childTnLst>
                          </p:cTn>
                        </p:par>
                        <p:par>
                          <p:cTn id="59" fill="hold">
                            <p:stCondLst>
                              <p:cond delay="500"/>
                            </p:stCondLst>
                            <p:childTnLst>
                              <p:par>
                                <p:cTn id="60" presetID="22" presetClass="entr" presetSubtype="4" fill="hold" nodeType="after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wipe(down)">
                                      <p:cBhvr>
                                        <p:cTn id="62" dur="500"/>
                                        <p:tgtEl>
                                          <p:spTgt spid="6"/>
                                        </p:tgtEl>
                                      </p:cBhvr>
                                    </p:animEffect>
                                  </p:childTnLst>
                                </p:cTn>
                              </p:par>
                            </p:childTnLst>
                          </p:cTn>
                        </p:par>
                        <p:par>
                          <p:cTn id="63" fill="hold">
                            <p:stCondLst>
                              <p:cond delay="1000"/>
                            </p:stCondLst>
                            <p:childTnLst>
                              <p:par>
                                <p:cTn id="64" presetID="22" presetClass="entr" presetSubtype="4" fill="hold" nodeType="afterEffect">
                                  <p:stCondLst>
                                    <p:cond delay="0"/>
                                  </p:stCondLst>
                                  <p:childTnLst>
                                    <p:set>
                                      <p:cBhvr>
                                        <p:cTn id="65" dur="1" fill="hold">
                                          <p:stCondLst>
                                            <p:cond delay="0"/>
                                          </p:stCondLst>
                                        </p:cTn>
                                        <p:tgtEl>
                                          <p:spTgt spid="44"/>
                                        </p:tgtEl>
                                        <p:attrNameLst>
                                          <p:attrName>style.visibility</p:attrName>
                                        </p:attrNameLst>
                                      </p:cBhvr>
                                      <p:to>
                                        <p:strVal val="visible"/>
                                      </p:to>
                                    </p:set>
                                    <p:animEffect transition="in" filter="wipe(down)">
                                      <p:cBhvr>
                                        <p:cTn id="66" dur="500"/>
                                        <p:tgtEl>
                                          <p:spTgt spid="44"/>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wipe(left)">
                                      <p:cBhvr>
                                        <p:cTn id="7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20835" name="2 Rectángulo"/>
          <p:cNvSpPr>
            <a:spLocks noChangeArrowheads="1"/>
          </p:cNvSpPr>
          <p:nvPr/>
        </p:nvSpPr>
        <p:spPr bwMode="auto">
          <a:xfrm>
            <a:off x="1143000" y="714375"/>
            <a:ext cx="4876800" cy="523875"/>
          </a:xfrm>
          <a:prstGeom prst="rect">
            <a:avLst/>
          </a:prstGeom>
          <a:noFill/>
          <a:ln w="9525">
            <a:noFill/>
            <a:miter lim="800000"/>
            <a:headEnd/>
            <a:tailEnd/>
          </a:ln>
        </p:spPr>
        <p:txBody>
          <a:bodyPr wrap="none">
            <a:spAutoFit/>
          </a:bodyPr>
          <a:lstStyle/>
          <a:p>
            <a:r>
              <a:rPr lang="es-ES" sz="2800" b="1"/>
              <a:t>Ejemplo de Especialización</a:t>
            </a:r>
          </a:p>
        </p:txBody>
      </p:sp>
      <p:sp>
        <p:nvSpPr>
          <p:cNvPr id="35" name="34 Rectángulo"/>
          <p:cNvSpPr/>
          <p:nvPr/>
        </p:nvSpPr>
        <p:spPr>
          <a:xfrm>
            <a:off x="4000496" y="1857364"/>
            <a:ext cx="1714512" cy="714380"/>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Vehículo</a:t>
            </a:r>
          </a:p>
        </p:txBody>
      </p:sp>
      <p:cxnSp>
        <p:nvCxnSpPr>
          <p:cNvPr id="36" name="35 Conector recto"/>
          <p:cNvCxnSpPr>
            <a:endCxn id="0" idx="2"/>
          </p:cNvCxnSpPr>
          <p:nvPr/>
        </p:nvCxnSpPr>
        <p:spPr>
          <a:xfrm rot="5400000" flipH="1" flipV="1">
            <a:off x="3161506" y="1804194"/>
            <a:ext cx="928688" cy="24638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 name="10 Grupo"/>
          <p:cNvGrpSpPr/>
          <p:nvPr/>
        </p:nvGrpSpPr>
        <p:grpSpPr>
          <a:xfrm>
            <a:off x="1716071" y="3500438"/>
            <a:ext cx="1357322" cy="714380"/>
            <a:chOff x="4143372" y="4857760"/>
            <a:chExt cx="1357322" cy="714380"/>
          </a:xfrm>
          <a:scene3d>
            <a:camera prst="orthographicFront">
              <a:rot lat="0" lon="0" rev="0"/>
            </a:camera>
            <a:lightRig rig="balanced" dir="t">
              <a:rot lat="0" lon="0" rev="8700000"/>
            </a:lightRig>
          </a:scene3d>
        </p:grpSpPr>
        <p:sp>
          <p:nvSpPr>
            <p:cNvPr id="38" name="37 Triángulo isósceles"/>
            <p:cNvSpPr/>
            <p:nvPr/>
          </p:nvSpPr>
          <p:spPr>
            <a:xfrm rot="10800000">
              <a:off x="4143372" y="4857760"/>
              <a:ext cx="1357322" cy="714380"/>
            </a:xfrm>
            <a:prstGeom prst="triangle">
              <a:avLst/>
            </a:prstGeom>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2000" dirty="0"/>
            </a:p>
          </p:txBody>
        </p:sp>
        <p:sp>
          <p:nvSpPr>
            <p:cNvPr id="39" name="38 CuadroTexto"/>
            <p:cNvSpPr txBox="1"/>
            <p:nvPr/>
          </p:nvSpPr>
          <p:spPr>
            <a:xfrm>
              <a:off x="4429124" y="4929198"/>
              <a:ext cx="734496" cy="307777"/>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p>
              <a:pPr>
                <a:defRPr/>
              </a:pPr>
              <a:r>
                <a:rPr lang="es-ES" sz="1400" b="1" dirty="0">
                  <a:solidFill>
                    <a:schemeClr val="bg1"/>
                  </a:solidFill>
                </a:rPr>
                <a:t>ES UN</a:t>
              </a:r>
            </a:p>
          </p:txBody>
        </p:sp>
      </p:grpSp>
      <p:sp>
        <p:nvSpPr>
          <p:cNvPr id="40" name="39 Rectángulo"/>
          <p:cNvSpPr/>
          <p:nvPr/>
        </p:nvSpPr>
        <p:spPr>
          <a:xfrm>
            <a:off x="243047" y="4500570"/>
            <a:ext cx="1257119" cy="419104"/>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Camión</a:t>
            </a:r>
          </a:p>
        </p:txBody>
      </p:sp>
      <p:sp>
        <p:nvSpPr>
          <p:cNvPr id="41" name="40 Rectángulo"/>
          <p:cNvSpPr/>
          <p:nvPr/>
        </p:nvSpPr>
        <p:spPr>
          <a:xfrm>
            <a:off x="1772471" y="4500570"/>
            <a:ext cx="1257119" cy="419104"/>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Auto</a:t>
            </a:r>
          </a:p>
        </p:txBody>
      </p:sp>
      <p:sp>
        <p:nvSpPr>
          <p:cNvPr id="42" name="41 Rectángulo"/>
          <p:cNvSpPr/>
          <p:nvPr/>
        </p:nvSpPr>
        <p:spPr>
          <a:xfrm>
            <a:off x="3143240" y="4500570"/>
            <a:ext cx="1357322" cy="419104"/>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Motocicleta</a:t>
            </a:r>
          </a:p>
        </p:txBody>
      </p:sp>
      <p:cxnSp>
        <p:nvCxnSpPr>
          <p:cNvPr id="43" name="42 Conector recto"/>
          <p:cNvCxnSpPr>
            <a:stCxn id="0" idx="0"/>
          </p:cNvCxnSpPr>
          <p:nvPr/>
        </p:nvCxnSpPr>
        <p:spPr>
          <a:xfrm rot="5400000" flipH="1" flipV="1">
            <a:off x="1142207" y="3586956"/>
            <a:ext cx="642938" cy="11842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43 Conector recto"/>
          <p:cNvCxnSpPr>
            <a:stCxn id="0" idx="0"/>
          </p:cNvCxnSpPr>
          <p:nvPr/>
        </p:nvCxnSpPr>
        <p:spPr>
          <a:xfrm rot="16200000" flipV="1">
            <a:off x="2254250" y="4354513"/>
            <a:ext cx="285750" cy="635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44 Conector recto"/>
          <p:cNvCxnSpPr>
            <a:endCxn id="0" idx="0"/>
          </p:cNvCxnSpPr>
          <p:nvPr/>
        </p:nvCxnSpPr>
        <p:spPr>
          <a:xfrm>
            <a:off x="2733675" y="3857625"/>
            <a:ext cx="1087438" cy="642938"/>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 name="21 Grupo"/>
          <p:cNvGrpSpPr>
            <a:grpSpLocks/>
          </p:cNvGrpSpPr>
          <p:nvPr/>
        </p:nvGrpSpPr>
        <p:grpSpPr bwMode="auto">
          <a:xfrm>
            <a:off x="428625" y="3000375"/>
            <a:ext cx="1430338" cy="793750"/>
            <a:chOff x="2713021" y="3000372"/>
            <a:chExt cx="1430351" cy="794215"/>
          </a:xfrm>
        </p:grpSpPr>
        <p:sp>
          <p:nvSpPr>
            <p:cNvPr id="47" name="46 Elipse"/>
            <p:cNvSpPr/>
            <p:nvPr/>
          </p:nvSpPr>
          <p:spPr>
            <a:xfrm>
              <a:off x="3165076" y="3451691"/>
              <a:ext cx="357190" cy="342896"/>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1600" b="1" dirty="0"/>
            </a:p>
          </p:txBody>
        </p:sp>
        <p:cxnSp>
          <p:nvCxnSpPr>
            <p:cNvPr id="48" name="47 Conector recto"/>
            <p:cNvCxnSpPr/>
            <p:nvPr/>
          </p:nvCxnSpPr>
          <p:spPr>
            <a:xfrm rot="16200000" flipH="1" flipV="1">
              <a:off x="3818725" y="3298390"/>
              <a:ext cx="1588" cy="647706"/>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0874" name="48 CuadroTexto"/>
            <p:cNvSpPr txBox="1">
              <a:spLocks noChangeArrowheads="1"/>
            </p:cNvSpPr>
            <p:nvPr/>
          </p:nvSpPr>
          <p:spPr bwMode="auto">
            <a:xfrm>
              <a:off x="2713021" y="3000372"/>
              <a:ext cx="607859" cy="369332"/>
            </a:xfrm>
            <a:prstGeom prst="rect">
              <a:avLst/>
            </a:prstGeom>
            <a:noFill/>
            <a:ln w="9525">
              <a:noFill/>
              <a:miter lim="800000"/>
              <a:headEnd/>
              <a:tailEnd/>
            </a:ln>
          </p:spPr>
          <p:txBody>
            <a:bodyPr wrap="none">
              <a:spAutoFit/>
            </a:bodyPr>
            <a:lstStyle/>
            <a:p>
              <a:r>
                <a:rPr lang="es-ES" b="1" i="1">
                  <a:solidFill>
                    <a:schemeClr val="accent1"/>
                  </a:solidFill>
                </a:rPr>
                <a:t>tipo</a:t>
              </a:r>
            </a:p>
          </p:txBody>
        </p:sp>
      </p:grpSp>
      <p:cxnSp>
        <p:nvCxnSpPr>
          <p:cNvPr id="50" name="49 Conector recto"/>
          <p:cNvCxnSpPr>
            <a:endCxn id="0" idx="2"/>
          </p:cNvCxnSpPr>
          <p:nvPr/>
        </p:nvCxnSpPr>
        <p:spPr>
          <a:xfrm rot="16200000" flipV="1">
            <a:off x="5499893" y="1929607"/>
            <a:ext cx="938213" cy="222250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 name="10 Grupo"/>
          <p:cNvGrpSpPr/>
          <p:nvPr/>
        </p:nvGrpSpPr>
        <p:grpSpPr>
          <a:xfrm>
            <a:off x="6402214" y="3509962"/>
            <a:ext cx="1357322" cy="714380"/>
            <a:chOff x="4143372" y="4857760"/>
            <a:chExt cx="1357322" cy="714380"/>
          </a:xfrm>
          <a:scene3d>
            <a:camera prst="orthographicFront">
              <a:rot lat="0" lon="0" rev="0"/>
            </a:camera>
            <a:lightRig rig="balanced" dir="t">
              <a:rot lat="0" lon="0" rev="8700000"/>
            </a:lightRig>
          </a:scene3d>
        </p:grpSpPr>
        <p:sp>
          <p:nvSpPr>
            <p:cNvPr id="52" name="51 Triángulo isósceles"/>
            <p:cNvSpPr/>
            <p:nvPr/>
          </p:nvSpPr>
          <p:spPr>
            <a:xfrm rot="10800000">
              <a:off x="4143372" y="4857760"/>
              <a:ext cx="1357322" cy="714380"/>
            </a:xfrm>
            <a:prstGeom prst="triangle">
              <a:avLst/>
            </a:prstGeom>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2000" dirty="0"/>
            </a:p>
          </p:txBody>
        </p:sp>
        <p:sp>
          <p:nvSpPr>
            <p:cNvPr id="53" name="52 CuadroTexto"/>
            <p:cNvSpPr txBox="1"/>
            <p:nvPr/>
          </p:nvSpPr>
          <p:spPr>
            <a:xfrm>
              <a:off x="4429124" y="4929198"/>
              <a:ext cx="734496" cy="307777"/>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p>
              <a:pPr>
                <a:defRPr/>
              </a:pPr>
              <a:r>
                <a:rPr lang="es-ES" sz="1400" b="1" dirty="0">
                  <a:solidFill>
                    <a:schemeClr val="bg1"/>
                  </a:solidFill>
                </a:rPr>
                <a:t>ES UN</a:t>
              </a:r>
            </a:p>
          </p:txBody>
        </p:sp>
      </p:grpSp>
      <p:sp>
        <p:nvSpPr>
          <p:cNvPr id="54" name="53 Rectángulo"/>
          <p:cNvSpPr/>
          <p:nvPr/>
        </p:nvSpPr>
        <p:spPr>
          <a:xfrm>
            <a:off x="4929190" y="4510094"/>
            <a:ext cx="1257119" cy="419104"/>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Con motor</a:t>
            </a:r>
          </a:p>
        </p:txBody>
      </p:sp>
      <p:sp>
        <p:nvSpPr>
          <p:cNvPr id="55" name="54 Rectángulo"/>
          <p:cNvSpPr/>
          <p:nvPr/>
        </p:nvSpPr>
        <p:spPr>
          <a:xfrm>
            <a:off x="7643835" y="4510094"/>
            <a:ext cx="1442668" cy="419104"/>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dirty="0"/>
              <a:t>Sin motor</a:t>
            </a:r>
          </a:p>
        </p:txBody>
      </p:sp>
      <p:cxnSp>
        <p:nvCxnSpPr>
          <p:cNvPr id="56" name="55 Conector recto"/>
          <p:cNvCxnSpPr>
            <a:stCxn id="0" idx="0"/>
          </p:cNvCxnSpPr>
          <p:nvPr/>
        </p:nvCxnSpPr>
        <p:spPr>
          <a:xfrm rot="5400000" flipH="1" flipV="1">
            <a:off x="5828507" y="3596481"/>
            <a:ext cx="642938" cy="11842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56 Conector recto"/>
          <p:cNvCxnSpPr>
            <a:endCxn id="0" idx="0"/>
          </p:cNvCxnSpPr>
          <p:nvPr/>
        </p:nvCxnSpPr>
        <p:spPr>
          <a:xfrm>
            <a:off x="7419975" y="3867150"/>
            <a:ext cx="944563" cy="642938"/>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 name="57 Grupo"/>
          <p:cNvGrpSpPr>
            <a:grpSpLocks/>
          </p:cNvGrpSpPr>
          <p:nvPr/>
        </p:nvGrpSpPr>
        <p:grpSpPr bwMode="auto">
          <a:xfrm>
            <a:off x="7586663" y="3022600"/>
            <a:ext cx="1400175" cy="781050"/>
            <a:chOff x="7586304" y="3023343"/>
            <a:chExt cx="1401268" cy="780768"/>
          </a:xfrm>
        </p:grpSpPr>
        <p:sp>
          <p:nvSpPr>
            <p:cNvPr id="59" name="58 Elipse"/>
            <p:cNvSpPr/>
            <p:nvPr/>
          </p:nvSpPr>
          <p:spPr>
            <a:xfrm>
              <a:off x="8229246" y="3461215"/>
              <a:ext cx="357190" cy="342896"/>
            </a:xfrm>
            <a:prstGeom prst="ellipse">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1600" b="1" dirty="0"/>
            </a:p>
          </p:txBody>
        </p:sp>
        <p:cxnSp>
          <p:nvCxnSpPr>
            <p:cNvPr id="60" name="59 Conector recto"/>
            <p:cNvCxnSpPr/>
            <p:nvPr/>
          </p:nvCxnSpPr>
          <p:spPr>
            <a:xfrm rot="16200000" flipH="1" flipV="1">
              <a:off x="7909613" y="3307827"/>
              <a:ext cx="1586" cy="648206"/>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0869" name="60 CuadroTexto"/>
            <p:cNvSpPr txBox="1">
              <a:spLocks noChangeArrowheads="1"/>
            </p:cNvSpPr>
            <p:nvPr/>
          </p:nvSpPr>
          <p:spPr bwMode="auto">
            <a:xfrm>
              <a:off x="7764160" y="3023343"/>
              <a:ext cx="1223412" cy="369332"/>
            </a:xfrm>
            <a:prstGeom prst="rect">
              <a:avLst/>
            </a:prstGeom>
            <a:noFill/>
            <a:ln w="9525">
              <a:noFill/>
              <a:miter lim="800000"/>
              <a:headEnd/>
              <a:tailEnd/>
            </a:ln>
          </p:spPr>
          <p:txBody>
            <a:bodyPr wrap="none">
              <a:spAutoFit/>
            </a:bodyPr>
            <a:lstStyle/>
            <a:p>
              <a:r>
                <a:rPr lang="es-ES" b="1" i="1">
                  <a:solidFill>
                    <a:schemeClr val="accent1"/>
                  </a:solidFill>
                </a:rPr>
                <a:t>Motor s/n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1000"/>
                                        <p:tgtEl>
                                          <p:spTgt spid="40"/>
                                        </p:tgtEl>
                                      </p:cBhvr>
                                    </p:animEffect>
                                  </p:childTnLst>
                                </p:cTn>
                              </p:par>
                              <p:par>
                                <p:cTn id="8" presetID="10" presetClass="entr" presetSubtype="0" fill="hold"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1000"/>
                                        <p:tgtEl>
                                          <p:spTgt spid="41"/>
                                        </p:tgtEl>
                                      </p:cBhvr>
                                    </p:animEffect>
                                  </p:childTnLst>
                                </p:cTn>
                              </p:par>
                              <p:par>
                                <p:cTn id="11" presetID="10" presetClass="entr" presetSubtype="0" fill="hold" nodeType="with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fade">
                                      <p:cBhvr>
                                        <p:cTn id="13" dur="1000"/>
                                        <p:tgtEl>
                                          <p:spTgt spid="4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wipe(down)">
                                      <p:cBhvr>
                                        <p:cTn id="18" dur="500"/>
                                        <p:tgtEl>
                                          <p:spTgt spid="43"/>
                                        </p:tgtEl>
                                      </p:cBhvr>
                                    </p:animEffect>
                                  </p:childTnLst>
                                </p:cTn>
                              </p:par>
                              <p:par>
                                <p:cTn id="19" presetID="22" presetClass="entr" presetSubtype="4"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wipe(down)">
                                      <p:cBhvr>
                                        <p:cTn id="21" dur="500"/>
                                        <p:tgtEl>
                                          <p:spTgt spid="44"/>
                                        </p:tgtEl>
                                      </p:cBhvr>
                                    </p:animEffect>
                                  </p:childTnLst>
                                </p:cTn>
                              </p:par>
                              <p:par>
                                <p:cTn id="22" presetID="22" presetClass="entr" presetSubtype="4" fill="hold" nodeType="withEffect">
                                  <p:stCondLst>
                                    <p:cond delay="0"/>
                                  </p:stCondLst>
                                  <p:childTnLst>
                                    <p:set>
                                      <p:cBhvr>
                                        <p:cTn id="23" dur="1" fill="hold">
                                          <p:stCondLst>
                                            <p:cond delay="0"/>
                                          </p:stCondLst>
                                        </p:cTn>
                                        <p:tgtEl>
                                          <p:spTgt spid="45"/>
                                        </p:tgtEl>
                                        <p:attrNameLst>
                                          <p:attrName>style.visibility</p:attrName>
                                        </p:attrNameLst>
                                      </p:cBhvr>
                                      <p:to>
                                        <p:strVal val="visible"/>
                                      </p:to>
                                    </p:set>
                                    <p:animEffect transition="in" filter="wipe(down)">
                                      <p:cBhvr>
                                        <p:cTn id="24" dur="500"/>
                                        <p:tgtEl>
                                          <p:spTgt spid="45"/>
                                        </p:tgtEl>
                                      </p:cBhvr>
                                    </p:animEffect>
                                  </p:childTnLst>
                                </p:cTn>
                              </p:par>
                            </p:childTnLst>
                          </p:cTn>
                        </p:par>
                        <p:par>
                          <p:cTn id="25" fill="hold">
                            <p:stCondLst>
                              <p:cond delay="500"/>
                            </p:stCondLst>
                            <p:childTnLst>
                              <p:par>
                                <p:cTn id="26" presetID="22" presetClass="entr" presetSubtype="4"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down)">
                                      <p:cBhvr>
                                        <p:cTn id="28" dur="500"/>
                                        <p:tgtEl>
                                          <p:spTgt spid="2"/>
                                        </p:tgtEl>
                                      </p:cBhvr>
                                    </p:animEffect>
                                  </p:childTnLst>
                                </p:cTn>
                              </p:par>
                            </p:childTnLst>
                          </p:cTn>
                        </p:par>
                        <p:par>
                          <p:cTn id="29" fill="hold">
                            <p:stCondLst>
                              <p:cond delay="1000"/>
                            </p:stCondLst>
                            <p:childTnLst>
                              <p:par>
                                <p:cTn id="30" presetID="22" presetClass="entr" presetSubtype="4" fill="hold" nodeType="after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wipe(down)">
                                      <p:cBhvr>
                                        <p:cTn id="32" dur="5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1000"/>
                                        <p:tgtEl>
                                          <p:spTgt spid="3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right)">
                                      <p:cBhvr>
                                        <p:cTn id="42" dur="10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4"/>
                                        </p:tgtEl>
                                        <p:attrNameLst>
                                          <p:attrName>style.visibility</p:attrName>
                                        </p:attrNameLst>
                                      </p:cBhvr>
                                      <p:to>
                                        <p:strVal val="visible"/>
                                      </p:to>
                                    </p:set>
                                    <p:animEffect transition="in" filter="fade">
                                      <p:cBhvr>
                                        <p:cTn id="47" dur="1000"/>
                                        <p:tgtEl>
                                          <p:spTgt spid="54"/>
                                        </p:tgtEl>
                                      </p:cBhvr>
                                    </p:animEffect>
                                  </p:childTnLst>
                                </p:cTn>
                              </p:par>
                              <p:par>
                                <p:cTn id="48" presetID="10" presetClass="entr" presetSubtype="0" fill="hold" nodeType="withEffect">
                                  <p:stCondLst>
                                    <p:cond delay="0"/>
                                  </p:stCondLst>
                                  <p:childTnLst>
                                    <p:set>
                                      <p:cBhvr>
                                        <p:cTn id="49" dur="1" fill="hold">
                                          <p:stCondLst>
                                            <p:cond delay="0"/>
                                          </p:stCondLst>
                                        </p:cTn>
                                        <p:tgtEl>
                                          <p:spTgt spid="55"/>
                                        </p:tgtEl>
                                        <p:attrNameLst>
                                          <p:attrName>style.visibility</p:attrName>
                                        </p:attrNameLst>
                                      </p:cBhvr>
                                      <p:to>
                                        <p:strVal val="visible"/>
                                      </p:to>
                                    </p:set>
                                    <p:animEffect transition="in" filter="fade">
                                      <p:cBhvr>
                                        <p:cTn id="50" dur="1000"/>
                                        <p:tgtEl>
                                          <p:spTgt spid="5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56"/>
                                        </p:tgtEl>
                                        <p:attrNameLst>
                                          <p:attrName>style.visibility</p:attrName>
                                        </p:attrNameLst>
                                      </p:cBhvr>
                                      <p:to>
                                        <p:strVal val="visible"/>
                                      </p:to>
                                    </p:set>
                                    <p:animEffect transition="in" filter="wipe(down)">
                                      <p:cBhvr>
                                        <p:cTn id="55" dur="500"/>
                                        <p:tgtEl>
                                          <p:spTgt spid="56"/>
                                        </p:tgtEl>
                                      </p:cBhvr>
                                    </p:animEffect>
                                  </p:childTnLst>
                                </p:cTn>
                              </p:par>
                              <p:par>
                                <p:cTn id="56" presetID="22" presetClass="entr" presetSubtype="4" fill="hold" nodeType="withEffect">
                                  <p:stCondLst>
                                    <p:cond delay="0"/>
                                  </p:stCondLst>
                                  <p:childTnLst>
                                    <p:set>
                                      <p:cBhvr>
                                        <p:cTn id="57" dur="1" fill="hold">
                                          <p:stCondLst>
                                            <p:cond delay="0"/>
                                          </p:stCondLst>
                                        </p:cTn>
                                        <p:tgtEl>
                                          <p:spTgt spid="57"/>
                                        </p:tgtEl>
                                        <p:attrNameLst>
                                          <p:attrName>style.visibility</p:attrName>
                                        </p:attrNameLst>
                                      </p:cBhvr>
                                      <p:to>
                                        <p:strVal val="visible"/>
                                      </p:to>
                                    </p:set>
                                    <p:animEffect transition="in" filter="wipe(down)">
                                      <p:cBhvr>
                                        <p:cTn id="58" dur="500"/>
                                        <p:tgtEl>
                                          <p:spTgt spid="57"/>
                                        </p:tgtEl>
                                      </p:cBhvr>
                                    </p:animEffect>
                                  </p:childTnLst>
                                </p:cTn>
                              </p:par>
                            </p:childTnLst>
                          </p:cTn>
                        </p:par>
                        <p:par>
                          <p:cTn id="59" fill="hold">
                            <p:stCondLst>
                              <p:cond delay="500"/>
                            </p:stCondLst>
                            <p:childTnLst>
                              <p:par>
                                <p:cTn id="60" presetID="22" presetClass="entr" presetSubtype="4" fill="hold" nodeType="after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wipe(down)">
                                      <p:cBhvr>
                                        <p:cTn id="62" dur="500"/>
                                        <p:tgtEl>
                                          <p:spTgt spid="4"/>
                                        </p:tgtEl>
                                      </p:cBhvr>
                                    </p:animEffect>
                                  </p:childTnLst>
                                </p:cTn>
                              </p:par>
                            </p:childTnLst>
                          </p:cTn>
                        </p:par>
                        <p:par>
                          <p:cTn id="63" fill="hold">
                            <p:stCondLst>
                              <p:cond delay="1000"/>
                            </p:stCondLst>
                            <p:childTnLst>
                              <p:par>
                                <p:cTn id="64" presetID="22" presetClass="entr" presetSubtype="4" fill="hold" nodeType="afterEffect">
                                  <p:stCondLst>
                                    <p:cond delay="0"/>
                                  </p:stCondLst>
                                  <p:childTnLst>
                                    <p:set>
                                      <p:cBhvr>
                                        <p:cTn id="65" dur="1" fill="hold">
                                          <p:stCondLst>
                                            <p:cond delay="0"/>
                                          </p:stCondLst>
                                        </p:cTn>
                                        <p:tgtEl>
                                          <p:spTgt spid="50"/>
                                        </p:tgtEl>
                                        <p:attrNameLst>
                                          <p:attrName>style.visibility</p:attrName>
                                        </p:attrNameLst>
                                      </p:cBhvr>
                                      <p:to>
                                        <p:strVal val="visible"/>
                                      </p:to>
                                    </p:set>
                                    <p:animEffect transition="in" filter="wipe(down)">
                                      <p:cBhvr>
                                        <p:cTn id="66" dur="500"/>
                                        <p:tgtEl>
                                          <p:spTgt spid="5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5"/>
                                        </p:tgtEl>
                                        <p:attrNameLst>
                                          <p:attrName>style.visibility</p:attrName>
                                        </p:attrNameLst>
                                      </p:cBhvr>
                                      <p:to>
                                        <p:strVal val="visible"/>
                                      </p:to>
                                    </p:set>
                                    <p:animEffect transition="in" filter="wipe(left)">
                                      <p:cBhvr>
                                        <p:cTn id="71"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1 Rectángulo"/>
          <p:cNvSpPr>
            <a:spLocks noChangeArrowheads="1"/>
          </p:cNvSpPr>
          <p:nvPr/>
        </p:nvSpPr>
        <p:spPr bwMode="auto">
          <a:xfrm>
            <a:off x="1143000" y="714375"/>
            <a:ext cx="2741613" cy="523875"/>
          </a:xfrm>
          <a:prstGeom prst="rect">
            <a:avLst/>
          </a:prstGeom>
          <a:noFill/>
          <a:ln w="9525">
            <a:noFill/>
            <a:miter lim="800000"/>
            <a:headEnd/>
            <a:tailEnd/>
          </a:ln>
        </p:spPr>
        <p:txBody>
          <a:bodyPr wrap="none">
            <a:spAutoFit/>
          </a:bodyPr>
          <a:lstStyle/>
          <a:p>
            <a:r>
              <a:rPr lang="es-ES" sz="2800" b="1"/>
              <a:t>Generalización</a:t>
            </a:r>
          </a:p>
        </p:txBody>
      </p:sp>
      <p:sp>
        <p:nvSpPr>
          <p:cNvPr id="121859"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21860" name="3 Rectángulo"/>
          <p:cNvSpPr>
            <a:spLocks noChangeArrowheads="1"/>
          </p:cNvSpPr>
          <p:nvPr/>
        </p:nvSpPr>
        <p:spPr bwMode="auto">
          <a:xfrm>
            <a:off x="1428750" y="2263775"/>
            <a:ext cx="6786563" cy="2282825"/>
          </a:xfrm>
          <a:prstGeom prst="rect">
            <a:avLst/>
          </a:prstGeom>
          <a:noFill/>
          <a:ln w="9525">
            <a:noFill/>
            <a:miter lim="800000"/>
            <a:headEnd/>
            <a:tailEnd/>
          </a:ln>
        </p:spPr>
        <p:txBody>
          <a:bodyPr>
            <a:spAutoFit/>
          </a:bodyPr>
          <a:lstStyle/>
          <a:p>
            <a:pPr marL="457200" indent="-457200" algn="just">
              <a:buFont typeface="Arial" charset="0"/>
              <a:buChar char="•"/>
            </a:pPr>
            <a:r>
              <a:rPr lang="es-ES" sz="2400"/>
              <a:t>Proceso inverso de la especialización.</a:t>
            </a:r>
          </a:p>
          <a:p>
            <a:pPr marL="457200" indent="-457200" algn="just">
              <a:buFont typeface="Arial" charset="0"/>
              <a:buChar char="•"/>
            </a:pPr>
            <a:endParaRPr lang="es-ES" sz="2400"/>
          </a:p>
          <a:p>
            <a:pPr marL="457200" indent="-457200" algn="just">
              <a:buFont typeface="Arial" charset="0"/>
              <a:buChar char="•"/>
            </a:pPr>
            <a:r>
              <a:rPr lang="es-ES" sz="2400"/>
              <a:t>Suprimir diferencias entre varios tipos de entidad: identificar atributos y relaciones comunes, y </a:t>
            </a:r>
            <a:r>
              <a:rPr lang="es-ES" sz="2400" b="1">
                <a:solidFill>
                  <a:srgbClr val="FF0000"/>
                </a:solidFill>
              </a:rPr>
              <a:t>formar una superclase que los incluyac</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2" name="Picture 2"/>
          <p:cNvPicPr>
            <a:picLocks noChangeAspect="1" noChangeArrowheads="1"/>
          </p:cNvPicPr>
          <p:nvPr/>
        </p:nvPicPr>
        <p:blipFill>
          <a:blip r:embed="rId2" cstate="print"/>
          <a:srcRect/>
          <a:stretch>
            <a:fillRect/>
          </a:stretch>
        </p:blipFill>
        <p:spPr bwMode="auto">
          <a:xfrm>
            <a:off x="0" y="1928813"/>
            <a:ext cx="9136063" cy="3467100"/>
          </a:xfrm>
          <a:prstGeom prst="rect">
            <a:avLst/>
          </a:prstGeom>
          <a:noFill/>
          <a:ln w="9525">
            <a:noFill/>
            <a:miter lim="800000"/>
            <a:headEnd/>
            <a:tailEnd/>
          </a:ln>
        </p:spPr>
      </p:pic>
      <p:sp>
        <p:nvSpPr>
          <p:cNvPr id="122883" name="2 Rectángulo"/>
          <p:cNvSpPr>
            <a:spLocks noChangeArrowheads="1"/>
          </p:cNvSpPr>
          <p:nvPr/>
        </p:nvSpPr>
        <p:spPr bwMode="auto">
          <a:xfrm>
            <a:off x="1143000" y="714375"/>
            <a:ext cx="4756150" cy="523875"/>
          </a:xfrm>
          <a:prstGeom prst="rect">
            <a:avLst/>
          </a:prstGeom>
          <a:noFill/>
          <a:ln w="9525">
            <a:noFill/>
            <a:miter lim="800000"/>
            <a:headEnd/>
            <a:tailEnd/>
          </a:ln>
        </p:spPr>
        <p:txBody>
          <a:bodyPr wrap="none">
            <a:spAutoFit/>
          </a:bodyPr>
          <a:lstStyle/>
          <a:p>
            <a:r>
              <a:rPr lang="es-ES" sz="2800" b="1"/>
              <a:t>Ejemplo de Generalización</a:t>
            </a:r>
          </a:p>
        </p:txBody>
      </p:sp>
      <p:sp>
        <p:nvSpPr>
          <p:cNvPr id="122884"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2 Rectángulo"/>
          <p:cNvSpPr>
            <a:spLocks noChangeArrowheads="1"/>
          </p:cNvSpPr>
          <p:nvPr/>
        </p:nvSpPr>
        <p:spPr bwMode="auto">
          <a:xfrm>
            <a:off x="1143000" y="714375"/>
            <a:ext cx="4811713" cy="519113"/>
          </a:xfrm>
          <a:prstGeom prst="rect">
            <a:avLst/>
          </a:prstGeom>
          <a:noFill/>
          <a:ln w="9525">
            <a:noFill/>
            <a:miter lim="800000"/>
            <a:headEnd/>
            <a:tailEnd/>
          </a:ln>
        </p:spPr>
        <p:txBody>
          <a:bodyPr wrap="none">
            <a:spAutoFit/>
          </a:bodyPr>
          <a:lstStyle/>
          <a:p>
            <a:r>
              <a:rPr lang="es-ES" sz="2800" b="1"/>
              <a:t>Ejercicio de Generalización</a:t>
            </a:r>
          </a:p>
        </p:txBody>
      </p:sp>
      <p:sp>
        <p:nvSpPr>
          <p:cNvPr id="123907"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23908" name="3 Rectángulo"/>
          <p:cNvSpPr>
            <a:spLocks noChangeArrowheads="1"/>
          </p:cNvSpPr>
          <p:nvPr/>
        </p:nvSpPr>
        <p:spPr bwMode="auto">
          <a:xfrm>
            <a:off x="395288" y="1449388"/>
            <a:ext cx="8208962" cy="1465262"/>
          </a:xfrm>
          <a:prstGeom prst="rect">
            <a:avLst/>
          </a:prstGeom>
          <a:noFill/>
          <a:ln w="9525">
            <a:noFill/>
            <a:miter lim="800000"/>
            <a:headEnd/>
            <a:tailEnd/>
          </a:ln>
        </p:spPr>
        <p:txBody>
          <a:bodyPr>
            <a:spAutoFit/>
          </a:bodyPr>
          <a:lstStyle/>
          <a:p>
            <a:pPr marL="457200" indent="-457200" algn="just">
              <a:buFont typeface="Arial" charset="0"/>
              <a:buChar char="•"/>
            </a:pPr>
            <a:r>
              <a:rPr lang="es-ES"/>
              <a:t>Se tiene la entidad Cta_Ahorro que tiene los atributos No_Cta, Saldo y Tasa_interes</a:t>
            </a:r>
          </a:p>
          <a:p>
            <a:pPr marL="457200" indent="-457200" algn="just">
              <a:buFont typeface="Arial" charset="0"/>
              <a:buChar char="•"/>
            </a:pPr>
            <a:r>
              <a:rPr lang="es-ES"/>
              <a:t>Cta_Cheques, tiene los atributos No_Cta y Saldo y Saldo_Deudor.</a:t>
            </a:r>
          </a:p>
          <a:p>
            <a:pPr marL="457200" indent="-457200" algn="just">
              <a:buFont typeface="Arial" charset="0"/>
              <a:buChar char="•"/>
            </a:pPr>
            <a:endParaRPr lang="es-ES"/>
          </a:p>
          <a:p>
            <a:pPr marL="457200" indent="-457200" algn="just">
              <a:buFont typeface="Arial" charset="0"/>
              <a:buNone/>
            </a:pPr>
            <a:r>
              <a:rPr lang="es-ES"/>
              <a:t>¿Cómo se puede Generalizar?</a:t>
            </a:r>
          </a:p>
        </p:txBody>
      </p:sp>
      <p:sp>
        <p:nvSpPr>
          <p:cNvPr id="123909" name="Text Box 7"/>
          <p:cNvSpPr txBox="1">
            <a:spLocks noChangeArrowheads="1"/>
          </p:cNvSpPr>
          <p:nvPr/>
        </p:nvSpPr>
        <p:spPr bwMode="auto">
          <a:xfrm>
            <a:off x="2471738" y="4365625"/>
            <a:ext cx="1362075" cy="376238"/>
          </a:xfrm>
          <a:prstGeom prst="rect">
            <a:avLst/>
          </a:prstGeom>
          <a:noFill/>
          <a:ln w="9525">
            <a:solidFill>
              <a:schemeClr val="tx1"/>
            </a:solidFill>
            <a:miter lim="800000"/>
            <a:headEnd/>
            <a:tailEnd/>
          </a:ln>
        </p:spPr>
        <p:txBody>
          <a:bodyPr wrap="none">
            <a:spAutoFit/>
          </a:bodyPr>
          <a:lstStyle/>
          <a:p>
            <a:r>
              <a:rPr lang="es-ES"/>
              <a:t>Cta_Ahorro</a:t>
            </a:r>
          </a:p>
        </p:txBody>
      </p:sp>
      <p:sp>
        <p:nvSpPr>
          <p:cNvPr id="123910" name="Oval 8"/>
          <p:cNvSpPr>
            <a:spLocks noChangeArrowheads="1"/>
          </p:cNvSpPr>
          <p:nvPr/>
        </p:nvSpPr>
        <p:spPr bwMode="auto">
          <a:xfrm>
            <a:off x="1608138" y="3644900"/>
            <a:ext cx="1584325" cy="409575"/>
          </a:xfrm>
          <a:prstGeom prst="ellipse">
            <a:avLst/>
          </a:prstGeom>
          <a:noFill/>
          <a:ln w="9525">
            <a:solidFill>
              <a:schemeClr val="tx1"/>
            </a:solidFill>
            <a:round/>
            <a:headEnd/>
            <a:tailEnd/>
          </a:ln>
        </p:spPr>
        <p:txBody>
          <a:bodyPr wrap="none" anchor="ctr"/>
          <a:lstStyle/>
          <a:p>
            <a:pPr algn="ctr"/>
            <a:r>
              <a:rPr lang="es-ES"/>
              <a:t>No_Cta</a:t>
            </a:r>
          </a:p>
        </p:txBody>
      </p:sp>
      <p:sp>
        <p:nvSpPr>
          <p:cNvPr id="123911" name="Oval 9"/>
          <p:cNvSpPr>
            <a:spLocks noChangeArrowheads="1"/>
          </p:cNvSpPr>
          <p:nvPr/>
        </p:nvSpPr>
        <p:spPr bwMode="auto">
          <a:xfrm>
            <a:off x="744538" y="4365625"/>
            <a:ext cx="1584325" cy="409575"/>
          </a:xfrm>
          <a:prstGeom prst="ellipse">
            <a:avLst/>
          </a:prstGeom>
          <a:noFill/>
          <a:ln w="9525">
            <a:solidFill>
              <a:schemeClr val="tx1"/>
            </a:solidFill>
            <a:round/>
            <a:headEnd/>
            <a:tailEnd/>
          </a:ln>
        </p:spPr>
        <p:txBody>
          <a:bodyPr wrap="none" anchor="ctr"/>
          <a:lstStyle/>
          <a:p>
            <a:pPr algn="ctr"/>
            <a:r>
              <a:rPr lang="es-ES"/>
              <a:t>Saldo</a:t>
            </a:r>
          </a:p>
        </p:txBody>
      </p:sp>
      <p:sp>
        <p:nvSpPr>
          <p:cNvPr id="123912" name="Oval 10"/>
          <p:cNvSpPr>
            <a:spLocks noChangeArrowheads="1"/>
          </p:cNvSpPr>
          <p:nvPr/>
        </p:nvSpPr>
        <p:spPr bwMode="auto">
          <a:xfrm>
            <a:off x="1968500" y="5084763"/>
            <a:ext cx="1584325" cy="409575"/>
          </a:xfrm>
          <a:prstGeom prst="ellipse">
            <a:avLst/>
          </a:prstGeom>
          <a:noFill/>
          <a:ln w="9525">
            <a:solidFill>
              <a:schemeClr val="tx1"/>
            </a:solidFill>
            <a:round/>
            <a:headEnd/>
            <a:tailEnd/>
          </a:ln>
        </p:spPr>
        <p:txBody>
          <a:bodyPr wrap="none" anchor="ctr"/>
          <a:lstStyle/>
          <a:p>
            <a:pPr algn="ctr"/>
            <a:r>
              <a:rPr lang="es-ES"/>
              <a:t>Tasa_Interes</a:t>
            </a:r>
          </a:p>
        </p:txBody>
      </p:sp>
      <p:sp>
        <p:nvSpPr>
          <p:cNvPr id="123913" name="Line 11"/>
          <p:cNvSpPr>
            <a:spLocks noChangeShapeType="1"/>
          </p:cNvSpPr>
          <p:nvPr/>
        </p:nvSpPr>
        <p:spPr bwMode="auto">
          <a:xfrm>
            <a:off x="2400300" y="4076700"/>
            <a:ext cx="431800" cy="288925"/>
          </a:xfrm>
          <a:prstGeom prst="line">
            <a:avLst/>
          </a:prstGeom>
          <a:noFill/>
          <a:ln w="9525">
            <a:solidFill>
              <a:schemeClr val="tx1"/>
            </a:solidFill>
            <a:round/>
            <a:headEnd/>
            <a:tailEnd/>
          </a:ln>
        </p:spPr>
        <p:txBody>
          <a:bodyPr/>
          <a:lstStyle/>
          <a:p>
            <a:endParaRPr lang="es-ES"/>
          </a:p>
        </p:txBody>
      </p:sp>
      <p:sp>
        <p:nvSpPr>
          <p:cNvPr id="123914" name="Line 12"/>
          <p:cNvSpPr>
            <a:spLocks noChangeShapeType="1"/>
          </p:cNvSpPr>
          <p:nvPr/>
        </p:nvSpPr>
        <p:spPr bwMode="auto">
          <a:xfrm>
            <a:off x="2328863" y="4581525"/>
            <a:ext cx="142875" cy="0"/>
          </a:xfrm>
          <a:prstGeom prst="line">
            <a:avLst/>
          </a:prstGeom>
          <a:noFill/>
          <a:ln w="9525">
            <a:solidFill>
              <a:schemeClr val="tx1"/>
            </a:solidFill>
            <a:round/>
            <a:headEnd/>
            <a:tailEnd/>
          </a:ln>
        </p:spPr>
        <p:txBody>
          <a:bodyPr/>
          <a:lstStyle/>
          <a:p>
            <a:endParaRPr lang="es-ES"/>
          </a:p>
        </p:txBody>
      </p:sp>
      <p:sp>
        <p:nvSpPr>
          <p:cNvPr id="123915" name="Line 13"/>
          <p:cNvSpPr>
            <a:spLocks noChangeShapeType="1"/>
          </p:cNvSpPr>
          <p:nvPr/>
        </p:nvSpPr>
        <p:spPr bwMode="auto">
          <a:xfrm flipH="1">
            <a:off x="2760663" y="4724400"/>
            <a:ext cx="287337" cy="360363"/>
          </a:xfrm>
          <a:prstGeom prst="line">
            <a:avLst/>
          </a:prstGeom>
          <a:noFill/>
          <a:ln w="9525">
            <a:solidFill>
              <a:schemeClr val="tx1"/>
            </a:solidFill>
            <a:round/>
            <a:headEnd/>
            <a:tailEnd/>
          </a:ln>
        </p:spPr>
        <p:txBody>
          <a:bodyPr/>
          <a:lstStyle/>
          <a:p>
            <a:endParaRPr lang="es-ES"/>
          </a:p>
        </p:txBody>
      </p:sp>
      <p:sp>
        <p:nvSpPr>
          <p:cNvPr id="123916" name="Text Box 14"/>
          <p:cNvSpPr txBox="1">
            <a:spLocks noChangeArrowheads="1"/>
          </p:cNvSpPr>
          <p:nvPr/>
        </p:nvSpPr>
        <p:spPr bwMode="auto">
          <a:xfrm>
            <a:off x="6726238" y="4365625"/>
            <a:ext cx="1590675" cy="376238"/>
          </a:xfrm>
          <a:prstGeom prst="rect">
            <a:avLst/>
          </a:prstGeom>
          <a:noFill/>
          <a:ln w="9525">
            <a:solidFill>
              <a:schemeClr val="tx1"/>
            </a:solidFill>
            <a:miter lim="800000"/>
            <a:headEnd/>
            <a:tailEnd/>
          </a:ln>
        </p:spPr>
        <p:txBody>
          <a:bodyPr wrap="none">
            <a:spAutoFit/>
          </a:bodyPr>
          <a:lstStyle/>
          <a:p>
            <a:r>
              <a:rPr lang="es-ES"/>
              <a:t>Cta_Cheques</a:t>
            </a:r>
          </a:p>
        </p:txBody>
      </p:sp>
      <p:sp>
        <p:nvSpPr>
          <p:cNvPr id="123917" name="Oval 15"/>
          <p:cNvSpPr>
            <a:spLocks noChangeArrowheads="1"/>
          </p:cNvSpPr>
          <p:nvPr/>
        </p:nvSpPr>
        <p:spPr bwMode="auto">
          <a:xfrm>
            <a:off x="5862638" y="3644900"/>
            <a:ext cx="1584325" cy="409575"/>
          </a:xfrm>
          <a:prstGeom prst="ellipse">
            <a:avLst/>
          </a:prstGeom>
          <a:noFill/>
          <a:ln w="9525">
            <a:solidFill>
              <a:schemeClr val="tx1"/>
            </a:solidFill>
            <a:round/>
            <a:headEnd/>
            <a:tailEnd/>
          </a:ln>
        </p:spPr>
        <p:txBody>
          <a:bodyPr wrap="none" anchor="ctr"/>
          <a:lstStyle/>
          <a:p>
            <a:pPr algn="ctr"/>
            <a:r>
              <a:rPr lang="es-ES"/>
              <a:t>No_Cta</a:t>
            </a:r>
          </a:p>
        </p:txBody>
      </p:sp>
      <p:sp>
        <p:nvSpPr>
          <p:cNvPr id="123918" name="Oval 16"/>
          <p:cNvSpPr>
            <a:spLocks noChangeArrowheads="1"/>
          </p:cNvSpPr>
          <p:nvPr/>
        </p:nvSpPr>
        <p:spPr bwMode="auto">
          <a:xfrm>
            <a:off x="4999038" y="4365625"/>
            <a:ext cx="1584325" cy="409575"/>
          </a:xfrm>
          <a:prstGeom prst="ellipse">
            <a:avLst/>
          </a:prstGeom>
          <a:noFill/>
          <a:ln w="9525">
            <a:solidFill>
              <a:schemeClr val="tx1"/>
            </a:solidFill>
            <a:round/>
            <a:headEnd/>
            <a:tailEnd/>
          </a:ln>
        </p:spPr>
        <p:txBody>
          <a:bodyPr wrap="none" anchor="ctr"/>
          <a:lstStyle/>
          <a:p>
            <a:pPr algn="ctr"/>
            <a:r>
              <a:rPr lang="es-ES"/>
              <a:t>Saldo</a:t>
            </a:r>
          </a:p>
        </p:txBody>
      </p:sp>
      <p:sp>
        <p:nvSpPr>
          <p:cNvPr id="123919" name="Oval 17"/>
          <p:cNvSpPr>
            <a:spLocks noChangeArrowheads="1"/>
          </p:cNvSpPr>
          <p:nvPr/>
        </p:nvSpPr>
        <p:spPr bwMode="auto">
          <a:xfrm>
            <a:off x="6223000" y="5084763"/>
            <a:ext cx="1584325" cy="409575"/>
          </a:xfrm>
          <a:prstGeom prst="ellipse">
            <a:avLst/>
          </a:prstGeom>
          <a:noFill/>
          <a:ln w="9525">
            <a:solidFill>
              <a:schemeClr val="tx1"/>
            </a:solidFill>
            <a:round/>
            <a:headEnd/>
            <a:tailEnd/>
          </a:ln>
        </p:spPr>
        <p:txBody>
          <a:bodyPr wrap="none" anchor="ctr"/>
          <a:lstStyle/>
          <a:p>
            <a:pPr algn="ctr"/>
            <a:r>
              <a:rPr lang="es-ES"/>
              <a:t>Saldo_Deudor</a:t>
            </a:r>
          </a:p>
        </p:txBody>
      </p:sp>
      <p:sp>
        <p:nvSpPr>
          <p:cNvPr id="123920" name="Line 18"/>
          <p:cNvSpPr>
            <a:spLocks noChangeShapeType="1"/>
          </p:cNvSpPr>
          <p:nvPr/>
        </p:nvSpPr>
        <p:spPr bwMode="auto">
          <a:xfrm>
            <a:off x="6654800" y="4076700"/>
            <a:ext cx="431800" cy="288925"/>
          </a:xfrm>
          <a:prstGeom prst="line">
            <a:avLst/>
          </a:prstGeom>
          <a:noFill/>
          <a:ln w="9525">
            <a:solidFill>
              <a:schemeClr val="tx1"/>
            </a:solidFill>
            <a:round/>
            <a:headEnd/>
            <a:tailEnd/>
          </a:ln>
        </p:spPr>
        <p:txBody>
          <a:bodyPr/>
          <a:lstStyle/>
          <a:p>
            <a:endParaRPr lang="es-ES"/>
          </a:p>
        </p:txBody>
      </p:sp>
      <p:sp>
        <p:nvSpPr>
          <p:cNvPr id="123921" name="Line 19"/>
          <p:cNvSpPr>
            <a:spLocks noChangeShapeType="1"/>
          </p:cNvSpPr>
          <p:nvPr/>
        </p:nvSpPr>
        <p:spPr bwMode="auto">
          <a:xfrm>
            <a:off x="6583363" y="4581525"/>
            <a:ext cx="142875" cy="0"/>
          </a:xfrm>
          <a:prstGeom prst="line">
            <a:avLst/>
          </a:prstGeom>
          <a:noFill/>
          <a:ln w="9525">
            <a:solidFill>
              <a:schemeClr val="tx1"/>
            </a:solidFill>
            <a:round/>
            <a:headEnd/>
            <a:tailEnd/>
          </a:ln>
        </p:spPr>
        <p:txBody>
          <a:bodyPr/>
          <a:lstStyle/>
          <a:p>
            <a:endParaRPr lang="es-ES"/>
          </a:p>
        </p:txBody>
      </p:sp>
      <p:sp>
        <p:nvSpPr>
          <p:cNvPr id="123922" name="Line 20"/>
          <p:cNvSpPr>
            <a:spLocks noChangeShapeType="1"/>
          </p:cNvSpPr>
          <p:nvPr/>
        </p:nvSpPr>
        <p:spPr bwMode="auto">
          <a:xfrm flipH="1">
            <a:off x="7015163" y="4724400"/>
            <a:ext cx="287337" cy="360363"/>
          </a:xfrm>
          <a:prstGeom prst="line">
            <a:avLst/>
          </a:prstGeom>
          <a:noFill/>
          <a:ln w="9525">
            <a:solidFill>
              <a:schemeClr val="tx1"/>
            </a:solidFill>
            <a:round/>
            <a:headEnd/>
            <a:tailEnd/>
          </a:ln>
        </p:spPr>
        <p:txBody>
          <a:bodyPr/>
          <a:lstStyle/>
          <a:p>
            <a:endParaRPr lang="es-E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2 Rectángulo"/>
          <p:cNvSpPr>
            <a:spLocks noChangeArrowheads="1"/>
          </p:cNvSpPr>
          <p:nvPr/>
        </p:nvSpPr>
        <p:spPr bwMode="auto">
          <a:xfrm>
            <a:off x="1143000" y="714375"/>
            <a:ext cx="4811713" cy="519113"/>
          </a:xfrm>
          <a:prstGeom prst="rect">
            <a:avLst/>
          </a:prstGeom>
          <a:noFill/>
          <a:ln w="9525">
            <a:noFill/>
            <a:miter lim="800000"/>
            <a:headEnd/>
            <a:tailEnd/>
          </a:ln>
        </p:spPr>
        <p:txBody>
          <a:bodyPr wrap="none">
            <a:spAutoFit/>
          </a:bodyPr>
          <a:lstStyle/>
          <a:p>
            <a:r>
              <a:rPr lang="es-ES" sz="2800" b="1"/>
              <a:t>Ejercicio de Generalización</a:t>
            </a:r>
          </a:p>
        </p:txBody>
      </p:sp>
      <p:sp>
        <p:nvSpPr>
          <p:cNvPr id="124931"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24932" name="3 Rectángulo"/>
          <p:cNvSpPr>
            <a:spLocks noChangeArrowheads="1"/>
          </p:cNvSpPr>
          <p:nvPr/>
        </p:nvSpPr>
        <p:spPr bwMode="auto">
          <a:xfrm>
            <a:off x="395288" y="1449388"/>
            <a:ext cx="8208962" cy="4486275"/>
          </a:xfrm>
          <a:prstGeom prst="rect">
            <a:avLst/>
          </a:prstGeom>
          <a:noFill/>
          <a:ln w="9525">
            <a:noFill/>
            <a:miter lim="800000"/>
            <a:headEnd/>
            <a:tailEnd/>
          </a:ln>
        </p:spPr>
        <p:txBody>
          <a:bodyPr>
            <a:spAutoFit/>
          </a:bodyPr>
          <a:lstStyle/>
          <a:p>
            <a:pPr marL="457200" indent="-457200" algn="just">
              <a:buFont typeface="Arial" charset="0"/>
              <a:buNone/>
            </a:pPr>
            <a:r>
              <a:rPr lang="es-ES"/>
              <a:t>Actualmente el Hospital San Martín, cuenta con una base de datos que permita llevar el control de sus procesos, pero que desea eficientar, la BD está estructurada como sigue:</a:t>
            </a:r>
          </a:p>
          <a:p>
            <a:pPr marL="457200" indent="-457200" algn="just">
              <a:buFont typeface="Arial" charset="0"/>
              <a:buNone/>
            </a:pPr>
            <a:endParaRPr lang="es-ES"/>
          </a:p>
          <a:p>
            <a:pPr marL="457200" indent="-457200" algn="just">
              <a:buFont typeface="Arial" charset="0"/>
              <a:buChar char="•"/>
            </a:pPr>
            <a:r>
              <a:rPr lang="es-ES"/>
              <a:t>Para controlar a sus tipos de empleados, se manejan 4 entidades: médico, enfermero, administrativo, intendente. </a:t>
            </a:r>
          </a:p>
          <a:p>
            <a:pPr marL="457200" indent="-457200" algn="just">
              <a:buFont typeface="Arial" charset="0"/>
              <a:buChar char="•"/>
            </a:pPr>
            <a:r>
              <a:rPr lang="es-ES"/>
              <a:t>Cada entidad, tiene como atributos, número de control, nombre completo, domicilio, teléfono y salario.</a:t>
            </a:r>
          </a:p>
          <a:p>
            <a:pPr marL="457200" indent="-457200" algn="just">
              <a:buFont typeface="Arial" charset="0"/>
              <a:buChar char="•"/>
            </a:pPr>
            <a:r>
              <a:rPr lang="es-ES"/>
              <a:t>La entidad médico, adicionalmente tiene los atributos número de cédula profesional y especialidad.</a:t>
            </a:r>
          </a:p>
          <a:p>
            <a:pPr marL="457200" indent="-457200" algn="just">
              <a:buFont typeface="Arial" charset="0"/>
              <a:buChar char="•"/>
            </a:pPr>
            <a:r>
              <a:rPr lang="es-ES"/>
              <a:t>La entidad enfermero, adicionalmente tiene el atributo número de cédula profesional.</a:t>
            </a:r>
          </a:p>
          <a:p>
            <a:pPr marL="457200" indent="-457200" algn="just">
              <a:buFont typeface="Arial" charset="0"/>
              <a:buChar char="•"/>
            </a:pPr>
            <a:r>
              <a:rPr lang="es-ES"/>
              <a:t>La BD, cuenta con la entidad pacientes, cuyos atributos son: número de control, nombre, domicilio, teléfono y alergias.</a:t>
            </a:r>
          </a:p>
          <a:p>
            <a:pPr marL="457200" indent="-457200" algn="just">
              <a:buFont typeface="Arial" charset="0"/>
              <a:buChar char="•"/>
            </a:pPr>
            <a:r>
              <a:rPr lang="es-ES"/>
              <a:t>En cuanto a la entidad proveedores, se cuenta con los atributos de nombre, teléfono, domicilio, rfc y una clave de proveedor.</a:t>
            </a:r>
            <a:endParaRPr lang="es-ES" b="1">
              <a:solidFill>
                <a:srgbClr val="FF0000"/>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1 Rectángulo"/>
          <p:cNvSpPr>
            <a:spLocks noChangeArrowheads="1"/>
          </p:cNvSpPr>
          <p:nvPr/>
        </p:nvSpPr>
        <p:spPr bwMode="auto">
          <a:xfrm>
            <a:off x="1214438" y="1357313"/>
            <a:ext cx="7143750" cy="4154487"/>
          </a:xfrm>
          <a:prstGeom prst="rect">
            <a:avLst/>
          </a:prstGeom>
          <a:noFill/>
          <a:ln w="9525">
            <a:noFill/>
            <a:miter lim="800000"/>
            <a:headEnd/>
            <a:tailEnd/>
          </a:ln>
        </p:spPr>
        <p:txBody>
          <a:bodyPr>
            <a:spAutoFit/>
          </a:bodyPr>
          <a:lstStyle/>
          <a:p>
            <a:pPr marL="342900" indent="-342900" algn="just"/>
            <a:r>
              <a:rPr lang="es-ES" sz="2400" b="1"/>
              <a:t>Generalización</a:t>
            </a:r>
          </a:p>
          <a:p>
            <a:pPr marL="342900" indent="-342900" algn="just"/>
            <a:endParaRPr lang="es-ES" sz="2400"/>
          </a:p>
          <a:p>
            <a:pPr marL="342900" indent="-342900" algn="just">
              <a:buFont typeface="Arial" charset="0"/>
              <a:buChar char="•"/>
            </a:pPr>
            <a:r>
              <a:rPr lang="es-ES" sz="2400"/>
              <a:t>Énfasis en las similitudes.</a:t>
            </a:r>
          </a:p>
          <a:p>
            <a:pPr marL="342900" indent="-342900" algn="just">
              <a:buFont typeface="Arial" charset="0"/>
              <a:buChar char="•"/>
            </a:pPr>
            <a:r>
              <a:rPr lang="es-ES" sz="2400"/>
              <a:t>Cada instancia de la superclase es también una instancia de alguno de los subtipos.</a:t>
            </a:r>
          </a:p>
          <a:p>
            <a:pPr marL="342900" indent="-342900" algn="just">
              <a:buFont typeface="Arial" charset="0"/>
              <a:buChar char="•"/>
            </a:pPr>
            <a:endParaRPr lang="es-ES" sz="2400"/>
          </a:p>
          <a:p>
            <a:pPr marL="342900" indent="-342900" algn="just"/>
            <a:r>
              <a:rPr lang="es-ES" sz="2400" b="1"/>
              <a:t>Especialización</a:t>
            </a:r>
          </a:p>
          <a:p>
            <a:pPr marL="342900" indent="-342900" algn="just">
              <a:buFont typeface="Arial" charset="0"/>
              <a:buChar char="•"/>
            </a:pPr>
            <a:endParaRPr lang="es-ES" sz="2400"/>
          </a:p>
          <a:p>
            <a:pPr marL="342900" indent="-342900" algn="just">
              <a:buFont typeface="Arial" charset="0"/>
              <a:buChar char="•"/>
            </a:pPr>
            <a:r>
              <a:rPr lang="es-ES" sz="2400"/>
              <a:t>Énfasis en las diferencias.</a:t>
            </a:r>
          </a:p>
          <a:p>
            <a:pPr marL="342900" indent="-342900" algn="just">
              <a:buFont typeface="Arial" charset="0"/>
              <a:buChar char="•"/>
            </a:pPr>
            <a:r>
              <a:rPr lang="es-ES" sz="2400"/>
              <a:t>Alguna instancia de la superclase puede no ser instancia de ninguna subclase.</a:t>
            </a:r>
          </a:p>
        </p:txBody>
      </p:sp>
      <p:sp>
        <p:nvSpPr>
          <p:cNvPr id="125955"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1 Rectángulo"/>
          <p:cNvSpPr>
            <a:spLocks noChangeArrowheads="1"/>
          </p:cNvSpPr>
          <p:nvPr/>
        </p:nvSpPr>
        <p:spPr bwMode="auto">
          <a:xfrm>
            <a:off x="500063" y="857250"/>
            <a:ext cx="8374062" cy="461963"/>
          </a:xfrm>
          <a:prstGeom prst="rect">
            <a:avLst/>
          </a:prstGeom>
          <a:noFill/>
          <a:ln w="9525">
            <a:noFill/>
            <a:miter lim="800000"/>
            <a:headEnd/>
            <a:tailEnd/>
          </a:ln>
        </p:spPr>
        <p:txBody>
          <a:bodyPr wrap="none">
            <a:spAutoFit/>
          </a:bodyPr>
          <a:lstStyle/>
          <a:p>
            <a:r>
              <a:rPr lang="es-ES" sz="2400" b="1"/>
              <a:t>Restricciones sobre la Especialización y Generalización</a:t>
            </a:r>
          </a:p>
        </p:txBody>
      </p:sp>
      <p:sp>
        <p:nvSpPr>
          <p:cNvPr id="126979"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26980" name="3 Rectángulo"/>
          <p:cNvSpPr>
            <a:spLocks noChangeArrowheads="1"/>
          </p:cNvSpPr>
          <p:nvPr/>
        </p:nvSpPr>
        <p:spPr bwMode="auto">
          <a:xfrm>
            <a:off x="928688" y="1600200"/>
            <a:ext cx="7786687" cy="4400550"/>
          </a:xfrm>
          <a:prstGeom prst="rect">
            <a:avLst/>
          </a:prstGeom>
          <a:noFill/>
          <a:ln w="9525">
            <a:noFill/>
            <a:miter lim="800000"/>
            <a:headEnd/>
            <a:tailEnd/>
          </a:ln>
        </p:spPr>
        <p:txBody>
          <a:bodyPr>
            <a:spAutoFit/>
          </a:bodyPr>
          <a:lstStyle/>
          <a:p>
            <a:pPr algn="just"/>
            <a:r>
              <a:rPr lang="es-ES" sz="2000" b="1" u="sng"/>
              <a:t>Definición</a:t>
            </a:r>
          </a:p>
          <a:p>
            <a:pPr algn="just"/>
            <a:r>
              <a:rPr lang="es-ES" sz="2000"/>
              <a:t>¿Qué instancias de la superclase pertenecen a cada subclase?</a:t>
            </a:r>
          </a:p>
          <a:p>
            <a:pPr algn="just"/>
            <a:endParaRPr lang="es-ES" sz="2000" b="1"/>
          </a:p>
          <a:p>
            <a:pPr marL="914400" lvl="1" indent="-457200">
              <a:buFont typeface="Lucida Sans Unicode" pitchFamily="34" charset="0"/>
              <a:buAutoNum type="arabicPeriod"/>
            </a:pPr>
            <a:r>
              <a:rPr lang="es-ES" sz="2000"/>
              <a:t>Subtipos definidos por predicado o condición</a:t>
            </a:r>
          </a:p>
          <a:p>
            <a:pPr marL="914400" lvl="1" indent="-457200">
              <a:buFont typeface="Lucida Sans Unicode" pitchFamily="34" charset="0"/>
              <a:buAutoNum type="arabicPeriod"/>
            </a:pPr>
            <a:r>
              <a:rPr lang="es-ES" sz="2000"/>
              <a:t>Subtipos definidos por atributo</a:t>
            </a:r>
          </a:p>
          <a:p>
            <a:pPr marL="914400" lvl="1" indent="-457200">
              <a:buFont typeface="Lucida Sans Unicode" pitchFamily="34" charset="0"/>
              <a:buAutoNum type="arabicPeriod"/>
            </a:pPr>
            <a:r>
              <a:rPr lang="es-ES" sz="2000"/>
              <a:t>Subtipos definidos por el usuario</a:t>
            </a:r>
          </a:p>
          <a:p>
            <a:pPr algn="just"/>
            <a:endParaRPr lang="es-ES" sz="2000" b="1"/>
          </a:p>
          <a:p>
            <a:pPr algn="just"/>
            <a:r>
              <a:rPr lang="es-ES" sz="2000" b="1" u="sng"/>
              <a:t>Disyunción/Solapamiento</a:t>
            </a:r>
          </a:p>
          <a:p>
            <a:pPr algn="just"/>
            <a:r>
              <a:rPr lang="es-ES" sz="2000"/>
              <a:t>¿A cuántas subclases puede pertenecer (a la vez) una instancia de la superclase?</a:t>
            </a:r>
          </a:p>
          <a:p>
            <a:pPr algn="just"/>
            <a:endParaRPr lang="es-ES" sz="2000" b="1"/>
          </a:p>
          <a:p>
            <a:pPr algn="just"/>
            <a:r>
              <a:rPr lang="es-ES" sz="2000" b="1" u="sng"/>
              <a:t>Completitud/Parcialidad</a:t>
            </a:r>
          </a:p>
          <a:p>
            <a:pPr algn="just"/>
            <a:r>
              <a:rPr lang="es-ES" sz="2000"/>
              <a:t>¿Debe toda instancia de la superclase pertenecer a alguna subclase?</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1 Rectángulo"/>
          <p:cNvSpPr>
            <a:spLocks noChangeArrowheads="1"/>
          </p:cNvSpPr>
          <p:nvPr/>
        </p:nvSpPr>
        <p:spPr bwMode="auto">
          <a:xfrm>
            <a:off x="500063" y="857250"/>
            <a:ext cx="8374062" cy="461963"/>
          </a:xfrm>
          <a:prstGeom prst="rect">
            <a:avLst/>
          </a:prstGeom>
          <a:noFill/>
          <a:ln w="9525">
            <a:noFill/>
            <a:miter lim="800000"/>
            <a:headEnd/>
            <a:tailEnd/>
          </a:ln>
        </p:spPr>
        <p:txBody>
          <a:bodyPr wrap="none">
            <a:spAutoFit/>
          </a:bodyPr>
          <a:lstStyle/>
          <a:p>
            <a:r>
              <a:rPr lang="es-ES" sz="2400" b="1"/>
              <a:t>Restricciones sobre la Especialización y Generalización</a:t>
            </a:r>
          </a:p>
        </p:txBody>
      </p:sp>
      <p:sp>
        <p:nvSpPr>
          <p:cNvPr id="128003"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28004" name="3 Rectángulo"/>
          <p:cNvSpPr>
            <a:spLocks noChangeArrowheads="1"/>
          </p:cNvSpPr>
          <p:nvPr/>
        </p:nvSpPr>
        <p:spPr bwMode="auto">
          <a:xfrm>
            <a:off x="611188" y="1970088"/>
            <a:ext cx="7786687" cy="2898775"/>
          </a:xfrm>
          <a:prstGeom prst="rect">
            <a:avLst/>
          </a:prstGeom>
          <a:noFill/>
          <a:ln w="9525">
            <a:noFill/>
            <a:miter lim="800000"/>
            <a:headEnd/>
            <a:tailEnd/>
          </a:ln>
        </p:spPr>
        <p:txBody>
          <a:bodyPr>
            <a:spAutoFit/>
          </a:bodyPr>
          <a:lstStyle/>
          <a:p>
            <a:pPr algn="just"/>
            <a:r>
              <a:rPr lang="es-ES" sz="2000" b="1"/>
              <a:t>Subtipos definidos por predicado o condición</a:t>
            </a:r>
          </a:p>
          <a:p>
            <a:pPr algn="just"/>
            <a:endParaRPr lang="es-ES" sz="2000"/>
          </a:p>
          <a:p>
            <a:pPr marL="914400" lvl="1" indent="-457200">
              <a:buFontTx/>
              <a:buChar char="•"/>
            </a:pPr>
            <a:r>
              <a:rPr lang="es-ES"/>
              <a:t>Condición de pertenencia a cada subtipo con base en el </a:t>
            </a:r>
            <a:r>
              <a:rPr lang="es-ES" b="1"/>
              <a:t>valor de algún atributo del supertipo.</a:t>
            </a:r>
            <a:endParaRPr lang="es-ES"/>
          </a:p>
          <a:p>
            <a:endParaRPr lang="es-ES"/>
          </a:p>
          <a:p>
            <a:r>
              <a:rPr lang="es-ES" b="1"/>
              <a:t>Restricción </a:t>
            </a:r>
            <a:r>
              <a:rPr lang="es-ES"/>
              <a:t>que especifica que:</a:t>
            </a:r>
          </a:p>
          <a:p>
            <a:endParaRPr lang="es-ES"/>
          </a:p>
          <a:p>
            <a:pPr marL="914400" lvl="1" indent="-457200">
              <a:buFontTx/>
              <a:buChar char="•"/>
            </a:pPr>
            <a:r>
              <a:rPr lang="es-ES"/>
              <a:t>Las instancias del subtipo deben satisfacer la condición</a:t>
            </a:r>
          </a:p>
          <a:p>
            <a:pPr marL="914400" lvl="1" indent="-457200">
              <a:buFontTx/>
              <a:buChar char="•"/>
            </a:pPr>
            <a:r>
              <a:rPr lang="es-ES"/>
              <a:t>Todas las instancias del supertipo que cumplen la condición, deben pertenecer al subtipo.</a:t>
            </a:r>
            <a:endParaRPr lang="es-ES" sz="200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Picture 2"/>
          <p:cNvPicPr>
            <a:picLocks noChangeAspect="1" noChangeArrowheads="1"/>
          </p:cNvPicPr>
          <p:nvPr/>
        </p:nvPicPr>
        <p:blipFill>
          <a:blip r:embed="rId2" cstate="print"/>
          <a:srcRect t="3383"/>
          <a:stretch>
            <a:fillRect/>
          </a:stretch>
        </p:blipFill>
        <p:spPr bwMode="auto">
          <a:xfrm>
            <a:off x="468313" y="3146425"/>
            <a:ext cx="7705725" cy="2227263"/>
          </a:xfrm>
          <a:prstGeom prst="rect">
            <a:avLst/>
          </a:prstGeom>
          <a:noFill/>
          <a:ln w="9525">
            <a:noFill/>
            <a:miter lim="800000"/>
            <a:headEnd/>
            <a:tailEnd/>
          </a:ln>
        </p:spPr>
      </p:pic>
      <p:sp>
        <p:nvSpPr>
          <p:cNvPr id="129027" name="1 Rectángulo"/>
          <p:cNvSpPr>
            <a:spLocks noChangeArrowheads="1"/>
          </p:cNvSpPr>
          <p:nvPr/>
        </p:nvSpPr>
        <p:spPr bwMode="auto">
          <a:xfrm>
            <a:off x="500063" y="857250"/>
            <a:ext cx="8374062" cy="461963"/>
          </a:xfrm>
          <a:prstGeom prst="rect">
            <a:avLst/>
          </a:prstGeom>
          <a:noFill/>
          <a:ln w="9525">
            <a:noFill/>
            <a:miter lim="800000"/>
            <a:headEnd/>
            <a:tailEnd/>
          </a:ln>
        </p:spPr>
        <p:txBody>
          <a:bodyPr wrap="none">
            <a:spAutoFit/>
          </a:bodyPr>
          <a:lstStyle/>
          <a:p>
            <a:r>
              <a:rPr lang="es-ES" sz="2400" b="1"/>
              <a:t>Restricciones sobre la Especialización y Generalización</a:t>
            </a:r>
          </a:p>
        </p:txBody>
      </p:sp>
      <p:sp>
        <p:nvSpPr>
          <p:cNvPr id="129028"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29029" name="3 Rectángulo"/>
          <p:cNvSpPr>
            <a:spLocks noChangeArrowheads="1"/>
          </p:cNvSpPr>
          <p:nvPr/>
        </p:nvSpPr>
        <p:spPr bwMode="auto">
          <a:xfrm>
            <a:off x="611188" y="1970088"/>
            <a:ext cx="7786687" cy="396875"/>
          </a:xfrm>
          <a:prstGeom prst="rect">
            <a:avLst/>
          </a:prstGeom>
          <a:noFill/>
          <a:ln w="9525">
            <a:noFill/>
            <a:miter lim="800000"/>
            <a:headEnd/>
            <a:tailEnd/>
          </a:ln>
        </p:spPr>
        <p:txBody>
          <a:bodyPr>
            <a:spAutoFit/>
          </a:bodyPr>
          <a:lstStyle/>
          <a:p>
            <a:pPr algn="just"/>
            <a:r>
              <a:rPr lang="es-ES" sz="2000" b="1"/>
              <a:t>Subtipos definidos por predicado o condición</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1 Rectángulo"/>
          <p:cNvSpPr>
            <a:spLocks noChangeArrowheads="1"/>
          </p:cNvSpPr>
          <p:nvPr/>
        </p:nvSpPr>
        <p:spPr bwMode="auto">
          <a:xfrm>
            <a:off x="500063" y="857250"/>
            <a:ext cx="8374062" cy="461963"/>
          </a:xfrm>
          <a:prstGeom prst="rect">
            <a:avLst/>
          </a:prstGeom>
          <a:noFill/>
          <a:ln w="9525">
            <a:noFill/>
            <a:miter lim="800000"/>
            <a:headEnd/>
            <a:tailEnd/>
          </a:ln>
        </p:spPr>
        <p:txBody>
          <a:bodyPr wrap="none">
            <a:spAutoFit/>
          </a:bodyPr>
          <a:lstStyle/>
          <a:p>
            <a:r>
              <a:rPr lang="es-ES" sz="2400" b="1"/>
              <a:t>Restricciones sobre la Especialización y Generalización</a:t>
            </a:r>
          </a:p>
        </p:txBody>
      </p:sp>
      <p:sp>
        <p:nvSpPr>
          <p:cNvPr id="130051"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30052" name="3 Rectángulo"/>
          <p:cNvSpPr>
            <a:spLocks noChangeArrowheads="1"/>
          </p:cNvSpPr>
          <p:nvPr/>
        </p:nvSpPr>
        <p:spPr bwMode="auto">
          <a:xfrm>
            <a:off x="611188" y="1970088"/>
            <a:ext cx="7786687" cy="1800225"/>
          </a:xfrm>
          <a:prstGeom prst="rect">
            <a:avLst/>
          </a:prstGeom>
          <a:noFill/>
          <a:ln w="9525">
            <a:noFill/>
            <a:miter lim="800000"/>
            <a:headEnd/>
            <a:tailEnd/>
          </a:ln>
        </p:spPr>
        <p:txBody>
          <a:bodyPr>
            <a:spAutoFit/>
          </a:bodyPr>
          <a:lstStyle/>
          <a:p>
            <a:pPr algn="just"/>
            <a:r>
              <a:rPr lang="es-ES" sz="2000" b="1"/>
              <a:t>Subtipos definidos por atributo</a:t>
            </a:r>
          </a:p>
          <a:p>
            <a:pPr algn="just"/>
            <a:endParaRPr lang="es-ES" sz="2000" b="1"/>
          </a:p>
          <a:p>
            <a:pPr marL="914400" lvl="1" indent="-457200">
              <a:buFontTx/>
              <a:buChar char="•"/>
            </a:pPr>
            <a:r>
              <a:rPr lang="es-ES"/>
              <a:t>Todas las subclases definen la condición de pertenencia en términos del </a:t>
            </a:r>
            <a:r>
              <a:rPr lang="es-ES" b="1"/>
              <a:t>mismo atributo</a:t>
            </a:r>
            <a:endParaRPr lang="es-ES"/>
          </a:p>
          <a:p>
            <a:pPr marL="914400" lvl="1" indent="-457200">
              <a:buFontTx/>
              <a:buChar char="•"/>
            </a:pPr>
            <a:endParaRPr lang="es-ES"/>
          </a:p>
          <a:p>
            <a:pPr marL="914400" lvl="1" indent="-457200">
              <a:buFontTx/>
              <a:buChar char="•"/>
            </a:pPr>
            <a:r>
              <a:rPr lang="es-ES"/>
              <a:t>Es el discriminante de la especialización</a:t>
            </a:r>
            <a:endParaRPr lang="es-ES" sz="200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074" name="Picture 2"/>
          <p:cNvPicPr>
            <a:picLocks noChangeAspect="1" noChangeArrowheads="1"/>
          </p:cNvPicPr>
          <p:nvPr/>
        </p:nvPicPr>
        <p:blipFill>
          <a:blip r:embed="rId2" cstate="print"/>
          <a:srcRect/>
          <a:stretch>
            <a:fillRect/>
          </a:stretch>
        </p:blipFill>
        <p:spPr bwMode="auto">
          <a:xfrm>
            <a:off x="0" y="2817813"/>
            <a:ext cx="8890000" cy="2555875"/>
          </a:xfrm>
          <a:prstGeom prst="rect">
            <a:avLst/>
          </a:prstGeom>
          <a:noFill/>
          <a:ln w="9525">
            <a:noFill/>
            <a:miter lim="800000"/>
            <a:headEnd/>
            <a:tailEnd/>
          </a:ln>
        </p:spPr>
      </p:pic>
      <p:sp>
        <p:nvSpPr>
          <p:cNvPr id="131075" name="1 Rectángulo"/>
          <p:cNvSpPr>
            <a:spLocks noChangeArrowheads="1"/>
          </p:cNvSpPr>
          <p:nvPr/>
        </p:nvSpPr>
        <p:spPr bwMode="auto">
          <a:xfrm>
            <a:off x="500063" y="857250"/>
            <a:ext cx="8374062" cy="461963"/>
          </a:xfrm>
          <a:prstGeom prst="rect">
            <a:avLst/>
          </a:prstGeom>
          <a:noFill/>
          <a:ln w="9525">
            <a:noFill/>
            <a:miter lim="800000"/>
            <a:headEnd/>
            <a:tailEnd/>
          </a:ln>
        </p:spPr>
        <p:txBody>
          <a:bodyPr wrap="none">
            <a:spAutoFit/>
          </a:bodyPr>
          <a:lstStyle/>
          <a:p>
            <a:r>
              <a:rPr lang="es-ES" sz="2400" b="1"/>
              <a:t>Restricciones sobre la Especialización y Generalización</a:t>
            </a:r>
          </a:p>
        </p:txBody>
      </p:sp>
      <p:sp>
        <p:nvSpPr>
          <p:cNvPr id="131076"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31077" name="3 Rectángulo"/>
          <p:cNvSpPr>
            <a:spLocks noChangeArrowheads="1"/>
          </p:cNvSpPr>
          <p:nvPr/>
        </p:nvSpPr>
        <p:spPr bwMode="auto">
          <a:xfrm>
            <a:off x="611188" y="1970088"/>
            <a:ext cx="7786687" cy="396875"/>
          </a:xfrm>
          <a:prstGeom prst="rect">
            <a:avLst/>
          </a:prstGeom>
          <a:noFill/>
          <a:ln w="9525">
            <a:noFill/>
            <a:miter lim="800000"/>
            <a:headEnd/>
            <a:tailEnd/>
          </a:ln>
        </p:spPr>
        <p:txBody>
          <a:bodyPr>
            <a:spAutoFit/>
          </a:bodyPr>
          <a:lstStyle/>
          <a:p>
            <a:pPr algn="just"/>
            <a:r>
              <a:rPr lang="es-ES" sz="2000" b="1"/>
              <a:t>Subtipos definidos por atributo</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1 Rectángulo"/>
          <p:cNvSpPr>
            <a:spLocks noChangeArrowheads="1"/>
          </p:cNvSpPr>
          <p:nvPr/>
        </p:nvSpPr>
        <p:spPr bwMode="auto">
          <a:xfrm>
            <a:off x="500063" y="857250"/>
            <a:ext cx="8374062" cy="461963"/>
          </a:xfrm>
          <a:prstGeom prst="rect">
            <a:avLst/>
          </a:prstGeom>
          <a:noFill/>
          <a:ln w="9525">
            <a:noFill/>
            <a:miter lim="800000"/>
            <a:headEnd/>
            <a:tailEnd/>
          </a:ln>
        </p:spPr>
        <p:txBody>
          <a:bodyPr wrap="none">
            <a:spAutoFit/>
          </a:bodyPr>
          <a:lstStyle/>
          <a:p>
            <a:r>
              <a:rPr lang="es-ES" sz="2400" b="1"/>
              <a:t>Restricciones sobre la Especialización y Generalización</a:t>
            </a:r>
          </a:p>
        </p:txBody>
      </p:sp>
      <p:sp>
        <p:nvSpPr>
          <p:cNvPr id="132099"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32100" name="3 Rectángulo"/>
          <p:cNvSpPr>
            <a:spLocks noChangeArrowheads="1"/>
          </p:cNvSpPr>
          <p:nvPr/>
        </p:nvSpPr>
        <p:spPr bwMode="auto">
          <a:xfrm>
            <a:off x="611188" y="1970088"/>
            <a:ext cx="7786687" cy="2379662"/>
          </a:xfrm>
          <a:prstGeom prst="rect">
            <a:avLst/>
          </a:prstGeom>
          <a:noFill/>
          <a:ln w="9525">
            <a:noFill/>
            <a:miter lim="800000"/>
            <a:headEnd/>
            <a:tailEnd/>
          </a:ln>
        </p:spPr>
        <p:txBody>
          <a:bodyPr>
            <a:spAutoFit/>
          </a:bodyPr>
          <a:lstStyle/>
          <a:p>
            <a:pPr algn="just"/>
            <a:r>
              <a:rPr lang="es-ES" sz="2000" b="1"/>
              <a:t>Subtipos definidos por el usuario</a:t>
            </a:r>
          </a:p>
          <a:p>
            <a:pPr algn="just"/>
            <a:endParaRPr lang="es-ES" sz="2000" b="1"/>
          </a:p>
          <a:p>
            <a:pPr marL="914400" lvl="1" indent="-457200">
              <a:buFontTx/>
              <a:buChar char="•"/>
            </a:pPr>
            <a:r>
              <a:rPr lang="es-ES"/>
              <a:t>No existe (o no interesa definir) ninguna condición de pertenencia a los subtipos</a:t>
            </a:r>
          </a:p>
          <a:p>
            <a:pPr marL="914400" lvl="1" indent="-457200">
              <a:buFontTx/>
              <a:buChar char="•"/>
            </a:pPr>
            <a:endParaRPr lang="es-ES"/>
          </a:p>
          <a:p>
            <a:pPr marL="914400" lvl="1" indent="-457200">
              <a:buFontTx/>
              <a:buChar char="•"/>
            </a:pPr>
            <a:r>
              <a:rPr lang="es-ES" b="1"/>
              <a:t>El usuario</a:t>
            </a:r>
            <a:r>
              <a:rPr lang="es-ES"/>
              <a:t>, al insertar una instancia, </a:t>
            </a:r>
            <a:r>
              <a:rPr lang="es-ES" b="1"/>
              <a:t>elige </a:t>
            </a:r>
            <a:r>
              <a:rPr lang="es-ES"/>
              <a:t>a qué subtipo pertenece </a:t>
            </a:r>
          </a:p>
          <a:p>
            <a:pPr marL="914400" lvl="1" indent="-457200" algn="just">
              <a:buFontTx/>
              <a:buChar char="•"/>
            </a:pPr>
            <a:endParaRPr lang="es-ES" sz="200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1 Rectángulo"/>
          <p:cNvSpPr>
            <a:spLocks noChangeArrowheads="1"/>
          </p:cNvSpPr>
          <p:nvPr/>
        </p:nvSpPr>
        <p:spPr bwMode="auto">
          <a:xfrm>
            <a:off x="500063" y="857250"/>
            <a:ext cx="8374062" cy="461963"/>
          </a:xfrm>
          <a:prstGeom prst="rect">
            <a:avLst/>
          </a:prstGeom>
          <a:noFill/>
          <a:ln w="9525">
            <a:noFill/>
            <a:miter lim="800000"/>
            <a:headEnd/>
            <a:tailEnd/>
          </a:ln>
        </p:spPr>
        <p:txBody>
          <a:bodyPr wrap="none">
            <a:spAutoFit/>
          </a:bodyPr>
          <a:lstStyle/>
          <a:p>
            <a:r>
              <a:rPr lang="es-ES" sz="2400" b="1"/>
              <a:t>Restricciones sobre la Especialización y Generalización</a:t>
            </a:r>
          </a:p>
        </p:txBody>
      </p:sp>
      <p:sp>
        <p:nvSpPr>
          <p:cNvPr id="133123"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33124" name="3 Rectángulo"/>
          <p:cNvSpPr>
            <a:spLocks noChangeArrowheads="1"/>
          </p:cNvSpPr>
          <p:nvPr/>
        </p:nvSpPr>
        <p:spPr bwMode="auto">
          <a:xfrm>
            <a:off x="611188" y="1970088"/>
            <a:ext cx="7786687" cy="396875"/>
          </a:xfrm>
          <a:prstGeom prst="rect">
            <a:avLst/>
          </a:prstGeom>
          <a:noFill/>
          <a:ln w="9525">
            <a:noFill/>
            <a:miter lim="800000"/>
            <a:headEnd/>
            <a:tailEnd/>
          </a:ln>
        </p:spPr>
        <p:txBody>
          <a:bodyPr>
            <a:spAutoFit/>
          </a:bodyPr>
          <a:lstStyle/>
          <a:p>
            <a:pPr algn="just"/>
            <a:r>
              <a:rPr lang="es-ES" sz="2000" b="1"/>
              <a:t>Subtipos definidos por el usuario</a:t>
            </a:r>
          </a:p>
        </p:txBody>
      </p:sp>
      <p:pic>
        <p:nvPicPr>
          <p:cNvPr id="133125" name="Picture 5"/>
          <p:cNvPicPr>
            <a:picLocks noChangeAspect="1" noChangeArrowheads="1"/>
          </p:cNvPicPr>
          <p:nvPr/>
        </p:nvPicPr>
        <p:blipFill>
          <a:blip r:embed="rId2" cstate="print"/>
          <a:srcRect/>
          <a:stretch>
            <a:fillRect/>
          </a:stretch>
        </p:blipFill>
        <p:spPr bwMode="auto">
          <a:xfrm>
            <a:off x="2700338" y="2781300"/>
            <a:ext cx="4681537" cy="2665413"/>
          </a:xfrm>
          <a:prstGeom prst="rect">
            <a:avLst/>
          </a:prstGeom>
          <a:noFill/>
          <a:ln w="9525">
            <a:noFill/>
            <a:miter lim="800000"/>
            <a:headEnd/>
            <a:tailEnd/>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1 Rectángulo"/>
          <p:cNvSpPr>
            <a:spLocks noChangeArrowheads="1"/>
          </p:cNvSpPr>
          <p:nvPr/>
        </p:nvSpPr>
        <p:spPr bwMode="auto">
          <a:xfrm>
            <a:off x="500063" y="857250"/>
            <a:ext cx="8374062" cy="461963"/>
          </a:xfrm>
          <a:prstGeom prst="rect">
            <a:avLst/>
          </a:prstGeom>
          <a:noFill/>
          <a:ln w="9525">
            <a:noFill/>
            <a:miter lim="800000"/>
            <a:headEnd/>
            <a:tailEnd/>
          </a:ln>
        </p:spPr>
        <p:txBody>
          <a:bodyPr wrap="none">
            <a:spAutoFit/>
          </a:bodyPr>
          <a:lstStyle/>
          <a:p>
            <a:r>
              <a:rPr lang="es-ES" sz="2400" b="1"/>
              <a:t>Restricciones sobre la Especialización y Generalización</a:t>
            </a:r>
          </a:p>
        </p:txBody>
      </p:sp>
      <p:sp>
        <p:nvSpPr>
          <p:cNvPr id="134147"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34148" name="3 Rectángulo"/>
          <p:cNvSpPr>
            <a:spLocks noChangeArrowheads="1"/>
          </p:cNvSpPr>
          <p:nvPr/>
        </p:nvSpPr>
        <p:spPr bwMode="auto">
          <a:xfrm>
            <a:off x="250825" y="1484313"/>
            <a:ext cx="7786688" cy="1525587"/>
          </a:xfrm>
          <a:prstGeom prst="rect">
            <a:avLst/>
          </a:prstGeom>
          <a:noFill/>
          <a:ln w="9525">
            <a:noFill/>
            <a:miter lim="800000"/>
            <a:headEnd/>
            <a:tailEnd/>
          </a:ln>
        </p:spPr>
        <p:txBody>
          <a:bodyPr>
            <a:spAutoFit/>
          </a:bodyPr>
          <a:lstStyle/>
          <a:p>
            <a:pPr algn="just"/>
            <a:r>
              <a:rPr lang="es-ES" sz="2000" b="1"/>
              <a:t>Disyunción / Solapamiento</a:t>
            </a:r>
          </a:p>
          <a:p>
            <a:pPr algn="just"/>
            <a:endParaRPr lang="es-ES" sz="2000"/>
          </a:p>
          <a:p>
            <a:pPr marL="914400" lvl="1" indent="-457200">
              <a:buFontTx/>
              <a:buChar char="•"/>
            </a:pPr>
            <a:r>
              <a:rPr lang="es-ES" b="1"/>
              <a:t>Subtipos disjuntos </a:t>
            </a:r>
            <a:r>
              <a:rPr lang="es-ES"/>
              <a:t>si una instancia del supertipo puede ser miembro de, como máximo, </a:t>
            </a:r>
            <a:r>
              <a:rPr lang="es-ES" b="1"/>
              <a:t>uno </a:t>
            </a:r>
            <a:r>
              <a:rPr lang="es-ES"/>
              <a:t>de los subtipos (la condición es excluyente).</a:t>
            </a:r>
            <a:endParaRPr lang="es-ES" sz="2000"/>
          </a:p>
        </p:txBody>
      </p:sp>
      <p:pic>
        <p:nvPicPr>
          <p:cNvPr id="134149" name="Picture 9"/>
          <p:cNvPicPr>
            <a:picLocks noChangeAspect="1" noChangeArrowheads="1"/>
          </p:cNvPicPr>
          <p:nvPr/>
        </p:nvPicPr>
        <p:blipFill>
          <a:blip r:embed="rId2" cstate="print"/>
          <a:srcRect/>
          <a:stretch>
            <a:fillRect/>
          </a:stretch>
        </p:blipFill>
        <p:spPr bwMode="auto">
          <a:xfrm>
            <a:off x="1835150" y="3351213"/>
            <a:ext cx="4827588" cy="2382837"/>
          </a:xfrm>
          <a:prstGeom prst="rect">
            <a:avLst/>
          </a:prstGeom>
          <a:noFill/>
          <a:ln w="9525">
            <a:noFill/>
            <a:miter lim="800000"/>
            <a:headEnd/>
            <a:tailEnd/>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1 Rectángulo"/>
          <p:cNvSpPr>
            <a:spLocks noChangeArrowheads="1"/>
          </p:cNvSpPr>
          <p:nvPr/>
        </p:nvSpPr>
        <p:spPr bwMode="auto">
          <a:xfrm>
            <a:off x="500063" y="857250"/>
            <a:ext cx="8374062" cy="461963"/>
          </a:xfrm>
          <a:prstGeom prst="rect">
            <a:avLst/>
          </a:prstGeom>
          <a:noFill/>
          <a:ln w="9525">
            <a:noFill/>
            <a:miter lim="800000"/>
            <a:headEnd/>
            <a:tailEnd/>
          </a:ln>
        </p:spPr>
        <p:txBody>
          <a:bodyPr wrap="none">
            <a:spAutoFit/>
          </a:bodyPr>
          <a:lstStyle/>
          <a:p>
            <a:r>
              <a:rPr lang="es-ES" sz="2400" b="1"/>
              <a:t>Restricciones sobre la Especialización y Generalización</a:t>
            </a:r>
          </a:p>
        </p:txBody>
      </p:sp>
      <p:sp>
        <p:nvSpPr>
          <p:cNvPr id="135171"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35172" name="3 Rectángulo"/>
          <p:cNvSpPr>
            <a:spLocks noChangeArrowheads="1"/>
          </p:cNvSpPr>
          <p:nvPr/>
        </p:nvSpPr>
        <p:spPr bwMode="auto">
          <a:xfrm>
            <a:off x="250825" y="1484313"/>
            <a:ext cx="7786688" cy="1525587"/>
          </a:xfrm>
          <a:prstGeom prst="rect">
            <a:avLst/>
          </a:prstGeom>
          <a:noFill/>
          <a:ln w="9525">
            <a:noFill/>
            <a:miter lim="800000"/>
            <a:headEnd/>
            <a:tailEnd/>
          </a:ln>
        </p:spPr>
        <p:txBody>
          <a:bodyPr>
            <a:spAutoFit/>
          </a:bodyPr>
          <a:lstStyle/>
          <a:p>
            <a:pPr algn="just"/>
            <a:r>
              <a:rPr lang="es-ES" sz="2000" b="1"/>
              <a:t>Disyunción / Solapamiento</a:t>
            </a:r>
          </a:p>
          <a:p>
            <a:pPr algn="just"/>
            <a:endParaRPr lang="es-ES" sz="2000"/>
          </a:p>
          <a:p>
            <a:pPr marL="914400" lvl="1" indent="-457200">
              <a:buFontTx/>
              <a:buChar char="•"/>
            </a:pPr>
            <a:r>
              <a:rPr lang="es-ES" b="1"/>
              <a:t>Subtipos solapados </a:t>
            </a:r>
            <a:r>
              <a:rPr lang="es-ES"/>
              <a:t>si una instancia del supertipo puede ser, a la vez, miembro de </a:t>
            </a:r>
            <a:r>
              <a:rPr lang="es-ES" b="1"/>
              <a:t>más de un </a:t>
            </a:r>
            <a:r>
              <a:rPr lang="es-ES"/>
              <a:t>subtipo</a:t>
            </a:r>
          </a:p>
          <a:p>
            <a:pPr marL="914400" lvl="1" indent="-457200">
              <a:buFontTx/>
              <a:buChar char="•"/>
            </a:pPr>
            <a:r>
              <a:rPr lang="es-ES"/>
              <a:t>Es la opción por defecto.</a:t>
            </a:r>
            <a:endParaRPr lang="es-ES" sz="2000"/>
          </a:p>
        </p:txBody>
      </p:sp>
      <p:pic>
        <p:nvPicPr>
          <p:cNvPr id="135173" name="Picture 6"/>
          <p:cNvPicPr>
            <a:picLocks noChangeAspect="1" noChangeArrowheads="1"/>
          </p:cNvPicPr>
          <p:nvPr/>
        </p:nvPicPr>
        <p:blipFill>
          <a:blip r:embed="rId2" cstate="print"/>
          <a:srcRect l="56032"/>
          <a:stretch>
            <a:fillRect/>
          </a:stretch>
        </p:blipFill>
        <p:spPr bwMode="auto">
          <a:xfrm>
            <a:off x="2484438" y="3429000"/>
            <a:ext cx="3600450" cy="2105025"/>
          </a:xfrm>
          <a:prstGeom prst="rect">
            <a:avLst/>
          </a:prstGeom>
          <a:noFill/>
          <a:ln w="9525">
            <a:noFill/>
            <a:miter lim="800000"/>
            <a:headEnd/>
            <a:tailEnd/>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1 Rectángulo"/>
          <p:cNvSpPr>
            <a:spLocks noChangeArrowheads="1"/>
          </p:cNvSpPr>
          <p:nvPr/>
        </p:nvSpPr>
        <p:spPr bwMode="auto">
          <a:xfrm>
            <a:off x="500063" y="857250"/>
            <a:ext cx="8374062" cy="461963"/>
          </a:xfrm>
          <a:prstGeom prst="rect">
            <a:avLst/>
          </a:prstGeom>
          <a:noFill/>
          <a:ln w="9525">
            <a:noFill/>
            <a:miter lim="800000"/>
            <a:headEnd/>
            <a:tailEnd/>
          </a:ln>
        </p:spPr>
        <p:txBody>
          <a:bodyPr wrap="none">
            <a:spAutoFit/>
          </a:bodyPr>
          <a:lstStyle/>
          <a:p>
            <a:r>
              <a:rPr lang="es-ES" sz="2400" b="1"/>
              <a:t>Restricciones sobre la Especialización y Generalización</a:t>
            </a:r>
          </a:p>
        </p:txBody>
      </p:sp>
      <p:sp>
        <p:nvSpPr>
          <p:cNvPr id="136195"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36196" name="3 Rectángulo"/>
          <p:cNvSpPr>
            <a:spLocks noChangeArrowheads="1"/>
          </p:cNvSpPr>
          <p:nvPr/>
        </p:nvSpPr>
        <p:spPr bwMode="auto">
          <a:xfrm>
            <a:off x="250825" y="1484313"/>
            <a:ext cx="7786688" cy="1250950"/>
          </a:xfrm>
          <a:prstGeom prst="rect">
            <a:avLst/>
          </a:prstGeom>
          <a:noFill/>
          <a:ln w="9525">
            <a:noFill/>
            <a:miter lim="800000"/>
            <a:headEnd/>
            <a:tailEnd/>
          </a:ln>
        </p:spPr>
        <p:txBody>
          <a:bodyPr>
            <a:spAutoFit/>
          </a:bodyPr>
          <a:lstStyle/>
          <a:p>
            <a:pPr algn="just"/>
            <a:r>
              <a:rPr lang="es-ES" sz="2000" b="1"/>
              <a:t>Completitud / Parcialidad</a:t>
            </a:r>
          </a:p>
          <a:p>
            <a:pPr algn="just"/>
            <a:endParaRPr lang="es-ES" sz="2000" b="1"/>
          </a:p>
          <a:p>
            <a:pPr marL="914400" lvl="1" indent="-457200">
              <a:buFontTx/>
              <a:buChar char="•"/>
            </a:pPr>
            <a:r>
              <a:rPr lang="es-ES" b="1"/>
              <a:t>Especialización total </a:t>
            </a:r>
            <a:r>
              <a:rPr lang="es-ES"/>
              <a:t>(completa) indica que toda instancia del supertipo también </a:t>
            </a:r>
            <a:r>
              <a:rPr lang="es-ES" b="1"/>
              <a:t>debe </a:t>
            </a:r>
            <a:r>
              <a:rPr lang="es-ES"/>
              <a:t>ser instancia de algún subtipo.</a:t>
            </a:r>
            <a:endParaRPr lang="es-ES" sz="2000" b="1"/>
          </a:p>
        </p:txBody>
      </p:sp>
      <p:pic>
        <p:nvPicPr>
          <p:cNvPr id="136197" name="Picture 5"/>
          <p:cNvPicPr>
            <a:picLocks noChangeAspect="1" noChangeArrowheads="1"/>
          </p:cNvPicPr>
          <p:nvPr/>
        </p:nvPicPr>
        <p:blipFill>
          <a:blip r:embed="rId2" cstate="print"/>
          <a:srcRect/>
          <a:stretch>
            <a:fillRect/>
          </a:stretch>
        </p:blipFill>
        <p:spPr bwMode="auto">
          <a:xfrm>
            <a:off x="2484438" y="3068638"/>
            <a:ext cx="4321175" cy="2647950"/>
          </a:xfrm>
          <a:prstGeom prst="rect">
            <a:avLst/>
          </a:prstGeom>
          <a:noFill/>
          <a:ln w="9525">
            <a:noFill/>
            <a:miter lim="800000"/>
            <a:headEnd/>
            <a:tailEnd/>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1 Rectángulo"/>
          <p:cNvSpPr>
            <a:spLocks noChangeArrowheads="1"/>
          </p:cNvSpPr>
          <p:nvPr/>
        </p:nvSpPr>
        <p:spPr bwMode="auto">
          <a:xfrm>
            <a:off x="500063" y="857250"/>
            <a:ext cx="8374062" cy="461963"/>
          </a:xfrm>
          <a:prstGeom prst="rect">
            <a:avLst/>
          </a:prstGeom>
          <a:noFill/>
          <a:ln w="9525">
            <a:noFill/>
            <a:miter lim="800000"/>
            <a:headEnd/>
            <a:tailEnd/>
          </a:ln>
        </p:spPr>
        <p:txBody>
          <a:bodyPr wrap="none">
            <a:spAutoFit/>
          </a:bodyPr>
          <a:lstStyle/>
          <a:p>
            <a:r>
              <a:rPr lang="es-ES" sz="2400" b="1"/>
              <a:t>Restricciones sobre la Especialización y Generalización</a:t>
            </a:r>
          </a:p>
        </p:txBody>
      </p:sp>
      <p:sp>
        <p:nvSpPr>
          <p:cNvPr id="137219"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37220" name="3 Rectángulo"/>
          <p:cNvSpPr>
            <a:spLocks noChangeArrowheads="1"/>
          </p:cNvSpPr>
          <p:nvPr/>
        </p:nvSpPr>
        <p:spPr bwMode="auto">
          <a:xfrm>
            <a:off x="250825" y="1484313"/>
            <a:ext cx="7786688" cy="2379662"/>
          </a:xfrm>
          <a:prstGeom prst="rect">
            <a:avLst/>
          </a:prstGeom>
          <a:noFill/>
          <a:ln w="9525">
            <a:noFill/>
            <a:miter lim="800000"/>
            <a:headEnd/>
            <a:tailEnd/>
          </a:ln>
        </p:spPr>
        <p:txBody>
          <a:bodyPr>
            <a:spAutoFit/>
          </a:bodyPr>
          <a:lstStyle/>
          <a:p>
            <a:pPr algn="just"/>
            <a:r>
              <a:rPr lang="es-ES" sz="2000" b="1"/>
              <a:t>Completitud / Parcialidad</a:t>
            </a:r>
          </a:p>
          <a:p>
            <a:pPr algn="just"/>
            <a:endParaRPr lang="es-ES" sz="2000" b="1"/>
          </a:p>
          <a:p>
            <a:pPr marL="914400" lvl="1" indent="-457200">
              <a:buFontTx/>
              <a:buChar char="•"/>
            </a:pPr>
            <a:r>
              <a:rPr lang="es-ES" b="1"/>
              <a:t>Especialización parcial </a:t>
            </a:r>
            <a:r>
              <a:rPr lang="es-ES"/>
              <a:t>indica que es posible que alguna instancia del supertipo no pertenezca a </a:t>
            </a:r>
            <a:r>
              <a:rPr lang="es-ES" b="1"/>
              <a:t>ninguno </a:t>
            </a:r>
            <a:r>
              <a:rPr lang="es-ES"/>
              <a:t>de los subtipos.</a:t>
            </a:r>
          </a:p>
          <a:p>
            <a:pPr marL="914400" lvl="1" indent="-457200">
              <a:buFontTx/>
              <a:buChar char="•"/>
            </a:pPr>
            <a:r>
              <a:rPr lang="es-ES"/>
              <a:t>Es la opción por defecto.</a:t>
            </a:r>
          </a:p>
          <a:p>
            <a:pPr marL="914400" lvl="1" indent="-457200">
              <a:buFontTx/>
              <a:buChar char="•"/>
            </a:pPr>
            <a:r>
              <a:rPr lang="es-ES"/>
              <a:t>La unión de las extensiones de los subtipos </a:t>
            </a:r>
            <a:r>
              <a:rPr lang="es-ES" b="1"/>
              <a:t>no </a:t>
            </a:r>
            <a:r>
              <a:rPr lang="es-ES"/>
              <a:t>es la extensión del supertipo en su totalidad.</a:t>
            </a:r>
          </a:p>
          <a:p>
            <a:endParaRPr lang="es-ES" sz="2000" b="1"/>
          </a:p>
        </p:txBody>
      </p:sp>
      <p:pic>
        <p:nvPicPr>
          <p:cNvPr id="137221" name="Picture 5"/>
          <p:cNvPicPr>
            <a:picLocks noChangeAspect="1" noChangeArrowheads="1"/>
          </p:cNvPicPr>
          <p:nvPr/>
        </p:nvPicPr>
        <p:blipFill>
          <a:blip r:embed="rId2" cstate="print"/>
          <a:srcRect/>
          <a:stretch>
            <a:fillRect/>
          </a:stretch>
        </p:blipFill>
        <p:spPr bwMode="auto">
          <a:xfrm>
            <a:off x="2771775" y="3789363"/>
            <a:ext cx="3600450" cy="2220912"/>
          </a:xfrm>
          <a:prstGeom prst="rect">
            <a:avLst/>
          </a:prstGeom>
          <a:noFill/>
          <a:ln w="9525">
            <a:noFill/>
            <a:miter lim="800000"/>
            <a:headEnd/>
            <a:tailEnd/>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3"/>
          <p:cNvSpPr txBox="1">
            <a:spLocks noChangeArrowheads="1"/>
          </p:cNvSpPr>
          <p:nvPr/>
        </p:nvSpPr>
        <p:spPr bwMode="auto">
          <a:xfrm>
            <a:off x="1477963" y="2139950"/>
            <a:ext cx="6407150" cy="2225675"/>
          </a:xfrm>
          <a:prstGeom prst="rect">
            <a:avLst/>
          </a:prstGeom>
          <a:noFill/>
          <a:ln w="9525">
            <a:noFill/>
            <a:miter lim="800000"/>
            <a:headEnd/>
            <a:tailEnd/>
          </a:ln>
        </p:spPr>
        <p:txBody>
          <a:bodyPr wrap="none">
            <a:spAutoFit/>
          </a:bodyPr>
          <a:lstStyle/>
          <a:p>
            <a:pPr marL="342900" indent="-342900"/>
            <a:r>
              <a:rPr lang="es-ES" sz="2000"/>
              <a:t>La restricciones, dan lugar a 4 tipos de especialización:</a:t>
            </a:r>
          </a:p>
          <a:p>
            <a:pPr marL="342900" indent="-342900"/>
            <a:endParaRPr lang="es-ES" sz="2000"/>
          </a:p>
          <a:p>
            <a:pPr marL="800100" lvl="1" indent="-342900">
              <a:buFontTx/>
              <a:buAutoNum type="arabicPeriod"/>
            </a:pPr>
            <a:r>
              <a:rPr lang="es-ES" sz="2000"/>
              <a:t>Disjunta y Total</a:t>
            </a:r>
          </a:p>
          <a:p>
            <a:pPr marL="800100" lvl="1" indent="-342900">
              <a:buFontTx/>
              <a:buAutoNum type="arabicPeriod"/>
            </a:pPr>
            <a:r>
              <a:rPr lang="es-ES" sz="2000"/>
              <a:t>Disjunta y Parcial</a:t>
            </a:r>
          </a:p>
          <a:p>
            <a:pPr marL="800100" lvl="1" indent="-342900">
              <a:buFontTx/>
              <a:buAutoNum type="arabicPeriod"/>
            </a:pPr>
            <a:r>
              <a:rPr lang="es-ES" sz="2000"/>
              <a:t>Solapada y Total</a:t>
            </a:r>
          </a:p>
          <a:p>
            <a:pPr marL="800100" lvl="1" indent="-342900">
              <a:buFontTx/>
              <a:buAutoNum type="arabicPeriod"/>
            </a:pPr>
            <a:r>
              <a:rPr lang="es-ES" sz="2000"/>
              <a:t>Solapada y Parcial </a:t>
            </a:r>
          </a:p>
          <a:p>
            <a:pPr marL="342900" indent="-342900"/>
            <a:endParaRPr lang="es-ES" sz="2000"/>
          </a:p>
        </p:txBody>
      </p:sp>
      <p:sp>
        <p:nvSpPr>
          <p:cNvPr id="138243" name="1 Rectángulo"/>
          <p:cNvSpPr>
            <a:spLocks noChangeArrowheads="1"/>
          </p:cNvSpPr>
          <p:nvPr/>
        </p:nvSpPr>
        <p:spPr bwMode="auto">
          <a:xfrm>
            <a:off x="500063" y="857250"/>
            <a:ext cx="8374062" cy="461963"/>
          </a:xfrm>
          <a:prstGeom prst="rect">
            <a:avLst/>
          </a:prstGeom>
          <a:noFill/>
          <a:ln w="9525">
            <a:noFill/>
            <a:miter lim="800000"/>
            <a:headEnd/>
            <a:tailEnd/>
          </a:ln>
        </p:spPr>
        <p:txBody>
          <a:bodyPr wrap="none">
            <a:spAutoFit/>
          </a:bodyPr>
          <a:lstStyle/>
          <a:p>
            <a:r>
              <a:rPr lang="es-ES" sz="2400" b="1"/>
              <a:t>Restricciones sobre la Especialización y Generalización</a:t>
            </a:r>
          </a:p>
        </p:txBody>
      </p:sp>
      <p:sp>
        <p:nvSpPr>
          <p:cNvPr id="138244"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39267" name="Rectangle 3"/>
          <p:cNvSpPr>
            <a:spLocks noChangeArrowheads="1"/>
          </p:cNvSpPr>
          <p:nvPr/>
        </p:nvSpPr>
        <p:spPr bwMode="auto">
          <a:xfrm>
            <a:off x="1547813" y="957263"/>
            <a:ext cx="4775200" cy="427037"/>
          </a:xfrm>
          <a:prstGeom prst="rect">
            <a:avLst/>
          </a:prstGeom>
          <a:noFill/>
          <a:ln w="9525">
            <a:noFill/>
            <a:miter lim="800000"/>
            <a:headEnd/>
            <a:tailEnd/>
          </a:ln>
        </p:spPr>
        <p:txBody>
          <a:bodyPr wrap="none">
            <a:spAutoFit/>
          </a:bodyPr>
          <a:lstStyle/>
          <a:p>
            <a:pPr marL="342900" indent="-342900">
              <a:buFontTx/>
              <a:buAutoNum type="arabicPeriod"/>
            </a:pPr>
            <a:r>
              <a:rPr lang="es-ES" sz="2200" b="1"/>
              <a:t>Especialización Disjunta y Total</a:t>
            </a:r>
          </a:p>
        </p:txBody>
      </p:sp>
      <p:pic>
        <p:nvPicPr>
          <p:cNvPr id="139268" name="Picture 4"/>
          <p:cNvPicPr>
            <a:picLocks noChangeAspect="1" noChangeArrowheads="1"/>
          </p:cNvPicPr>
          <p:nvPr/>
        </p:nvPicPr>
        <p:blipFill>
          <a:blip r:embed="rId2" cstate="print"/>
          <a:srcRect/>
          <a:stretch>
            <a:fillRect/>
          </a:stretch>
        </p:blipFill>
        <p:spPr bwMode="auto">
          <a:xfrm>
            <a:off x="323850" y="1916113"/>
            <a:ext cx="3384550" cy="2443162"/>
          </a:xfrm>
          <a:prstGeom prst="rect">
            <a:avLst/>
          </a:prstGeom>
          <a:noFill/>
          <a:ln w="9525">
            <a:noFill/>
            <a:miter lim="800000"/>
            <a:headEnd/>
            <a:tailEnd/>
          </a:ln>
        </p:spPr>
      </p:pic>
      <p:pic>
        <p:nvPicPr>
          <p:cNvPr id="139269" name="Picture 5"/>
          <p:cNvPicPr>
            <a:picLocks noChangeAspect="1" noChangeArrowheads="1"/>
          </p:cNvPicPr>
          <p:nvPr/>
        </p:nvPicPr>
        <p:blipFill>
          <a:blip r:embed="rId3" cstate="print"/>
          <a:srcRect/>
          <a:stretch>
            <a:fillRect/>
          </a:stretch>
        </p:blipFill>
        <p:spPr bwMode="auto">
          <a:xfrm>
            <a:off x="3995738" y="2940050"/>
            <a:ext cx="4819650" cy="2278063"/>
          </a:xfrm>
          <a:prstGeom prst="rect">
            <a:avLst/>
          </a:prstGeom>
          <a:noFill/>
          <a:ln w="9525">
            <a:noFill/>
            <a:miter lim="800000"/>
            <a:headEnd/>
            <a:tailEnd/>
          </a:ln>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40291" name="Rectangle 3"/>
          <p:cNvSpPr>
            <a:spLocks noChangeArrowheads="1"/>
          </p:cNvSpPr>
          <p:nvPr/>
        </p:nvSpPr>
        <p:spPr bwMode="auto">
          <a:xfrm>
            <a:off x="1547813" y="957263"/>
            <a:ext cx="5021262" cy="427037"/>
          </a:xfrm>
          <a:prstGeom prst="rect">
            <a:avLst/>
          </a:prstGeom>
          <a:noFill/>
          <a:ln w="9525">
            <a:noFill/>
            <a:miter lim="800000"/>
            <a:headEnd/>
            <a:tailEnd/>
          </a:ln>
        </p:spPr>
        <p:txBody>
          <a:bodyPr wrap="none">
            <a:spAutoFit/>
          </a:bodyPr>
          <a:lstStyle/>
          <a:p>
            <a:pPr marL="342900" indent="-342900">
              <a:buFontTx/>
              <a:buAutoNum type="arabicPeriod" startAt="2"/>
            </a:pPr>
            <a:r>
              <a:rPr lang="es-ES" sz="2200" b="1"/>
              <a:t>Especialización Disjunta y Parcial</a:t>
            </a:r>
          </a:p>
        </p:txBody>
      </p:sp>
      <p:pic>
        <p:nvPicPr>
          <p:cNvPr id="140292" name="Picture 6"/>
          <p:cNvPicPr>
            <a:picLocks noChangeAspect="1" noChangeArrowheads="1"/>
          </p:cNvPicPr>
          <p:nvPr/>
        </p:nvPicPr>
        <p:blipFill>
          <a:blip r:embed="rId2" cstate="print"/>
          <a:srcRect/>
          <a:stretch>
            <a:fillRect/>
          </a:stretch>
        </p:blipFill>
        <p:spPr bwMode="auto">
          <a:xfrm>
            <a:off x="1331913" y="1916113"/>
            <a:ext cx="6332537" cy="2673350"/>
          </a:xfrm>
          <a:prstGeom prst="rect">
            <a:avLst/>
          </a:prstGeom>
          <a:noFill/>
          <a:ln w="9525">
            <a:noFill/>
            <a:miter lim="800000"/>
            <a:headEnd/>
            <a:tailEnd/>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41315" name="Rectangle 3"/>
          <p:cNvSpPr>
            <a:spLocks noChangeArrowheads="1"/>
          </p:cNvSpPr>
          <p:nvPr/>
        </p:nvSpPr>
        <p:spPr bwMode="auto">
          <a:xfrm>
            <a:off x="1547813" y="957263"/>
            <a:ext cx="4914900" cy="427037"/>
          </a:xfrm>
          <a:prstGeom prst="rect">
            <a:avLst/>
          </a:prstGeom>
          <a:noFill/>
          <a:ln w="9525">
            <a:noFill/>
            <a:miter lim="800000"/>
            <a:headEnd/>
            <a:tailEnd/>
          </a:ln>
        </p:spPr>
        <p:txBody>
          <a:bodyPr wrap="none">
            <a:spAutoFit/>
          </a:bodyPr>
          <a:lstStyle/>
          <a:p>
            <a:pPr marL="342900" indent="-342900">
              <a:buFontTx/>
              <a:buAutoNum type="arabicPeriod" startAt="3"/>
            </a:pPr>
            <a:r>
              <a:rPr lang="es-ES" sz="2200" b="1"/>
              <a:t>Especialización Solapada y Total</a:t>
            </a:r>
          </a:p>
        </p:txBody>
      </p:sp>
      <p:pic>
        <p:nvPicPr>
          <p:cNvPr id="141316" name="Picture 5"/>
          <p:cNvPicPr>
            <a:picLocks noChangeAspect="1" noChangeArrowheads="1"/>
          </p:cNvPicPr>
          <p:nvPr/>
        </p:nvPicPr>
        <p:blipFill>
          <a:blip r:embed="rId2" cstate="print"/>
          <a:srcRect/>
          <a:stretch>
            <a:fillRect/>
          </a:stretch>
        </p:blipFill>
        <p:spPr bwMode="auto">
          <a:xfrm>
            <a:off x="2339975" y="2276475"/>
            <a:ext cx="3995738" cy="2565400"/>
          </a:xfrm>
          <a:prstGeom prst="rect">
            <a:avLst/>
          </a:prstGeom>
          <a:noFill/>
          <a:ln w="9525">
            <a:noFill/>
            <a:miter lim="800000"/>
            <a:headEnd/>
            <a:tailEnd/>
          </a:ln>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42339" name="Rectangle 3"/>
          <p:cNvSpPr>
            <a:spLocks noChangeArrowheads="1"/>
          </p:cNvSpPr>
          <p:nvPr/>
        </p:nvSpPr>
        <p:spPr bwMode="auto">
          <a:xfrm>
            <a:off x="1547813" y="957263"/>
            <a:ext cx="5160962" cy="427037"/>
          </a:xfrm>
          <a:prstGeom prst="rect">
            <a:avLst/>
          </a:prstGeom>
          <a:noFill/>
          <a:ln w="9525">
            <a:noFill/>
            <a:miter lim="800000"/>
            <a:headEnd/>
            <a:tailEnd/>
          </a:ln>
        </p:spPr>
        <p:txBody>
          <a:bodyPr wrap="none">
            <a:spAutoFit/>
          </a:bodyPr>
          <a:lstStyle/>
          <a:p>
            <a:pPr marL="342900" indent="-342900">
              <a:buFontTx/>
              <a:buAutoNum type="arabicPeriod" startAt="4"/>
            </a:pPr>
            <a:r>
              <a:rPr lang="es-ES" sz="2200" b="1"/>
              <a:t>Especialización Solapada y Parcial</a:t>
            </a:r>
          </a:p>
        </p:txBody>
      </p:sp>
      <p:pic>
        <p:nvPicPr>
          <p:cNvPr id="142340" name="Picture 5"/>
          <p:cNvPicPr>
            <a:picLocks noChangeAspect="1" noChangeArrowheads="1"/>
          </p:cNvPicPr>
          <p:nvPr/>
        </p:nvPicPr>
        <p:blipFill>
          <a:blip r:embed="rId2" cstate="print"/>
          <a:srcRect/>
          <a:stretch>
            <a:fillRect/>
          </a:stretch>
        </p:blipFill>
        <p:spPr bwMode="auto">
          <a:xfrm>
            <a:off x="1547813" y="2060575"/>
            <a:ext cx="5491162" cy="2649538"/>
          </a:xfrm>
          <a:prstGeom prst="rect">
            <a:avLst/>
          </a:prstGeom>
          <a:noFill/>
          <a:ln w="9525">
            <a:noFill/>
            <a:miter lim="800000"/>
            <a:headEnd/>
            <a:tailEnd/>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43363" name="Rectangle 3"/>
          <p:cNvSpPr>
            <a:spLocks noChangeArrowheads="1"/>
          </p:cNvSpPr>
          <p:nvPr/>
        </p:nvSpPr>
        <p:spPr bwMode="auto">
          <a:xfrm>
            <a:off x="323850" y="836613"/>
            <a:ext cx="4679950" cy="427037"/>
          </a:xfrm>
          <a:prstGeom prst="rect">
            <a:avLst/>
          </a:prstGeom>
          <a:noFill/>
          <a:ln w="9525">
            <a:noFill/>
            <a:miter lim="800000"/>
            <a:headEnd/>
            <a:tailEnd/>
          </a:ln>
        </p:spPr>
        <p:txBody>
          <a:bodyPr wrap="none">
            <a:spAutoFit/>
          </a:bodyPr>
          <a:lstStyle/>
          <a:p>
            <a:pPr marL="342900" indent="-342900"/>
            <a:r>
              <a:rPr lang="es-ES" sz="2200" b="1"/>
              <a:t>Reglas de Inserción y eliminación</a:t>
            </a:r>
          </a:p>
        </p:txBody>
      </p:sp>
      <p:sp>
        <p:nvSpPr>
          <p:cNvPr id="143364" name="3 Rectángulo"/>
          <p:cNvSpPr>
            <a:spLocks noChangeArrowheads="1"/>
          </p:cNvSpPr>
          <p:nvPr/>
        </p:nvSpPr>
        <p:spPr bwMode="auto">
          <a:xfrm>
            <a:off x="1785938" y="2000250"/>
            <a:ext cx="5572125" cy="1816100"/>
          </a:xfrm>
          <a:prstGeom prst="rect">
            <a:avLst/>
          </a:prstGeom>
          <a:noFill/>
          <a:ln w="9525">
            <a:noFill/>
            <a:miter lim="800000"/>
            <a:headEnd/>
            <a:tailEnd/>
          </a:ln>
        </p:spPr>
        <p:txBody>
          <a:bodyPr>
            <a:spAutoFit/>
          </a:bodyPr>
          <a:lstStyle/>
          <a:p>
            <a:pPr algn="just"/>
            <a:r>
              <a:rPr lang="es-ES" sz="2800"/>
              <a:t>Deben aplicarse a la Especialización y la Generalización, debido a las restricciones definidas.</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44387" name="Rectangle 3"/>
          <p:cNvSpPr>
            <a:spLocks noChangeArrowheads="1"/>
          </p:cNvSpPr>
          <p:nvPr/>
        </p:nvSpPr>
        <p:spPr bwMode="auto">
          <a:xfrm>
            <a:off x="323850" y="836613"/>
            <a:ext cx="4679950" cy="427037"/>
          </a:xfrm>
          <a:prstGeom prst="rect">
            <a:avLst/>
          </a:prstGeom>
          <a:noFill/>
          <a:ln w="9525">
            <a:noFill/>
            <a:miter lim="800000"/>
            <a:headEnd/>
            <a:tailEnd/>
          </a:ln>
        </p:spPr>
        <p:txBody>
          <a:bodyPr wrap="none">
            <a:spAutoFit/>
          </a:bodyPr>
          <a:lstStyle/>
          <a:p>
            <a:pPr marL="342900" indent="-342900"/>
            <a:r>
              <a:rPr lang="es-ES" sz="2200" b="1"/>
              <a:t>Reglas de Inserción y eliminación</a:t>
            </a:r>
          </a:p>
        </p:txBody>
      </p:sp>
      <p:sp>
        <p:nvSpPr>
          <p:cNvPr id="5" name="4 Rectángulo"/>
          <p:cNvSpPr/>
          <p:nvPr/>
        </p:nvSpPr>
        <p:spPr>
          <a:xfrm>
            <a:off x="1143000" y="2374900"/>
            <a:ext cx="7286625" cy="3786188"/>
          </a:xfrm>
          <a:prstGeom prst="rect">
            <a:avLst/>
          </a:prstGeom>
        </p:spPr>
        <p:txBody>
          <a:bodyPr>
            <a:spAutoFit/>
          </a:bodyPr>
          <a:lstStyle/>
          <a:p>
            <a:pPr marL="342900" indent="-342900" algn="just">
              <a:buFont typeface="+mj-lt"/>
              <a:buAutoNum type="arabicPeriod"/>
              <a:defRPr/>
            </a:pPr>
            <a:r>
              <a:rPr lang="es-ES" sz="2400" dirty="0">
                <a:latin typeface="Calibri" pitchFamily="34" charset="0"/>
              </a:rPr>
              <a:t>Insertar una instancia en un </a:t>
            </a:r>
            <a:r>
              <a:rPr lang="es-ES" sz="2400" dirty="0" err="1">
                <a:latin typeface="Calibri" pitchFamily="34" charset="0"/>
              </a:rPr>
              <a:t>supertipo</a:t>
            </a:r>
            <a:r>
              <a:rPr lang="es-ES" sz="2400" dirty="0">
                <a:latin typeface="Calibri" pitchFamily="34" charset="0"/>
              </a:rPr>
              <a:t> implica insertarla en todos los subtipos definidos por predicado o por atributo, para los cuales satisface el predicado de definición.</a:t>
            </a:r>
          </a:p>
          <a:p>
            <a:pPr marL="342900" indent="-342900" algn="just">
              <a:defRPr/>
            </a:pPr>
            <a:endParaRPr lang="es-ES" sz="2400" dirty="0">
              <a:latin typeface="Calibri" pitchFamily="34" charset="0"/>
            </a:endParaRPr>
          </a:p>
          <a:p>
            <a:pPr marL="457200" indent="-457200" algn="just">
              <a:buFont typeface="+mj-lt"/>
              <a:buAutoNum type="arabicPeriod" startAt="2"/>
              <a:defRPr/>
            </a:pPr>
            <a:r>
              <a:rPr lang="es-ES" sz="2400" dirty="0">
                <a:latin typeface="Calibri" pitchFamily="34" charset="0"/>
              </a:rPr>
              <a:t>Insertar una instancia en un </a:t>
            </a:r>
            <a:r>
              <a:rPr lang="es-ES" sz="2400" dirty="0" err="1">
                <a:latin typeface="Calibri" pitchFamily="34" charset="0"/>
              </a:rPr>
              <a:t>supertipo</a:t>
            </a:r>
            <a:r>
              <a:rPr lang="es-ES" sz="2400" dirty="0">
                <a:latin typeface="Calibri" pitchFamily="34" charset="0"/>
              </a:rPr>
              <a:t> de una especialización total implica insertarla en, al menos, un subtipo. Y si la especialización es disjunta, entonces la instancia se insertará en un único subtipo.</a:t>
            </a:r>
          </a:p>
        </p:txBody>
      </p:sp>
      <p:sp>
        <p:nvSpPr>
          <p:cNvPr id="144389" name="5 CuadroTexto"/>
          <p:cNvSpPr txBox="1">
            <a:spLocks noChangeArrowheads="1"/>
          </p:cNvSpPr>
          <p:nvPr/>
        </p:nvSpPr>
        <p:spPr bwMode="auto">
          <a:xfrm>
            <a:off x="3857625" y="1571625"/>
            <a:ext cx="1466850" cy="369888"/>
          </a:xfrm>
          <a:prstGeom prst="rect">
            <a:avLst/>
          </a:prstGeom>
          <a:noFill/>
          <a:ln w="9525">
            <a:noFill/>
            <a:miter lim="800000"/>
            <a:headEnd/>
            <a:tailEnd/>
          </a:ln>
        </p:spPr>
        <p:txBody>
          <a:bodyPr wrap="none">
            <a:spAutoFit/>
          </a:bodyPr>
          <a:lstStyle/>
          <a:p>
            <a:r>
              <a:rPr lang="es-ES" b="1"/>
              <a:t>INSERCIÓN</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45411" name="Rectangle 3"/>
          <p:cNvSpPr>
            <a:spLocks noChangeArrowheads="1"/>
          </p:cNvSpPr>
          <p:nvPr/>
        </p:nvSpPr>
        <p:spPr bwMode="auto">
          <a:xfrm>
            <a:off x="323850" y="836613"/>
            <a:ext cx="4679950" cy="427037"/>
          </a:xfrm>
          <a:prstGeom prst="rect">
            <a:avLst/>
          </a:prstGeom>
          <a:noFill/>
          <a:ln w="9525">
            <a:noFill/>
            <a:miter lim="800000"/>
            <a:headEnd/>
            <a:tailEnd/>
          </a:ln>
        </p:spPr>
        <p:txBody>
          <a:bodyPr wrap="none">
            <a:spAutoFit/>
          </a:bodyPr>
          <a:lstStyle/>
          <a:p>
            <a:pPr marL="342900" indent="-342900"/>
            <a:r>
              <a:rPr lang="es-ES" sz="2200" b="1"/>
              <a:t>Reglas de Inserción y eliminación</a:t>
            </a:r>
          </a:p>
        </p:txBody>
      </p:sp>
      <p:sp>
        <p:nvSpPr>
          <p:cNvPr id="5" name="4 Rectángulo"/>
          <p:cNvSpPr/>
          <p:nvPr/>
        </p:nvSpPr>
        <p:spPr>
          <a:xfrm>
            <a:off x="1143000" y="2286000"/>
            <a:ext cx="7286625" cy="4524375"/>
          </a:xfrm>
          <a:prstGeom prst="rect">
            <a:avLst/>
          </a:prstGeom>
        </p:spPr>
        <p:txBody>
          <a:bodyPr>
            <a:spAutoFit/>
          </a:bodyPr>
          <a:lstStyle/>
          <a:p>
            <a:pPr marL="457200" indent="-457200">
              <a:buFont typeface="+mj-lt"/>
              <a:buAutoNum type="arabicPeriod"/>
              <a:defRPr/>
            </a:pPr>
            <a:r>
              <a:rPr lang="es-ES" sz="2400" dirty="0">
                <a:latin typeface="Calibri" pitchFamily="34" charset="0"/>
              </a:rPr>
              <a:t>Eliminar una instancia de un </a:t>
            </a:r>
            <a:r>
              <a:rPr lang="es-ES" sz="2400" dirty="0" err="1">
                <a:latin typeface="Calibri" pitchFamily="34" charset="0"/>
              </a:rPr>
              <a:t>supertipo</a:t>
            </a:r>
            <a:r>
              <a:rPr lang="es-ES" sz="2400" dirty="0">
                <a:latin typeface="Calibri" pitchFamily="34" charset="0"/>
              </a:rPr>
              <a:t> implica eliminarla de todos los subtipos a los que pertenece</a:t>
            </a:r>
          </a:p>
          <a:p>
            <a:pPr marL="457200" indent="-457200">
              <a:buFont typeface="+mj-lt"/>
              <a:buAutoNum type="arabicPeriod"/>
              <a:defRPr/>
            </a:pPr>
            <a:endParaRPr lang="es-ES" sz="2400" dirty="0">
              <a:latin typeface="Calibri" pitchFamily="34" charset="0"/>
            </a:endParaRPr>
          </a:p>
          <a:p>
            <a:pPr marL="457200" indent="-457200">
              <a:buFont typeface="+mj-lt"/>
              <a:buAutoNum type="arabicPeriod"/>
              <a:defRPr/>
            </a:pPr>
            <a:r>
              <a:rPr lang="es-ES" sz="2400" dirty="0">
                <a:latin typeface="Calibri" pitchFamily="34" charset="0"/>
              </a:rPr>
              <a:t>Eliminar una instancia de un subtipo implica eliminarla del </a:t>
            </a:r>
            <a:r>
              <a:rPr lang="es-ES" sz="2400" dirty="0" err="1">
                <a:latin typeface="Calibri" pitchFamily="34" charset="0"/>
              </a:rPr>
              <a:t>supertipo</a:t>
            </a:r>
            <a:r>
              <a:rPr lang="es-ES" sz="2400" dirty="0">
                <a:latin typeface="Calibri" pitchFamily="34" charset="0"/>
              </a:rPr>
              <a:t> si la especialización es:</a:t>
            </a:r>
          </a:p>
          <a:p>
            <a:pPr marL="457200" indent="-457200">
              <a:defRPr/>
            </a:pPr>
            <a:endParaRPr lang="es-ES" sz="2400" dirty="0">
              <a:latin typeface="Calibri" pitchFamily="34" charset="0"/>
            </a:endParaRPr>
          </a:p>
          <a:p>
            <a:pPr marL="1371600" lvl="2" indent="-457200">
              <a:buFont typeface="Arial" pitchFamily="34" charset="0"/>
              <a:buChar char="•"/>
              <a:defRPr/>
            </a:pPr>
            <a:r>
              <a:rPr lang="es-ES" sz="2400" dirty="0">
                <a:latin typeface="Calibri" pitchFamily="34" charset="0"/>
              </a:rPr>
              <a:t>Disjunta y total, o bien</a:t>
            </a:r>
          </a:p>
          <a:p>
            <a:pPr marL="1371600" lvl="2" indent="-457200">
              <a:buFont typeface="Arial" pitchFamily="34" charset="0"/>
              <a:buChar char="•"/>
              <a:defRPr/>
            </a:pPr>
            <a:r>
              <a:rPr lang="es-ES" sz="2400" dirty="0">
                <a:latin typeface="Calibri" pitchFamily="34" charset="0"/>
              </a:rPr>
              <a:t>Solapada y total, y la instancia ya sólo pertenece al subtipo (se eliminó del resto)</a:t>
            </a:r>
          </a:p>
          <a:p>
            <a:pPr marL="1371600" lvl="2" indent="-457200">
              <a:buFont typeface="Arial" pitchFamily="34" charset="0"/>
              <a:buChar char="•"/>
              <a:defRPr/>
            </a:pPr>
            <a:r>
              <a:rPr lang="es-ES" sz="2400" dirty="0">
                <a:latin typeface="Calibri" pitchFamily="34" charset="0"/>
              </a:rPr>
              <a:t>En el resto de casos, la instancia sólo se elimina del subtipo no del </a:t>
            </a:r>
            <a:r>
              <a:rPr lang="es-ES" sz="2400" dirty="0" err="1">
                <a:latin typeface="Calibri" pitchFamily="34" charset="0"/>
              </a:rPr>
              <a:t>supertipo</a:t>
            </a:r>
            <a:r>
              <a:rPr lang="es-ES" sz="2400" dirty="0">
                <a:latin typeface="Calibri" pitchFamily="34" charset="0"/>
              </a:rPr>
              <a:t>.</a:t>
            </a:r>
          </a:p>
          <a:p>
            <a:pPr marL="342900" indent="-342900" algn="just">
              <a:buFont typeface="+mj-lt"/>
              <a:buAutoNum type="arabicPeriod"/>
              <a:defRPr/>
            </a:pPr>
            <a:endParaRPr lang="es-ES" sz="2400" dirty="0">
              <a:latin typeface="Calibri" pitchFamily="34" charset="0"/>
            </a:endParaRPr>
          </a:p>
        </p:txBody>
      </p:sp>
      <p:sp>
        <p:nvSpPr>
          <p:cNvPr id="145413" name="5 CuadroTexto"/>
          <p:cNvSpPr txBox="1">
            <a:spLocks noChangeArrowheads="1"/>
          </p:cNvSpPr>
          <p:nvPr/>
        </p:nvSpPr>
        <p:spPr bwMode="auto">
          <a:xfrm>
            <a:off x="3857625" y="1643063"/>
            <a:ext cx="1711325" cy="369887"/>
          </a:xfrm>
          <a:prstGeom prst="rect">
            <a:avLst/>
          </a:prstGeom>
          <a:noFill/>
          <a:ln w="9525">
            <a:noFill/>
            <a:miter lim="800000"/>
            <a:headEnd/>
            <a:tailEnd/>
          </a:ln>
        </p:spPr>
        <p:txBody>
          <a:bodyPr wrap="none">
            <a:spAutoFit/>
          </a:bodyPr>
          <a:lstStyle/>
          <a:p>
            <a:r>
              <a:rPr lang="es-ES" b="1"/>
              <a:t>ELIMINACIÓN</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46435" name="Rectangle 3"/>
          <p:cNvSpPr>
            <a:spLocks noChangeArrowheads="1"/>
          </p:cNvSpPr>
          <p:nvPr/>
        </p:nvSpPr>
        <p:spPr bwMode="auto">
          <a:xfrm>
            <a:off x="323850" y="836613"/>
            <a:ext cx="3184525" cy="430212"/>
          </a:xfrm>
          <a:prstGeom prst="rect">
            <a:avLst/>
          </a:prstGeom>
          <a:noFill/>
          <a:ln w="9525">
            <a:noFill/>
            <a:miter lim="800000"/>
            <a:headEnd/>
            <a:tailEnd/>
          </a:ln>
        </p:spPr>
        <p:txBody>
          <a:bodyPr wrap="none">
            <a:spAutoFit/>
          </a:bodyPr>
          <a:lstStyle/>
          <a:p>
            <a:pPr marL="342900" indent="-342900"/>
            <a:r>
              <a:rPr lang="es-ES" sz="2200" b="1"/>
              <a:t>Jerarquías y Retículas</a:t>
            </a:r>
          </a:p>
        </p:txBody>
      </p:sp>
      <p:sp>
        <p:nvSpPr>
          <p:cNvPr id="146436" name="7 Rectángulo"/>
          <p:cNvSpPr>
            <a:spLocks noChangeArrowheads="1"/>
          </p:cNvSpPr>
          <p:nvPr/>
        </p:nvSpPr>
        <p:spPr bwMode="auto">
          <a:xfrm>
            <a:off x="428625" y="2138363"/>
            <a:ext cx="8358188" cy="2862262"/>
          </a:xfrm>
          <a:prstGeom prst="rect">
            <a:avLst/>
          </a:prstGeom>
          <a:noFill/>
          <a:ln w="9525">
            <a:noFill/>
            <a:miter lim="800000"/>
            <a:headEnd/>
            <a:tailEnd/>
          </a:ln>
        </p:spPr>
        <p:txBody>
          <a:bodyPr>
            <a:spAutoFit/>
          </a:bodyPr>
          <a:lstStyle/>
          <a:p>
            <a:r>
              <a:rPr lang="es-ES" sz="2000"/>
              <a:t>En las </a:t>
            </a:r>
            <a:r>
              <a:rPr lang="es-ES" sz="2000" b="1">
                <a:solidFill>
                  <a:srgbClr val="FF0000"/>
                </a:solidFill>
              </a:rPr>
              <a:t>Jerarquías</a:t>
            </a:r>
            <a:r>
              <a:rPr lang="es-ES" sz="2000"/>
              <a:t> de especialización, se cumplen las restricciones:</a:t>
            </a:r>
          </a:p>
          <a:p>
            <a:endParaRPr lang="es-ES" sz="2000"/>
          </a:p>
          <a:p>
            <a:pPr lvl="1">
              <a:buFont typeface="Arial" charset="0"/>
              <a:buChar char="•"/>
            </a:pPr>
            <a:r>
              <a:rPr lang="es-ES" sz="2000"/>
              <a:t>Todo subtipo participa en sólo una relación supertipo/subtipo.</a:t>
            </a:r>
          </a:p>
          <a:p>
            <a:pPr lvl="1">
              <a:buFont typeface="Arial" charset="0"/>
              <a:buChar char="•"/>
            </a:pPr>
            <a:r>
              <a:rPr lang="es-ES" sz="2000"/>
              <a:t>Un subtipo tiene un único supertipo: es el concepto de árbol.</a:t>
            </a:r>
          </a:p>
          <a:p>
            <a:endParaRPr lang="es-ES" sz="2000"/>
          </a:p>
          <a:p>
            <a:r>
              <a:rPr lang="es-ES" sz="2000"/>
              <a:t>En una </a:t>
            </a:r>
            <a:r>
              <a:rPr lang="es-ES" sz="2000" b="1">
                <a:solidFill>
                  <a:srgbClr val="FF0000"/>
                </a:solidFill>
              </a:rPr>
              <a:t>Retícula</a:t>
            </a:r>
            <a:r>
              <a:rPr lang="es-ES" sz="2000"/>
              <a:t> de especialización:</a:t>
            </a:r>
          </a:p>
          <a:p>
            <a:endParaRPr lang="es-ES" sz="2000"/>
          </a:p>
          <a:p>
            <a:pPr lvl="1">
              <a:buFont typeface="Arial" charset="0"/>
              <a:buChar char="•"/>
            </a:pPr>
            <a:r>
              <a:rPr lang="es-ES" sz="2000"/>
              <a:t>Un subtipo puede participar en varias relaciones supertipo/subtipo.</a:t>
            </a:r>
          </a:p>
          <a:p>
            <a:pPr lvl="1">
              <a:buFont typeface="Arial" charset="0"/>
              <a:buChar char="•"/>
            </a:pPr>
            <a:r>
              <a:rPr lang="es-ES" sz="2000"/>
              <a:t>Un subtipo puede tener más de un supertipo.</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458" name="Picture 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524000" y="714375"/>
            <a:ext cx="7477125" cy="5929313"/>
          </a:xfrm>
          <a:prstGeom prst="rect">
            <a:avLst/>
          </a:prstGeom>
          <a:noFill/>
          <a:ln w="9525">
            <a:noFill/>
            <a:miter lim="800000"/>
            <a:headEnd/>
            <a:tailEnd/>
          </a:ln>
        </p:spPr>
      </p:pic>
      <p:sp>
        <p:nvSpPr>
          <p:cNvPr id="147459"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47460" name="Rectangle 3"/>
          <p:cNvSpPr>
            <a:spLocks noChangeArrowheads="1"/>
          </p:cNvSpPr>
          <p:nvPr/>
        </p:nvSpPr>
        <p:spPr bwMode="auto">
          <a:xfrm>
            <a:off x="323850" y="836613"/>
            <a:ext cx="2870200" cy="430212"/>
          </a:xfrm>
          <a:prstGeom prst="rect">
            <a:avLst/>
          </a:prstGeom>
          <a:noFill/>
          <a:ln w="9525">
            <a:noFill/>
            <a:miter lim="800000"/>
            <a:headEnd/>
            <a:tailEnd/>
          </a:ln>
        </p:spPr>
        <p:txBody>
          <a:bodyPr wrap="none">
            <a:spAutoFit/>
          </a:bodyPr>
          <a:lstStyle/>
          <a:p>
            <a:pPr marL="342900" indent="-342900"/>
            <a:r>
              <a:rPr lang="es-ES" sz="2200" b="1"/>
              <a:t>Ejemplo de Retícula</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48483" name="Rectangle 3"/>
          <p:cNvSpPr>
            <a:spLocks noChangeArrowheads="1"/>
          </p:cNvSpPr>
          <p:nvPr/>
        </p:nvSpPr>
        <p:spPr bwMode="auto">
          <a:xfrm>
            <a:off x="323850" y="836613"/>
            <a:ext cx="3184525" cy="430212"/>
          </a:xfrm>
          <a:prstGeom prst="rect">
            <a:avLst/>
          </a:prstGeom>
          <a:noFill/>
          <a:ln w="9525">
            <a:noFill/>
            <a:miter lim="800000"/>
            <a:headEnd/>
            <a:tailEnd/>
          </a:ln>
        </p:spPr>
        <p:txBody>
          <a:bodyPr wrap="none">
            <a:spAutoFit/>
          </a:bodyPr>
          <a:lstStyle/>
          <a:p>
            <a:pPr marL="342900" indent="-342900"/>
            <a:r>
              <a:rPr lang="es-ES" sz="2200" b="1"/>
              <a:t>Jerarquías y Retículas</a:t>
            </a:r>
          </a:p>
        </p:txBody>
      </p:sp>
      <p:sp>
        <p:nvSpPr>
          <p:cNvPr id="148484" name="5 Rectángulo"/>
          <p:cNvSpPr>
            <a:spLocks noChangeArrowheads="1"/>
          </p:cNvSpPr>
          <p:nvPr/>
        </p:nvSpPr>
        <p:spPr bwMode="auto">
          <a:xfrm>
            <a:off x="785813" y="1357313"/>
            <a:ext cx="8358187" cy="4800600"/>
          </a:xfrm>
          <a:prstGeom prst="rect">
            <a:avLst/>
          </a:prstGeom>
          <a:noFill/>
          <a:ln w="9525">
            <a:noFill/>
            <a:miter lim="800000"/>
            <a:headEnd/>
            <a:tailEnd/>
          </a:ln>
        </p:spPr>
        <p:txBody>
          <a:bodyPr>
            <a:spAutoFit/>
          </a:bodyPr>
          <a:lstStyle/>
          <a:p>
            <a:r>
              <a:rPr lang="es-ES"/>
              <a:t>En las </a:t>
            </a:r>
            <a:r>
              <a:rPr lang="es-ES" b="1">
                <a:solidFill>
                  <a:srgbClr val="FF0000"/>
                </a:solidFill>
              </a:rPr>
              <a:t>jerarquías</a:t>
            </a:r>
            <a:r>
              <a:rPr lang="es-ES"/>
              <a:t> de especialización</a:t>
            </a:r>
          </a:p>
          <a:p>
            <a:endParaRPr lang="es-ES"/>
          </a:p>
          <a:p>
            <a:pPr lvl="1">
              <a:buFont typeface="Arial" charset="0"/>
              <a:buChar char="•"/>
            </a:pPr>
            <a:r>
              <a:rPr lang="es-ES"/>
              <a:t>Cada subtipo hereda atributos y relaciones de su (único) supertipo directo y de sus supertipos predecesores, hasta la raíz</a:t>
            </a:r>
          </a:p>
          <a:p>
            <a:endParaRPr lang="es-ES"/>
          </a:p>
          <a:p>
            <a:r>
              <a:rPr lang="es-ES" i="1"/>
              <a:t>TITULAR hereda de DOCENTE, EMPLEADO y PERSONA</a:t>
            </a:r>
          </a:p>
          <a:p>
            <a:endParaRPr lang="es-ES"/>
          </a:p>
          <a:p>
            <a:r>
              <a:rPr lang="es-ES"/>
              <a:t>En las </a:t>
            </a:r>
            <a:r>
              <a:rPr lang="es-ES" b="1">
                <a:solidFill>
                  <a:srgbClr val="FF0000"/>
                </a:solidFill>
              </a:rPr>
              <a:t>retículas</a:t>
            </a:r>
            <a:r>
              <a:rPr lang="es-ES"/>
              <a:t> de especialización:</a:t>
            </a:r>
          </a:p>
          <a:p>
            <a:endParaRPr lang="es-ES"/>
          </a:p>
          <a:p>
            <a:pPr lvl="1">
              <a:buFont typeface="Arial" charset="0"/>
              <a:buChar char="•"/>
            </a:pPr>
            <a:r>
              <a:rPr lang="es-ES"/>
              <a:t>Un subtipo hereda atributos y relaciones de sus supertipos(múltiples) directos (herencia múltiple) y de todos sus supertipos predecesores, hasta la raíz</a:t>
            </a:r>
          </a:p>
          <a:p>
            <a:endParaRPr lang="es-ES"/>
          </a:p>
          <a:p>
            <a:r>
              <a:rPr lang="es-ES" i="1"/>
              <a:t>BECARIO hereda directamente de EMPLEADO y ESTUDIANTE, e indirectamente hereda de PERSONA</a:t>
            </a:r>
          </a:p>
          <a:p>
            <a:endParaRPr lang="es-ES"/>
          </a:p>
          <a:p>
            <a:r>
              <a:rPr lang="es-ES"/>
              <a:t>Los subtipos compartidos dan lugar a retículas</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49507" name="Rectangle 3"/>
          <p:cNvSpPr>
            <a:spLocks noChangeArrowheads="1"/>
          </p:cNvSpPr>
          <p:nvPr/>
        </p:nvSpPr>
        <p:spPr bwMode="auto">
          <a:xfrm>
            <a:off x="323850" y="836613"/>
            <a:ext cx="2525713" cy="430212"/>
          </a:xfrm>
          <a:prstGeom prst="rect">
            <a:avLst/>
          </a:prstGeom>
          <a:noFill/>
          <a:ln w="9525">
            <a:noFill/>
            <a:miter lim="800000"/>
            <a:headEnd/>
            <a:tailEnd/>
          </a:ln>
        </p:spPr>
        <p:txBody>
          <a:bodyPr wrap="none">
            <a:spAutoFit/>
          </a:bodyPr>
          <a:lstStyle/>
          <a:p>
            <a:pPr marL="342900" indent="-342900"/>
            <a:r>
              <a:rPr lang="es-ES" sz="2200" b="1"/>
              <a:t>Herencia Múltiple</a:t>
            </a:r>
          </a:p>
        </p:txBody>
      </p:sp>
      <p:sp>
        <p:nvSpPr>
          <p:cNvPr id="149508" name="6 Rectángulo"/>
          <p:cNvSpPr>
            <a:spLocks noChangeArrowheads="1"/>
          </p:cNvSpPr>
          <p:nvPr/>
        </p:nvSpPr>
        <p:spPr bwMode="auto">
          <a:xfrm>
            <a:off x="714375" y="1357313"/>
            <a:ext cx="7858125" cy="1077912"/>
          </a:xfrm>
          <a:prstGeom prst="rect">
            <a:avLst/>
          </a:prstGeom>
          <a:noFill/>
          <a:ln w="9525">
            <a:noFill/>
            <a:miter lim="800000"/>
            <a:headEnd/>
            <a:tailEnd/>
          </a:ln>
        </p:spPr>
        <p:txBody>
          <a:bodyPr>
            <a:spAutoFit/>
          </a:bodyPr>
          <a:lstStyle/>
          <a:p>
            <a:pPr algn="just"/>
            <a:r>
              <a:rPr lang="es-ES" sz="1600"/>
              <a:t>En herencia múltiple pueden surgir conflictos al heredar atributos distintos denominados igual</a:t>
            </a:r>
          </a:p>
          <a:p>
            <a:pPr algn="just"/>
            <a:endParaRPr lang="es-ES" sz="1600"/>
          </a:p>
          <a:p>
            <a:pPr algn="just"/>
            <a:r>
              <a:rPr lang="es-ES" sz="1600"/>
              <a:t>BECARIO hereda “jornada” de dos predecesores (EMPLEADO Y ESTUDIANTE)</a:t>
            </a:r>
          </a:p>
        </p:txBody>
      </p:sp>
      <p:sp>
        <p:nvSpPr>
          <p:cNvPr id="8" name="7 Rectángulo"/>
          <p:cNvSpPr/>
          <p:nvPr/>
        </p:nvSpPr>
        <p:spPr>
          <a:xfrm>
            <a:off x="1285875" y="2643188"/>
            <a:ext cx="7643813" cy="3600450"/>
          </a:xfrm>
          <a:prstGeom prst="rect">
            <a:avLst/>
          </a:prstGeom>
        </p:spPr>
        <p:txBody>
          <a:bodyPr>
            <a:spAutoFit/>
          </a:bodyPr>
          <a:lstStyle/>
          <a:p>
            <a:pPr>
              <a:defRPr/>
            </a:pPr>
            <a:r>
              <a:rPr lang="es-ES" sz="2000" b="1" dirty="0"/>
              <a:t>¿Cómo resolver esta situación?</a:t>
            </a:r>
          </a:p>
          <a:p>
            <a:pPr>
              <a:defRPr/>
            </a:pPr>
            <a:endParaRPr lang="es-ES" sz="1600" dirty="0"/>
          </a:p>
          <a:p>
            <a:pPr marL="342900" indent="-342900">
              <a:buFont typeface="+mj-lt"/>
              <a:buAutoNum type="arabicPeriod"/>
              <a:defRPr/>
            </a:pPr>
            <a:r>
              <a:rPr lang="es-ES" sz="1600" dirty="0"/>
              <a:t>Renombrar algunos de los atributos en conflicto:</a:t>
            </a:r>
          </a:p>
          <a:p>
            <a:pPr marL="342900" indent="-342900">
              <a:defRPr/>
            </a:pPr>
            <a:r>
              <a:rPr lang="es-ES" sz="1600" dirty="0"/>
              <a:t>	</a:t>
            </a:r>
          </a:p>
          <a:p>
            <a:pPr marL="342900" indent="-342900">
              <a:defRPr/>
            </a:pPr>
            <a:r>
              <a:rPr lang="es-ES" sz="1600" i="1" dirty="0"/>
              <a:t>	BECARIO hereda ambos atributos: –“jornada” corresponde a “jornada” de EMPLEADO y “</a:t>
            </a:r>
            <a:r>
              <a:rPr lang="es-ES" sz="1600" i="1" dirty="0" err="1"/>
              <a:t>jornadaEstudio</a:t>
            </a:r>
            <a:r>
              <a:rPr lang="es-ES" sz="1600" i="1" dirty="0"/>
              <a:t>” corresponde a “jornada” de ESTUDIANTE</a:t>
            </a:r>
          </a:p>
          <a:p>
            <a:pPr marL="342900" indent="-342900">
              <a:defRPr/>
            </a:pPr>
            <a:endParaRPr lang="es-ES" sz="1600" dirty="0"/>
          </a:p>
          <a:p>
            <a:pPr marL="342900" indent="-342900">
              <a:buFont typeface="+mj-lt"/>
              <a:buAutoNum type="arabicPeriod" startAt="2"/>
              <a:defRPr/>
            </a:pPr>
            <a:r>
              <a:rPr lang="es-ES" sz="1600" dirty="0"/>
              <a:t>Definir un orden de prioridad en la herencia:</a:t>
            </a:r>
          </a:p>
          <a:p>
            <a:pPr marL="342900" indent="-342900">
              <a:defRPr/>
            </a:pPr>
            <a:r>
              <a:rPr lang="es-ES" sz="1600" dirty="0"/>
              <a:t>	</a:t>
            </a:r>
          </a:p>
          <a:p>
            <a:pPr marL="342900" indent="-342900">
              <a:defRPr/>
            </a:pPr>
            <a:r>
              <a:rPr lang="es-ES" sz="1600" dirty="0"/>
              <a:t>	</a:t>
            </a:r>
            <a:r>
              <a:rPr lang="es-ES" sz="1600" i="1" dirty="0"/>
              <a:t>BECARIO hereda “jornada” de ESTUDIANTE y no de EMPLEADO</a:t>
            </a:r>
          </a:p>
          <a:p>
            <a:pPr marL="342900" indent="-342900">
              <a:defRPr/>
            </a:pPr>
            <a:endParaRPr lang="es-ES" sz="1600" i="1" dirty="0"/>
          </a:p>
          <a:p>
            <a:pPr marL="342900" indent="-342900">
              <a:buFont typeface="+mj-lt"/>
              <a:buAutoNum type="arabicPeriod" startAt="3"/>
              <a:defRPr/>
            </a:pPr>
            <a:r>
              <a:rPr lang="es-ES" sz="1600" dirty="0"/>
              <a:t>Nombrar a cada atributo antecediendo el nombre de la entidad propietaria</a:t>
            </a:r>
          </a:p>
          <a:p>
            <a:pPr marL="342900" indent="-342900">
              <a:buFont typeface="+mj-lt"/>
              <a:buAutoNum type="arabicPeriod" startAt="3"/>
              <a:defRPr/>
            </a:pPr>
            <a:endParaRPr lang="es-ES" sz="1600" dirty="0"/>
          </a:p>
          <a:p>
            <a:pPr marL="342900" indent="-342900">
              <a:defRPr/>
            </a:pPr>
            <a:r>
              <a:rPr lang="es-ES" sz="1600" i="1" dirty="0"/>
              <a:t>	BECARIO hereda “</a:t>
            </a:r>
            <a:r>
              <a:rPr lang="es-ES" sz="1600" i="1" dirty="0" err="1"/>
              <a:t>ESTUDIANTE.jornada</a:t>
            </a:r>
            <a:r>
              <a:rPr lang="es-ES" sz="1600" i="1" dirty="0"/>
              <a:t>” y “</a:t>
            </a:r>
            <a:r>
              <a:rPr lang="es-ES" sz="1600" i="1" dirty="0" err="1"/>
              <a:t>EMPLEADO.jornada</a:t>
            </a:r>
            <a:r>
              <a:rPr lang="es-ES" sz="1600" i="1" dirty="0"/>
              <a:t>”</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50531" name="Rectangle 3"/>
          <p:cNvSpPr>
            <a:spLocks noChangeArrowheads="1"/>
          </p:cNvSpPr>
          <p:nvPr/>
        </p:nvSpPr>
        <p:spPr bwMode="auto">
          <a:xfrm>
            <a:off x="323850" y="836613"/>
            <a:ext cx="3482975" cy="427037"/>
          </a:xfrm>
          <a:prstGeom prst="rect">
            <a:avLst/>
          </a:prstGeom>
          <a:noFill/>
          <a:ln w="9525">
            <a:noFill/>
            <a:miter lim="800000"/>
            <a:headEnd/>
            <a:tailEnd/>
          </a:ln>
        </p:spPr>
        <p:txBody>
          <a:bodyPr wrap="none">
            <a:spAutoFit/>
          </a:bodyPr>
          <a:lstStyle/>
          <a:p>
            <a:pPr marL="342900" indent="-342900"/>
            <a:r>
              <a:rPr lang="es-ES" sz="2200" b="1"/>
              <a:t>Inhibición de la Herencia</a:t>
            </a:r>
          </a:p>
        </p:txBody>
      </p:sp>
      <p:sp>
        <p:nvSpPr>
          <p:cNvPr id="150532" name="Rectangle 6"/>
          <p:cNvSpPr>
            <a:spLocks noChangeArrowheads="1"/>
          </p:cNvSpPr>
          <p:nvPr/>
        </p:nvSpPr>
        <p:spPr bwMode="auto">
          <a:xfrm>
            <a:off x="395288" y="1708150"/>
            <a:ext cx="8208962" cy="701675"/>
          </a:xfrm>
          <a:prstGeom prst="rect">
            <a:avLst/>
          </a:prstGeom>
          <a:noFill/>
          <a:ln w="9525" algn="ctr">
            <a:noFill/>
            <a:miter lim="800000"/>
            <a:headEnd/>
            <a:tailEnd/>
          </a:ln>
        </p:spPr>
        <p:txBody>
          <a:bodyPr>
            <a:spAutoFit/>
          </a:bodyPr>
          <a:lstStyle/>
          <a:p>
            <a:r>
              <a:rPr lang="es-ES" sz="2000"/>
              <a:t>Algunos modelos de datos permiten indicar que ciertos atributos del supertipo </a:t>
            </a:r>
            <a:r>
              <a:rPr lang="es-ES" sz="2000" b="1"/>
              <a:t>no deben ser heredados</a:t>
            </a:r>
            <a:r>
              <a:rPr lang="es-ES" sz="2000"/>
              <a:t> por los subtipos.</a:t>
            </a:r>
          </a:p>
        </p:txBody>
      </p:sp>
      <p:sp>
        <p:nvSpPr>
          <p:cNvPr id="150533" name="Rectangle 7"/>
          <p:cNvSpPr>
            <a:spLocks noChangeArrowheads="1"/>
          </p:cNvSpPr>
          <p:nvPr/>
        </p:nvSpPr>
        <p:spPr bwMode="auto">
          <a:xfrm>
            <a:off x="468313" y="2924175"/>
            <a:ext cx="7991475" cy="1616075"/>
          </a:xfrm>
          <a:prstGeom prst="rect">
            <a:avLst/>
          </a:prstGeom>
          <a:noFill/>
          <a:ln w="9525" algn="ctr">
            <a:noFill/>
            <a:miter lim="800000"/>
            <a:headEnd/>
            <a:tailEnd/>
          </a:ln>
        </p:spPr>
        <p:txBody>
          <a:bodyPr>
            <a:spAutoFit/>
          </a:bodyPr>
          <a:lstStyle/>
          <a:p>
            <a:r>
              <a:rPr lang="es-ES" sz="2000"/>
              <a:t>En el modelo </a:t>
            </a:r>
            <a:r>
              <a:rPr lang="es-ES" sz="2000" b="1"/>
              <a:t>ECR</a:t>
            </a:r>
            <a:r>
              <a:rPr lang="es-ES" sz="2000"/>
              <a:t> , las </a:t>
            </a:r>
            <a:r>
              <a:rPr lang="es-ES" sz="2000" b="1"/>
              <a:t>categorías</a:t>
            </a:r>
            <a:r>
              <a:rPr lang="es-ES" sz="2000"/>
              <a:t> son mostradas en el diagrama como hexágonos, conectados al supertipo con un símbolo de subconjunto dibujado sobre la línea. Los atributos </a:t>
            </a:r>
            <a:r>
              <a:rPr lang="es-ES" sz="2000" b="1"/>
              <a:t>compartidos</a:t>
            </a:r>
            <a:r>
              <a:rPr lang="es-ES" sz="2000"/>
              <a:t> son conectados al supertipo y los atributos de categoría </a:t>
            </a:r>
            <a:r>
              <a:rPr lang="es-ES" sz="2000" b="1"/>
              <a:t>no compartidos</a:t>
            </a:r>
            <a:r>
              <a:rPr lang="es-ES" sz="2000"/>
              <a:t> son conectados al hexágono.</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530" name="Line 50"/>
          <p:cNvSpPr>
            <a:spLocks noChangeShapeType="1"/>
          </p:cNvSpPr>
          <p:nvPr/>
        </p:nvSpPr>
        <p:spPr bwMode="auto">
          <a:xfrm flipV="1">
            <a:off x="6443663" y="6308725"/>
            <a:ext cx="863600" cy="71438"/>
          </a:xfrm>
          <a:prstGeom prst="line">
            <a:avLst/>
          </a:prstGeom>
          <a:noFill/>
          <a:ln w="38100">
            <a:solidFill>
              <a:schemeClr val="accent1"/>
            </a:solidFill>
            <a:round/>
            <a:headEnd/>
            <a:tailEnd/>
          </a:ln>
        </p:spPr>
        <p:txBody>
          <a:bodyPr/>
          <a:lstStyle/>
          <a:p>
            <a:endParaRPr lang="es-ES"/>
          </a:p>
        </p:txBody>
      </p:sp>
      <p:sp>
        <p:nvSpPr>
          <p:cNvPr id="148526" name="Line 46"/>
          <p:cNvSpPr>
            <a:spLocks noChangeShapeType="1"/>
          </p:cNvSpPr>
          <p:nvPr/>
        </p:nvSpPr>
        <p:spPr bwMode="auto">
          <a:xfrm>
            <a:off x="3995738" y="6308725"/>
            <a:ext cx="1152525" cy="142875"/>
          </a:xfrm>
          <a:prstGeom prst="line">
            <a:avLst/>
          </a:prstGeom>
          <a:noFill/>
          <a:ln w="38100">
            <a:solidFill>
              <a:schemeClr val="accent1"/>
            </a:solidFill>
            <a:round/>
            <a:headEnd/>
            <a:tailEnd/>
          </a:ln>
        </p:spPr>
        <p:txBody>
          <a:bodyPr/>
          <a:lstStyle/>
          <a:p>
            <a:endParaRPr lang="es-ES"/>
          </a:p>
        </p:txBody>
      </p:sp>
      <p:cxnSp>
        <p:nvCxnSpPr>
          <p:cNvPr id="27" name="26 Conector recto"/>
          <p:cNvCxnSpPr>
            <a:stCxn id="9" idx="1"/>
            <a:endCxn id="0" idx="0"/>
          </p:cNvCxnSpPr>
          <p:nvPr/>
        </p:nvCxnSpPr>
        <p:spPr>
          <a:xfrm>
            <a:off x="2268538" y="4149725"/>
            <a:ext cx="1150937" cy="142875"/>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8516" name="Line 36"/>
          <p:cNvSpPr>
            <a:spLocks noChangeShapeType="1"/>
          </p:cNvSpPr>
          <p:nvPr/>
        </p:nvSpPr>
        <p:spPr bwMode="auto">
          <a:xfrm flipV="1">
            <a:off x="2124075" y="4437063"/>
            <a:ext cx="1439863" cy="360362"/>
          </a:xfrm>
          <a:prstGeom prst="line">
            <a:avLst/>
          </a:prstGeom>
          <a:noFill/>
          <a:ln w="38100">
            <a:solidFill>
              <a:schemeClr val="accent1"/>
            </a:solidFill>
            <a:round/>
            <a:headEnd/>
            <a:tailEnd/>
          </a:ln>
        </p:spPr>
        <p:txBody>
          <a:bodyPr/>
          <a:lstStyle/>
          <a:p>
            <a:endParaRPr lang="es-ES"/>
          </a:p>
        </p:txBody>
      </p:sp>
      <p:sp>
        <p:nvSpPr>
          <p:cNvPr id="148521" name="Line 41"/>
          <p:cNvSpPr>
            <a:spLocks noChangeShapeType="1"/>
          </p:cNvSpPr>
          <p:nvPr/>
        </p:nvSpPr>
        <p:spPr bwMode="auto">
          <a:xfrm flipV="1">
            <a:off x="5003800" y="4365625"/>
            <a:ext cx="863600" cy="71438"/>
          </a:xfrm>
          <a:prstGeom prst="line">
            <a:avLst/>
          </a:prstGeom>
          <a:noFill/>
          <a:ln w="38100">
            <a:solidFill>
              <a:schemeClr val="accent1"/>
            </a:solidFill>
            <a:round/>
            <a:headEnd/>
            <a:tailEnd/>
          </a:ln>
        </p:spPr>
        <p:txBody>
          <a:bodyPr/>
          <a:lstStyle/>
          <a:p>
            <a:endParaRPr lang="es-ES"/>
          </a:p>
        </p:txBody>
      </p:sp>
      <p:sp>
        <p:nvSpPr>
          <p:cNvPr id="151559"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51560" name="Rectangle 3"/>
          <p:cNvSpPr>
            <a:spLocks noChangeArrowheads="1"/>
          </p:cNvSpPr>
          <p:nvPr/>
        </p:nvSpPr>
        <p:spPr bwMode="auto">
          <a:xfrm>
            <a:off x="323850" y="836613"/>
            <a:ext cx="5040313" cy="427037"/>
          </a:xfrm>
          <a:prstGeom prst="rect">
            <a:avLst/>
          </a:prstGeom>
          <a:noFill/>
          <a:ln w="9525">
            <a:noFill/>
            <a:miter lim="800000"/>
            <a:headEnd/>
            <a:tailEnd/>
          </a:ln>
        </p:spPr>
        <p:txBody>
          <a:bodyPr wrap="none">
            <a:spAutoFit/>
          </a:bodyPr>
          <a:lstStyle/>
          <a:p>
            <a:pPr marL="342900" indent="-342900"/>
            <a:r>
              <a:rPr lang="es-ES" sz="2200" b="1"/>
              <a:t>Redefinición de atributos heredados</a:t>
            </a:r>
          </a:p>
        </p:txBody>
      </p:sp>
      <p:sp>
        <p:nvSpPr>
          <p:cNvPr id="151561" name="Text Box 6"/>
          <p:cNvSpPr txBox="1">
            <a:spLocks noChangeArrowheads="1"/>
          </p:cNvSpPr>
          <p:nvPr/>
        </p:nvSpPr>
        <p:spPr bwMode="auto">
          <a:xfrm>
            <a:off x="1042988" y="1557338"/>
            <a:ext cx="7272337" cy="2225675"/>
          </a:xfrm>
          <a:prstGeom prst="rect">
            <a:avLst/>
          </a:prstGeom>
          <a:noFill/>
          <a:ln w="9525" algn="ctr">
            <a:noFill/>
            <a:miter lim="800000"/>
            <a:headEnd/>
            <a:tailEnd/>
          </a:ln>
        </p:spPr>
        <p:txBody>
          <a:bodyPr>
            <a:spAutoFit/>
          </a:bodyPr>
          <a:lstStyle/>
          <a:p>
            <a:r>
              <a:rPr lang="es-ES" sz="2000"/>
              <a:t>Si un supertipo y un subtipo tienen un atributo con el mismo nombre, </a:t>
            </a:r>
            <a:r>
              <a:rPr lang="es-ES" sz="2000" b="1"/>
              <a:t>se entiende que el atributo del subtipo redefine el del supertipo</a:t>
            </a:r>
            <a:r>
              <a:rPr lang="es-ES" sz="2000"/>
              <a:t>.</a:t>
            </a:r>
          </a:p>
          <a:p>
            <a:endParaRPr lang="es-ES" sz="2000"/>
          </a:p>
          <a:p>
            <a:r>
              <a:rPr lang="es-ES" sz="2000"/>
              <a:t>Se utiliza el mismo nombre y significado semántico, pero se modifica cómo se calcula o cómo se representa el valor del atributo.</a:t>
            </a:r>
          </a:p>
        </p:txBody>
      </p:sp>
      <p:cxnSp>
        <p:nvCxnSpPr>
          <p:cNvPr id="6" name="5 Conector recto"/>
          <p:cNvCxnSpPr>
            <a:endCxn id="0" idx="2"/>
          </p:cNvCxnSpPr>
          <p:nvPr/>
        </p:nvCxnSpPr>
        <p:spPr>
          <a:xfrm rot="16200000" flipV="1">
            <a:off x="3871119" y="4864894"/>
            <a:ext cx="785812" cy="19050"/>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 name="10 Grupo"/>
          <p:cNvGrpSpPr/>
          <p:nvPr/>
        </p:nvGrpSpPr>
        <p:grpSpPr>
          <a:xfrm>
            <a:off x="3594096" y="5267327"/>
            <a:ext cx="1357322" cy="714380"/>
            <a:chOff x="4143372" y="4857760"/>
            <a:chExt cx="1357322" cy="714380"/>
          </a:xfrm>
          <a:scene3d>
            <a:camera prst="orthographicFront">
              <a:rot lat="0" lon="0" rev="0"/>
            </a:camera>
            <a:lightRig rig="balanced" dir="t">
              <a:rot lat="0" lon="0" rev="8700000"/>
            </a:lightRig>
          </a:scene3d>
        </p:grpSpPr>
        <p:sp>
          <p:nvSpPr>
            <p:cNvPr id="9" name="8 Triángulo isósceles"/>
            <p:cNvSpPr/>
            <p:nvPr/>
          </p:nvSpPr>
          <p:spPr>
            <a:xfrm rot="10800000">
              <a:off x="4143372" y="4857760"/>
              <a:ext cx="1357322" cy="714380"/>
            </a:xfrm>
            <a:prstGeom prst="triangle">
              <a:avLst/>
            </a:prstGeom>
            <a:ln>
              <a:noFill/>
            </a:ln>
            <a:effectLst>
              <a:outerShdw blurRad="44450" dist="27940" dir="5400000" algn="ctr">
                <a:srgbClr val="000000">
                  <a:alpha val="32000"/>
                </a:srgbClr>
              </a:outerShdw>
            </a:effectLst>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2000" dirty="0"/>
            </a:p>
          </p:txBody>
        </p:sp>
        <p:sp>
          <p:nvSpPr>
            <p:cNvPr id="10" name="9 CuadroTexto"/>
            <p:cNvSpPr txBox="1"/>
            <p:nvPr/>
          </p:nvSpPr>
          <p:spPr>
            <a:xfrm>
              <a:off x="4429124" y="4857760"/>
              <a:ext cx="801823" cy="461665"/>
            </a:xfrm>
            <a:prstGeom prst="rect">
              <a:avLst/>
            </a:prstGeom>
            <a:noFill/>
            <a:ln>
              <a:noFill/>
            </a:ln>
            <a:effectLst>
              <a:outerShdw blurRad="44450" dist="27940" dir="5400000" algn="ctr">
                <a:srgbClr val="000000">
                  <a:alpha val="32000"/>
                </a:srgbClr>
              </a:outerShdw>
            </a:effectLst>
            <a:sp3d>
              <a:bevelT w="190500" h="38100"/>
            </a:sp3d>
          </p:spPr>
          <p:txBody>
            <a:bodyPr wrap="none">
              <a:spAutoFit/>
            </a:bodyPr>
            <a:lstStyle/>
            <a:p>
              <a:pPr algn="ctr">
                <a:defRPr/>
              </a:pPr>
              <a:r>
                <a:rPr lang="es-ES" sz="1200" b="1" dirty="0">
                  <a:solidFill>
                    <a:schemeClr val="bg1"/>
                  </a:solidFill>
                </a:rPr>
                <a:t>ES UN</a:t>
              </a:r>
            </a:p>
            <a:p>
              <a:pPr algn="ctr">
                <a:defRPr/>
              </a:pPr>
              <a:r>
                <a:rPr lang="es-ES" sz="1200" b="1" dirty="0">
                  <a:solidFill>
                    <a:schemeClr val="bg1"/>
                  </a:solidFill>
                </a:rPr>
                <a:t>TIPO DE</a:t>
              </a:r>
            </a:p>
          </p:txBody>
        </p:sp>
      </p:grpSp>
      <p:cxnSp>
        <p:nvCxnSpPr>
          <p:cNvPr id="3" name="26 Conector recto"/>
          <p:cNvCxnSpPr>
            <a:stCxn id="9" idx="1"/>
            <a:endCxn id="0" idx="0"/>
          </p:cNvCxnSpPr>
          <p:nvPr/>
        </p:nvCxnSpPr>
        <p:spPr>
          <a:xfrm>
            <a:off x="4611688" y="5624513"/>
            <a:ext cx="1460500" cy="938212"/>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4 Rectángulo"/>
          <p:cNvSpPr/>
          <p:nvPr/>
        </p:nvSpPr>
        <p:spPr>
          <a:xfrm>
            <a:off x="3397432" y="4086216"/>
            <a:ext cx="1714512" cy="714381"/>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a:solidFill>
                  <a:srgbClr val="FFFFFF"/>
                </a:solidFill>
              </a:rPr>
              <a:t>RECTÁNGULO</a:t>
            </a:r>
          </a:p>
        </p:txBody>
      </p:sp>
      <p:sp>
        <p:nvSpPr>
          <p:cNvPr id="18" name="17 Rectángulo"/>
          <p:cNvSpPr/>
          <p:nvPr/>
        </p:nvSpPr>
        <p:spPr>
          <a:xfrm>
            <a:off x="4937319" y="6027748"/>
            <a:ext cx="1615900" cy="704856"/>
          </a:xfrm>
          <a:prstGeom prst="rect">
            <a:avLst/>
          </a:prstGeom>
          <a:solidFill>
            <a:schemeClr val="accent3">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a:solidFill>
                  <a:srgbClr val="FFFFFF"/>
                </a:solidFill>
              </a:rPr>
              <a:t>CUADRADO</a:t>
            </a:r>
          </a:p>
        </p:txBody>
      </p:sp>
      <p:sp>
        <p:nvSpPr>
          <p:cNvPr id="48" name="47 Elipse"/>
          <p:cNvSpPr/>
          <p:nvPr/>
        </p:nvSpPr>
        <p:spPr>
          <a:xfrm>
            <a:off x="1089033" y="3984646"/>
            <a:ext cx="1357322" cy="357189"/>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a:solidFill>
                  <a:srgbClr val="FFFFFF"/>
                </a:solidFill>
              </a:rPr>
              <a:t>ancho</a:t>
            </a:r>
          </a:p>
        </p:txBody>
      </p:sp>
      <p:sp>
        <p:nvSpPr>
          <p:cNvPr id="49" name="48 Elipse"/>
          <p:cNvSpPr/>
          <p:nvPr/>
        </p:nvSpPr>
        <p:spPr>
          <a:xfrm>
            <a:off x="1090631" y="4559321"/>
            <a:ext cx="1357321" cy="357189"/>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a:solidFill>
                  <a:srgbClr val="FFFFFF"/>
                </a:solidFill>
              </a:rPr>
              <a:t>alto</a:t>
            </a:r>
          </a:p>
        </p:txBody>
      </p:sp>
      <p:sp>
        <p:nvSpPr>
          <p:cNvPr id="148520" name="Oval 40"/>
          <p:cNvSpPr>
            <a:spLocks noChangeArrowheads="1"/>
          </p:cNvSpPr>
          <p:nvPr/>
        </p:nvSpPr>
        <p:spPr bwMode="auto">
          <a:xfrm>
            <a:off x="5651500" y="4221163"/>
            <a:ext cx="1512888" cy="360362"/>
          </a:xfrm>
          <a:prstGeom prst="ellipse">
            <a:avLst/>
          </a:prstGeom>
          <a:solidFill>
            <a:schemeClr val="bg1"/>
          </a:solidFill>
          <a:ln w="9525">
            <a:solidFill>
              <a:schemeClr val="tx2"/>
            </a:solidFill>
            <a:prstDash val="dash"/>
            <a:round/>
            <a:headEnd/>
            <a:tailEnd/>
          </a:ln>
        </p:spPr>
        <p:txBody>
          <a:bodyPr wrap="none" anchor="ctr"/>
          <a:lstStyle/>
          <a:p>
            <a:pPr algn="ctr"/>
            <a:r>
              <a:rPr lang="es-ES">
                <a:solidFill>
                  <a:schemeClr val="tx2"/>
                </a:solidFill>
              </a:rPr>
              <a:t>área</a:t>
            </a:r>
          </a:p>
        </p:txBody>
      </p:sp>
      <p:sp>
        <p:nvSpPr>
          <p:cNvPr id="4" name="48 Elipse"/>
          <p:cNvSpPr/>
          <p:nvPr/>
        </p:nvSpPr>
        <p:spPr>
          <a:xfrm>
            <a:off x="2962293" y="6072209"/>
            <a:ext cx="1357322" cy="357189"/>
          </a:xfrm>
          <a:prstGeom prst="ellipse">
            <a:avLst/>
          </a:prstGeom>
          <a:solidFill>
            <a:schemeClr val="accent3"/>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a:solidFill>
                  <a:srgbClr val="FFFFFF"/>
                </a:solidFill>
              </a:rPr>
              <a:t>lado</a:t>
            </a:r>
          </a:p>
        </p:txBody>
      </p:sp>
      <p:sp>
        <p:nvSpPr>
          <p:cNvPr id="148531" name="Oval 51"/>
          <p:cNvSpPr>
            <a:spLocks noChangeArrowheads="1"/>
          </p:cNvSpPr>
          <p:nvPr/>
        </p:nvSpPr>
        <p:spPr bwMode="auto">
          <a:xfrm>
            <a:off x="7091363" y="6164263"/>
            <a:ext cx="1512887" cy="360362"/>
          </a:xfrm>
          <a:prstGeom prst="ellipse">
            <a:avLst/>
          </a:prstGeom>
          <a:solidFill>
            <a:schemeClr val="bg1"/>
          </a:solidFill>
          <a:ln w="9525">
            <a:solidFill>
              <a:schemeClr val="tx2"/>
            </a:solidFill>
            <a:prstDash val="dash"/>
            <a:round/>
            <a:headEnd/>
            <a:tailEnd/>
          </a:ln>
        </p:spPr>
        <p:txBody>
          <a:bodyPr wrap="none" anchor="ctr"/>
          <a:lstStyle/>
          <a:p>
            <a:pPr algn="ctr"/>
            <a:r>
              <a:rPr lang="es-ES">
                <a:solidFill>
                  <a:schemeClr val="tx2"/>
                </a:solidFill>
              </a:rPr>
              <a:t>área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8530"/>
                                        </p:tgtEl>
                                        <p:attrNameLst>
                                          <p:attrName>style.visibility</p:attrName>
                                        </p:attrNameLst>
                                      </p:cBhvr>
                                      <p:to>
                                        <p:strVal val="visible"/>
                                      </p:to>
                                    </p:set>
                                    <p:animEffect transition="in" filter="fade">
                                      <p:cBhvr>
                                        <p:cTn id="7" dur="1000"/>
                                        <p:tgtEl>
                                          <p:spTgt spid="1485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8526"/>
                                        </p:tgtEl>
                                        <p:attrNameLst>
                                          <p:attrName>style.visibility</p:attrName>
                                        </p:attrNameLst>
                                      </p:cBhvr>
                                      <p:to>
                                        <p:strVal val="visible"/>
                                      </p:to>
                                    </p:set>
                                    <p:animEffect transition="in" filter="fade">
                                      <p:cBhvr>
                                        <p:cTn id="10" dur="1000"/>
                                        <p:tgtEl>
                                          <p:spTgt spid="148526"/>
                                        </p:tgtEl>
                                      </p:cBhvr>
                                    </p:animEffect>
                                  </p:childTnLst>
                                </p:cTn>
                              </p:par>
                              <p:par>
                                <p:cTn id="11" presetID="10"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1000"/>
                                        <p:tgtEl>
                                          <p:spTgt spid="2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8516"/>
                                        </p:tgtEl>
                                        <p:attrNameLst>
                                          <p:attrName>style.visibility</p:attrName>
                                        </p:attrNameLst>
                                      </p:cBhvr>
                                      <p:to>
                                        <p:strVal val="visible"/>
                                      </p:to>
                                    </p:set>
                                    <p:animEffect transition="in" filter="fade">
                                      <p:cBhvr>
                                        <p:cTn id="16" dur="1000"/>
                                        <p:tgtEl>
                                          <p:spTgt spid="1485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8521"/>
                                        </p:tgtEl>
                                        <p:attrNameLst>
                                          <p:attrName>style.visibility</p:attrName>
                                        </p:attrNameLst>
                                      </p:cBhvr>
                                      <p:to>
                                        <p:strVal val="visible"/>
                                      </p:to>
                                    </p:set>
                                    <p:animEffect transition="in" filter="fade">
                                      <p:cBhvr>
                                        <p:cTn id="19" dur="1000"/>
                                        <p:tgtEl>
                                          <p:spTgt spid="148521"/>
                                        </p:tgtEl>
                                      </p:cBhvr>
                                    </p:animEffect>
                                  </p:childTnLst>
                                </p:cTn>
                              </p:par>
                              <p:par>
                                <p:cTn id="20" presetID="10"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par>
                                <p:cTn id="23" presetID="10" presetClass="entr" presetSubtype="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1000"/>
                                        <p:tgtEl>
                                          <p:spTgt spid="2"/>
                                        </p:tgtEl>
                                      </p:cBhvr>
                                    </p:animEffect>
                                  </p:childTnLst>
                                </p:cTn>
                              </p:par>
                              <p:par>
                                <p:cTn id="26" presetID="10" presetClass="entr" presetSubtype="0" fill="hold"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childTnLst>
                                </p:cTn>
                              </p:par>
                              <p:par>
                                <p:cTn id="29" presetID="10"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1000"/>
                                        <p:tgtEl>
                                          <p:spTgt spid="5"/>
                                        </p:tgtEl>
                                      </p:cBhvr>
                                    </p:animEffect>
                                  </p:childTnLst>
                                </p:cTn>
                              </p:par>
                              <p:par>
                                <p:cTn id="32" presetID="10" presetClass="entr" presetSubtype="0"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1000"/>
                                        <p:tgtEl>
                                          <p:spTgt spid="18"/>
                                        </p:tgtEl>
                                      </p:cBhvr>
                                    </p:animEffect>
                                  </p:childTnLst>
                                </p:cTn>
                              </p:par>
                              <p:par>
                                <p:cTn id="35" presetID="10" presetClass="entr" presetSubtype="0" fill="hold" nodeType="with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fade">
                                      <p:cBhvr>
                                        <p:cTn id="37" dur="1000"/>
                                        <p:tgtEl>
                                          <p:spTgt spid="48"/>
                                        </p:tgtEl>
                                      </p:cBhvr>
                                    </p:animEffect>
                                  </p:childTnLst>
                                </p:cTn>
                              </p:par>
                              <p:par>
                                <p:cTn id="38" presetID="10" presetClass="entr" presetSubtype="0" fill="hold" nodeType="withEffect">
                                  <p:stCondLst>
                                    <p:cond delay="0"/>
                                  </p:stCondLst>
                                  <p:childTnLst>
                                    <p:set>
                                      <p:cBhvr>
                                        <p:cTn id="39" dur="1" fill="hold">
                                          <p:stCondLst>
                                            <p:cond delay="0"/>
                                          </p:stCondLst>
                                        </p:cTn>
                                        <p:tgtEl>
                                          <p:spTgt spid="49"/>
                                        </p:tgtEl>
                                        <p:attrNameLst>
                                          <p:attrName>style.visibility</p:attrName>
                                        </p:attrNameLst>
                                      </p:cBhvr>
                                      <p:to>
                                        <p:strVal val="visible"/>
                                      </p:to>
                                    </p:set>
                                    <p:animEffect transition="in" filter="fade">
                                      <p:cBhvr>
                                        <p:cTn id="40" dur="1000"/>
                                        <p:tgtEl>
                                          <p:spTgt spid="4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8520"/>
                                        </p:tgtEl>
                                        <p:attrNameLst>
                                          <p:attrName>style.visibility</p:attrName>
                                        </p:attrNameLst>
                                      </p:cBhvr>
                                      <p:to>
                                        <p:strVal val="visible"/>
                                      </p:to>
                                    </p:set>
                                    <p:animEffect transition="in" filter="fade">
                                      <p:cBhvr>
                                        <p:cTn id="43" dur="1000"/>
                                        <p:tgtEl>
                                          <p:spTgt spid="148520"/>
                                        </p:tgtEl>
                                      </p:cBhvr>
                                    </p:animEffect>
                                  </p:childTnLst>
                                </p:cTn>
                              </p:par>
                              <p:par>
                                <p:cTn id="44" presetID="10" presetClass="entr" presetSubtype="0" fill="hold" nodeType="with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fade">
                                      <p:cBhvr>
                                        <p:cTn id="46" dur="1000"/>
                                        <p:tgtEl>
                                          <p:spTgt spid="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48531"/>
                                        </p:tgtEl>
                                        <p:attrNameLst>
                                          <p:attrName>style.visibility</p:attrName>
                                        </p:attrNameLst>
                                      </p:cBhvr>
                                      <p:to>
                                        <p:strVal val="visible"/>
                                      </p:to>
                                    </p:set>
                                    <p:animEffect transition="in" filter="fade">
                                      <p:cBhvr>
                                        <p:cTn id="49" dur="1000"/>
                                        <p:tgtEl>
                                          <p:spTgt spid="148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30" grpId="0" animBg="1"/>
      <p:bldP spid="148526" grpId="0" animBg="1"/>
      <p:bldP spid="148516" grpId="0" animBg="1"/>
      <p:bldP spid="148521" grpId="0" animBg="1"/>
      <p:bldP spid="148520" grpId="0" animBg="1"/>
      <p:bldP spid="148531"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2578" name="29 Conector recto"/>
          <p:cNvCxnSpPr>
            <a:cxnSpLocks noChangeShapeType="1"/>
          </p:cNvCxnSpPr>
          <p:nvPr/>
        </p:nvCxnSpPr>
        <p:spPr bwMode="auto">
          <a:xfrm rot="10800000">
            <a:off x="5435600" y="5065713"/>
            <a:ext cx="1314450" cy="28575"/>
          </a:xfrm>
          <a:prstGeom prst="line">
            <a:avLst/>
          </a:prstGeom>
          <a:noFill/>
          <a:ln w="38100" algn="ctr">
            <a:solidFill>
              <a:schemeClr val="accent1"/>
            </a:solidFill>
            <a:round/>
            <a:headEnd/>
            <a:tailEnd/>
          </a:ln>
        </p:spPr>
      </p:cxnSp>
      <p:sp>
        <p:nvSpPr>
          <p:cNvPr id="152579"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52580" name="Rectangle 3"/>
          <p:cNvSpPr>
            <a:spLocks noChangeArrowheads="1"/>
          </p:cNvSpPr>
          <p:nvPr/>
        </p:nvSpPr>
        <p:spPr bwMode="auto">
          <a:xfrm>
            <a:off x="323850" y="836613"/>
            <a:ext cx="4356100" cy="427037"/>
          </a:xfrm>
          <a:prstGeom prst="rect">
            <a:avLst/>
          </a:prstGeom>
          <a:noFill/>
          <a:ln w="9525">
            <a:noFill/>
            <a:miter lim="800000"/>
            <a:headEnd/>
            <a:tailEnd/>
          </a:ln>
        </p:spPr>
        <p:txBody>
          <a:bodyPr wrap="none">
            <a:spAutoFit/>
          </a:bodyPr>
          <a:lstStyle/>
          <a:p>
            <a:pPr marL="342900" indent="-342900"/>
            <a:r>
              <a:rPr lang="es-ES" sz="2200" b="1"/>
              <a:t>Agregación de tipos de entidad</a:t>
            </a:r>
          </a:p>
        </p:txBody>
      </p:sp>
      <p:cxnSp>
        <p:nvCxnSpPr>
          <p:cNvPr id="22" name="21 Conector recto"/>
          <p:cNvCxnSpPr>
            <a:stCxn id="0" idx="3"/>
            <a:endCxn id="0" idx="1"/>
          </p:cNvCxnSpPr>
          <p:nvPr/>
        </p:nvCxnSpPr>
        <p:spPr>
          <a:xfrm>
            <a:off x="2746375" y="2463800"/>
            <a:ext cx="1000125" cy="1588"/>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2582" name="29 Conector recto"/>
          <p:cNvCxnSpPr>
            <a:cxnSpLocks noChangeShapeType="1"/>
          </p:cNvCxnSpPr>
          <p:nvPr/>
        </p:nvCxnSpPr>
        <p:spPr bwMode="auto">
          <a:xfrm rot="10800000">
            <a:off x="5603875" y="2463800"/>
            <a:ext cx="1314450" cy="28575"/>
          </a:xfrm>
          <a:prstGeom prst="line">
            <a:avLst/>
          </a:prstGeom>
          <a:noFill/>
          <a:ln w="38100" algn="ctr">
            <a:solidFill>
              <a:schemeClr val="accent1"/>
            </a:solidFill>
            <a:round/>
            <a:headEnd/>
            <a:tailEnd/>
          </a:ln>
        </p:spPr>
      </p:cxnSp>
      <p:sp>
        <p:nvSpPr>
          <p:cNvPr id="41" name="40 Decisión"/>
          <p:cNvSpPr/>
          <p:nvPr/>
        </p:nvSpPr>
        <p:spPr>
          <a:xfrm>
            <a:off x="3746493" y="2106607"/>
            <a:ext cx="1857388" cy="714380"/>
          </a:xfrm>
          <a:prstGeom prst="flowChartDecision">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a:solidFill>
                  <a:srgbClr val="FFFFFF"/>
                </a:solidFill>
              </a:rPr>
              <a:t>R3</a:t>
            </a:r>
          </a:p>
        </p:txBody>
      </p:sp>
      <p:sp>
        <p:nvSpPr>
          <p:cNvPr id="3" name="40 Decisión"/>
          <p:cNvSpPr/>
          <p:nvPr/>
        </p:nvSpPr>
        <p:spPr>
          <a:xfrm>
            <a:off x="977893" y="2112957"/>
            <a:ext cx="1857388" cy="714380"/>
          </a:xfrm>
          <a:prstGeom prst="flowChartDecision">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a:solidFill>
                  <a:srgbClr val="FFFFFF"/>
                </a:solidFill>
              </a:rPr>
              <a:t>R1</a:t>
            </a:r>
          </a:p>
        </p:txBody>
      </p:sp>
      <p:sp>
        <p:nvSpPr>
          <p:cNvPr id="4" name="40 Decisión"/>
          <p:cNvSpPr/>
          <p:nvPr/>
        </p:nvSpPr>
        <p:spPr>
          <a:xfrm>
            <a:off x="6523031" y="2132007"/>
            <a:ext cx="1857388" cy="714380"/>
          </a:xfrm>
          <a:prstGeom prst="flowChartDecision">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a:solidFill>
                  <a:srgbClr val="FFFFFF"/>
                </a:solidFill>
              </a:rPr>
              <a:t>R2</a:t>
            </a:r>
          </a:p>
        </p:txBody>
      </p:sp>
      <p:sp>
        <p:nvSpPr>
          <p:cNvPr id="152592" name="Rectangle 3"/>
          <p:cNvSpPr>
            <a:spLocks noChangeArrowheads="1"/>
          </p:cNvSpPr>
          <p:nvPr/>
        </p:nvSpPr>
        <p:spPr bwMode="auto">
          <a:xfrm>
            <a:off x="954088" y="1562100"/>
            <a:ext cx="3978275" cy="427038"/>
          </a:xfrm>
          <a:prstGeom prst="rect">
            <a:avLst/>
          </a:prstGeom>
          <a:noFill/>
          <a:ln w="9525">
            <a:noFill/>
            <a:miter lim="800000"/>
            <a:headEnd/>
            <a:tailEnd/>
          </a:ln>
        </p:spPr>
        <p:txBody>
          <a:bodyPr wrap="none">
            <a:spAutoFit/>
          </a:bodyPr>
          <a:lstStyle/>
          <a:p>
            <a:pPr marL="342900" indent="-342900">
              <a:buFontTx/>
              <a:buChar char="•"/>
            </a:pPr>
            <a:r>
              <a:rPr lang="es-ES" sz="2200"/>
              <a:t>Relaciones entre relaciones</a:t>
            </a:r>
          </a:p>
        </p:txBody>
      </p:sp>
      <p:sp>
        <p:nvSpPr>
          <p:cNvPr id="167953" name="Rectangle 3"/>
          <p:cNvSpPr>
            <a:spLocks noChangeArrowheads="1"/>
          </p:cNvSpPr>
          <p:nvPr/>
        </p:nvSpPr>
        <p:spPr bwMode="auto">
          <a:xfrm>
            <a:off x="3662363" y="3146425"/>
            <a:ext cx="2062162" cy="427038"/>
          </a:xfrm>
          <a:prstGeom prst="rect">
            <a:avLst/>
          </a:prstGeom>
          <a:noFill/>
          <a:ln w="9525">
            <a:noFill/>
            <a:miter lim="800000"/>
            <a:headEnd/>
            <a:tailEnd/>
          </a:ln>
        </p:spPr>
        <p:txBody>
          <a:bodyPr wrap="none">
            <a:spAutoFit/>
          </a:bodyPr>
          <a:lstStyle/>
          <a:p>
            <a:pPr marL="342900" indent="-342900"/>
            <a:r>
              <a:rPr lang="es-ES" sz="2200" b="1">
                <a:solidFill>
                  <a:schemeClr val="accent2"/>
                </a:solidFill>
              </a:rPr>
              <a:t>INCORRECTO</a:t>
            </a:r>
          </a:p>
        </p:txBody>
      </p:sp>
      <p:sp>
        <p:nvSpPr>
          <p:cNvPr id="5" name="4 Rectángulo"/>
          <p:cNvSpPr/>
          <p:nvPr/>
        </p:nvSpPr>
        <p:spPr>
          <a:xfrm>
            <a:off x="6637519" y="4727566"/>
            <a:ext cx="1714513" cy="714381"/>
          </a:xfrm>
          <a:prstGeom prst="rect">
            <a:avLst/>
          </a:prstGeom>
          <a:solidFill>
            <a:schemeClr val="accent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a:solidFill>
                  <a:srgbClr val="FFFFFF"/>
                </a:solidFill>
              </a:rPr>
              <a:t>E1</a:t>
            </a:r>
          </a:p>
        </p:txBody>
      </p:sp>
      <p:cxnSp>
        <p:nvCxnSpPr>
          <p:cNvPr id="6" name="21 Conector recto"/>
          <p:cNvCxnSpPr>
            <a:stCxn id="0" idx="3"/>
            <a:endCxn id="0" idx="1"/>
          </p:cNvCxnSpPr>
          <p:nvPr/>
        </p:nvCxnSpPr>
        <p:spPr>
          <a:xfrm>
            <a:off x="2716213" y="5075238"/>
            <a:ext cx="1000125" cy="1587"/>
          </a:xfrm>
          <a:prstGeom prst="line">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40 Decisión"/>
          <p:cNvSpPr/>
          <p:nvPr/>
        </p:nvSpPr>
        <p:spPr>
          <a:xfrm>
            <a:off x="3716331" y="4718045"/>
            <a:ext cx="1857388" cy="714380"/>
          </a:xfrm>
          <a:prstGeom prst="flowChartDecision">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a:solidFill>
                  <a:srgbClr val="FFFFFF"/>
                </a:solidFill>
              </a:rPr>
              <a:t>R2</a:t>
            </a:r>
          </a:p>
        </p:txBody>
      </p:sp>
      <p:sp>
        <p:nvSpPr>
          <p:cNvPr id="8" name="40 Decisión"/>
          <p:cNvSpPr/>
          <p:nvPr/>
        </p:nvSpPr>
        <p:spPr>
          <a:xfrm>
            <a:off x="947731" y="4724395"/>
            <a:ext cx="1857388" cy="714380"/>
          </a:xfrm>
          <a:prstGeom prst="flowChartDecision">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ES" sz="1600" b="1">
                <a:solidFill>
                  <a:srgbClr val="FFFFFF"/>
                </a:solidFill>
              </a:rPr>
              <a:t>R1</a:t>
            </a:r>
          </a:p>
        </p:txBody>
      </p:sp>
      <p:sp>
        <p:nvSpPr>
          <p:cNvPr id="152604" name="Rectangle 3"/>
          <p:cNvSpPr>
            <a:spLocks noChangeArrowheads="1"/>
          </p:cNvSpPr>
          <p:nvPr/>
        </p:nvSpPr>
        <p:spPr bwMode="auto">
          <a:xfrm>
            <a:off x="971550" y="4010025"/>
            <a:ext cx="5486400" cy="427038"/>
          </a:xfrm>
          <a:prstGeom prst="rect">
            <a:avLst/>
          </a:prstGeom>
          <a:noFill/>
          <a:ln w="9525">
            <a:noFill/>
            <a:miter lim="800000"/>
            <a:headEnd/>
            <a:tailEnd/>
          </a:ln>
        </p:spPr>
        <p:txBody>
          <a:bodyPr wrap="none">
            <a:spAutoFit/>
          </a:bodyPr>
          <a:lstStyle/>
          <a:p>
            <a:pPr marL="342900" indent="-342900">
              <a:buFontTx/>
              <a:buChar char="•"/>
            </a:pPr>
            <a:r>
              <a:rPr lang="es-ES" sz="2200"/>
              <a:t>Relaciones entre entidades y relaciones</a:t>
            </a:r>
          </a:p>
        </p:txBody>
      </p:sp>
      <p:sp>
        <p:nvSpPr>
          <p:cNvPr id="167965" name="Rectangle 3"/>
          <p:cNvSpPr>
            <a:spLocks noChangeArrowheads="1"/>
          </p:cNvSpPr>
          <p:nvPr/>
        </p:nvSpPr>
        <p:spPr bwMode="auto">
          <a:xfrm>
            <a:off x="3673475" y="5810250"/>
            <a:ext cx="2062163" cy="427038"/>
          </a:xfrm>
          <a:prstGeom prst="rect">
            <a:avLst/>
          </a:prstGeom>
          <a:noFill/>
          <a:ln w="9525">
            <a:noFill/>
            <a:miter lim="800000"/>
            <a:headEnd/>
            <a:tailEnd/>
          </a:ln>
        </p:spPr>
        <p:txBody>
          <a:bodyPr wrap="none">
            <a:spAutoFit/>
          </a:bodyPr>
          <a:lstStyle/>
          <a:p>
            <a:pPr marL="342900" indent="-342900"/>
            <a:r>
              <a:rPr lang="es-ES" sz="2200" b="1">
                <a:solidFill>
                  <a:schemeClr val="accent2"/>
                </a:solidFill>
              </a:rPr>
              <a:t>INCORRECTO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7953"/>
                                        </p:tgtEl>
                                        <p:attrNameLst>
                                          <p:attrName>style.visibility</p:attrName>
                                        </p:attrNameLst>
                                      </p:cBhvr>
                                      <p:to>
                                        <p:strVal val="visible"/>
                                      </p:to>
                                    </p:set>
                                    <p:animEffect transition="in" filter="fade">
                                      <p:cBhvr>
                                        <p:cTn id="7" dur="1000"/>
                                        <p:tgtEl>
                                          <p:spTgt spid="16795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7965"/>
                                        </p:tgtEl>
                                        <p:attrNameLst>
                                          <p:attrName>style.visibility</p:attrName>
                                        </p:attrNameLst>
                                      </p:cBhvr>
                                      <p:to>
                                        <p:strVal val="visible"/>
                                      </p:to>
                                    </p:set>
                                    <p:animEffect transition="in" filter="fade">
                                      <p:cBhvr>
                                        <p:cTn id="12" dur="1000"/>
                                        <p:tgtEl>
                                          <p:spTgt spid="167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53" grpId="0"/>
      <p:bldP spid="167965"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53603" name="Rectangle 3"/>
          <p:cNvSpPr>
            <a:spLocks noChangeArrowheads="1"/>
          </p:cNvSpPr>
          <p:nvPr/>
        </p:nvSpPr>
        <p:spPr bwMode="auto">
          <a:xfrm>
            <a:off x="323850" y="836613"/>
            <a:ext cx="4356100" cy="427037"/>
          </a:xfrm>
          <a:prstGeom prst="rect">
            <a:avLst/>
          </a:prstGeom>
          <a:noFill/>
          <a:ln w="9525">
            <a:noFill/>
            <a:miter lim="800000"/>
            <a:headEnd/>
            <a:tailEnd/>
          </a:ln>
        </p:spPr>
        <p:txBody>
          <a:bodyPr wrap="none">
            <a:spAutoFit/>
          </a:bodyPr>
          <a:lstStyle/>
          <a:p>
            <a:pPr marL="342900" indent="-342900"/>
            <a:r>
              <a:rPr lang="es-ES" sz="2200" b="1"/>
              <a:t>Agregación de tipos de entidad</a:t>
            </a:r>
          </a:p>
        </p:txBody>
      </p:sp>
      <p:sp>
        <p:nvSpPr>
          <p:cNvPr id="153604" name="Rectangle 39"/>
          <p:cNvSpPr>
            <a:spLocks noChangeArrowheads="1"/>
          </p:cNvSpPr>
          <p:nvPr/>
        </p:nvSpPr>
        <p:spPr bwMode="auto">
          <a:xfrm>
            <a:off x="900113" y="2276475"/>
            <a:ext cx="7704137" cy="2530475"/>
          </a:xfrm>
          <a:prstGeom prst="rect">
            <a:avLst/>
          </a:prstGeom>
          <a:noFill/>
          <a:ln w="9525">
            <a:noFill/>
            <a:miter lim="800000"/>
            <a:headEnd/>
            <a:tailEnd/>
          </a:ln>
        </p:spPr>
        <p:txBody>
          <a:bodyPr>
            <a:spAutoFit/>
          </a:bodyPr>
          <a:lstStyle/>
          <a:p>
            <a:r>
              <a:rPr lang="es-ES" sz="2000"/>
              <a:t>Surge la </a:t>
            </a:r>
            <a:r>
              <a:rPr lang="es-ES" sz="2000" b="1"/>
              <a:t>agregación.</a:t>
            </a:r>
          </a:p>
          <a:p>
            <a:endParaRPr lang="es-ES" sz="2000" b="1"/>
          </a:p>
          <a:p>
            <a:pPr lvl="1">
              <a:buFontTx/>
              <a:buChar char="•"/>
            </a:pPr>
            <a:r>
              <a:rPr lang="es-ES" sz="2000"/>
              <a:t>Permite </a:t>
            </a:r>
            <a:r>
              <a:rPr lang="es-ES" sz="2000" b="1"/>
              <a:t>combinar varios tipos de entidad</a:t>
            </a:r>
            <a:r>
              <a:rPr lang="es-ES" sz="2000"/>
              <a:t>, relacionados mediante un tipo de relación, </a:t>
            </a:r>
            <a:r>
              <a:rPr lang="es-ES" sz="2000" b="1"/>
              <a:t>para formar </a:t>
            </a:r>
            <a:r>
              <a:rPr lang="es-ES" sz="2000"/>
              <a:t>un tipo de </a:t>
            </a:r>
            <a:r>
              <a:rPr lang="es-ES" sz="2000" b="1"/>
              <a:t>entidad agregada </a:t>
            </a:r>
            <a:r>
              <a:rPr lang="es-ES" sz="2000"/>
              <a:t>de nivel superior.</a:t>
            </a:r>
          </a:p>
          <a:p>
            <a:pPr lvl="1">
              <a:buFontTx/>
              <a:buChar char="•"/>
            </a:pPr>
            <a:endParaRPr lang="es-ES" sz="2000"/>
          </a:p>
          <a:p>
            <a:pPr lvl="1">
              <a:buFontTx/>
              <a:buChar char="•"/>
            </a:pPr>
            <a:r>
              <a:rPr lang="es-ES" sz="2000" b="1"/>
              <a:t>Útil</a:t>
            </a:r>
            <a:r>
              <a:rPr lang="es-ES" sz="2000"/>
              <a:t> cuando el tipo de entidad agregado</a:t>
            </a:r>
            <a:r>
              <a:rPr lang="es-ES" sz="2000" b="1"/>
              <a:t> debe relacionarse con otros </a:t>
            </a:r>
            <a:r>
              <a:rPr lang="es-ES" sz="2000"/>
              <a:t>tipos de entidad.</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54627" name="Rectangle 3"/>
          <p:cNvSpPr>
            <a:spLocks noChangeArrowheads="1"/>
          </p:cNvSpPr>
          <p:nvPr/>
        </p:nvSpPr>
        <p:spPr bwMode="auto">
          <a:xfrm>
            <a:off x="323850" y="836613"/>
            <a:ext cx="5988050" cy="427037"/>
          </a:xfrm>
          <a:prstGeom prst="rect">
            <a:avLst/>
          </a:prstGeom>
          <a:noFill/>
          <a:ln w="9525">
            <a:noFill/>
            <a:miter lim="800000"/>
            <a:headEnd/>
            <a:tailEnd/>
          </a:ln>
        </p:spPr>
        <p:txBody>
          <a:bodyPr wrap="none">
            <a:spAutoFit/>
          </a:bodyPr>
          <a:lstStyle/>
          <a:p>
            <a:pPr marL="342900" indent="-342900"/>
            <a:r>
              <a:rPr lang="es-ES" sz="2200" b="1"/>
              <a:t>Agregación de tipos de entidad – Ejemplo 1</a:t>
            </a:r>
          </a:p>
        </p:txBody>
      </p:sp>
      <p:sp>
        <p:nvSpPr>
          <p:cNvPr id="154628" name="Rectangle 7"/>
          <p:cNvSpPr>
            <a:spLocks noChangeArrowheads="1"/>
          </p:cNvSpPr>
          <p:nvPr/>
        </p:nvSpPr>
        <p:spPr bwMode="auto">
          <a:xfrm>
            <a:off x="755650" y="1557338"/>
            <a:ext cx="7632700" cy="915987"/>
          </a:xfrm>
          <a:prstGeom prst="rect">
            <a:avLst/>
          </a:prstGeom>
          <a:noFill/>
          <a:ln w="9525">
            <a:noFill/>
            <a:miter lim="800000"/>
            <a:headEnd/>
            <a:tailEnd/>
          </a:ln>
        </p:spPr>
        <p:txBody>
          <a:bodyPr>
            <a:spAutoFit/>
          </a:bodyPr>
          <a:lstStyle/>
          <a:p>
            <a:r>
              <a:rPr lang="es-ES"/>
              <a:t>Esquema que almacena información sobre las entrevistas que una empresa de reclutamiento organiza entre solicitantes de empleo y diferentes empresas.</a:t>
            </a:r>
          </a:p>
        </p:txBody>
      </p:sp>
      <p:sp>
        <p:nvSpPr>
          <p:cNvPr id="154629" name="Rectangle 9"/>
          <p:cNvSpPr>
            <a:spLocks noChangeArrowheads="1"/>
          </p:cNvSpPr>
          <p:nvPr/>
        </p:nvSpPr>
        <p:spPr bwMode="auto">
          <a:xfrm>
            <a:off x="996950" y="5451475"/>
            <a:ext cx="7391400" cy="641350"/>
          </a:xfrm>
          <a:prstGeom prst="rect">
            <a:avLst/>
          </a:prstGeom>
          <a:noFill/>
          <a:ln w="9525">
            <a:noFill/>
            <a:miter lim="800000"/>
            <a:headEnd/>
            <a:tailEnd/>
          </a:ln>
        </p:spPr>
        <p:txBody>
          <a:bodyPr>
            <a:spAutoFit/>
          </a:bodyPr>
          <a:lstStyle/>
          <a:p>
            <a:r>
              <a:rPr lang="es-ES" b="1">
                <a:solidFill>
                  <a:schemeClr val="accent2"/>
                </a:solidFill>
              </a:rPr>
              <a:t>MODELAR LO SIGUIENTE</a:t>
            </a:r>
          </a:p>
          <a:p>
            <a:pPr lvl="1">
              <a:buFontTx/>
              <a:buChar char="•"/>
            </a:pPr>
            <a:r>
              <a:rPr lang="es-ES"/>
              <a:t>Algunas entrevistas dan lugar a ofertas de empleos y otras no.</a:t>
            </a:r>
          </a:p>
        </p:txBody>
      </p:sp>
      <p:pic>
        <p:nvPicPr>
          <p:cNvPr id="154630" name="Picture 10"/>
          <p:cNvPicPr>
            <a:picLocks noChangeAspect="1" noChangeArrowheads="1"/>
          </p:cNvPicPr>
          <p:nvPr/>
        </p:nvPicPr>
        <p:blipFill>
          <a:blip r:embed="rId2" cstate="print"/>
          <a:srcRect/>
          <a:stretch>
            <a:fillRect/>
          </a:stretch>
        </p:blipFill>
        <p:spPr bwMode="auto">
          <a:xfrm>
            <a:off x="217488" y="2576513"/>
            <a:ext cx="8675687" cy="2365375"/>
          </a:xfrm>
          <a:prstGeom prst="rect">
            <a:avLst/>
          </a:prstGeom>
          <a:noFill/>
          <a:ln w="9525">
            <a:noFill/>
            <a:miter lim="800000"/>
            <a:headEnd/>
            <a:tailEnd/>
          </a:ln>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ChangeArrowheads="1"/>
          </p:cNvSpPr>
          <p:nvPr/>
        </p:nvSpPr>
        <p:spPr bwMode="auto">
          <a:xfrm>
            <a:off x="1836738" y="2447925"/>
            <a:ext cx="5759450" cy="1917700"/>
          </a:xfrm>
          <a:prstGeom prst="rect">
            <a:avLst/>
          </a:prstGeom>
          <a:noFill/>
          <a:ln w="9525">
            <a:noFill/>
            <a:miter lim="800000"/>
            <a:headEnd/>
            <a:tailEnd/>
          </a:ln>
        </p:spPr>
        <p:txBody>
          <a:bodyPr>
            <a:spAutoFit/>
          </a:bodyPr>
          <a:lstStyle/>
          <a:p>
            <a:pPr algn="ctr"/>
            <a:r>
              <a:rPr lang="es-ES" sz="2400" b="1">
                <a:solidFill>
                  <a:schemeClr val="accent2"/>
                </a:solidFill>
              </a:rPr>
              <a:t>IMPORTANTE</a:t>
            </a:r>
          </a:p>
          <a:p>
            <a:pPr algn="ctr"/>
            <a:endParaRPr lang="es-ES" sz="2400" b="1">
              <a:solidFill>
                <a:schemeClr val="accent2"/>
              </a:solidFill>
            </a:endParaRPr>
          </a:p>
          <a:p>
            <a:pPr algn="ctr"/>
            <a:r>
              <a:rPr lang="es-ES" sz="2400"/>
              <a:t>Para que existan instancias de una relación, es necesario que exista una entidad donde se almacenen.</a:t>
            </a:r>
          </a:p>
        </p:txBody>
      </p:sp>
      <p:sp>
        <p:nvSpPr>
          <p:cNvPr id="155651"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55652" name="Rectangle 3"/>
          <p:cNvSpPr>
            <a:spLocks noChangeArrowheads="1"/>
          </p:cNvSpPr>
          <p:nvPr/>
        </p:nvSpPr>
        <p:spPr bwMode="auto">
          <a:xfrm>
            <a:off x="323850" y="836613"/>
            <a:ext cx="5988050" cy="427037"/>
          </a:xfrm>
          <a:prstGeom prst="rect">
            <a:avLst/>
          </a:prstGeom>
          <a:noFill/>
          <a:ln w="9525">
            <a:noFill/>
            <a:miter lim="800000"/>
            <a:headEnd/>
            <a:tailEnd/>
          </a:ln>
        </p:spPr>
        <p:txBody>
          <a:bodyPr wrap="none">
            <a:spAutoFit/>
          </a:bodyPr>
          <a:lstStyle/>
          <a:p>
            <a:pPr marL="342900" indent="-342900"/>
            <a:r>
              <a:rPr lang="es-ES" sz="2200" b="1"/>
              <a:t>Agregación de tipos de entidad – Ejemplo 1</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pic>
        <p:nvPicPr>
          <p:cNvPr id="156675" name="Picture 4"/>
          <p:cNvPicPr>
            <a:picLocks noChangeAspect="1" noChangeArrowheads="1"/>
          </p:cNvPicPr>
          <p:nvPr/>
        </p:nvPicPr>
        <p:blipFill>
          <a:blip r:embed="rId2" cstate="print"/>
          <a:srcRect/>
          <a:stretch>
            <a:fillRect/>
          </a:stretch>
        </p:blipFill>
        <p:spPr bwMode="auto">
          <a:xfrm>
            <a:off x="323850" y="2233613"/>
            <a:ext cx="8675688" cy="2058987"/>
          </a:xfrm>
          <a:prstGeom prst="rect">
            <a:avLst/>
          </a:prstGeom>
          <a:noFill/>
          <a:ln w="9525">
            <a:noFill/>
            <a:miter lim="800000"/>
            <a:headEnd/>
            <a:tailEnd/>
          </a:ln>
        </p:spPr>
      </p:pic>
      <p:sp>
        <p:nvSpPr>
          <p:cNvPr id="174085" name="Rectangle 5"/>
          <p:cNvSpPr>
            <a:spLocks noChangeArrowheads="1"/>
          </p:cNvSpPr>
          <p:nvPr/>
        </p:nvSpPr>
        <p:spPr bwMode="auto">
          <a:xfrm>
            <a:off x="2301875" y="4862513"/>
            <a:ext cx="4286250" cy="366712"/>
          </a:xfrm>
          <a:prstGeom prst="rect">
            <a:avLst/>
          </a:prstGeom>
          <a:noFill/>
          <a:ln w="9525">
            <a:noFill/>
            <a:miter lim="800000"/>
            <a:headEnd/>
            <a:tailEnd/>
          </a:ln>
        </p:spPr>
        <p:txBody>
          <a:bodyPr wrap="none">
            <a:spAutoFit/>
          </a:bodyPr>
          <a:lstStyle/>
          <a:p>
            <a:r>
              <a:rPr lang="es-ES" b="1" u="sng"/>
              <a:t>Toda entrevista da lugar a un empleo </a:t>
            </a:r>
          </a:p>
        </p:txBody>
      </p:sp>
      <p:sp>
        <p:nvSpPr>
          <p:cNvPr id="174086" name="Rectangle 6"/>
          <p:cNvSpPr>
            <a:spLocks noChangeArrowheads="1"/>
          </p:cNvSpPr>
          <p:nvPr/>
        </p:nvSpPr>
        <p:spPr bwMode="auto">
          <a:xfrm>
            <a:off x="1692275" y="5654675"/>
            <a:ext cx="5594350" cy="366713"/>
          </a:xfrm>
          <a:prstGeom prst="rect">
            <a:avLst/>
          </a:prstGeom>
          <a:noFill/>
          <a:ln w="9525">
            <a:noFill/>
            <a:miter lim="800000"/>
            <a:headEnd/>
            <a:tailEnd/>
          </a:ln>
        </p:spPr>
        <p:txBody>
          <a:bodyPr wrap="none">
            <a:spAutoFit/>
          </a:bodyPr>
          <a:lstStyle/>
          <a:p>
            <a:r>
              <a:rPr lang="es-ES" b="1">
                <a:solidFill>
                  <a:schemeClr val="accent2"/>
                </a:solidFill>
              </a:rPr>
              <a:t>NO CUMPLE CON LO QUE SE QUIERE MODELAR</a:t>
            </a:r>
          </a:p>
        </p:txBody>
      </p:sp>
      <p:sp>
        <p:nvSpPr>
          <p:cNvPr id="156678" name="Rectangle 3"/>
          <p:cNvSpPr>
            <a:spLocks noChangeArrowheads="1"/>
          </p:cNvSpPr>
          <p:nvPr/>
        </p:nvSpPr>
        <p:spPr bwMode="auto">
          <a:xfrm>
            <a:off x="323850" y="836613"/>
            <a:ext cx="5988050" cy="427037"/>
          </a:xfrm>
          <a:prstGeom prst="rect">
            <a:avLst/>
          </a:prstGeom>
          <a:noFill/>
          <a:ln w="9525">
            <a:noFill/>
            <a:miter lim="800000"/>
            <a:headEnd/>
            <a:tailEnd/>
          </a:ln>
        </p:spPr>
        <p:txBody>
          <a:bodyPr wrap="none">
            <a:spAutoFit/>
          </a:bodyPr>
          <a:lstStyle/>
          <a:p>
            <a:pPr marL="342900" indent="-342900"/>
            <a:r>
              <a:rPr lang="es-ES" sz="2200" b="1"/>
              <a:t>Agregación de tipos de entidad – Ejemplo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4085"/>
                                        </p:tgtEl>
                                        <p:attrNameLst>
                                          <p:attrName>style.visibility</p:attrName>
                                        </p:attrNameLst>
                                      </p:cBhvr>
                                      <p:to>
                                        <p:strVal val="visible"/>
                                      </p:to>
                                    </p:set>
                                    <p:animEffect transition="in" filter="fade">
                                      <p:cBhvr>
                                        <p:cTn id="7" dur="1000"/>
                                        <p:tgtEl>
                                          <p:spTgt spid="17408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4086"/>
                                        </p:tgtEl>
                                        <p:attrNameLst>
                                          <p:attrName>style.visibility</p:attrName>
                                        </p:attrNameLst>
                                      </p:cBhvr>
                                      <p:to>
                                        <p:strVal val="visible"/>
                                      </p:to>
                                    </p:set>
                                    <p:animEffect transition="in" filter="fade">
                                      <p:cBhvr>
                                        <p:cTn id="12" dur="1000"/>
                                        <p:tgtEl>
                                          <p:spTgt spid="174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5" grpId="0"/>
      <p:bldP spid="174086"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pic>
        <p:nvPicPr>
          <p:cNvPr id="157699" name="Picture 4"/>
          <p:cNvPicPr>
            <a:picLocks noChangeAspect="1" noChangeArrowheads="1"/>
          </p:cNvPicPr>
          <p:nvPr/>
        </p:nvPicPr>
        <p:blipFill>
          <a:blip r:embed="rId2" cstate="print"/>
          <a:srcRect/>
          <a:stretch>
            <a:fillRect/>
          </a:stretch>
        </p:blipFill>
        <p:spPr bwMode="auto">
          <a:xfrm>
            <a:off x="539750" y="1268413"/>
            <a:ext cx="8316913" cy="3138487"/>
          </a:xfrm>
          <a:prstGeom prst="rect">
            <a:avLst/>
          </a:prstGeom>
          <a:noFill/>
          <a:ln w="9525">
            <a:noFill/>
            <a:miter lim="800000"/>
            <a:headEnd/>
            <a:tailEnd/>
          </a:ln>
        </p:spPr>
      </p:pic>
      <p:sp>
        <p:nvSpPr>
          <p:cNvPr id="173061" name="Rectangle 5"/>
          <p:cNvSpPr>
            <a:spLocks noChangeArrowheads="1"/>
          </p:cNvSpPr>
          <p:nvPr/>
        </p:nvSpPr>
        <p:spPr bwMode="auto">
          <a:xfrm>
            <a:off x="1979613" y="4862513"/>
            <a:ext cx="5149850" cy="915987"/>
          </a:xfrm>
          <a:prstGeom prst="rect">
            <a:avLst/>
          </a:prstGeom>
          <a:noFill/>
          <a:ln w="9525">
            <a:noFill/>
            <a:miter lim="800000"/>
            <a:headEnd/>
            <a:tailEnd/>
          </a:ln>
        </p:spPr>
        <p:txBody>
          <a:bodyPr>
            <a:spAutoFit/>
          </a:bodyPr>
          <a:lstStyle/>
          <a:p>
            <a:pPr algn="ctr"/>
            <a:r>
              <a:rPr lang="es-ES" b="1" u="sng"/>
              <a:t>NO es posible establecer una relación entre varias relaciones ni entre relaciones y entidades</a:t>
            </a:r>
          </a:p>
        </p:txBody>
      </p:sp>
      <p:sp>
        <p:nvSpPr>
          <p:cNvPr id="173062" name="Rectangle 6"/>
          <p:cNvSpPr>
            <a:spLocks noChangeArrowheads="1"/>
          </p:cNvSpPr>
          <p:nvPr/>
        </p:nvSpPr>
        <p:spPr bwMode="auto">
          <a:xfrm>
            <a:off x="4067175" y="6015038"/>
            <a:ext cx="1009650" cy="366712"/>
          </a:xfrm>
          <a:prstGeom prst="rect">
            <a:avLst/>
          </a:prstGeom>
          <a:noFill/>
          <a:ln w="9525">
            <a:noFill/>
            <a:miter lim="800000"/>
            <a:headEnd/>
            <a:tailEnd/>
          </a:ln>
        </p:spPr>
        <p:txBody>
          <a:bodyPr wrap="none">
            <a:spAutoFit/>
          </a:bodyPr>
          <a:lstStyle/>
          <a:p>
            <a:r>
              <a:rPr lang="es-ES" b="1">
                <a:solidFill>
                  <a:schemeClr val="accent2"/>
                </a:solidFill>
              </a:rPr>
              <a:t>ERROR</a:t>
            </a:r>
          </a:p>
        </p:txBody>
      </p:sp>
      <p:sp>
        <p:nvSpPr>
          <p:cNvPr id="157702" name="Rectangle 3"/>
          <p:cNvSpPr>
            <a:spLocks noChangeArrowheads="1"/>
          </p:cNvSpPr>
          <p:nvPr/>
        </p:nvSpPr>
        <p:spPr bwMode="auto">
          <a:xfrm>
            <a:off x="323850" y="836613"/>
            <a:ext cx="5988050" cy="427037"/>
          </a:xfrm>
          <a:prstGeom prst="rect">
            <a:avLst/>
          </a:prstGeom>
          <a:noFill/>
          <a:ln w="9525">
            <a:noFill/>
            <a:miter lim="800000"/>
            <a:headEnd/>
            <a:tailEnd/>
          </a:ln>
        </p:spPr>
        <p:txBody>
          <a:bodyPr wrap="none">
            <a:spAutoFit/>
          </a:bodyPr>
          <a:lstStyle/>
          <a:p>
            <a:pPr marL="342900" indent="-342900"/>
            <a:r>
              <a:rPr lang="es-ES" sz="2200" b="1"/>
              <a:t>Agregación de tipos de entidad – Ejemplo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3061"/>
                                        </p:tgtEl>
                                        <p:attrNameLst>
                                          <p:attrName>style.visibility</p:attrName>
                                        </p:attrNameLst>
                                      </p:cBhvr>
                                      <p:to>
                                        <p:strVal val="visible"/>
                                      </p:to>
                                    </p:set>
                                    <p:animEffect transition="in" filter="fade">
                                      <p:cBhvr>
                                        <p:cTn id="7" dur="1000"/>
                                        <p:tgtEl>
                                          <p:spTgt spid="17306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3062"/>
                                        </p:tgtEl>
                                        <p:attrNameLst>
                                          <p:attrName>style.visibility</p:attrName>
                                        </p:attrNameLst>
                                      </p:cBhvr>
                                      <p:to>
                                        <p:strVal val="visible"/>
                                      </p:to>
                                    </p:set>
                                    <p:animEffect transition="in" filter="fade">
                                      <p:cBhvr>
                                        <p:cTn id="12" dur="1000"/>
                                        <p:tgtEl>
                                          <p:spTgt spid="1730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1" grpId="0"/>
      <p:bldP spid="173062"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2" name="Picture 2"/>
          <p:cNvPicPr>
            <a:picLocks noChangeAspect="1" noChangeArrowheads="1"/>
          </p:cNvPicPr>
          <p:nvPr/>
        </p:nvPicPr>
        <p:blipFill>
          <a:blip r:embed="rId2" cstate="print"/>
          <a:srcRect/>
          <a:stretch>
            <a:fillRect/>
          </a:stretch>
        </p:blipFill>
        <p:spPr bwMode="auto">
          <a:xfrm>
            <a:off x="1042988" y="1700213"/>
            <a:ext cx="7345362" cy="3673475"/>
          </a:xfrm>
          <a:prstGeom prst="rect">
            <a:avLst/>
          </a:prstGeom>
          <a:noFill/>
          <a:ln w="9525">
            <a:noFill/>
            <a:miter lim="800000"/>
            <a:headEnd/>
            <a:tailEnd/>
          </a:ln>
        </p:spPr>
      </p:pic>
      <p:sp>
        <p:nvSpPr>
          <p:cNvPr id="158723"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58724" name="Rectangle 3"/>
          <p:cNvSpPr>
            <a:spLocks noChangeArrowheads="1"/>
          </p:cNvSpPr>
          <p:nvPr/>
        </p:nvSpPr>
        <p:spPr bwMode="auto">
          <a:xfrm>
            <a:off x="323850" y="836613"/>
            <a:ext cx="5988050" cy="427037"/>
          </a:xfrm>
          <a:prstGeom prst="rect">
            <a:avLst/>
          </a:prstGeom>
          <a:noFill/>
          <a:ln w="9525">
            <a:noFill/>
            <a:miter lim="800000"/>
            <a:headEnd/>
            <a:tailEnd/>
          </a:ln>
        </p:spPr>
        <p:txBody>
          <a:bodyPr wrap="none">
            <a:spAutoFit/>
          </a:bodyPr>
          <a:lstStyle/>
          <a:p>
            <a:pPr marL="342900" indent="-342900"/>
            <a:r>
              <a:rPr lang="es-ES" sz="2200" b="1"/>
              <a:t>Agregación de tipos de entidad – Ejemplo 1</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46" name="Picture 2"/>
          <p:cNvPicPr>
            <a:picLocks noChangeAspect="1" noChangeArrowheads="1"/>
          </p:cNvPicPr>
          <p:nvPr/>
        </p:nvPicPr>
        <p:blipFill>
          <a:blip r:embed="rId2" cstate="print"/>
          <a:srcRect/>
          <a:stretch>
            <a:fillRect/>
          </a:stretch>
        </p:blipFill>
        <p:spPr bwMode="auto">
          <a:xfrm>
            <a:off x="504825" y="1673225"/>
            <a:ext cx="8243888" cy="3700463"/>
          </a:xfrm>
          <a:prstGeom prst="rect">
            <a:avLst/>
          </a:prstGeom>
          <a:noFill/>
          <a:ln w="9525">
            <a:noFill/>
            <a:miter lim="800000"/>
            <a:headEnd/>
            <a:tailEnd/>
          </a:ln>
        </p:spPr>
      </p:pic>
      <p:sp>
        <p:nvSpPr>
          <p:cNvPr id="159747"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72038" name="Line 6"/>
          <p:cNvSpPr>
            <a:spLocks noChangeShapeType="1"/>
          </p:cNvSpPr>
          <p:nvPr/>
        </p:nvSpPr>
        <p:spPr bwMode="auto">
          <a:xfrm flipV="1">
            <a:off x="863600" y="3213100"/>
            <a:ext cx="936625" cy="1223963"/>
          </a:xfrm>
          <a:prstGeom prst="line">
            <a:avLst/>
          </a:prstGeom>
          <a:noFill/>
          <a:ln w="76200">
            <a:solidFill>
              <a:srgbClr val="FF9900"/>
            </a:solidFill>
            <a:round/>
            <a:headEnd/>
            <a:tailEnd type="triangle" w="med" len="med"/>
          </a:ln>
        </p:spPr>
        <p:txBody>
          <a:bodyPr/>
          <a:lstStyle/>
          <a:p>
            <a:endParaRPr lang="es-ES"/>
          </a:p>
        </p:txBody>
      </p:sp>
      <p:sp>
        <p:nvSpPr>
          <p:cNvPr id="172039" name="Text Box 7"/>
          <p:cNvSpPr txBox="1">
            <a:spLocks noChangeArrowheads="1"/>
          </p:cNvSpPr>
          <p:nvPr/>
        </p:nvSpPr>
        <p:spPr bwMode="auto">
          <a:xfrm>
            <a:off x="52388" y="4386263"/>
            <a:ext cx="1747837" cy="915987"/>
          </a:xfrm>
          <a:prstGeom prst="rect">
            <a:avLst/>
          </a:prstGeom>
          <a:noFill/>
          <a:ln w="9525">
            <a:noFill/>
            <a:miter lim="800000"/>
            <a:headEnd/>
            <a:tailEnd/>
          </a:ln>
        </p:spPr>
        <p:txBody>
          <a:bodyPr>
            <a:spAutoFit/>
          </a:bodyPr>
          <a:lstStyle/>
          <a:p>
            <a:pPr algn="ctr"/>
            <a:r>
              <a:rPr lang="es-ES" b="1"/>
              <a:t>Entidad Compuesta o Agregada</a:t>
            </a:r>
          </a:p>
        </p:txBody>
      </p:sp>
      <p:sp>
        <p:nvSpPr>
          <p:cNvPr id="159750" name="Rectangle 3"/>
          <p:cNvSpPr>
            <a:spLocks noChangeArrowheads="1"/>
          </p:cNvSpPr>
          <p:nvPr/>
        </p:nvSpPr>
        <p:spPr bwMode="auto">
          <a:xfrm>
            <a:off x="323850" y="836613"/>
            <a:ext cx="5988050" cy="427037"/>
          </a:xfrm>
          <a:prstGeom prst="rect">
            <a:avLst/>
          </a:prstGeom>
          <a:noFill/>
          <a:ln w="9525">
            <a:noFill/>
            <a:miter lim="800000"/>
            <a:headEnd/>
            <a:tailEnd/>
          </a:ln>
        </p:spPr>
        <p:txBody>
          <a:bodyPr wrap="none">
            <a:spAutoFit/>
          </a:bodyPr>
          <a:lstStyle/>
          <a:p>
            <a:pPr marL="342900" indent="-342900"/>
            <a:r>
              <a:rPr lang="es-ES" sz="2200" b="1"/>
              <a:t>Agregación de tipos de entidad – Ejemplo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2038"/>
                                        </p:tgtEl>
                                        <p:attrNameLst>
                                          <p:attrName>style.visibility</p:attrName>
                                        </p:attrNameLst>
                                      </p:cBhvr>
                                      <p:to>
                                        <p:strVal val="visible"/>
                                      </p:to>
                                    </p:set>
                                    <p:animEffect transition="in" filter="fade">
                                      <p:cBhvr>
                                        <p:cTn id="7" dur="1000"/>
                                        <p:tgtEl>
                                          <p:spTgt spid="1720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2039"/>
                                        </p:tgtEl>
                                        <p:attrNameLst>
                                          <p:attrName>style.visibility</p:attrName>
                                        </p:attrNameLst>
                                      </p:cBhvr>
                                      <p:to>
                                        <p:strVal val="visible"/>
                                      </p:to>
                                    </p:set>
                                    <p:animEffect transition="in" filter="fade">
                                      <p:cBhvr>
                                        <p:cTn id="10" dur="1000"/>
                                        <p:tgtEl>
                                          <p:spTgt spid="1720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8" grpId="0" animBg="1"/>
      <p:bldP spid="172039"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60771" name="Rectangle 3"/>
          <p:cNvSpPr>
            <a:spLocks noChangeArrowheads="1"/>
          </p:cNvSpPr>
          <p:nvPr/>
        </p:nvSpPr>
        <p:spPr bwMode="auto">
          <a:xfrm>
            <a:off x="323850" y="836613"/>
            <a:ext cx="5988050" cy="427037"/>
          </a:xfrm>
          <a:prstGeom prst="rect">
            <a:avLst/>
          </a:prstGeom>
          <a:noFill/>
          <a:ln w="9525">
            <a:noFill/>
            <a:miter lim="800000"/>
            <a:headEnd/>
            <a:tailEnd/>
          </a:ln>
        </p:spPr>
        <p:txBody>
          <a:bodyPr wrap="none">
            <a:spAutoFit/>
          </a:bodyPr>
          <a:lstStyle/>
          <a:p>
            <a:pPr marL="342900" indent="-342900"/>
            <a:r>
              <a:rPr lang="es-ES" sz="2200" b="1"/>
              <a:t>Agregación de tipos de entidad – Ejemplo 2</a:t>
            </a:r>
          </a:p>
        </p:txBody>
      </p:sp>
      <p:sp>
        <p:nvSpPr>
          <p:cNvPr id="160772" name="Rectangle 4"/>
          <p:cNvSpPr>
            <a:spLocks noChangeArrowheads="1"/>
          </p:cNvSpPr>
          <p:nvPr/>
        </p:nvSpPr>
        <p:spPr bwMode="auto">
          <a:xfrm>
            <a:off x="755650" y="1708150"/>
            <a:ext cx="7632700" cy="641350"/>
          </a:xfrm>
          <a:prstGeom prst="rect">
            <a:avLst/>
          </a:prstGeom>
          <a:noFill/>
          <a:ln w="9525">
            <a:noFill/>
            <a:miter lim="800000"/>
            <a:headEnd/>
            <a:tailEnd/>
          </a:ln>
        </p:spPr>
        <p:txBody>
          <a:bodyPr>
            <a:spAutoFit/>
          </a:bodyPr>
          <a:lstStyle/>
          <a:p>
            <a:r>
              <a:rPr lang="es-ES"/>
              <a:t>Esquema que almacena información acerca de profesores y las asignaturas que éstos imparten.</a:t>
            </a:r>
          </a:p>
        </p:txBody>
      </p:sp>
      <p:pic>
        <p:nvPicPr>
          <p:cNvPr id="160773" name="Picture 6"/>
          <p:cNvPicPr>
            <a:picLocks noChangeAspect="1" noChangeArrowheads="1"/>
          </p:cNvPicPr>
          <p:nvPr/>
        </p:nvPicPr>
        <p:blipFill>
          <a:blip r:embed="rId2" cstate="print"/>
          <a:srcRect/>
          <a:stretch>
            <a:fillRect/>
          </a:stretch>
        </p:blipFill>
        <p:spPr bwMode="auto">
          <a:xfrm>
            <a:off x="539750" y="2716213"/>
            <a:ext cx="7770813" cy="1222375"/>
          </a:xfrm>
          <a:prstGeom prst="rect">
            <a:avLst/>
          </a:prstGeom>
          <a:noFill/>
          <a:ln w="9525">
            <a:noFill/>
            <a:miter lim="800000"/>
            <a:headEnd/>
            <a:tailEnd/>
          </a:ln>
        </p:spPr>
      </p:pic>
      <p:sp>
        <p:nvSpPr>
          <p:cNvPr id="160774" name="Rectangle 7"/>
          <p:cNvSpPr>
            <a:spLocks noChangeArrowheads="1"/>
          </p:cNvSpPr>
          <p:nvPr/>
        </p:nvSpPr>
        <p:spPr bwMode="auto">
          <a:xfrm>
            <a:off x="827088" y="4803775"/>
            <a:ext cx="7386637" cy="641350"/>
          </a:xfrm>
          <a:prstGeom prst="rect">
            <a:avLst/>
          </a:prstGeom>
          <a:noFill/>
          <a:ln w="9525">
            <a:noFill/>
            <a:miter lim="800000"/>
            <a:headEnd/>
            <a:tailEnd/>
          </a:ln>
        </p:spPr>
        <p:txBody>
          <a:bodyPr>
            <a:spAutoFit/>
          </a:bodyPr>
          <a:lstStyle/>
          <a:p>
            <a:r>
              <a:rPr lang="es-ES"/>
              <a:t>Agregar al modelo los diversos medios que utilizan para impartir cada asignatura (pizarra, transparencias, etc.)</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61795" name="Rectangle 3"/>
          <p:cNvSpPr>
            <a:spLocks noChangeArrowheads="1"/>
          </p:cNvSpPr>
          <p:nvPr/>
        </p:nvSpPr>
        <p:spPr bwMode="auto">
          <a:xfrm>
            <a:off x="323850" y="836613"/>
            <a:ext cx="5988050" cy="427037"/>
          </a:xfrm>
          <a:prstGeom prst="rect">
            <a:avLst/>
          </a:prstGeom>
          <a:noFill/>
          <a:ln w="9525">
            <a:noFill/>
            <a:miter lim="800000"/>
            <a:headEnd/>
            <a:tailEnd/>
          </a:ln>
        </p:spPr>
        <p:txBody>
          <a:bodyPr wrap="none">
            <a:spAutoFit/>
          </a:bodyPr>
          <a:lstStyle/>
          <a:p>
            <a:pPr marL="342900" indent="-342900"/>
            <a:r>
              <a:rPr lang="es-ES" sz="2200" b="1"/>
              <a:t>Agregación de tipos de entidad – Ejemplo 2</a:t>
            </a:r>
          </a:p>
        </p:txBody>
      </p:sp>
      <p:pic>
        <p:nvPicPr>
          <p:cNvPr id="161796" name="Picture 4"/>
          <p:cNvPicPr>
            <a:picLocks noChangeAspect="1" noChangeArrowheads="1"/>
          </p:cNvPicPr>
          <p:nvPr/>
        </p:nvPicPr>
        <p:blipFill>
          <a:blip r:embed="rId2" cstate="print"/>
          <a:srcRect/>
          <a:stretch>
            <a:fillRect/>
          </a:stretch>
        </p:blipFill>
        <p:spPr bwMode="auto">
          <a:xfrm>
            <a:off x="1187450" y="1700213"/>
            <a:ext cx="6911975" cy="3092450"/>
          </a:xfrm>
          <a:prstGeom prst="rect">
            <a:avLst/>
          </a:prstGeom>
          <a:noFill/>
          <a:ln w="9525">
            <a:noFill/>
            <a:miter lim="800000"/>
            <a:headEnd/>
            <a:tailEnd/>
          </a:ln>
        </p:spPr>
      </p:pic>
      <p:sp>
        <p:nvSpPr>
          <p:cNvPr id="181253" name="Rectangle 5"/>
          <p:cNvSpPr>
            <a:spLocks noChangeArrowheads="1"/>
          </p:cNvSpPr>
          <p:nvPr/>
        </p:nvSpPr>
        <p:spPr bwMode="auto">
          <a:xfrm>
            <a:off x="1979613" y="4862513"/>
            <a:ext cx="5149850" cy="915987"/>
          </a:xfrm>
          <a:prstGeom prst="rect">
            <a:avLst/>
          </a:prstGeom>
          <a:noFill/>
          <a:ln w="9525">
            <a:noFill/>
            <a:miter lim="800000"/>
            <a:headEnd/>
            <a:tailEnd/>
          </a:ln>
        </p:spPr>
        <p:txBody>
          <a:bodyPr>
            <a:spAutoFit/>
          </a:bodyPr>
          <a:lstStyle/>
          <a:p>
            <a:pPr algn="ctr"/>
            <a:r>
              <a:rPr lang="es-ES" b="1" u="sng"/>
              <a:t>NO es posible establecer una relación entre varias relaciones ni entre relaciones y entidades</a:t>
            </a:r>
          </a:p>
        </p:txBody>
      </p:sp>
      <p:sp>
        <p:nvSpPr>
          <p:cNvPr id="181254" name="Rectangle 6"/>
          <p:cNvSpPr>
            <a:spLocks noChangeArrowheads="1"/>
          </p:cNvSpPr>
          <p:nvPr/>
        </p:nvSpPr>
        <p:spPr bwMode="auto">
          <a:xfrm>
            <a:off x="4067175" y="6015038"/>
            <a:ext cx="1009650" cy="366712"/>
          </a:xfrm>
          <a:prstGeom prst="rect">
            <a:avLst/>
          </a:prstGeom>
          <a:noFill/>
          <a:ln w="9525">
            <a:noFill/>
            <a:miter lim="800000"/>
            <a:headEnd/>
            <a:tailEnd/>
          </a:ln>
        </p:spPr>
        <p:txBody>
          <a:bodyPr wrap="none">
            <a:spAutoFit/>
          </a:bodyPr>
          <a:lstStyle/>
          <a:p>
            <a:r>
              <a:rPr lang="es-ES" b="1">
                <a:solidFill>
                  <a:schemeClr val="accent2"/>
                </a:solidFill>
              </a:rPr>
              <a:t>ERROR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1253"/>
                                        </p:tgtEl>
                                        <p:attrNameLst>
                                          <p:attrName>style.visibility</p:attrName>
                                        </p:attrNameLst>
                                      </p:cBhvr>
                                      <p:to>
                                        <p:strVal val="visible"/>
                                      </p:to>
                                    </p:set>
                                    <p:animEffect transition="in" filter="fade">
                                      <p:cBhvr>
                                        <p:cTn id="7" dur="1000"/>
                                        <p:tgtEl>
                                          <p:spTgt spid="18125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1254"/>
                                        </p:tgtEl>
                                        <p:attrNameLst>
                                          <p:attrName>style.visibility</p:attrName>
                                        </p:attrNameLst>
                                      </p:cBhvr>
                                      <p:to>
                                        <p:strVal val="visible"/>
                                      </p:to>
                                    </p:set>
                                    <p:animEffect transition="in" filter="fade">
                                      <p:cBhvr>
                                        <p:cTn id="12" dur="1000"/>
                                        <p:tgtEl>
                                          <p:spTgt spid="181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3" grpId="0"/>
      <p:bldP spid="181254"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62819" name="Rectangle 3"/>
          <p:cNvSpPr>
            <a:spLocks noChangeArrowheads="1"/>
          </p:cNvSpPr>
          <p:nvPr/>
        </p:nvSpPr>
        <p:spPr bwMode="auto">
          <a:xfrm>
            <a:off x="323850" y="836613"/>
            <a:ext cx="5988050" cy="427037"/>
          </a:xfrm>
          <a:prstGeom prst="rect">
            <a:avLst/>
          </a:prstGeom>
          <a:noFill/>
          <a:ln w="9525">
            <a:noFill/>
            <a:miter lim="800000"/>
            <a:headEnd/>
            <a:tailEnd/>
          </a:ln>
        </p:spPr>
        <p:txBody>
          <a:bodyPr wrap="none">
            <a:spAutoFit/>
          </a:bodyPr>
          <a:lstStyle/>
          <a:p>
            <a:pPr marL="342900" indent="-342900"/>
            <a:r>
              <a:rPr lang="es-ES" sz="2200" b="1"/>
              <a:t>Agregación de tipos de entidad – Ejemplo 2</a:t>
            </a:r>
          </a:p>
        </p:txBody>
      </p:sp>
      <p:pic>
        <p:nvPicPr>
          <p:cNvPr id="162820" name="Picture 7"/>
          <p:cNvPicPr>
            <a:picLocks noChangeAspect="1" noChangeArrowheads="1"/>
          </p:cNvPicPr>
          <p:nvPr/>
        </p:nvPicPr>
        <p:blipFill>
          <a:blip r:embed="rId2" cstate="print"/>
          <a:srcRect/>
          <a:stretch>
            <a:fillRect/>
          </a:stretch>
        </p:blipFill>
        <p:spPr bwMode="auto">
          <a:xfrm>
            <a:off x="1409700" y="1916113"/>
            <a:ext cx="6834188" cy="1911350"/>
          </a:xfrm>
          <a:prstGeom prst="rect">
            <a:avLst/>
          </a:prstGeom>
          <a:noFill/>
          <a:ln w="9525">
            <a:noFill/>
            <a:miter lim="800000"/>
            <a:headEnd/>
            <a:tailEnd/>
          </a:ln>
        </p:spPr>
      </p:pic>
      <p:sp>
        <p:nvSpPr>
          <p:cNvPr id="162821" name="Text Box 8"/>
          <p:cNvSpPr txBox="1">
            <a:spLocks noChangeArrowheads="1"/>
          </p:cNvSpPr>
          <p:nvPr/>
        </p:nvSpPr>
        <p:spPr bwMode="auto">
          <a:xfrm>
            <a:off x="1116013" y="4357688"/>
            <a:ext cx="5111750" cy="366712"/>
          </a:xfrm>
          <a:prstGeom prst="rect">
            <a:avLst/>
          </a:prstGeom>
          <a:noFill/>
          <a:ln w="9525">
            <a:noFill/>
            <a:miter lim="800000"/>
            <a:headEnd/>
            <a:tailEnd/>
          </a:ln>
        </p:spPr>
        <p:txBody>
          <a:bodyPr wrap="none">
            <a:spAutoFit/>
          </a:bodyPr>
          <a:lstStyle/>
          <a:p>
            <a:r>
              <a:rPr lang="es-ES"/>
              <a:t>Provoca almacenamiento de datos innecesarios.</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42" name="Picture 2"/>
          <p:cNvPicPr>
            <a:picLocks noChangeAspect="1" noChangeArrowheads="1"/>
          </p:cNvPicPr>
          <p:nvPr/>
        </p:nvPicPr>
        <p:blipFill>
          <a:blip r:embed="rId2" cstate="print"/>
          <a:srcRect/>
          <a:stretch>
            <a:fillRect/>
          </a:stretch>
        </p:blipFill>
        <p:spPr bwMode="auto">
          <a:xfrm>
            <a:off x="1403350" y="1646238"/>
            <a:ext cx="6913563" cy="3943350"/>
          </a:xfrm>
          <a:prstGeom prst="rect">
            <a:avLst/>
          </a:prstGeom>
          <a:noFill/>
          <a:ln w="9525">
            <a:noFill/>
            <a:miter lim="800000"/>
            <a:headEnd/>
            <a:tailEnd/>
          </a:ln>
        </p:spPr>
      </p:pic>
      <p:sp>
        <p:nvSpPr>
          <p:cNvPr id="163843"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63844" name="Rectangle 3"/>
          <p:cNvSpPr>
            <a:spLocks noChangeArrowheads="1"/>
          </p:cNvSpPr>
          <p:nvPr/>
        </p:nvSpPr>
        <p:spPr bwMode="auto">
          <a:xfrm>
            <a:off x="323850" y="836613"/>
            <a:ext cx="5988050" cy="427037"/>
          </a:xfrm>
          <a:prstGeom prst="rect">
            <a:avLst/>
          </a:prstGeom>
          <a:noFill/>
          <a:ln w="9525">
            <a:noFill/>
            <a:miter lim="800000"/>
            <a:headEnd/>
            <a:tailEnd/>
          </a:ln>
        </p:spPr>
        <p:txBody>
          <a:bodyPr wrap="none">
            <a:spAutoFit/>
          </a:bodyPr>
          <a:lstStyle/>
          <a:p>
            <a:pPr marL="342900" indent="-342900"/>
            <a:r>
              <a:rPr lang="es-ES" sz="2200" b="1"/>
              <a:t>Agregación de tipos de entidad – Ejemplo 2</a:t>
            </a:r>
          </a:p>
        </p:txBody>
      </p:sp>
      <p:sp>
        <p:nvSpPr>
          <p:cNvPr id="180229" name="Line 5"/>
          <p:cNvSpPr>
            <a:spLocks noChangeShapeType="1"/>
          </p:cNvSpPr>
          <p:nvPr/>
        </p:nvSpPr>
        <p:spPr bwMode="auto">
          <a:xfrm flipV="1">
            <a:off x="1331913" y="3284538"/>
            <a:ext cx="936625" cy="1223962"/>
          </a:xfrm>
          <a:prstGeom prst="line">
            <a:avLst/>
          </a:prstGeom>
          <a:noFill/>
          <a:ln w="76200">
            <a:solidFill>
              <a:srgbClr val="FF9900"/>
            </a:solidFill>
            <a:round/>
            <a:headEnd/>
            <a:tailEnd type="triangle" w="med" len="med"/>
          </a:ln>
        </p:spPr>
        <p:txBody>
          <a:bodyPr/>
          <a:lstStyle/>
          <a:p>
            <a:endParaRPr lang="es-ES"/>
          </a:p>
        </p:txBody>
      </p:sp>
      <p:sp>
        <p:nvSpPr>
          <p:cNvPr id="180230" name="Text Box 6"/>
          <p:cNvSpPr txBox="1">
            <a:spLocks noChangeArrowheads="1"/>
          </p:cNvSpPr>
          <p:nvPr/>
        </p:nvSpPr>
        <p:spPr bwMode="auto">
          <a:xfrm>
            <a:off x="520700" y="4457700"/>
            <a:ext cx="1747838" cy="915988"/>
          </a:xfrm>
          <a:prstGeom prst="rect">
            <a:avLst/>
          </a:prstGeom>
          <a:noFill/>
          <a:ln w="9525">
            <a:noFill/>
            <a:miter lim="800000"/>
            <a:headEnd/>
            <a:tailEnd/>
          </a:ln>
        </p:spPr>
        <p:txBody>
          <a:bodyPr>
            <a:spAutoFit/>
          </a:bodyPr>
          <a:lstStyle/>
          <a:p>
            <a:pPr algn="ctr"/>
            <a:r>
              <a:rPr lang="es-ES" b="1"/>
              <a:t>Entidad Compuesta o Agregada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0229"/>
                                        </p:tgtEl>
                                        <p:attrNameLst>
                                          <p:attrName>style.visibility</p:attrName>
                                        </p:attrNameLst>
                                      </p:cBhvr>
                                      <p:to>
                                        <p:strVal val="visible"/>
                                      </p:to>
                                    </p:set>
                                    <p:animEffect transition="in" filter="fade">
                                      <p:cBhvr>
                                        <p:cTn id="7" dur="1000"/>
                                        <p:tgtEl>
                                          <p:spTgt spid="1802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0230"/>
                                        </p:tgtEl>
                                        <p:attrNameLst>
                                          <p:attrName>style.visibility</p:attrName>
                                        </p:attrNameLst>
                                      </p:cBhvr>
                                      <p:to>
                                        <p:strVal val="visible"/>
                                      </p:to>
                                    </p:set>
                                    <p:animEffect transition="in" filter="fade">
                                      <p:cBhvr>
                                        <p:cTn id="10" dur="1000"/>
                                        <p:tgtEl>
                                          <p:spTgt spid="180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9" grpId="0" animBg="1"/>
      <p:bldP spid="180230"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ChangeArrowheads="1"/>
          </p:cNvSpPr>
          <p:nvPr/>
        </p:nvSpPr>
        <p:spPr bwMode="auto">
          <a:xfrm>
            <a:off x="468313" y="1773238"/>
            <a:ext cx="8243887" cy="3937000"/>
          </a:xfrm>
          <a:prstGeom prst="rect">
            <a:avLst/>
          </a:prstGeom>
          <a:noFill/>
          <a:ln w="9525">
            <a:noFill/>
            <a:miter lim="800000"/>
            <a:headEnd/>
            <a:tailEnd/>
          </a:ln>
        </p:spPr>
        <p:txBody>
          <a:bodyPr>
            <a:spAutoFit/>
          </a:bodyPr>
          <a:lstStyle/>
          <a:p>
            <a:r>
              <a:rPr lang="es-ES"/>
              <a:t>La </a:t>
            </a:r>
            <a:r>
              <a:rPr lang="es-ES" b="1"/>
              <a:t>diferencia </a:t>
            </a:r>
            <a:r>
              <a:rPr lang="es-ES"/>
              <a:t>entre agregación y relación ternaria es: </a:t>
            </a:r>
          </a:p>
          <a:p>
            <a:endParaRPr lang="es-ES"/>
          </a:p>
          <a:p>
            <a:pPr lvl="1">
              <a:buFontTx/>
              <a:buChar char="•"/>
            </a:pPr>
            <a:r>
              <a:rPr lang="es-ES"/>
              <a:t>Con la </a:t>
            </a:r>
            <a:r>
              <a:rPr lang="es-ES" b="1"/>
              <a:t>relación ternaria</a:t>
            </a:r>
            <a:r>
              <a:rPr lang="es-ES"/>
              <a:t> se vinculan, a la vez, tres instancias: una de cada entidad participante. Para indicar que un profesor para una misma asignatura emplea “tantos” medios, se necesitan “tantas” instancias de la relación de tipo </a:t>
            </a:r>
            <a:r>
              <a:rPr lang="es-ES" b="1"/>
              <a:t>(profesor, asignatura, medio)</a:t>
            </a:r>
            <a:r>
              <a:rPr lang="es-ES"/>
              <a:t>. </a:t>
            </a:r>
          </a:p>
          <a:p>
            <a:pPr lvl="1"/>
            <a:endParaRPr lang="es-ES"/>
          </a:p>
          <a:p>
            <a:pPr lvl="1">
              <a:buFontTx/>
              <a:buChar char="•"/>
            </a:pPr>
            <a:r>
              <a:rPr lang="es-ES"/>
              <a:t>Con la </a:t>
            </a:r>
            <a:r>
              <a:rPr lang="es-ES" b="1"/>
              <a:t>agregación</a:t>
            </a:r>
            <a:r>
              <a:rPr lang="es-ES"/>
              <a:t> se vincula por un lado a cada profesor con las asignaturas que imparte y, por otro lado, se liga cada par asignatura/profesor con el conjunto de medios empleados. Esto es lo que ocurre en la realidad: MEDIO se relaciona con el par profesor/asignatura, y no con profesor y asignatura por separado. Para indicar que un profesor para una misma asignatura emplea “tantos” medios, se necesitan “tantas” instancias de la relación de tipo </a:t>
            </a:r>
            <a:r>
              <a:rPr lang="es-ES" b="1"/>
              <a:t>((profesor, asignatura), medio)</a:t>
            </a:r>
            <a:r>
              <a:rPr lang="es-ES"/>
              <a:t>. </a:t>
            </a:r>
          </a:p>
        </p:txBody>
      </p:sp>
      <p:sp>
        <p:nvSpPr>
          <p:cNvPr id="164867" name="4 CuadroTexto"/>
          <p:cNvSpPr txBox="1">
            <a:spLocks noChangeArrowheads="1"/>
          </p:cNvSpPr>
          <p:nvPr/>
        </p:nvSpPr>
        <p:spPr bwMode="auto">
          <a:xfrm>
            <a:off x="214313" y="131763"/>
            <a:ext cx="6538912" cy="461962"/>
          </a:xfrm>
          <a:prstGeom prst="rect">
            <a:avLst/>
          </a:prstGeom>
          <a:noFill/>
          <a:ln w="9525">
            <a:noFill/>
            <a:miter lim="800000"/>
            <a:headEnd/>
            <a:tailEnd/>
          </a:ln>
        </p:spPr>
        <p:txBody>
          <a:bodyPr wrap="none">
            <a:spAutoFit/>
          </a:bodyPr>
          <a:lstStyle/>
          <a:p>
            <a:pPr marL="342900" indent="-342900"/>
            <a:r>
              <a:rPr lang="es-ES" sz="2400" b="1"/>
              <a:t>Modelo Entidad-Relación Extendido (E-R E)</a:t>
            </a:r>
            <a:endParaRPr lang="es-MX" sz="2400" b="1"/>
          </a:p>
        </p:txBody>
      </p:sp>
      <p:sp>
        <p:nvSpPr>
          <p:cNvPr id="164868" name="Rectangle 3"/>
          <p:cNvSpPr>
            <a:spLocks noChangeArrowheads="1"/>
          </p:cNvSpPr>
          <p:nvPr/>
        </p:nvSpPr>
        <p:spPr bwMode="auto">
          <a:xfrm>
            <a:off x="323850" y="836613"/>
            <a:ext cx="4356100" cy="427037"/>
          </a:xfrm>
          <a:prstGeom prst="rect">
            <a:avLst/>
          </a:prstGeom>
          <a:noFill/>
          <a:ln w="9525">
            <a:noFill/>
            <a:miter lim="800000"/>
            <a:headEnd/>
            <a:tailEnd/>
          </a:ln>
        </p:spPr>
        <p:txBody>
          <a:bodyPr wrap="none">
            <a:spAutoFit/>
          </a:bodyPr>
          <a:lstStyle/>
          <a:p>
            <a:pPr marL="342900" indent="-342900"/>
            <a:r>
              <a:rPr lang="es-ES" sz="2200" b="1"/>
              <a:t>Agregación de tipos de entidad</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4"/>
          <p:cNvSpPr>
            <a:spLocks noChangeArrowheads="1"/>
          </p:cNvSpPr>
          <p:nvPr/>
        </p:nvSpPr>
        <p:spPr bwMode="auto">
          <a:xfrm>
            <a:off x="220663" y="188913"/>
            <a:ext cx="6511925" cy="822325"/>
          </a:xfrm>
          <a:prstGeom prst="rect">
            <a:avLst/>
          </a:prstGeom>
          <a:noFill/>
          <a:ln w="9525" algn="ctr">
            <a:noFill/>
            <a:miter lim="800000"/>
            <a:headEnd/>
            <a:tailEnd/>
          </a:ln>
        </p:spPr>
        <p:txBody>
          <a:bodyPr wrap="none">
            <a:spAutoFit/>
          </a:bodyPr>
          <a:lstStyle/>
          <a:p>
            <a:pPr marL="342900" indent="-342900"/>
            <a:r>
              <a:rPr lang="es-ES_tradnl" sz="2400" b="1"/>
              <a:t>Modelado Conceptual de Objetos mediante </a:t>
            </a:r>
          </a:p>
          <a:p>
            <a:pPr marL="342900" indent="-342900"/>
            <a:r>
              <a:rPr lang="es-ES_tradnl" sz="2400" b="1"/>
              <a:t>Diagramas de clase </a:t>
            </a:r>
            <a:r>
              <a:rPr lang="es-ES_tradnl" sz="2400" b="1">
                <a:solidFill>
                  <a:schemeClr val="accent2"/>
                </a:solidFill>
              </a:rPr>
              <a:t>UML</a:t>
            </a:r>
            <a:endParaRPr lang="es-ES" sz="2400" b="1">
              <a:solidFill>
                <a:schemeClr val="accent2"/>
              </a:solidFill>
            </a:endParaRPr>
          </a:p>
        </p:txBody>
      </p:sp>
      <p:sp>
        <p:nvSpPr>
          <p:cNvPr id="165891" name="Rectangle 5"/>
          <p:cNvSpPr>
            <a:spLocks noChangeArrowheads="1"/>
          </p:cNvSpPr>
          <p:nvPr/>
        </p:nvSpPr>
        <p:spPr bwMode="auto">
          <a:xfrm>
            <a:off x="827088" y="1989138"/>
            <a:ext cx="7561262" cy="3568700"/>
          </a:xfrm>
          <a:prstGeom prst="rect">
            <a:avLst/>
          </a:prstGeom>
          <a:noFill/>
          <a:ln w="9525">
            <a:noFill/>
            <a:miter lim="800000"/>
            <a:headEnd/>
            <a:tailEnd/>
          </a:ln>
        </p:spPr>
        <p:txBody>
          <a:bodyPr>
            <a:spAutoFit/>
          </a:bodyPr>
          <a:lstStyle/>
          <a:p>
            <a:pPr>
              <a:lnSpc>
                <a:spcPct val="95000"/>
              </a:lnSpc>
              <a:buFontTx/>
              <a:buChar char="•"/>
            </a:pPr>
            <a:r>
              <a:rPr lang="es-ES" sz="2400"/>
              <a:t>El Lenguaje Unificado de Modelado (Unified Modeling Language, </a:t>
            </a:r>
            <a:r>
              <a:rPr lang="es-ES" sz="2400" b="1"/>
              <a:t>UML</a:t>
            </a:r>
            <a:r>
              <a:rPr lang="es-ES" sz="2400"/>
              <a:t>) es un lenguaje estándar para escribir </a:t>
            </a:r>
            <a:r>
              <a:rPr lang="es-ES" sz="2400" b="1"/>
              <a:t>planos de software</a:t>
            </a:r>
            <a:r>
              <a:rPr lang="es-ES" sz="2400"/>
              <a:t>. </a:t>
            </a:r>
          </a:p>
          <a:p>
            <a:pPr>
              <a:lnSpc>
                <a:spcPct val="95000"/>
              </a:lnSpc>
              <a:buFontTx/>
              <a:buChar char="•"/>
            </a:pPr>
            <a:endParaRPr lang="es-ES" sz="2400"/>
          </a:p>
          <a:p>
            <a:pPr>
              <a:lnSpc>
                <a:spcPct val="95000"/>
              </a:lnSpc>
              <a:buFontTx/>
              <a:buChar char="•"/>
            </a:pPr>
            <a:r>
              <a:rPr lang="es-ES" sz="2400"/>
              <a:t>UML puede utilizarse para visualizar, especificar, construir y documentar un sistema que involucra una gran cantidad de software.</a:t>
            </a:r>
          </a:p>
          <a:p>
            <a:pPr>
              <a:lnSpc>
                <a:spcPct val="95000"/>
              </a:lnSpc>
              <a:buFontTx/>
              <a:buChar char="•"/>
            </a:pPr>
            <a:endParaRPr lang="es-ES" sz="2400"/>
          </a:p>
          <a:p>
            <a:pPr>
              <a:lnSpc>
                <a:spcPct val="95000"/>
              </a:lnSpc>
              <a:buFontTx/>
              <a:buChar char="•"/>
            </a:pPr>
            <a:r>
              <a:rPr lang="en-US" sz="2400"/>
              <a:t>UML </a:t>
            </a:r>
            <a:r>
              <a:rPr lang="en-US" sz="2400" b="1"/>
              <a:t>es sólo un lenguaje</a:t>
            </a:r>
            <a:r>
              <a:rPr lang="en-US" sz="2400"/>
              <a:t> y por tanto es tan sólo una parte de un método de desarrollo de software.</a:t>
            </a:r>
            <a:r>
              <a:rPr lang="es-ES" sz="2400"/>
              <a:t> </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3"/>
          <p:cNvSpPr>
            <a:spLocks noChangeArrowheads="1"/>
          </p:cNvSpPr>
          <p:nvPr/>
        </p:nvSpPr>
        <p:spPr bwMode="auto">
          <a:xfrm>
            <a:off x="220663" y="188913"/>
            <a:ext cx="4229100" cy="549275"/>
          </a:xfrm>
          <a:prstGeom prst="rect">
            <a:avLst/>
          </a:prstGeom>
          <a:noFill/>
          <a:ln w="9525" algn="ctr">
            <a:noFill/>
            <a:miter lim="800000"/>
            <a:headEnd/>
            <a:tailEnd/>
          </a:ln>
        </p:spPr>
        <p:txBody>
          <a:bodyPr wrap="none">
            <a:spAutoFit/>
          </a:bodyPr>
          <a:lstStyle/>
          <a:p>
            <a:pPr marL="342900" indent="-342900"/>
            <a:r>
              <a:rPr lang="es-ES_tradnl" sz="3000" b="1"/>
              <a:t>Las funciones de UML</a:t>
            </a:r>
            <a:endParaRPr lang="es-ES" sz="3000" b="1">
              <a:solidFill>
                <a:schemeClr val="accent2"/>
              </a:solidFill>
            </a:endParaRPr>
          </a:p>
        </p:txBody>
      </p:sp>
      <p:sp>
        <p:nvSpPr>
          <p:cNvPr id="166915" name="Rectangle 5"/>
          <p:cNvSpPr>
            <a:spLocks noChangeArrowheads="1"/>
          </p:cNvSpPr>
          <p:nvPr/>
        </p:nvSpPr>
        <p:spPr bwMode="auto">
          <a:xfrm>
            <a:off x="611188" y="1670050"/>
            <a:ext cx="7993062" cy="3559175"/>
          </a:xfrm>
          <a:prstGeom prst="rect">
            <a:avLst/>
          </a:prstGeom>
          <a:noFill/>
          <a:ln w="9525">
            <a:noFill/>
            <a:miter lim="800000"/>
            <a:headEnd/>
            <a:tailEnd/>
          </a:ln>
        </p:spPr>
        <p:txBody>
          <a:bodyPr>
            <a:spAutoFit/>
          </a:bodyPr>
          <a:lstStyle/>
          <a:p>
            <a:pPr>
              <a:lnSpc>
                <a:spcPct val="95000"/>
              </a:lnSpc>
              <a:buFontTx/>
              <a:buChar char="•"/>
            </a:pPr>
            <a:r>
              <a:rPr lang="es-ES" sz="2000" b="1">
                <a:latin typeface="Calibri" pitchFamily="34" charset="0"/>
              </a:rPr>
              <a:t>Visualizar:</a:t>
            </a:r>
            <a:r>
              <a:rPr lang="es-ES" sz="2000">
                <a:latin typeface="Calibri" pitchFamily="34" charset="0"/>
              </a:rPr>
              <a:t> Utiliza símbolos gráficos.</a:t>
            </a:r>
          </a:p>
          <a:p>
            <a:pPr>
              <a:lnSpc>
                <a:spcPct val="95000"/>
              </a:lnSpc>
              <a:buFontTx/>
              <a:buChar char="•"/>
            </a:pPr>
            <a:endParaRPr lang="es-ES" sz="2000">
              <a:latin typeface="Calibri" pitchFamily="34" charset="0"/>
            </a:endParaRPr>
          </a:p>
          <a:p>
            <a:pPr>
              <a:lnSpc>
                <a:spcPct val="95000"/>
              </a:lnSpc>
              <a:buFontTx/>
              <a:buChar char="•"/>
            </a:pPr>
            <a:r>
              <a:rPr lang="es-ES" sz="2000" b="1">
                <a:latin typeface="Calibri" pitchFamily="34" charset="0"/>
              </a:rPr>
              <a:t>Especificar:</a:t>
            </a:r>
            <a:r>
              <a:rPr lang="es-ES" sz="2000">
                <a:latin typeface="Calibri" pitchFamily="34" charset="0"/>
              </a:rPr>
              <a:t> </a:t>
            </a:r>
            <a:r>
              <a:rPr lang="en-US" sz="2000">
                <a:latin typeface="Calibri" pitchFamily="34" charset="0"/>
              </a:rPr>
              <a:t>Cubre la especificación de todas las decisiones de análisis, diseño e implementación que deben realizarse al desarrollar y desplegar un sistema .</a:t>
            </a:r>
          </a:p>
          <a:p>
            <a:pPr>
              <a:lnSpc>
                <a:spcPct val="95000"/>
              </a:lnSpc>
              <a:buFontTx/>
              <a:buChar char="•"/>
            </a:pPr>
            <a:endParaRPr lang="es-ES" sz="2000">
              <a:latin typeface="Calibri" pitchFamily="34" charset="0"/>
            </a:endParaRPr>
          </a:p>
          <a:p>
            <a:pPr>
              <a:lnSpc>
                <a:spcPct val="95000"/>
              </a:lnSpc>
              <a:buFontTx/>
              <a:buChar char="•"/>
            </a:pPr>
            <a:r>
              <a:rPr lang="es-ES" sz="2000" b="1">
                <a:latin typeface="Calibri" pitchFamily="34" charset="0"/>
              </a:rPr>
              <a:t>Construir:</a:t>
            </a:r>
            <a:r>
              <a:rPr lang="es-ES" sz="2000">
                <a:latin typeface="Calibri" pitchFamily="34" charset="0"/>
              </a:rPr>
              <a:t> S</a:t>
            </a:r>
            <a:r>
              <a:rPr lang="en-US" sz="2000">
                <a:latin typeface="Calibri" pitchFamily="34" charset="0"/>
              </a:rPr>
              <a:t>us modelos pueden conectarse de forma directa a una gran variedad de lenguajes de programación. Java, C++ o Visual Basic, o incluso a tablas en una base de datos.</a:t>
            </a:r>
          </a:p>
          <a:p>
            <a:pPr>
              <a:lnSpc>
                <a:spcPct val="95000"/>
              </a:lnSpc>
              <a:buFontTx/>
              <a:buChar char="•"/>
            </a:pPr>
            <a:endParaRPr lang="es-ES" sz="2000">
              <a:latin typeface="Calibri" pitchFamily="34" charset="0"/>
            </a:endParaRPr>
          </a:p>
          <a:p>
            <a:pPr>
              <a:lnSpc>
                <a:spcPct val="95000"/>
              </a:lnSpc>
              <a:buFontTx/>
              <a:buChar char="•"/>
            </a:pPr>
            <a:r>
              <a:rPr lang="es-ES" sz="2000" b="1">
                <a:latin typeface="Calibri" pitchFamily="34" charset="0"/>
              </a:rPr>
              <a:t>Documentar: </a:t>
            </a:r>
            <a:r>
              <a:rPr lang="en-US" sz="2000">
                <a:latin typeface="Calibri" pitchFamily="34" charset="0"/>
              </a:rPr>
              <a:t>Requisitos. Arquitectura. Diseño. Código fuente. Planificación de proyectos. Pruebas. Prototipos. Versiones.</a:t>
            </a:r>
            <a:endParaRPr lang="es-ES" sz="2000">
              <a:latin typeface="Calibri" pitchFamily="34" charset="0"/>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4"/>
          <p:cNvSpPr>
            <a:spLocks noChangeArrowheads="1"/>
          </p:cNvSpPr>
          <p:nvPr/>
        </p:nvSpPr>
        <p:spPr bwMode="auto">
          <a:xfrm>
            <a:off x="107950" y="115888"/>
            <a:ext cx="9055100" cy="1166812"/>
          </a:xfrm>
          <a:prstGeom prst="rect">
            <a:avLst/>
          </a:prstGeom>
          <a:noFill/>
          <a:ln w="9525">
            <a:noFill/>
            <a:miter lim="800000"/>
            <a:headEnd/>
            <a:tailEnd/>
          </a:ln>
        </p:spPr>
        <p:txBody>
          <a:bodyPr lIns="0" tIns="0" rIns="0" bIns="0"/>
          <a:lstStyle/>
          <a:p>
            <a:pPr eaLnBrk="0" hangingPunct="0">
              <a:lnSpc>
                <a:spcPct val="95000"/>
              </a:lnSpc>
            </a:pPr>
            <a:r>
              <a:rPr lang="en-US" sz="3000" b="1">
                <a:latin typeface="Calibri" pitchFamily="34" charset="0"/>
              </a:rPr>
              <a:t>¿Dónde puede utilizarse UML?</a:t>
            </a:r>
          </a:p>
        </p:txBody>
      </p:sp>
      <p:sp>
        <p:nvSpPr>
          <p:cNvPr id="167939" name="Rectangle 5"/>
          <p:cNvSpPr>
            <a:spLocks noChangeArrowheads="1"/>
          </p:cNvSpPr>
          <p:nvPr/>
        </p:nvSpPr>
        <p:spPr bwMode="auto">
          <a:xfrm>
            <a:off x="395288" y="1585913"/>
            <a:ext cx="8496300" cy="4932362"/>
          </a:xfrm>
          <a:prstGeom prst="rect">
            <a:avLst/>
          </a:prstGeom>
          <a:noFill/>
          <a:ln w="9525">
            <a:noFill/>
            <a:miter lim="800000"/>
            <a:headEnd/>
            <a:tailEnd/>
          </a:ln>
        </p:spPr>
        <p:txBody>
          <a:bodyPr lIns="0" tIns="0" rIns="0" bIns="0"/>
          <a:lstStyle/>
          <a:p>
            <a:pPr lvl="1" indent="-342900" eaLnBrk="0" hangingPunct="0">
              <a:lnSpc>
                <a:spcPct val="95000"/>
              </a:lnSpc>
              <a:buClr>
                <a:srgbClr val="FFFFFF"/>
              </a:buClr>
              <a:buFontTx/>
              <a:buChar char="•"/>
            </a:pPr>
            <a:r>
              <a:rPr lang="en-US" sz="2500">
                <a:latin typeface="Calibri" pitchFamily="34" charset="0"/>
              </a:rPr>
              <a:t>UML está pensado principalmente para sistemas con </a:t>
            </a:r>
            <a:r>
              <a:rPr lang="en-US" sz="2500" b="1">
                <a:latin typeface="Calibri" pitchFamily="34" charset="0"/>
              </a:rPr>
              <a:t>gran cantidad de software</a:t>
            </a:r>
            <a:r>
              <a:rPr lang="en-US" sz="2500">
                <a:latin typeface="Calibri" pitchFamily="34" charset="0"/>
              </a:rPr>
              <a:t>. </a:t>
            </a:r>
          </a:p>
          <a:p>
            <a:pPr lvl="1" indent="-342900" eaLnBrk="0" hangingPunct="0">
              <a:lnSpc>
                <a:spcPct val="95000"/>
              </a:lnSpc>
              <a:buClr>
                <a:srgbClr val="FFFFFF"/>
              </a:buClr>
              <a:buFontTx/>
              <a:buChar char="•"/>
            </a:pPr>
            <a:endParaRPr lang="en-US" sz="2500">
              <a:latin typeface="Calibri" pitchFamily="34" charset="0"/>
            </a:endParaRPr>
          </a:p>
          <a:p>
            <a:pPr lvl="1" indent="-342900" eaLnBrk="0" hangingPunct="0">
              <a:lnSpc>
                <a:spcPct val="95000"/>
              </a:lnSpc>
              <a:buClr>
                <a:srgbClr val="FFFFFF"/>
              </a:buClr>
              <a:buFontTx/>
              <a:buChar char="•"/>
            </a:pPr>
            <a:r>
              <a:rPr lang="en-US" sz="2500">
                <a:latin typeface="Calibri" pitchFamily="34" charset="0"/>
              </a:rPr>
              <a:t>Ha sido utilizado de forma efectiva en dominios tales como: Sistemas de información de empresa. Bancos y servicios financieros. Telecomunicaciones. Transporte. Defensa/industria aeroespacial. Comercio. Electrónica médica. Ámbito científico. Servicios distribuidos basados en la Web.</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ChangeArrowheads="1"/>
          </p:cNvSpPr>
          <p:nvPr/>
        </p:nvSpPr>
        <p:spPr bwMode="auto">
          <a:xfrm>
            <a:off x="107950" y="115888"/>
            <a:ext cx="9055100" cy="1166812"/>
          </a:xfrm>
          <a:prstGeom prst="rect">
            <a:avLst/>
          </a:prstGeom>
          <a:noFill/>
          <a:ln w="9525">
            <a:noFill/>
            <a:miter lim="800000"/>
            <a:headEnd/>
            <a:tailEnd/>
          </a:ln>
        </p:spPr>
        <p:txBody>
          <a:bodyPr lIns="0" tIns="0" rIns="0" bIns="0"/>
          <a:lstStyle/>
          <a:p>
            <a:pPr eaLnBrk="0" hangingPunct="0">
              <a:lnSpc>
                <a:spcPct val="95000"/>
              </a:lnSpc>
            </a:pPr>
            <a:r>
              <a:rPr lang="en-US" sz="3000" b="1">
                <a:latin typeface="Calibri" pitchFamily="34" charset="0"/>
              </a:rPr>
              <a:t>¿Qué es lo básico que debemos aprender de UML?</a:t>
            </a:r>
          </a:p>
        </p:txBody>
      </p:sp>
      <p:sp>
        <p:nvSpPr>
          <p:cNvPr id="168963" name="Rectangle 3"/>
          <p:cNvSpPr>
            <a:spLocks noChangeArrowheads="1"/>
          </p:cNvSpPr>
          <p:nvPr/>
        </p:nvSpPr>
        <p:spPr bwMode="auto">
          <a:xfrm>
            <a:off x="1403350" y="1628775"/>
            <a:ext cx="6985000" cy="4206875"/>
          </a:xfrm>
          <a:prstGeom prst="rect">
            <a:avLst/>
          </a:prstGeom>
          <a:noFill/>
          <a:ln w="9525">
            <a:noFill/>
            <a:miter lim="800000"/>
            <a:headEnd/>
            <a:tailEnd/>
          </a:ln>
        </p:spPr>
        <p:txBody>
          <a:bodyPr>
            <a:spAutoFit/>
          </a:bodyPr>
          <a:lstStyle/>
          <a:p>
            <a:pPr marL="342900" indent="-342900">
              <a:buFontTx/>
              <a:buAutoNum type="arabicPeriod"/>
            </a:pPr>
            <a:r>
              <a:rPr lang="en-US" sz="3000"/>
              <a:t>Los </a:t>
            </a:r>
            <a:r>
              <a:rPr lang="en-US" sz="3000" b="1">
                <a:solidFill>
                  <a:schemeClr val="accent2"/>
                </a:solidFill>
              </a:rPr>
              <a:t>bloques</a:t>
            </a:r>
            <a:r>
              <a:rPr lang="en-US" sz="3000"/>
              <a:t> básicos de construcción de UML</a:t>
            </a:r>
          </a:p>
          <a:p>
            <a:pPr marL="342900" indent="-342900">
              <a:buFontTx/>
              <a:buAutoNum type="arabicPeriod"/>
            </a:pPr>
            <a:endParaRPr lang="en-US" sz="3000"/>
          </a:p>
          <a:p>
            <a:pPr marL="342900" indent="-342900">
              <a:buFontTx/>
              <a:buAutoNum type="arabicPeriod"/>
            </a:pPr>
            <a:r>
              <a:rPr lang="en-US" sz="3000"/>
              <a:t>Las </a:t>
            </a:r>
            <a:r>
              <a:rPr lang="en-US" sz="3000" b="1">
                <a:solidFill>
                  <a:schemeClr val="accent2"/>
                </a:solidFill>
              </a:rPr>
              <a:t>reglas</a:t>
            </a:r>
            <a:r>
              <a:rPr lang="en-US" sz="3000"/>
              <a:t> que dictan cómo se pueden combinar estos bloques básicos</a:t>
            </a:r>
          </a:p>
          <a:p>
            <a:pPr marL="342900" indent="-342900">
              <a:buFontTx/>
              <a:buAutoNum type="arabicPeriod"/>
            </a:pPr>
            <a:endParaRPr lang="en-US" sz="3000"/>
          </a:p>
          <a:p>
            <a:pPr marL="342900" indent="-342900">
              <a:buFontTx/>
              <a:buAutoNum type="arabicPeriod"/>
            </a:pPr>
            <a:r>
              <a:rPr lang="en-US" sz="3000" b="1">
                <a:solidFill>
                  <a:schemeClr val="accent2"/>
                </a:solidFill>
              </a:rPr>
              <a:t>Mecanismos</a:t>
            </a:r>
            <a:r>
              <a:rPr lang="en-US" sz="3000"/>
              <a:t> comunes que se aplican a través de UML.</a:t>
            </a:r>
            <a:endParaRPr lang="es-ES" sz="300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p:cNvSpPr>
          <p:nvPr>
            <p:ph type="ctrTitle"/>
          </p:nvPr>
        </p:nvSpPr>
        <p:spPr bwMode="auto">
          <a:xfrm>
            <a:off x="496888" y="322263"/>
            <a:ext cx="8150225" cy="1050925"/>
          </a:xfrm>
        </p:spPr>
        <p:txBody>
          <a:bodyPr wrap="square" lIns="0" tIns="0" rIns="0" bIns="0" numCol="1" anchor="t" anchorCtr="0" compatLnSpc="1">
            <a:prstTxWarp prst="textNoShape">
              <a:avLst/>
            </a:prstTxWarp>
          </a:bodyPr>
          <a:lstStyle/>
          <a:p>
            <a:pPr>
              <a:lnSpc>
                <a:spcPct val="95000"/>
              </a:lnSpc>
              <a:defRPr/>
            </a:pPr>
            <a:r>
              <a:rPr lang="en-US" sz="3000" dirty="0" err="1">
                <a:solidFill>
                  <a:schemeClr val="tx1"/>
                </a:solidFill>
                <a:effectLst/>
                <a:latin typeface="Calibri" pitchFamily="34" charset="0"/>
              </a:rPr>
              <a:t>Bloques</a:t>
            </a:r>
            <a:r>
              <a:rPr lang="en-US" sz="3000" dirty="0">
                <a:solidFill>
                  <a:schemeClr val="tx1"/>
                </a:solidFill>
                <a:effectLst/>
                <a:latin typeface="Calibri" pitchFamily="34" charset="0"/>
              </a:rPr>
              <a:t> de </a:t>
            </a:r>
            <a:r>
              <a:rPr lang="en-US" sz="3000" dirty="0" err="1">
                <a:solidFill>
                  <a:schemeClr val="tx1"/>
                </a:solidFill>
                <a:effectLst/>
                <a:latin typeface="Calibri" pitchFamily="34" charset="0"/>
              </a:rPr>
              <a:t>construcción</a:t>
            </a:r>
            <a:r>
              <a:rPr lang="en-US" sz="3000" dirty="0">
                <a:solidFill>
                  <a:schemeClr val="tx1"/>
                </a:solidFill>
                <a:effectLst/>
                <a:latin typeface="Calibri" pitchFamily="34" charset="0"/>
              </a:rPr>
              <a:t> de UML</a:t>
            </a:r>
          </a:p>
        </p:txBody>
      </p:sp>
      <p:sp>
        <p:nvSpPr>
          <p:cNvPr id="169987" name="Rectangle 3"/>
          <p:cNvSpPr>
            <a:spLocks noGrp="1"/>
          </p:cNvSpPr>
          <p:nvPr>
            <p:ph type="subTitle" idx="1"/>
          </p:nvPr>
        </p:nvSpPr>
        <p:spPr>
          <a:xfrm>
            <a:off x="496888" y="1646238"/>
            <a:ext cx="8150225" cy="4438650"/>
          </a:xfrm>
        </p:spPr>
        <p:txBody>
          <a:bodyPr lIns="0" tIns="0" rIns="0" bIns="0"/>
          <a:lstStyle/>
          <a:p>
            <a:pPr algn="l">
              <a:lnSpc>
                <a:spcPct val="95000"/>
              </a:lnSpc>
              <a:spcBef>
                <a:spcPct val="0"/>
              </a:spcBef>
            </a:pPr>
            <a:r>
              <a:rPr lang="en-US" sz="3000">
                <a:latin typeface="Calibri" pitchFamily="34" charset="0"/>
              </a:rPr>
              <a:t>El vocabulario de UML incluye tres clases de bloques de construcción:</a:t>
            </a:r>
          </a:p>
          <a:p>
            <a:pPr>
              <a:lnSpc>
                <a:spcPct val="95000"/>
              </a:lnSpc>
              <a:spcBef>
                <a:spcPct val="0"/>
              </a:spcBef>
            </a:pPr>
            <a:r>
              <a:rPr lang="en-US" sz="3000">
                <a:latin typeface="Calibri" pitchFamily="34" charset="0"/>
              </a:rPr>
              <a:t>Elementos.</a:t>
            </a:r>
          </a:p>
          <a:p>
            <a:pPr>
              <a:lnSpc>
                <a:spcPct val="95000"/>
              </a:lnSpc>
              <a:spcBef>
                <a:spcPct val="0"/>
              </a:spcBef>
            </a:pPr>
            <a:r>
              <a:rPr lang="en-US" sz="3000">
                <a:latin typeface="Calibri" pitchFamily="34" charset="0"/>
              </a:rPr>
              <a:t>Relaciones.</a:t>
            </a:r>
          </a:p>
          <a:p>
            <a:pPr>
              <a:lnSpc>
                <a:spcPct val="95000"/>
              </a:lnSpc>
              <a:spcBef>
                <a:spcPct val="0"/>
              </a:spcBef>
            </a:pPr>
            <a:r>
              <a:rPr lang="en-US" sz="3000">
                <a:latin typeface="Calibri" pitchFamily="34" charset="0"/>
              </a:rPr>
              <a:t>Diagramas.</a:t>
            </a:r>
          </a:p>
          <a:p>
            <a:pPr algn="l">
              <a:lnSpc>
                <a:spcPct val="95000"/>
              </a:lnSpc>
              <a:spcBef>
                <a:spcPct val="0"/>
              </a:spcBef>
            </a:pPr>
            <a:r>
              <a:rPr lang="en-US" sz="3000">
                <a:latin typeface="Calibri" pitchFamily="34" charset="0"/>
              </a:rPr>
              <a:t>Los elementos son abstracciones que son ciudadanos de primera clase en un modelo; las relaciones ligan estos elementos entre sí; los diagramas agrupan colecciones interesantes de elementos.</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p:cNvSpPr>
          <p:nvPr>
            <p:ph type="ctrTitle"/>
          </p:nvPr>
        </p:nvSpPr>
        <p:spPr bwMode="auto">
          <a:xfrm>
            <a:off x="496888" y="322263"/>
            <a:ext cx="8150225" cy="1050925"/>
          </a:xfrm>
        </p:spPr>
        <p:txBody>
          <a:bodyPr wrap="square" lIns="0" tIns="0" rIns="0" bIns="0" numCol="1" anchor="t" anchorCtr="0" compatLnSpc="1">
            <a:prstTxWarp prst="textNoShape">
              <a:avLst/>
            </a:prstTxWarp>
          </a:bodyPr>
          <a:lstStyle/>
          <a:p>
            <a:pPr>
              <a:lnSpc>
                <a:spcPct val="95000"/>
              </a:lnSpc>
              <a:defRPr/>
            </a:pPr>
            <a:r>
              <a:rPr lang="en-US" sz="4600" b="0">
                <a:solidFill>
                  <a:schemeClr val="tx1"/>
                </a:solidFill>
                <a:effectLst/>
                <a:latin typeface="Arial" charset="0"/>
              </a:rPr>
              <a:t>Elementos en UML.</a:t>
            </a:r>
            <a:r>
              <a:rPr lang="en-US" sz="4600">
                <a:solidFill>
                  <a:schemeClr val="tx1"/>
                </a:solidFill>
                <a:effectLst/>
                <a:latin typeface="Arial" charset="0"/>
              </a:rPr>
              <a:t> </a:t>
            </a:r>
          </a:p>
        </p:txBody>
      </p:sp>
      <p:sp>
        <p:nvSpPr>
          <p:cNvPr id="171011" name="Rectangle 3"/>
          <p:cNvSpPr>
            <a:spLocks noGrp="1"/>
          </p:cNvSpPr>
          <p:nvPr>
            <p:ph type="subTitle" idx="1"/>
          </p:nvPr>
        </p:nvSpPr>
        <p:spPr>
          <a:xfrm>
            <a:off x="496888" y="1646238"/>
            <a:ext cx="8150225" cy="4438650"/>
          </a:xfrm>
        </p:spPr>
        <p:txBody>
          <a:bodyPr lIns="0" tIns="0" rIns="0" bIns="0"/>
          <a:lstStyle/>
          <a:p>
            <a:pPr algn="l">
              <a:lnSpc>
                <a:spcPct val="95000"/>
              </a:lnSpc>
              <a:spcBef>
                <a:spcPct val="0"/>
              </a:spcBef>
            </a:pPr>
            <a:r>
              <a:rPr lang="en-US" sz="3200">
                <a:latin typeface="Verdana" pitchFamily="34" charset="0"/>
              </a:rPr>
              <a:t>Hay cuatro tipos de elementos en UML: </a:t>
            </a:r>
            <a:endParaRPr lang="en-US"/>
          </a:p>
          <a:p>
            <a:pPr lvl="1" indent="-342900" algn="l">
              <a:lnSpc>
                <a:spcPct val="95000"/>
              </a:lnSpc>
              <a:spcBef>
                <a:spcPct val="0"/>
              </a:spcBef>
              <a:buClr>
                <a:srgbClr val="FFFFFF"/>
              </a:buClr>
              <a:buFontTx/>
              <a:buChar char="•"/>
            </a:pPr>
            <a:r>
              <a:rPr lang="en-US" sz="3200">
                <a:latin typeface="Verdana" pitchFamily="34" charset="0"/>
              </a:rPr>
              <a:t>Elementos estructurales.</a:t>
            </a:r>
            <a:endParaRPr lang="en-US"/>
          </a:p>
          <a:p>
            <a:pPr lvl="1" indent="-342900" algn="l">
              <a:lnSpc>
                <a:spcPct val="95000"/>
              </a:lnSpc>
              <a:spcBef>
                <a:spcPct val="0"/>
              </a:spcBef>
              <a:buClr>
                <a:srgbClr val="FFFFFF"/>
              </a:buClr>
              <a:buFontTx/>
              <a:buChar char="•"/>
            </a:pPr>
            <a:r>
              <a:rPr lang="en-US" sz="3200">
                <a:latin typeface="Verdana" pitchFamily="34" charset="0"/>
              </a:rPr>
              <a:t>Elementos de comportamiento.</a:t>
            </a:r>
            <a:endParaRPr lang="en-US"/>
          </a:p>
          <a:p>
            <a:pPr lvl="1" indent="-342900" algn="l">
              <a:lnSpc>
                <a:spcPct val="95000"/>
              </a:lnSpc>
              <a:spcBef>
                <a:spcPct val="0"/>
              </a:spcBef>
              <a:buClr>
                <a:srgbClr val="FFFFFF"/>
              </a:buClr>
              <a:buFontTx/>
              <a:buChar char="•"/>
            </a:pPr>
            <a:r>
              <a:rPr lang="en-US" sz="3200">
                <a:latin typeface="Verdana" pitchFamily="34" charset="0"/>
              </a:rPr>
              <a:t>Elementos de agrupaci</a:t>
            </a:r>
            <a:r>
              <a:rPr lang="en-US" sz="3200"/>
              <a:t>ó</a:t>
            </a:r>
            <a:r>
              <a:rPr lang="en-US" sz="3200">
                <a:latin typeface="Verdana" pitchFamily="34" charset="0"/>
              </a:rPr>
              <a:t>n.</a:t>
            </a:r>
            <a:endParaRPr lang="en-US"/>
          </a:p>
          <a:p>
            <a:pPr lvl="1" indent="-342900" algn="l">
              <a:lnSpc>
                <a:spcPct val="95000"/>
              </a:lnSpc>
              <a:spcBef>
                <a:spcPct val="0"/>
              </a:spcBef>
              <a:buClr>
                <a:srgbClr val="FFFFFF"/>
              </a:buClr>
              <a:buFontTx/>
              <a:buChar char="•"/>
            </a:pPr>
            <a:r>
              <a:rPr lang="en-US" sz="3200">
                <a:latin typeface="Verdana" pitchFamily="34" charset="0"/>
              </a:rPr>
              <a:t>Elementos de anotaci</a:t>
            </a:r>
            <a:r>
              <a:rPr lang="en-US" sz="3200"/>
              <a:t>ó</a:t>
            </a:r>
            <a:r>
              <a:rPr lang="en-US" sz="3200">
                <a:latin typeface="Verdana" pitchFamily="34" charset="0"/>
              </a:rPr>
              <a:t>n.</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p:cNvSpPr>
          <p:nvPr>
            <p:ph type="ctrTitle"/>
          </p:nvPr>
        </p:nvSpPr>
        <p:spPr bwMode="auto">
          <a:xfrm>
            <a:off x="496888" y="322263"/>
            <a:ext cx="8150225" cy="1050925"/>
          </a:xfrm>
        </p:spPr>
        <p:txBody>
          <a:bodyPr wrap="square" lIns="0" tIns="0" rIns="0" bIns="0" numCol="1" anchor="t" anchorCtr="0" compatLnSpc="1">
            <a:prstTxWarp prst="textNoShape">
              <a:avLst/>
            </a:prstTxWarp>
          </a:bodyPr>
          <a:lstStyle/>
          <a:p>
            <a:pPr>
              <a:lnSpc>
                <a:spcPct val="95000"/>
              </a:lnSpc>
              <a:defRPr/>
            </a:pPr>
            <a:r>
              <a:rPr lang="en-US" sz="4600" b="0">
                <a:solidFill>
                  <a:schemeClr val="tx1"/>
                </a:solidFill>
                <a:effectLst/>
                <a:latin typeface="Arial" charset="0"/>
              </a:rPr>
              <a:t>Relaciones en UML.</a:t>
            </a:r>
            <a:r>
              <a:rPr lang="en-US" sz="4600">
                <a:solidFill>
                  <a:schemeClr val="tx1"/>
                </a:solidFill>
                <a:effectLst/>
                <a:latin typeface="Arial" charset="0"/>
              </a:rPr>
              <a:t> </a:t>
            </a:r>
          </a:p>
        </p:txBody>
      </p:sp>
      <p:sp>
        <p:nvSpPr>
          <p:cNvPr id="172035" name="Rectangle 3"/>
          <p:cNvSpPr>
            <a:spLocks noGrp="1"/>
          </p:cNvSpPr>
          <p:nvPr>
            <p:ph type="subTitle" idx="1"/>
          </p:nvPr>
        </p:nvSpPr>
        <p:spPr>
          <a:xfrm>
            <a:off x="496888" y="1646238"/>
            <a:ext cx="8150225" cy="4438650"/>
          </a:xfrm>
        </p:spPr>
        <p:txBody>
          <a:bodyPr lIns="0" tIns="0" rIns="0" bIns="0"/>
          <a:lstStyle/>
          <a:p>
            <a:pPr algn="l">
              <a:lnSpc>
                <a:spcPct val="95000"/>
              </a:lnSpc>
              <a:spcBef>
                <a:spcPct val="0"/>
              </a:spcBef>
            </a:pPr>
            <a:r>
              <a:rPr lang="en-US" sz="3200">
                <a:latin typeface="Verdana" pitchFamily="34" charset="0"/>
              </a:rPr>
              <a:t>Hay cuatro tipos de relaciones en UML:</a:t>
            </a:r>
            <a:endParaRPr lang="en-US"/>
          </a:p>
          <a:p>
            <a:pPr lvl="1" indent="-342900" algn="l">
              <a:lnSpc>
                <a:spcPct val="95000"/>
              </a:lnSpc>
              <a:spcBef>
                <a:spcPct val="0"/>
              </a:spcBef>
              <a:buClr>
                <a:srgbClr val="FFFFFF"/>
              </a:buClr>
              <a:buFontTx/>
              <a:buChar char="•"/>
            </a:pPr>
            <a:r>
              <a:rPr lang="en-US" sz="3200">
                <a:latin typeface="Verdana" pitchFamily="34" charset="0"/>
              </a:rPr>
              <a:t>Dependencia.</a:t>
            </a:r>
            <a:endParaRPr lang="en-US"/>
          </a:p>
          <a:p>
            <a:pPr lvl="1" indent="-342900" algn="l">
              <a:lnSpc>
                <a:spcPct val="95000"/>
              </a:lnSpc>
              <a:spcBef>
                <a:spcPct val="0"/>
              </a:spcBef>
              <a:buClr>
                <a:srgbClr val="FFFFFF"/>
              </a:buClr>
              <a:buFontTx/>
              <a:buChar char="•"/>
            </a:pPr>
            <a:r>
              <a:rPr lang="en-US" sz="3200">
                <a:latin typeface="Verdana" pitchFamily="34" charset="0"/>
              </a:rPr>
              <a:t>Asociaci</a:t>
            </a:r>
            <a:r>
              <a:rPr lang="en-US" sz="3200"/>
              <a:t>ó</a:t>
            </a:r>
            <a:r>
              <a:rPr lang="en-US" sz="3200">
                <a:latin typeface="Verdana" pitchFamily="34" charset="0"/>
              </a:rPr>
              <a:t>n.</a:t>
            </a:r>
            <a:endParaRPr lang="en-US"/>
          </a:p>
          <a:p>
            <a:pPr lvl="1" indent="-342900" algn="l">
              <a:lnSpc>
                <a:spcPct val="95000"/>
              </a:lnSpc>
              <a:spcBef>
                <a:spcPct val="0"/>
              </a:spcBef>
              <a:buClr>
                <a:srgbClr val="FFFFFF"/>
              </a:buClr>
              <a:buFontTx/>
              <a:buChar char="•"/>
            </a:pPr>
            <a:r>
              <a:rPr lang="en-US" sz="3200">
                <a:latin typeface="Verdana" pitchFamily="34" charset="0"/>
              </a:rPr>
              <a:t>Generalizaci</a:t>
            </a:r>
            <a:r>
              <a:rPr lang="en-US" sz="3200"/>
              <a:t>ó</a:t>
            </a:r>
            <a:r>
              <a:rPr lang="en-US" sz="3200">
                <a:latin typeface="Verdana" pitchFamily="34" charset="0"/>
              </a:rPr>
              <a:t>n.</a:t>
            </a:r>
            <a:endParaRPr lang="en-US"/>
          </a:p>
          <a:p>
            <a:pPr lvl="1" indent="-342900" algn="l">
              <a:lnSpc>
                <a:spcPct val="95000"/>
              </a:lnSpc>
              <a:spcBef>
                <a:spcPct val="0"/>
              </a:spcBef>
              <a:buClr>
                <a:srgbClr val="FFFFFF"/>
              </a:buClr>
              <a:buFontTx/>
              <a:buChar char="•"/>
            </a:pPr>
            <a:r>
              <a:rPr lang="en-US" sz="3200">
                <a:latin typeface="Verdana" pitchFamily="34" charset="0"/>
              </a:rPr>
              <a:t>Realizaci</a:t>
            </a:r>
            <a:r>
              <a:rPr lang="en-US" sz="3200"/>
              <a:t>ó</a:t>
            </a:r>
            <a:r>
              <a:rPr lang="en-US" sz="3200">
                <a:latin typeface="Verdana" pitchFamily="34" charset="0"/>
              </a:rPr>
              <a:t>n.</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p:cNvSpPr>
          <p:nvPr>
            <p:ph type="ctrTitle"/>
          </p:nvPr>
        </p:nvSpPr>
        <p:spPr bwMode="auto">
          <a:xfrm>
            <a:off x="496888" y="322263"/>
            <a:ext cx="8150225" cy="1050925"/>
          </a:xfrm>
        </p:spPr>
        <p:txBody>
          <a:bodyPr wrap="square" lIns="0" tIns="0" rIns="0" bIns="0" numCol="1" anchor="t" anchorCtr="0" compatLnSpc="1">
            <a:prstTxWarp prst="textNoShape">
              <a:avLst/>
            </a:prstTxWarp>
          </a:bodyPr>
          <a:lstStyle/>
          <a:p>
            <a:pPr>
              <a:lnSpc>
                <a:spcPct val="95000"/>
              </a:lnSpc>
              <a:defRPr/>
            </a:pPr>
            <a:r>
              <a:rPr lang="en-US" sz="4600" b="0" dirty="0" err="1">
                <a:solidFill>
                  <a:schemeClr val="tx1"/>
                </a:solidFill>
                <a:effectLst/>
                <a:latin typeface="Arial" charset="0"/>
              </a:rPr>
              <a:t>Diagramas</a:t>
            </a:r>
            <a:r>
              <a:rPr lang="en-US" sz="4600" b="0" dirty="0">
                <a:solidFill>
                  <a:schemeClr val="tx1"/>
                </a:solidFill>
                <a:effectLst/>
                <a:latin typeface="Arial" charset="0"/>
              </a:rPr>
              <a:t> en UML.</a:t>
            </a:r>
            <a:r>
              <a:rPr lang="en-US" sz="4600" dirty="0">
                <a:solidFill>
                  <a:schemeClr val="tx1"/>
                </a:solidFill>
                <a:effectLst/>
                <a:latin typeface="Arial" charset="0"/>
              </a:rPr>
              <a:t> </a:t>
            </a:r>
          </a:p>
        </p:txBody>
      </p:sp>
      <p:sp>
        <p:nvSpPr>
          <p:cNvPr id="173059" name="Rectangle 3"/>
          <p:cNvSpPr>
            <a:spLocks noGrp="1"/>
          </p:cNvSpPr>
          <p:nvPr>
            <p:ph type="subTitle" idx="1"/>
          </p:nvPr>
        </p:nvSpPr>
        <p:spPr>
          <a:xfrm>
            <a:off x="496888" y="1646238"/>
            <a:ext cx="8150225" cy="4438650"/>
          </a:xfrm>
        </p:spPr>
        <p:txBody>
          <a:bodyPr lIns="0" tIns="0" rIns="0" bIns="0"/>
          <a:lstStyle/>
          <a:p>
            <a:pPr lvl="1" indent="-342900" algn="just">
              <a:lnSpc>
                <a:spcPct val="95000"/>
              </a:lnSpc>
              <a:spcBef>
                <a:spcPct val="0"/>
              </a:spcBef>
              <a:buClr>
                <a:srgbClr val="FFFFFF"/>
              </a:buClr>
              <a:buFontTx/>
              <a:buChar char="•"/>
            </a:pPr>
            <a:r>
              <a:rPr lang="en-US" sz="2400">
                <a:latin typeface="Verdana" pitchFamily="34" charset="0"/>
              </a:rPr>
              <a:t>Un </a:t>
            </a:r>
            <a:r>
              <a:rPr lang="en-US" sz="2400" i="1">
                <a:latin typeface="Verdana" pitchFamily="34" charset="0"/>
              </a:rPr>
              <a:t>diagrama </a:t>
            </a:r>
            <a:r>
              <a:rPr lang="en-US" sz="2400">
                <a:latin typeface="Verdana" pitchFamily="34" charset="0"/>
              </a:rPr>
              <a:t>es la representaci</a:t>
            </a:r>
            <a:r>
              <a:rPr lang="en-US" sz="2400"/>
              <a:t>ó</a:t>
            </a:r>
            <a:r>
              <a:rPr lang="en-US" sz="2400">
                <a:latin typeface="Verdana" pitchFamily="34" charset="0"/>
              </a:rPr>
              <a:t>n gr</a:t>
            </a:r>
            <a:r>
              <a:rPr lang="en-US" sz="2400"/>
              <a:t>á</a:t>
            </a:r>
            <a:r>
              <a:rPr lang="en-US" sz="2400">
                <a:latin typeface="Verdana" pitchFamily="34" charset="0"/>
              </a:rPr>
              <a:t>fica de un conjunto de elementos, visualizado la mayor</a:t>
            </a:r>
            <a:r>
              <a:rPr lang="en-US" sz="2400"/>
              <a:t>í</a:t>
            </a:r>
            <a:r>
              <a:rPr lang="en-US" sz="2400">
                <a:latin typeface="Verdana" pitchFamily="34" charset="0"/>
              </a:rPr>
              <a:t>a de las veces como un grafo conexo-de nodos (elementos) y arcos (relaciones). Los diagramas se dibujan para visualizar un sistema desde diferentes perspectivas, de forma que un diagrama es una proyecci</a:t>
            </a:r>
            <a:r>
              <a:rPr lang="en-US" sz="2400"/>
              <a:t>ó</a:t>
            </a:r>
            <a:r>
              <a:rPr lang="en-US" sz="2400">
                <a:latin typeface="Verdana" pitchFamily="34" charset="0"/>
              </a:rPr>
              <a:t>n de un sistema. Para todos los sistemas, excepto los m</a:t>
            </a:r>
            <a:r>
              <a:rPr lang="en-US" sz="2400"/>
              <a:t>á</a:t>
            </a:r>
            <a:r>
              <a:rPr lang="en-US" sz="2400">
                <a:latin typeface="Verdana" pitchFamily="34" charset="0"/>
              </a:rPr>
              <a:t>s triviales, un diagrama representa una vista resumida de los elementos que constituyen un sistema. </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p:cNvSpPr>
          <p:nvPr>
            <p:ph type="subTitle" idx="1"/>
          </p:nvPr>
        </p:nvSpPr>
        <p:spPr>
          <a:xfrm>
            <a:off x="496888" y="522288"/>
            <a:ext cx="8150225" cy="5557837"/>
          </a:xfrm>
        </p:spPr>
        <p:txBody>
          <a:bodyPr lIns="0" tIns="0" rIns="0" bIns="0"/>
          <a:lstStyle/>
          <a:p>
            <a:pPr algn="l">
              <a:lnSpc>
                <a:spcPct val="95000"/>
              </a:lnSpc>
              <a:spcBef>
                <a:spcPct val="0"/>
              </a:spcBef>
            </a:pPr>
            <a:r>
              <a:rPr lang="en-US" sz="2500">
                <a:latin typeface="Verdana" pitchFamily="34" charset="0"/>
              </a:rPr>
              <a:t>UML incluye nueve de estos diagramas:</a:t>
            </a:r>
            <a:endParaRPr lang="en-US"/>
          </a:p>
          <a:p>
            <a:pPr lvl="1" indent="-342900" algn="l">
              <a:lnSpc>
                <a:spcPct val="95000"/>
              </a:lnSpc>
              <a:spcBef>
                <a:spcPct val="0"/>
              </a:spcBef>
              <a:buClr>
                <a:srgbClr val="FFFFFF"/>
              </a:buClr>
              <a:buFontTx/>
              <a:buChar char="•"/>
            </a:pPr>
            <a:endParaRPr lang="en-US" sz="2500">
              <a:latin typeface="Verdana" pitchFamily="34" charset="0"/>
            </a:endParaRPr>
          </a:p>
          <a:p>
            <a:pPr lvl="1" indent="-342900" algn="l">
              <a:lnSpc>
                <a:spcPct val="95000"/>
              </a:lnSpc>
              <a:spcBef>
                <a:spcPct val="0"/>
              </a:spcBef>
              <a:buClr>
                <a:srgbClr val="FFFFFF"/>
              </a:buClr>
              <a:buFontTx/>
              <a:buChar char="•"/>
            </a:pPr>
            <a:r>
              <a:rPr lang="en-US" sz="2500">
                <a:latin typeface="Verdana" pitchFamily="34" charset="0"/>
              </a:rPr>
              <a:t>Diagrama de clases.</a:t>
            </a:r>
            <a:endParaRPr lang="en-US"/>
          </a:p>
          <a:p>
            <a:pPr lvl="1" indent="-342900" algn="l">
              <a:lnSpc>
                <a:spcPct val="95000"/>
              </a:lnSpc>
              <a:spcBef>
                <a:spcPct val="0"/>
              </a:spcBef>
              <a:buClr>
                <a:srgbClr val="FFFFFF"/>
              </a:buClr>
              <a:buFontTx/>
              <a:buChar char="•"/>
            </a:pPr>
            <a:r>
              <a:rPr lang="en-US" sz="2500">
                <a:latin typeface="Verdana" pitchFamily="34" charset="0"/>
              </a:rPr>
              <a:t>Diagrama de objetos.</a:t>
            </a:r>
            <a:endParaRPr lang="en-US"/>
          </a:p>
          <a:p>
            <a:pPr lvl="1" indent="-342900" algn="l">
              <a:lnSpc>
                <a:spcPct val="95000"/>
              </a:lnSpc>
              <a:spcBef>
                <a:spcPct val="0"/>
              </a:spcBef>
              <a:buClr>
                <a:srgbClr val="FFFFFF"/>
              </a:buClr>
              <a:buFontTx/>
              <a:buChar char="•"/>
            </a:pPr>
            <a:r>
              <a:rPr lang="en-US" sz="2500">
                <a:latin typeface="Verdana" pitchFamily="34" charset="0"/>
              </a:rPr>
              <a:t>Diagrama de casos de uso.</a:t>
            </a:r>
            <a:endParaRPr lang="en-US"/>
          </a:p>
          <a:p>
            <a:pPr lvl="1" indent="-342900" algn="l">
              <a:lnSpc>
                <a:spcPct val="95000"/>
              </a:lnSpc>
              <a:spcBef>
                <a:spcPct val="0"/>
              </a:spcBef>
              <a:buClr>
                <a:srgbClr val="FFFFFF"/>
              </a:buClr>
              <a:buFontTx/>
              <a:buChar char="•"/>
            </a:pPr>
            <a:r>
              <a:rPr lang="en-US" sz="2500">
                <a:latin typeface="Verdana" pitchFamily="34" charset="0"/>
              </a:rPr>
              <a:t>Diagrama de secuencia.</a:t>
            </a:r>
            <a:endParaRPr lang="en-US"/>
          </a:p>
          <a:p>
            <a:pPr lvl="1" indent="-342900" algn="l">
              <a:lnSpc>
                <a:spcPct val="95000"/>
              </a:lnSpc>
              <a:spcBef>
                <a:spcPct val="0"/>
              </a:spcBef>
              <a:buClr>
                <a:srgbClr val="FFFFFF"/>
              </a:buClr>
              <a:buFontTx/>
              <a:buChar char="•"/>
            </a:pPr>
            <a:r>
              <a:rPr lang="en-US" sz="2500">
                <a:latin typeface="Verdana" pitchFamily="34" charset="0"/>
              </a:rPr>
              <a:t>Diagrama de colaboraci</a:t>
            </a:r>
            <a:r>
              <a:rPr lang="en-US" sz="2500"/>
              <a:t>ó</a:t>
            </a:r>
            <a:r>
              <a:rPr lang="en-US" sz="2500">
                <a:latin typeface="Verdana" pitchFamily="34" charset="0"/>
              </a:rPr>
              <a:t>n.</a:t>
            </a:r>
            <a:endParaRPr lang="en-US"/>
          </a:p>
          <a:p>
            <a:pPr lvl="1" indent="-342900" algn="l">
              <a:lnSpc>
                <a:spcPct val="95000"/>
              </a:lnSpc>
              <a:spcBef>
                <a:spcPct val="0"/>
              </a:spcBef>
              <a:buClr>
                <a:srgbClr val="FFFFFF"/>
              </a:buClr>
              <a:buFontTx/>
              <a:buChar char="•"/>
            </a:pPr>
            <a:r>
              <a:rPr lang="en-US" sz="2500">
                <a:latin typeface="Verdana" pitchFamily="34" charset="0"/>
              </a:rPr>
              <a:t>Diagrama de estados </a:t>
            </a:r>
            <a:r>
              <a:rPr lang="en-US" sz="2500" i="1">
                <a:latin typeface="Verdana" pitchFamily="34" charset="0"/>
              </a:rPr>
              <a:t>(statechart).</a:t>
            </a:r>
            <a:endParaRPr lang="en-US"/>
          </a:p>
          <a:p>
            <a:pPr lvl="1" indent="-342900" algn="l">
              <a:lnSpc>
                <a:spcPct val="95000"/>
              </a:lnSpc>
              <a:spcBef>
                <a:spcPct val="0"/>
              </a:spcBef>
              <a:buClr>
                <a:srgbClr val="FFFFFF"/>
              </a:buClr>
              <a:buFontTx/>
              <a:buChar char="•"/>
            </a:pPr>
            <a:r>
              <a:rPr lang="en-US" sz="2500">
                <a:latin typeface="Verdana" pitchFamily="34" charset="0"/>
              </a:rPr>
              <a:t>Diagrama de actividades.</a:t>
            </a:r>
            <a:endParaRPr lang="en-US"/>
          </a:p>
          <a:p>
            <a:pPr lvl="1" indent="-342900" algn="l">
              <a:lnSpc>
                <a:spcPct val="95000"/>
              </a:lnSpc>
              <a:spcBef>
                <a:spcPct val="0"/>
              </a:spcBef>
              <a:buClr>
                <a:srgbClr val="FFFFFF"/>
              </a:buClr>
              <a:buFontTx/>
              <a:buChar char="•"/>
            </a:pPr>
            <a:r>
              <a:rPr lang="en-US" sz="2500">
                <a:latin typeface="Verdana" pitchFamily="34" charset="0"/>
              </a:rPr>
              <a:t>Diagrama de componentes.</a:t>
            </a:r>
            <a:endParaRPr lang="en-US"/>
          </a:p>
          <a:p>
            <a:pPr lvl="1" indent="-342900" algn="l">
              <a:lnSpc>
                <a:spcPct val="95000"/>
              </a:lnSpc>
              <a:spcBef>
                <a:spcPct val="0"/>
              </a:spcBef>
              <a:buClr>
                <a:srgbClr val="FFFFFF"/>
              </a:buClr>
              <a:buFontTx/>
              <a:buChar char="•"/>
            </a:pPr>
            <a:r>
              <a:rPr lang="en-US" sz="2500">
                <a:latin typeface="Verdana" pitchFamily="34" charset="0"/>
              </a:rPr>
              <a:t>Diagrama de despliegue.</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p:cNvSpPr>
          <p:nvPr>
            <p:ph type="ctrTitle"/>
          </p:nvPr>
        </p:nvSpPr>
        <p:spPr bwMode="auto">
          <a:xfrm>
            <a:off x="496888" y="322263"/>
            <a:ext cx="8150225" cy="1050925"/>
          </a:xfrm>
        </p:spPr>
        <p:txBody>
          <a:bodyPr wrap="square" lIns="0" tIns="0" rIns="0" bIns="0" numCol="1" anchor="t" anchorCtr="0" compatLnSpc="1">
            <a:prstTxWarp prst="textNoShape">
              <a:avLst/>
            </a:prstTxWarp>
          </a:bodyPr>
          <a:lstStyle/>
          <a:p>
            <a:pPr>
              <a:lnSpc>
                <a:spcPct val="95000"/>
              </a:lnSpc>
              <a:defRPr/>
            </a:pPr>
            <a:r>
              <a:rPr lang="en-US" sz="4600">
                <a:solidFill>
                  <a:schemeClr val="tx1"/>
                </a:solidFill>
                <a:effectLst/>
                <a:latin typeface="Arial" charset="0"/>
              </a:rPr>
              <a:t>Reglas de UML</a:t>
            </a:r>
          </a:p>
        </p:txBody>
      </p:sp>
      <p:sp>
        <p:nvSpPr>
          <p:cNvPr id="175107" name="Rectangle 3"/>
          <p:cNvSpPr>
            <a:spLocks noGrp="1"/>
          </p:cNvSpPr>
          <p:nvPr>
            <p:ph type="subTitle" idx="1"/>
          </p:nvPr>
        </p:nvSpPr>
        <p:spPr>
          <a:xfrm>
            <a:off x="496888" y="1646238"/>
            <a:ext cx="8150225" cy="4438650"/>
          </a:xfrm>
        </p:spPr>
        <p:txBody>
          <a:bodyPr lIns="0" tIns="0" rIns="0" bIns="0"/>
          <a:lstStyle/>
          <a:p>
            <a:pPr lvl="1" indent="-342900" algn="just">
              <a:lnSpc>
                <a:spcPct val="95000"/>
              </a:lnSpc>
              <a:spcBef>
                <a:spcPct val="0"/>
              </a:spcBef>
              <a:buClr>
                <a:srgbClr val="FFFFFF"/>
              </a:buClr>
              <a:buFontTx/>
              <a:buChar char="•"/>
            </a:pPr>
            <a:r>
              <a:rPr lang="en-US" sz="1800">
                <a:latin typeface="Verdana" pitchFamily="34" charset="0"/>
              </a:rPr>
              <a:t>UML tiene reglas sem</a:t>
            </a:r>
            <a:r>
              <a:rPr lang="en-US" sz="1800"/>
              <a:t>á</a:t>
            </a:r>
            <a:r>
              <a:rPr lang="en-US" sz="1800">
                <a:latin typeface="Verdana" pitchFamily="34" charset="0"/>
              </a:rPr>
              <a:t>nticas para:</a:t>
            </a:r>
            <a:endParaRPr lang="en-US" sz="1800"/>
          </a:p>
          <a:p>
            <a:pPr lvl="1" indent="-342900" algn="just">
              <a:lnSpc>
                <a:spcPct val="95000"/>
              </a:lnSpc>
              <a:spcBef>
                <a:spcPct val="0"/>
              </a:spcBef>
              <a:buClr>
                <a:srgbClr val="FFFFFF"/>
              </a:buClr>
              <a:buFontTx/>
              <a:buChar char="•"/>
            </a:pPr>
            <a:r>
              <a:rPr lang="en-US" sz="1800">
                <a:latin typeface="Verdana" pitchFamily="34" charset="0"/>
              </a:rPr>
              <a:t>Nombres: C</a:t>
            </a:r>
            <a:r>
              <a:rPr lang="en-US" sz="1800"/>
              <a:t>ó</a:t>
            </a:r>
            <a:r>
              <a:rPr lang="en-US" sz="1800">
                <a:latin typeface="Verdana" pitchFamily="34" charset="0"/>
              </a:rPr>
              <a:t>mo llamar a los elementos, relaciones y diagramas.</a:t>
            </a:r>
            <a:endParaRPr lang="en-US" sz="1800"/>
          </a:p>
          <a:p>
            <a:pPr lvl="1" indent="-342900" algn="just">
              <a:lnSpc>
                <a:spcPct val="95000"/>
              </a:lnSpc>
              <a:spcBef>
                <a:spcPct val="0"/>
              </a:spcBef>
              <a:buClr>
                <a:srgbClr val="FFFFFF"/>
              </a:buClr>
              <a:buFontTx/>
              <a:buChar char="•"/>
            </a:pPr>
            <a:r>
              <a:rPr lang="en-US" sz="1800">
                <a:latin typeface="Verdana" pitchFamily="34" charset="0"/>
              </a:rPr>
              <a:t>Alcance: El contexto que da un significado espec</a:t>
            </a:r>
            <a:r>
              <a:rPr lang="en-US" sz="1800"/>
              <a:t>í</a:t>
            </a:r>
            <a:r>
              <a:rPr lang="en-US" sz="1800">
                <a:latin typeface="Verdana" pitchFamily="34" charset="0"/>
              </a:rPr>
              <a:t>fico a un nombre.</a:t>
            </a:r>
            <a:endParaRPr lang="en-US" sz="1800"/>
          </a:p>
          <a:p>
            <a:pPr lvl="1" indent="-342900" algn="just">
              <a:lnSpc>
                <a:spcPct val="95000"/>
              </a:lnSpc>
              <a:spcBef>
                <a:spcPct val="0"/>
              </a:spcBef>
              <a:buClr>
                <a:srgbClr val="FFFFFF"/>
              </a:buClr>
              <a:buFontTx/>
              <a:buChar char="•"/>
            </a:pPr>
            <a:r>
              <a:rPr lang="en-US" sz="1800">
                <a:latin typeface="Verdana" pitchFamily="34" charset="0"/>
              </a:rPr>
              <a:t>Risibilidad: C</a:t>
            </a:r>
            <a:r>
              <a:rPr lang="en-US" sz="1800"/>
              <a:t>ó</a:t>
            </a:r>
            <a:r>
              <a:rPr lang="en-US" sz="1800">
                <a:latin typeface="Verdana" pitchFamily="34" charset="0"/>
              </a:rPr>
              <a:t>mo se pueden ver y utilizar esos nombres por otros.</a:t>
            </a:r>
            <a:endParaRPr lang="en-US" sz="1800"/>
          </a:p>
          <a:p>
            <a:pPr lvl="1" indent="-342900" algn="just">
              <a:lnSpc>
                <a:spcPct val="95000"/>
              </a:lnSpc>
              <a:spcBef>
                <a:spcPct val="0"/>
              </a:spcBef>
              <a:buClr>
                <a:srgbClr val="FFFFFF"/>
              </a:buClr>
              <a:buFontTx/>
              <a:buChar char="•"/>
            </a:pPr>
            <a:r>
              <a:rPr lang="en-US" sz="1800">
                <a:latin typeface="Verdana" pitchFamily="34" charset="0"/>
              </a:rPr>
              <a:t>Integridad: C</a:t>
            </a:r>
            <a:r>
              <a:rPr lang="en-US" sz="1800"/>
              <a:t>ó</a:t>
            </a:r>
            <a:r>
              <a:rPr lang="en-US" sz="1800">
                <a:latin typeface="Verdana" pitchFamily="34" charset="0"/>
              </a:rPr>
              <a:t>mo se relacionan apropiada y consistentemente unos elementos con otros.</a:t>
            </a:r>
            <a:endParaRPr lang="en-US" sz="1800"/>
          </a:p>
          <a:p>
            <a:pPr lvl="1" indent="-342900" algn="just">
              <a:lnSpc>
                <a:spcPct val="95000"/>
              </a:lnSpc>
              <a:spcBef>
                <a:spcPct val="0"/>
              </a:spcBef>
              <a:buClr>
                <a:srgbClr val="FFFFFF"/>
              </a:buClr>
              <a:buFontTx/>
              <a:buChar char="•"/>
            </a:pPr>
            <a:r>
              <a:rPr lang="en-US" sz="1800">
                <a:latin typeface="Verdana" pitchFamily="34" charset="0"/>
              </a:rPr>
              <a:t>Ejecuci</a:t>
            </a:r>
            <a:r>
              <a:rPr lang="en-US" sz="1800"/>
              <a:t>ó</a:t>
            </a:r>
            <a:r>
              <a:rPr lang="en-US" sz="1800">
                <a:latin typeface="Verdana" pitchFamily="34" charset="0"/>
              </a:rPr>
              <a:t>n: Qu</a:t>
            </a:r>
            <a:r>
              <a:rPr lang="en-US" sz="1800"/>
              <a:t>é</a:t>
            </a:r>
            <a:r>
              <a:rPr lang="en-US" sz="1800">
                <a:latin typeface="Verdana" pitchFamily="34" charset="0"/>
              </a:rPr>
              <a:t> significa ejecutar o simular un modelo din</a:t>
            </a:r>
            <a:r>
              <a:rPr lang="en-US" sz="1800"/>
              <a:t>á</a:t>
            </a:r>
            <a:r>
              <a:rPr lang="en-US" sz="1800">
                <a:latin typeface="Verdana" pitchFamily="34" charset="0"/>
              </a:rPr>
              <a:t>mico.</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p:cNvSpPr>
          <p:nvPr>
            <p:ph type="ctrTitle"/>
          </p:nvPr>
        </p:nvSpPr>
        <p:spPr bwMode="auto">
          <a:xfrm>
            <a:off x="496888" y="322263"/>
            <a:ext cx="8150225" cy="1050925"/>
          </a:xfrm>
        </p:spPr>
        <p:txBody>
          <a:bodyPr wrap="square" lIns="0" tIns="0" rIns="0" bIns="0" numCol="1" anchor="t" anchorCtr="0" compatLnSpc="1">
            <a:prstTxWarp prst="textNoShape">
              <a:avLst/>
            </a:prstTxWarp>
          </a:bodyPr>
          <a:lstStyle/>
          <a:p>
            <a:pPr>
              <a:lnSpc>
                <a:spcPct val="95000"/>
              </a:lnSpc>
              <a:defRPr/>
            </a:pPr>
            <a:r>
              <a:rPr lang="en-US" b="0">
                <a:solidFill>
                  <a:schemeClr val="tx1"/>
                </a:solidFill>
                <a:effectLst/>
                <a:latin typeface="Arial" charset="0"/>
              </a:rPr>
              <a:t>Mecanismos comunes en UML</a:t>
            </a:r>
            <a:r>
              <a:rPr lang="en-US">
                <a:solidFill>
                  <a:schemeClr val="tx1"/>
                </a:solidFill>
                <a:effectLst/>
                <a:latin typeface="Arial" charset="0"/>
              </a:rPr>
              <a:t> </a:t>
            </a:r>
          </a:p>
        </p:txBody>
      </p:sp>
      <p:sp>
        <p:nvSpPr>
          <p:cNvPr id="176131" name="Rectangle 3"/>
          <p:cNvSpPr>
            <a:spLocks noGrp="1"/>
          </p:cNvSpPr>
          <p:nvPr>
            <p:ph type="subTitle" idx="1"/>
          </p:nvPr>
        </p:nvSpPr>
        <p:spPr>
          <a:xfrm>
            <a:off x="496888" y="1646238"/>
            <a:ext cx="8150225" cy="4438650"/>
          </a:xfrm>
        </p:spPr>
        <p:txBody>
          <a:bodyPr lIns="0" tIns="0" rIns="0" bIns="0"/>
          <a:lstStyle/>
          <a:p>
            <a:pPr lvl="1" indent="-342900" algn="l">
              <a:lnSpc>
                <a:spcPct val="95000"/>
              </a:lnSpc>
              <a:spcBef>
                <a:spcPct val="0"/>
              </a:spcBef>
              <a:buClr>
                <a:srgbClr val="FFFFFF"/>
              </a:buClr>
              <a:buFontTx/>
              <a:buChar char="•"/>
            </a:pPr>
            <a:r>
              <a:rPr lang="en-US">
                <a:latin typeface="Verdana" pitchFamily="34" charset="0"/>
              </a:rPr>
              <a:t>Un edificio se hace m</a:t>
            </a:r>
            <a:r>
              <a:rPr lang="en-US"/>
              <a:t>á</a:t>
            </a:r>
            <a:r>
              <a:rPr lang="en-US">
                <a:latin typeface="Verdana" pitchFamily="34" charset="0"/>
              </a:rPr>
              <a:t>s simple y m</a:t>
            </a:r>
            <a:r>
              <a:rPr lang="en-US"/>
              <a:t>á</a:t>
            </a:r>
            <a:r>
              <a:rPr lang="en-US">
                <a:latin typeface="Verdana" pitchFamily="34" charset="0"/>
              </a:rPr>
              <a:t>s armonioso al ajustarse a un patr</a:t>
            </a:r>
            <a:r>
              <a:rPr lang="en-US"/>
              <a:t>ó</a:t>
            </a:r>
            <a:r>
              <a:rPr lang="en-US">
                <a:latin typeface="Verdana" pitchFamily="34" charset="0"/>
              </a:rPr>
              <a:t>n de caracter</a:t>
            </a:r>
            <a:r>
              <a:rPr lang="en-US"/>
              <a:t>í</a:t>
            </a:r>
            <a:r>
              <a:rPr lang="en-US">
                <a:latin typeface="Verdana" pitchFamily="34" charset="0"/>
              </a:rPr>
              <a:t>s</a:t>
            </a:r>
            <a:r>
              <a:rPr lang="en-US"/>
              <a:t>­</a:t>
            </a:r>
            <a:r>
              <a:rPr lang="en-US">
                <a:latin typeface="Verdana" pitchFamily="34" charset="0"/>
              </a:rPr>
              <a:t>ticas comunes. Una casa puede construirse, en su mayor parte, de estilo Victoriano o franc</a:t>
            </a:r>
            <a:r>
              <a:rPr lang="en-US"/>
              <a:t>é</a:t>
            </a:r>
            <a:r>
              <a:rPr lang="en-US">
                <a:latin typeface="Verdana" pitchFamily="34" charset="0"/>
              </a:rPr>
              <a:t>s utilizando ciertos patrones arquitect</a:t>
            </a:r>
            <a:r>
              <a:rPr lang="en-US"/>
              <a:t>ó</a:t>
            </a:r>
            <a:r>
              <a:rPr lang="en-US">
                <a:latin typeface="Verdana" pitchFamily="34" charset="0"/>
              </a:rPr>
              <a:t>nicos que definen esos estilos. Lo mismo es cierto para UML. Este se simplifica mediante la presencia de cuatro mecanismos comunes que se aplican de forma consistente a trav</a:t>
            </a:r>
            <a:r>
              <a:rPr lang="en-US"/>
              <a:t>é</a:t>
            </a:r>
            <a:r>
              <a:rPr lang="en-US">
                <a:latin typeface="Verdana" pitchFamily="34" charset="0"/>
              </a:rPr>
              <a:t>s de todo el lenguaje:</a:t>
            </a:r>
            <a:endParaRPr lang="en-US"/>
          </a:p>
          <a:p>
            <a:pPr lvl="1" indent="-342900" algn="l">
              <a:lnSpc>
                <a:spcPct val="95000"/>
              </a:lnSpc>
              <a:spcBef>
                <a:spcPct val="0"/>
              </a:spcBef>
              <a:buClr>
                <a:srgbClr val="FFFFFF"/>
              </a:buClr>
              <a:buFontTx/>
              <a:buChar char="•"/>
            </a:pPr>
            <a:r>
              <a:rPr lang="en-US" sz="2000">
                <a:latin typeface="Verdana" pitchFamily="34" charset="0"/>
              </a:rPr>
              <a:t>Especificaciones.</a:t>
            </a:r>
            <a:endParaRPr lang="en-US"/>
          </a:p>
          <a:p>
            <a:pPr lvl="1" indent="-342900" algn="l">
              <a:lnSpc>
                <a:spcPct val="95000"/>
              </a:lnSpc>
              <a:spcBef>
                <a:spcPct val="0"/>
              </a:spcBef>
              <a:buClr>
                <a:srgbClr val="FFFFFF"/>
              </a:buClr>
              <a:buFontTx/>
              <a:buChar char="•"/>
            </a:pPr>
            <a:r>
              <a:rPr lang="en-US" sz="2000">
                <a:latin typeface="Verdana" pitchFamily="34" charset="0"/>
              </a:rPr>
              <a:t>Adornos.</a:t>
            </a:r>
            <a:endParaRPr lang="en-US"/>
          </a:p>
          <a:p>
            <a:pPr lvl="1" indent="-342900" algn="l">
              <a:lnSpc>
                <a:spcPct val="95000"/>
              </a:lnSpc>
              <a:spcBef>
                <a:spcPct val="0"/>
              </a:spcBef>
              <a:buClr>
                <a:srgbClr val="FFFFFF"/>
              </a:buClr>
              <a:buFontTx/>
              <a:buChar char="•"/>
            </a:pPr>
            <a:r>
              <a:rPr lang="en-US" sz="2000">
                <a:latin typeface="Verdana" pitchFamily="34" charset="0"/>
              </a:rPr>
              <a:t>Divisiones comunes.</a:t>
            </a:r>
            <a:endParaRPr lang="en-US"/>
          </a:p>
          <a:p>
            <a:pPr lvl="1" indent="-342900" algn="l">
              <a:lnSpc>
                <a:spcPct val="95000"/>
              </a:lnSpc>
              <a:spcBef>
                <a:spcPct val="0"/>
              </a:spcBef>
              <a:buClr>
                <a:srgbClr val="FFFFFF"/>
              </a:buClr>
              <a:buFontTx/>
              <a:buChar char="•"/>
            </a:pPr>
            <a:r>
              <a:rPr lang="en-US" sz="2000">
                <a:latin typeface="Verdana" pitchFamily="34" charset="0"/>
              </a:rPr>
              <a:t>Mecanismos de extensibilidad.</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1 Rectángulo"/>
          <p:cNvSpPr>
            <a:spLocks noChangeArrowheads="1"/>
          </p:cNvSpPr>
          <p:nvPr/>
        </p:nvSpPr>
        <p:spPr bwMode="auto">
          <a:xfrm>
            <a:off x="239713" y="1411288"/>
            <a:ext cx="8643937" cy="3140075"/>
          </a:xfrm>
          <a:prstGeom prst="rect">
            <a:avLst/>
          </a:prstGeom>
          <a:noFill/>
          <a:ln w="9525">
            <a:noFill/>
            <a:miter lim="800000"/>
            <a:headEnd/>
            <a:tailEnd/>
          </a:ln>
        </p:spPr>
        <p:txBody>
          <a:bodyPr>
            <a:spAutoFit/>
          </a:bodyPr>
          <a:lstStyle/>
          <a:p>
            <a:pPr marL="800100" lvl="1" indent="-342900">
              <a:lnSpc>
                <a:spcPct val="200000"/>
              </a:lnSpc>
              <a:buFont typeface="Arial" charset="0"/>
              <a:buChar char="•"/>
            </a:pPr>
            <a:r>
              <a:rPr lang="es-ES_tradnl" sz="2000"/>
              <a:t>Conceptos del Modelo Relacional</a:t>
            </a:r>
          </a:p>
          <a:p>
            <a:pPr marL="800100" lvl="1" indent="-342900">
              <a:lnSpc>
                <a:spcPct val="200000"/>
              </a:lnSpc>
              <a:buFont typeface="Arial" charset="0"/>
              <a:buChar char="•"/>
            </a:pPr>
            <a:r>
              <a:rPr lang="es-ES_tradnl" sz="2000"/>
              <a:t>Restricciones Relacionales</a:t>
            </a:r>
          </a:p>
          <a:p>
            <a:pPr marL="800100" lvl="1" indent="-342900">
              <a:lnSpc>
                <a:spcPct val="200000"/>
              </a:lnSpc>
              <a:buFont typeface="Arial" charset="0"/>
              <a:buChar char="•"/>
            </a:pPr>
            <a:r>
              <a:rPr lang="es-ES_tradnl" sz="2000"/>
              <a:t>Integridad de Entidades, Integridad Referencial y Claves Externas</a:t>
            </a:r>
          </a:p>
          <a:p>
            <a:pPr marL="800100" lvl="1" indent="-342900">
              <a:lnSpc>
                <a:spcPct val="200000"/>
              </a:lnSpc>
              <a:buFont typeface="Arial" charset="0"/>
              <a:buChar char="•"/>
            </a:pPr>
            <a:r>
              <a:rPr lang="es-ES_tradnl" sz="2000"/>
              <a:t>Transformación de E-R a Modelo Relacional</a:t>
            </a:r>
          </a:p>
          <a:p>
            <a:pPr marL="800100" lvl="1" indent="-342900">
              <a:lnSpc>
                <a:spcPct val="200000"/>
              </a:lnSpc>
              <a:buFont typeface="Arial" charset="0"/>
              <a:buChar char="•"/>
            </a:pPr>
            <a:r>
              <a:rPr lang="es-ES_tradnl" sz="2000"/>
              <a:t>Transformación de los conceptos de E-R extendido en relaciones</a:t>
            </a:r>
            <a:endParaRPr lang="es-MX" sz="2000"/>
          </a:p>
        </p:txBody>
      </p:sp>
      <p:sp>
        <p:nvSpPr>
          <p:cNvPr id="177155"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78179" name="1 Rectángulo"/>
          <p:cNvSpPr>
            <a:spLocks noChangeArrowheads="1"/>
          </p:cNvSpPr>
          <p:nvPr/>
        </p:nvSpPr>
        <p:spPr bwMode="auto">
          <a:xfrm>
            <a:off x="536575" y="2133600"/>
            <a:ext cx="8067675" cy="3394075"/>
          </a:xfrm>
          <a:prstGeom prst="rect">
            <a:avLst/>
          </a:prstGeom>
          <a:noFill/>
          <a:ln w="9525" algn="ctr">
            <a:noFill/>
            <a:miter lim="800000"/>
            <a:headEnd/>
            <a:tailEnd/>
          </a:ln>
        </p:spPr>
        <p:txBody>
          <a:bodyPr>
            <a:spAutoFit/>
          </a:bodyPr>
          <a:lstStyle/>
          <a:p>
            <a:pPr marL="742950" lvl="1" indent="-285750" algn="just">
              <a:lnSpc>
                <a:spcPct val="150000"/>
              </a:lnSpc>
              <a:buFontTx/>
              <a:buChar char="•"/>
            </a:pPr>
            <a:r>
              <a:rPr lang="es-ES">
                <a:latin typeface="Calibri" pitchFamily="34" charset="0"/>
              </a:rPr>
              <a:t>Está basado en la teoría de conjuntos.</a:t>
            </a:r>
          </a:p>
          <a:p>
            <a:pPr marL="742950" lvl="1" indent="-285750" algn="just">
              <a:lnSpc>
                <a:spcPct val="150000"/>
              </a:lnSpc>
              <a:buFontTx/>
              <a:buChar char="•"/>
            </a:pPr>
            <a:r>
              <a:rPr lang="es-ES">
                <a:latin typeface="Calibri" pitchFamily="34" charset="0"/>
              </a:rPr>
              <a:t>Los datos se almacenan como tablas y los usuarios entienden con mayor facilidad.</a:t>
            </a:r>
          </a:p>
          <a:p>
            <a:pPr marL="742950" lvl="1" indent="-285750" algn="just">
              <a:lnSpc>
                <a:spcPct val="150000"/>
              </a:lnSpc>
              <a:buFontTx/>
              <a:buChar char="•"/>
            </a:pPr>
            <a:r>
              <a:rPr lang="es-ES"/>
              <a:t>Todas las entradas de cualquier columna son de un solo tipo. Cada columna posee un nombre único, el orden de las comunas no es de importancia para la tabla, las columnas de una tabla se conocen como atributos. </a:t>
            </a:r>
          </a:p>
          <a:p>
            <a:pPr marL="742950" lvl="1" indent="-285750" algn="just">
              <a:lnSpc>
                <a:spcPct val="150000"/>
              </a:lnSpc>
              <a:buFontTx/>
              <a:buChar char="•"/>
            </a:pPr>
            <a:r>
              <a:rPr lang="es-ES"/>
              <a:t>No existen 2 filas en la tabla que sean idénticas.</a:t>
            </a:r>
            <a:endParaRPr lang="es-MX"/>
          </a:p>
        </p:txBody>
      </p:sp>
      <p:sp>
        <p:nvSpPr>
          <p:cNvPr id="178180" name="2 CuadroTexto"/>
          <p:cNvSpPr txBox="1">
            <a:spLocks noChangeArrowheads="1"/>
          </p:cNvSpPr>
          <p:nvPr/>
        </p:nvSpPr>
        <p:spPr bwMode="auto">
          <a:xfrm>
            <a:off x="1150938" y="1333500"/>
            <a:ext cx="3997325"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b="1"/>
              <a:t>CARACTERÍSTICAS</a:t>
            </a:r>
            <a:endParaRPr lang="es-MX" b="1"/>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79203" name="2 CuadroTexto"/>
          <p:cNvSpPr txBox="1">
            <a:spLocks noChangeArrowheads="1"/>
          </p:cNvSpPr>
          <p:nvPr/>
        </p:nvSpPr>
        <p:spPr bwMode="auto">
          <a:xfrm>
            <a:off x="1116013" y="981075"/>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CONCEPTOS DEL MODELO RELACIONAL</a:t>
            </a:r>
          </a:p>
        </p:txBody>
      </p:sp>
      <p:sp>
        <p:nvSpPr>
          <p:cNvPr id="179204" name="1 Rectángulo"/>
          <p:cNvSpPr>
            <a:spLocks noChangeArrowheads="1"/>
          </p:cNvSpPr>
          <p:nvPr/>
        </p:nvSpPr>
        <p:spPr bwMode="auto">
          <a:xfrm>
            <a:off x="684213" y="1751013"/>
            <a:ext cx="8067675" cy="4125912"/>
          </a:xfrm>
          <a:prstGeom prst="rect">
            <a:avLst/>
          </a:prstGeom>
          <a:noFill/>
          <a:ln w="9525" algn="ctr">
            <a:noFill/>
            <a:miter lim="800000"/>
            <a:headEnd/>
            <a:tailEnd/>
          </a:ln>
        </p:spPr>
        <p:txBody>
          <a:bodyPr>
            <a:spAutoFit/>
          </a:bodyPr>
          <a:lstStyle/>
          <a:p>
            <a:pPr marL="742950" lvl="1" indent="-285750" algn="just">
              <a:lnSpc>
                <a:spcPct val="150000"/>
              </a:lnSpc>
              <a:buFontTx/>
              <a:buChar char="•"/>
            </a:pPr>
            <a:r>
              <a:rPr lang="es-ES" sz="1600" b="1">
                <a:latin typeface="Calibri" pitchFamily="34" charset="0"/>
              </a:rPr>
              <a:t>RELACIÓN</a:t>
            </a:r>
            <a:r>
              <a:rPr lang="es-ES" sz="1600">
                <a:latin typeface="Calibri" pitchFamily="34" charset="0"/>
              </a:rPr>
              <a:t>: Puede ser vista como una tabla. Se define por </a:t>
            </a:r>
            <a:r>
              <a:rPr lang="es-ES" sz="1600" b="1" u="sng">
                <a:solidFill>
                  <a:schemeClr val="accent2"/>
                </a:solidFill>
                <a:latin typeface="Calibri" pitchFamily="34" charset="0"/>
              </a:rPr>
              <a:t>R</a:t>
            </a:r>
            <a:r>
              <a:rPr lang="es-ES" sz="1600">
                <a:latin typeface="Calibri" pitchFamily="34" charset="0"/>
              </a:rPr>
              <a:t>.</a:t>
            </a:r>
          </a:p>
          <a:p>
            <a:pPr marL="742950" lvl="1" indent="-285750" algn="just">
              <a:lnSpc>
                <a:spcPct val="150000"/>
              </a:lnSpc>
              <a:buFontTx/>
              <a:buChar char="•"/>
            </a:pPr>
            <a:r>
              <a:rPr lang="es-ES" sz="1600" b="1">
                <a:latin typeface="Calibri" pitchFamily="34" charset="0"/>
              </a:rPr>
              <a:t>TUPLAS</a:t>
            </a:r>
            <a:r>
              <a:rPr lang="es-ES" sz="1600">
                <a:latin typeface="Calibri" pitchFamily="34" charset="0"/>
              </a:rPr>
              <a:t>: Son los elementos o filas de una relación. Se definen por </a:t>
            </a:r>
            <a:r>
              <a:rPr lang="es-ES" sz="1600" b="1" u="sng">
                <a:solidFill>
                  <a:schemeClr val="accent2"/>
                </a:solidFill>
                <a:latin typeface="Calibri" pitchFamily="34" charset="0"/>
              </a:rPr>
              <a:t>d</a:t>
            </a:r>
            <a:r>
              <a:rPr lang="es-ES" sz="1600">
                <a:latin typeface="Calibri" pitchFamily="34" charset="0"/>
              </a:rPr>
              <a:t>.</a:t>
            </a:r>
          </a:p>
          <a:p>
            <a:pPr marL="742950" lvl="1" indent="-285750" algn="just">
              <a:lnSpc>
                <a:spcPct val="150000"/>
              </a:lnSpc>
              <a:buFontTx/>
              <a:buChar char="•"/>
            </a:pPr>
            <a:r>
              <a:rPr lang="es-ES" sz="1600" b="1">
                <a:latin typeface="Calibri" pitchFamily="34" charset="0"/>
              </a:rPr>
              <a:t>ATRIBUTOS</a:t>
            </a:r>
            <a:r>
              <a:rPr lang="es-ES" sz="1600">
                <a:latin typeface="Calibri" pitchFamily="34" charset="0"/>
              </a:rPr>
              <a:t>: Son los nombres de las columnas de la relación o tabla. El conjunto (ordenado) de todos los atributos de una relación </a:t>
            </a:r>
            <a:r>
              <a:rPr lang="es-ES" sz="1600" i="1">
                <a:latin typeface="Calibri" pitchFamily="34" charset="0"/>
              </a:rPr>
              <a:t>R</a:t>
            </a:r>
            <a:r>
              <a:rPr lang="es-ES" sz="1600">
                <a:latin typeface="Calibri" pitchFamily="34" charset="0"/>
              </a:rPr>
              <a:t> es el </a:t>
            </a:r>
            <a:r>
              <a:rPr lang="es-ES" sz="1600" b="1" i="1" u="sng">
                <a:solidFill>
                  <a:schemeClr val="accent2"/>
                </a:solidFill>
                <a:latin typeface="Calibri" pitchFamily="34" charset="0"/>
              </a:rPr>
              <a:t>esquema</a:t>
            </a:r>
            <a:r>
              <a:rPr lang="es-ES" sz="1600" b="1" u="sng">
                <a:solidFill>
                  <a:schemeClr val="accent2"/>
                </a:solidFill>
                <a:latin typeface="Calibri" pitchFamily="34" charset="0"/>
              </a:rPr>
              <a:t> de </a:t>
            </a:r>
            <a:r>
              <a:rPr lang="es-ES" sz="1600" b="1" i="1" u="sng">
                <a:solidFill>
                  <a:schemeClr val="accent2"/>
                </a:solidFill>
                <a:latin typeface="Calibri" pitchFamily="34" charset="0"/>
              </a:rPr>
              <a:t>R</a:t>
            </a:r>
            <a:r>
              <a:rPr lang="es-ES" sz="1600">
                <a:latin typeface="Calibri" pitchFamily="34" charset="0"/>
              </a:rPr>
              <a:t>. Nos podemos referir a los atributos de una relación mediante su </a:t>
            </a:r>
            <a:r>
              <a:rPr lang="es-ES" sz="1600" i="1">
                <a:latin typeface="Calibri" pitchFamily="34" charset="0"/>
              </a:rPr>
              <a:t>nombre</a:t>
            </a:r>
            <a:r>
              <a:rPr lang="es-ES" sz="1600">
                <a:latin typeface="Calibri" pitchFamily="34" charset="0"/>
              </a:rPr>
              <a:t> o por la </a:t>
            </a:r>
            <a:r>
              <a:rPr lang="es-ES" sz="1600" i="1">
                <a:latin typeface="Calibri" pitchFamily="34" charset="0"/>
              </a:rPr>
              <a:t>posición</a:t>
            </a:r>
            <a:r>
              <a:rPr lang="es-ES" sz="1600">
                <a:latin typeface="Calibri" pitchFamily="34" charset="0"/>
              </a:rPr>
              <a:t> (número de columna) que el atributo ocupa en el esquema de la relación. </a:t>
            </a:r>
          </a:p>
          <a:p>
            <a:pPr marL="742950" lvl="1" indent="-285750" algn="just">
              <a:lnSpc>
                <a:spcPct val="150000"/>
              </a:lnSpc>
              <a:buFontTx/>
              <a:buChar char="•"/>
            </a:pPr>
            <a:r>
              <a:rPr lang="es-ES" sz="1600" b="1">
                <a:latin typeface="Calibri" pitchFamily="34" charset="0"/>
              </a:rPr>
              <a:t>DOMINIO</a:t>
            </a:r>
            <a:r>
              <a:rPr lang="es-ES" sz="1600">
                <a:latin typeface="Calibri" pitchFamily="34" charset="0"/>
              </a:rPr>
              <a:t>: Es la colección de valores posibles para un determinado atributo. Se define por </a:t>
            </a:r>
            <a:r>
              <a:rPr lang="es-ES" sz="1600" b="1" u="sng">
                <a:solidFill>
                  <a:schemeClr val="accent2"/>
                </a:solidFill>
                <a:latin typeface="Calibri" pitchFamily="34" charset="0"/>
              </a:rPr>
              <a:t>D</a:t>
            </a:r>
            <a:r>
              <a:rPr lang="es-ES" sz="1600">
                <a:latin typeface="Calibri" pitchFamily="34" charset="0"/>
              </a:rPr>
              <a:t>.</a:t>
            </a:r>
          </a:p>
          <a:p>
            <a:pPr marL="742950" lvl="1" indent="-285750" algn="just">
              <a:lnSpc>
                <a:spcPct val="150000"/>
              </a:lnSpc>
              <a:buFontTx/>
              <a:buChar char="•"/>
            </a:pPr>
            <a:r>
              <a:rPr lang="es-ES" sz="1600" b="1">
                <a:latin typeface="Calibri" pitchFamily="34" charset="0"/>
              </a:rPr>
              <a:t>GRADO O ARIDAD DE LA RELACIÓN: </a:t>
            </a:r>
            <a:r>
              <a:rPr lang="es-ES" sz="1600">
                <a:latin typeface="Calibri" pitchFamily="34" charset="0"/>
              </a:rPr>
              <a:t>Número de atributos de la relación.</a:t>
            </a:r>
          </a:p>
          <a:p>
            <a:pPr marL="742950" lvl="1" indent="-285750" algn="just">
              <a:lnSpc>
                <a:spcPct val="150000"/>
              </a:lnSpc>
              <a:buFontTx/>
              <a:buChar char="•"/>
            </a:pPr>
            <a:r>
              <a:rPr lang="es-ES" sz="1600" b="1">
                <a:latin typeface="Calibri" pitchFamily="34" charset="0"/>
              </a:rPr>
              <a:t>CARDINALIDAD DE LA RELACIÓN</a:t>
            </a:r>
            <a:r>
              <a:rPr lang="es-ES" sz="1600">
                <a:latin typeface="Calibri" pitchFamily="34" charset="0"/>
              </a:rPr>
              <a:t>: Es el número de tuplas de la relación.</a:t>
            </a:r>
            <a:endParaRPr lang="es-MX" sz="1600">
              <a:latin typeface="Calibri" pitchFamily="34" charset="0"/>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graphicFrame>
        <p:nvGraphicFramePr>
          <p:cNvPr id="199763" name="Group 83"/>
          <p:cNvGraphicFramePr>
            <a:graphicFrameLocks noGrp="1"/>
          </p:cNvGraphicFramePr>
          <p:nvPr/>
        </p:nvGraphicFramePr>
        <p:xfrm>
          <a:off x="1568450" y="2368550"/>
          <a:ext cx="6388100" cy="2932751"/>
        </p:xfrm>
        <a:graphic>
          <a:graphicData uri="http://schemas.openxmlformats.org/drawingml/2006/table">
            <a:tbl>
              <a:tblPr/>
              <a:tblGrid>
                <a:gridCol w="2978150">
                  <a:extLst>
                    <a:ext uri="{9D8B030D-6E8A-4147-A177-3AD203B41FA5}">
                      <a16:colId xmlns:a16="http://schemas.microsoft.com/office/drawing/2014/main" val="20000"/>
                    </a:ext>
                  </a:extLst>
                </a:gridCol>
                <a:gridCol w="3409950">
                  <a:extLst>
                    <a:ext uri="{9D8B030D-6E8A-4147-A177-3AD203B41FA5}">
                      <a16:colId xmlns:a16="http://schemas.microsoft.com/office/drawing/2014/main" val="20001"/>
                    </a:ext>
                  </a:extLst>
                </a:gridCol>
              </a:tblGrid>
              <a:tr h="36671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1" i="0" u="none" strike="noStrike" cap="none" normalizeH="0" baseline="0">
                          <a:ln>
                            <a:noFill/>
                          </a:ln>
                          <a:solidFill>
                            <a:schemeClr val="tx1"/>
                          </a:solidFill>
                          <a:effectLst/>
                          <a:latin typeface="Arial" charset="0"/>
                        </a:rPr>
                        <a:t>Término relacional formal</a:t>
                      </a:r>
                      <a:endParaRPr kumimoji="0" lang="es-E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1" i="0" u="none" strike="noStrike" cap="none" normalizeH="0" baseline="0">
                          <a:ln>
                            <a:noFill/>
                          </a:ln>
                          <a:solidFill>
                            <a:schemeClr val="tx1"/>
                          </a:solidFill>
                          <a:effectLst/>
                          <a:latin typeface="Arial" charset="0"/>
                        </a:rPr>
                        <a:t>Equivalente informal</a:t>
                      </a:r>
                      <a:endParaRPr kumimoji="0" lang="es-ES" sz="18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671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a:ln>
                            <a:noFill/>
                          </a:ln>
                          <a:solidFill>
                            <a:schemeClr val="tx1"/>
                          </a:solidFill>
                          <a:effectLst/>
                          <a:latin typeface="Arial" charset="0"/>
                        </a:rPr>
                        <a:t>Relación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a:ln>
                            <a:noFill/>
                          </a:ln>
                          <a:solidFill>
                            <a:schemeClr val="tx1"/>
                          </a:solidFill>
                          <a:effectLst/>
                          <a:latin typeface="Arial" charset="0"/>
                        </a:rPr>
                        <a:t>Tabla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162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a:ln>
                            <a:noFill/>
                          </a:ln>
                          <a:solidFill>
                            <a:schemeClr val="tx1"/>
                          </a:solidFill>
                          <a:effectLst/>
                          <a:latin typeface="Arial" charset="0"/>
                        </a:rPr>
                        <a:t>Tupla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a:ln>
                            <a:noFill/>
                          </a:ln>
                          <a:solidFill>
                            <a:schemeClr val="tx1"/>
                          </a:solidFill>
                          <a:effectLst/>
                          <a:latin typeface="Arial" charset="0"/>
                        </a:rPr>
                        <a:t>Fila o registro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671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a:ln>
                            <a:noFill/>
                          </a:ln>
                          <a:solidFill>
                            <a:schemeClr val="tx1"/>
                          </a:solidFill>
                          <a:effectLst/>
                          <a:latin typeface="Arial" charset="0"/>
                        </a:rPr>
                        <a:t>Cardinalidad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a:ln>
                            <a:noFill/>
                          </a:ln>
                          <a:solidFill>
                            <a:schemeClr val="tx1"/>
                          </a:solidFill>
                          <a:effectLst/>
                          <a:latin typeface="Arial" charset="0"/>
                        </a:rPr>
                        <a:t>Número de filas o registros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671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a:ln>
                            <a:noFill/>
                          </a:ln>
                          <a:solidFill>
                            <a:schemeClr val="tx1"/>
                          </a:solidFill>
                          <a:effectLst/>
                          <a:latin typeface="Arial" charset="0"/>
                        </a:rPr>
                        <a:t>Atributo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a:ln>
                            <a:noFill/>
                          </a:ln>
                          <a:solidFill>
                            <a:schemeClr val="tx1"/>
                          </a:solidFill>
                          <a:effectLst/>
                          <a:latin typeface="Arial" charset="0"/>
                        </a:rPr>
                        <a:t>Columna o campo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671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a:ln>
                            <a:noFill/>
                          </a:ln>
                          <a:solidFill>
                            <a:schemeClr val="tx1"/>
                          </a:solidFill>
                          <a:effectLst/>
                          <a:latin typeface="Arial" charset="0"/>
                        </a:rPr>
                        <a:t>Grado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a:ln>
                            <a:noFill/>
                          </a:ln>
                          <a:solidFill>
                            <a:schemeClr val="tx1"/>
                          </a:solidFill>
                          <a:effectLst/>
                          <a:latin typeface="Arial" charset="0"/>
                        </a:rPr>
                        <a:t>Número de columnas o campos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671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a:ln>
                            <a:noFill/>
                          </a:ln>
                          <a:solidFill>
                            <a:schemeClr val="tx1"/>
                          </a:solidFill>
                          <a:effectLst/>
                          <a:latin typeface="Arial" charset="0"/>
                        </a:rPr>
                        <a:t>Clave primaria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a:ln>
                            <a:noFill/>
                          </a:ln>
                          <a:solidFill>
                            <a:schemeClr val="tx1"/>
                          </a:solidFill>
                          <a:effectLst/>
                          <a:latin typeface="Arial" charset="0"/>
                        </a:rPr>
                        <a:t>Identificador único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671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a:ln>
                            <a:noFill/>
                          </a:ln>
                          <a:solidFill>
                            <a:schemeClr val="tx1"/>
                          </a:solidFill>
                          <a:effectLst/>
                          <a:latin typeface="Arial" charset="0"/>
                        </a:rPr>
                        <a:t>Dominio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a:ln>
                            <a:noFill/>
                          </a:ln>
                          <a:solidFill>
                            <a:schemeClr val="tx1"/>
                          </a:solidFill>
                          <a:effectLst/>
                          <a:latin typeface="Arial" charset="0"/>
                        </a:rPr>
                        <a:t>Fondos de valores legales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80256" name="2 CuadroTexto"/>
          <p:cNvSpPr txBox="1">
            <a:spLocks noChangeArrowheads="1"/>
          </p:cNvSpPr>
          <p:nvPr/>
        </p:nvSpPr>
        <p:spPr bwMode="auto">
          <a:xfrm>
            <a:off x="1116013" y="981075"/>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CONCEPTOS DEL MODELO RELACIONAL</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7779" name="Group 147"/>
          <p:cNvGraphicFramePr>
            <a:graphicFrameLocks noGrp="1"/>
          </p:cNvGraphicFramePr>
          <p:nvPr/>
        </p:nvGraphicFramePr>
        <p:xfrm>
          <a:off x="2124075" y="2884488"/>
          <a:ext cx="6624638" cy="2200278"/>
        </p:xfrm>
        <a:graphic>
          <a:graphicData uri="http://schemas.openxmlformats.org/drawingml/2006/table">
            <a:tbl>
              <a:tblPr/>
              <a:tblGrid>
                <a:gridCol w="449263">
                  <a:extLst>
                    <a:ext uri="{9D8B030D-6E8A-4147-A177-3AD203B41FA5}">
                      <a16:colId xmlns:a16="http://schemas.microsoft.com/office/drawing/2014/main" val="20000"/>
                    </a:ext>
                  </a:extLst>
                </a:gridCol>
                <a:gridCol w="1322387">
                  <a:extLst>
                    <a:ext uri="{9D8B030D-6E8A-4147-A177-3AD203B41FA5}">
                      <a16:colId xmlns:a16="http://schemas.microsoft.com/office/drawing/2014/main" val="20001"/>
                    </a:ext>
                  </a:extLst>
                </a:gridCol>
                <a:gridCol w="2103438">
                  <a:extLst>
                    <a:ext uri="{9D8B030D-6E8A-4147-A177-3AD203B41FA5}">
                      <a16:colId xmlns:a16="http://schemas.microsoft.com/office/drawing/2014/main" val="20002"/>
                    </a:ext>
                  </a:extLst>
                </a:gridCol>
                <a:gridCol w="635000">
                  <a:extLst>
                    <a:ext uri="{9D8B030D-6E8A-4147-A177-3AD203B41FA5}">
                      <a16:colId xmlns:a16="http://schemas.microsoft.com/office/drawing/2014/main" val="20003"/>
                    </a:ext>
                  </a:extLst>
                </a:gridCol>
                <a:gridCol w="2114550">
                  <a:extLst>
                    <a:ext uri="{9D8B030D-6E8A-4147-A177-3AD203B41FA5}">
                      <a16:colId xmlns:a16="http://schemas.microsoft.com/office/drawing/2014/main" val="20004"/>
                    </a:ext>
                  </a:extLst>
                </a:gridCol>
              </a:tblGrid>
              <a:tr h="36671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1" i="0" u="none" strike="noStrike" cap="none" normalizeH="0" baseline="0">
                          <a:ln>
                            <a:noFill/>
                          </a:ln>
                          <a:solidFill>
                            <a:schemeClr val="tx1"/>
                          </a:solidFill>
                          <a:effectLst/>
                          <a:latin typeface="Arial" charset="0"/>
                        </a:rPr>
                        <a:t>ID</a:t>
                      </a:r>
                      <a:endParaRPr kumimoji="0" lang="es-ES" sz="16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1" i="0" u="none" strike="noStrike" cap="none" normalizeH="0" baseline="0">
                          <a:ln>
                            <a:noFill/>
                          </a:ln>
                          <a:solidFill>
                            <a:schemeClr val="tx1"/>
                          </a:solidFill>
                          <a:effectLst/>
                          <a:latin typeface="Arial" charset="0"/>
                        </a:rPr>
                        <a:t>PROFESOR</a:t>
                      </a:r>
                      <a:endParaRPr kumimoji="0" lang="es-ES" sz="16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1" i="0" u="none" strike="noStrike" cap="none" normalizeH="0" baseline="0">
                          <a:ln>
                            <a:noFill/>
                          </a:ln>
                          <a:solidFill>
                            <a:schemeClr val="tx1"/>
                          </a:solidFill>
                          <a:effectLst/>
                          <a:latin typeface="Arial" charset="0"/>
                        </a:rPr>
                        <a:t>CURSO</a:t>
                      </a:r>
                      <a:endParaRPr kumimoji="0" lang="es-ES" sz="16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1" i="0" u="none" strike="noStrike" cap="none" normalizeH="0" baseline="0">
                          <a:ln>
                            <a:noFill/>
                          </a:ln>
                          <a:solidFill>
                            <a:schemeClr val="tx1"/>
                          </a:solidFill>
                          <a:effectLst/>
                          <a:latin typeface="Arial" charset="0"/>
                        </a:rPr>
                        <a:t>AÑO</a:t>
                      </a:r>
                      <a:endParaRPr kumimoji="0" lang="es-ES" sz="16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1" i="0" u="none" strike="noStrike" cap="none" normalizeH="0" baseline="0">
                          <a:ln>
                            <a:noFill/>
                          </a:ln>
                          <a:solidFill>
                            <a:schemeClr val="tx1"/>
                          </a:solidFill>
                          <a:effectLst/>
                          <a:latin typeface="Arial" charset="0"/>
                        </a:rPr>
                        <a:t>DEPARTAMENTO</a:t>
                      </a:r>
                      <a:endParaRPr kumimoji="0" lang="es-ES" sz="16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671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Isabel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Bases de datos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1991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Informática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671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Marcos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Física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1994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Ciencias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671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Verónica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Modelado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1995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Informática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671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Clara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Matemáticas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1994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Ciencias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671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Martha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Lingüística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1990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Lexicografía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81294"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81295" name="2 CuadroTexto"/>
          <p:cNvSpPr txBox="1">
            <a:spLocks noChangeArrowheads="1"/>
          </p:cNvSpPr>
          <p:nvPr/>
        </p:nvSpPr>
        <p:spPr bwMode="auto">
          <a:xfrm>
            <a:off x="1116013" y="981075"/>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CONCEPTOS DEL MODELO RELACIONAL</a:t>
            </a:r>
          </a:p>
        </p:txBody>
      </p:sp>
      <p:sp>
        <p:nvSpPr>
          <p:cNvPr id="181296" name="Text Box 142"/>
          <p:cNvSpPr txBox="1">
            <a:spLocks noChangeArrowheads="1"/>
          </p:cNvSpPr>
          <p:nvPr/>
        </p:nvSpPr>
        <p:spPr bwMode="auto">
          <a:xfrm>
            <a:off x="301625" y="2924175"/>
            <a:ext cx="1174750" cy="366713"/>
          </a:xfrm>
          <a:prstGeom prst="rect">
            <a:avLst/>
          </a:prstGeom>
          <a:noFill/>
          <a:ln w="9525">
            <a:noFill/>
            <a:miter lim="800000"/>
            <a:headEnd/>
            <a:tailEnd/>
          </a:ln>
        </p:spPr>
        <p:txBody>
          <a:bodyPr wrap="none">
            <a:spAutoFit/>
          </a:bodyPr>
          <a:lstStyle/>
          <a:p>
            <a:r>
              <a:rPr lang="es-ES" b="1">
                <a:solidFill>
                  <a:schemeClr val="accent2"/>
                </a:solidFill>
              </a:rPr>
              <a:t>cabecera</a:t>
            </a:r>
          </a:p>
        </p:txBody>
      </p:sp>
      <p:sp>
        <p:nvSpPr>
          <p:cNvPr id="181297" name="Text Box 143"/>
          <p:cNvSpPr txBox="1">
            <a:spLocks noChangeArrowheads="1"/>
          </p:cNvSpPr>
          <p:nvPr/>
        </p:nvSpPr>
        <p:spPr bwMode="auto">
          <a:xfrm>
            <a:off x="457200" y="4076700"/>
            <a:ext cx="946150" cy="366713"/>
          </a:xfrm>
          <a:prstGeom prst="rect">
            <a:avLst/>
          </a:prstGeom>
          <a:noFill/>
          <a:ln w="9525">
            <a:noFill/>
            <a:miter lim="800000"/>
            <a:headEnd/>
            <a:tailEnd/>
          </a:ln>
        </p:spPr>
        <p:txBody>
          <a:bodyPr wrap="none">
            <a:spAutoFit/>
          </a:bodyPr>
          <a:lstStyle/>
          <a:p>
            <a:r>
              <a:rPr lang="es-ES" b="1">
                <a:solidFill>
                  <a:schemeClr val="accent2"/>
                </a:solidFill>
              </a:rPr>
              <a:t>cuerpo</a:t>
            </a:r>
          </a:p>
        </p:txBody>
      </p:sp>
      <p:sp>
        <p:nvSpPr>
          <p:cNvPr id="181298" name="Text Box 144"/>
          <p:cNvSpPr txBox="1">
            <a:spLocks noChangeArrowheads="1"/>
          </p:cNvSpPr>
          <p:nvPr/>
        </p:nvSpPr>
        <p:spPr bwMode="auto">
          <a:xfrm>
            <a:off x="808038" y="1865313"/>
            <a:ext cx="3473450" cy="366712"/>
          </a:xfrm>
          <a:prstGeom prst="rect">
            <a:avLst/>
          </a:prstGeom>
          <a:noFill/>
          <a:ln w="9525">
            <a:noFill/>
            <a:miter lim="800000"/>
            <a:headEnd/>
            <a:tailEnd/>
          </a:ln>
        </p:spPr>
        <p:txBody>
          <a:bodyPr wrap="none">
            <a:spAutoFit/>
          </a:bodyPr>
          <a:lstStyle/>
          <a:p>
            <a:r>
              <a:rPr lang="es-ES"/>
              <a:t>Una relación consta de 2 partes:</a:t>
            </a:r>
          </a:p>
        </p:txBody>
      </p:sp>
      <p:sp>
        <p:nvSpPr>
          <p:cNvPr id="181299" name="AutoShape 145"/>
          <p:cNvSpPr>
            <a:spLocks/>
          </p:cNvSpPr>
          <p:nvPr/>
        </p:nvSpPr>
        <p:spPr bwMode="auto">
          <a:xfrm>
            <a:off x="1619250" y="2909888"/>
            <a:ext cx="215900" cy="360362"/>
          </a:xfrm>
          <a:prstGeom prst="leftBrace">
            <a:avLst>
              <a:gd name="adj1" fmla="val 13909"/>
              <a:gd name="adj2" fmla="val 50000"/>
            </a:avLst>
          </a:prstGeom>
          <a:noFill/>
          <a:ln w="9525">
            <a:solidFill>
              <a:schemeClr val="tx1"/>
            </a:solidFill>
            <a:round/>
            <a:headEnd/>
            <a:tailEnd/>
          </a:ln>
        </p:spPr>
        <p:txBody>
          <a:bodyPr wrap="none" anchor="ctr"/>
          <a:lstStyle/>
          <a:p>
            <a:endParaRPr lang="es-ES"/>
          </a:p>
        </p:txBody>
      </p:sp>
      <p:sp>
        <p:nvSpPr>
          <p:cNvPr id="181300" name="AutoShape 146"/>
          <p:cNvSpPr>
            <a:spLocks/>
          </p:cNvSpPr>
          <p:nvPr/>
        </p:nvSpPr>
        <p:spPr bwMode="auto">
          <a:xfrm>
            <a:off x="1547813" y="3357563"/>
            <a:ext cx="287337" cy="1800225"/>
          </a:xfrm>
          <a:prstGeom prst="leftBrace">
            <a:avLst>
              <a:gd name="adj1" fmla="val 52210"/>
              <a:gd name="adj2" fmla="val 50000"/>
            </a:avLst>
          </a:prstGeom>
          <a:noFill/>
          <a:ln w="9525">
            <a:solidFill>
              <a:schemeClr val="tx1"/>
            </a:solidFill>
            <a:round/>
            <a:headEnd/>
            <a:tailEnd/>
          </a:ln>
        </p:spPr>
        <p:txBody>
          <a:bodyPr wrap="none" anchor="ctr"/>
          <a:lstStyle/>
          <a:p>
            <a:endParaRPr lang="es-E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82275" name="2 CuadroTexto"/>
          <p:cNvSpPr txBox="1">
            <a:spLocks noChangeArrowheads="1"/>
          </p:cNvSpPr>
          <p:nvPr/>
        </p:nvSpPr>
        <p:spPr bwMode="auto">
          <a:xfrm>
            <a:off x="1116013" y="981075"/>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TIPOS DE RELACIONES</a:t>
            </a:r>
          </a:p>
        </p:txBody>
      </p:sp>
      <p:sp>
        <p:nvSpPr>
          <p:cNvPr id="182276" name="1 Rectángulo"/>
          <p:cNvSpPr>
            <a:spLocks noChangeArrowheads="1"/>
          </p:cNvSpPr>
          <p:nvPr/>
        </p:nvSpPr>
        <p:spPr bwMode="auto">
          <a:xfrm>
            <a:off x="684213" y="1939925"/>
            <a:ext cx="8067675" cy="3714750"/>
          </a:xfrm>
          <a:prstGeom prst="rect">
            <a:avLst/>
          </a:prstGeom>
          <a:noFill/>
          <a:ln w="9525" algn="ctr">
            <a:noFill/>
            <a:miter lim="800000"/>
            <a:headEnd/>
            <a:tailEnd/>
          </a:ln>
        </p:spPr>
        <p:txBody>
          <a:bodyPr>
            <a:spAutoFit/>
          </a:bodyPr>
          <a:lstStyle/>
          <a:p>
            <a:pPr marL="742950" lvl="1" indent="-285750"/>
            <a:r>
              <a:rPr lang="es-ES" sz="1700" b="1"/>
              <a:t>Relaciones base o reales:</a:t>
            </a:r>
            <a:r>
              <a:rPr lang="es-ES" sz="1700"/>
              <a:t> es lo que corresponde al concepto de tabla. El conjunto de éstas son las que componen la base de datos realmente.</a:t>
            </a:r>
          </a:p>
          <a:p>
            <a:pPr marL="742950" lvl="1" indent="-285750"/>
            <a:endParaRPr lang="es-ES" sz="1700"/>
          </a:p>
          <a:p>
            <a:pPr marL="742950" lvl="1" indent="-285750"/>
            <a:r>
              <a:rPr lang="es-ES" sz="1700" b="1"/>
              <a:t>Conjunto dinámico de datos:</a:t>
            </a:r>
            <a:r>
              <a:rPr lang="es-ES" sz="1700"/>
              <a:t> no poseen datos almacenados propios y están representadas únicamente dentro del sistema mediante su definición en términos de otras relaciones (es decir, mediante consultas). </a:t>
            </a:r>
          </a:p>
          <a:p>
            <a:pPr marL="742950" lvl="1" indent="-285750"/>
            <a:endParaRPr lang="es-ES" sz="1700"/>
          </a:p>
          <a:p>
            <a:pPr marL="742950" lvl="1" indent="-285750"/>
            <a:r>
              <a:rPr lang="es-ES" sz="1700" b="1"/>
              <a:t>Instantáneas (snapshots):</a:t>
            </a:r>
            <a:r>
              <a:rPr lang="es-ES" sz="1700"/>
              <a:t> iguales que las anteriores, pero los datos que contienen no son virtuales, sino que están realmente almacenados en la instantánea. Se utilizan para manejar datos susceptibles de cambios.</a:t>
            </a:r>
          </a:p>
          <a:p>
            <a:pPr marL="742950" lvl="1" indent="-285750"/>
            <a:endParaRPr lang="es-ES" sz="1700"/>
          </a:p>
          <a:p>
            <a:pPr marL="742950" lvl="1" indent="-285750"/>
            <a:r>
              <a:rPr lang="es-ES" sz="1700" b="1"/>
              <a:t>Resultados intermedios:</a:t>
            </a:r>
            <a:r>
              <a:rPr lang="es-ES" sz="1700"/>
              <a:t> el resultado de una operación anidada en una consulta, estos resultados son usados por la consulta externa para otra operación.</a:t>
            </a:r>
            <a:endParaRPr lang="es-MX" sz="170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83299" name="2 CuadroTexto"/>
          <p:cNvSpPr txBox="1">
            <a:spLocks noChangeArrowheads="1"/>
          </p:cNvSpPr>
          <p:nvPr/>
        </p:nvSpPr>
        <p:spPr bwMode="auto">
          <a:xfrm>
            <a:off x="1116013" y="981075"/>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CLAVES PRIMARIAS</a:t>
            </a:r>
          </a:p>
        </p:txBody>
      </p:sp>
      <p:sp>
        <p:nvSpPr>
          <p:cNvPr id="183300" name="1 Rectángulo"/>
          <p:cNvSpPr>
            <a:spLocks noChangeArrowheads="1"/>
          </p:cNvSpPr>
          <p:nvPr/>
        </p:nvSpPr>
        <p:spPr bwMode="auto">
          <a:xfrm>
            <a:off x="684213" y="2292350"/>
            <a:ext cx="8067675" cy="2289175"/>
          </a:xfrm>
          <a:prstGeom prst="rect">
            <a:avLst/>
          </a:prstGeom>
          <a:noFill/>
          <a:ln w="9525" algn="ctr">
            <a:noFill/>
            <a:miter lim="800000"/>
            <a:headEnd/>
            <a:tailEnd/>
          </a:ln>
        </p:spPr>
        <p:txBody>
          <a:bodyPr>
            <a:spAutoFit/>
          </a:bodyPr>
          <a:lstStyle/>
          <a:p>
            <a:pPr marL="742950" lvl="1" indent="-285750"/>
            <a:r>
              <a:rPr lang="es-ES" b="1"/>
              <a:t>Semántica ó Inteligente: </a:t>
            </a:r>
            <a:r>
              <a:rPr lang="es-ES"/>
              <a:t>Es aquella que tiene significado por sí misma, independientemente de que sea o no la clave, es decir que el o los atributos que la conformen contengan valores que describan "realmente" a la entidad reflejada en la tupla, por ejemplo, los apellidos o el DNI en una relación que denote personas</a:t>
            </a:r>
          </a:p>
          <a:p>
            <a:pPr marL="742950" lvl="1" indent="-285750"/>
            <a:endParaRPr lang="es-ES"/>
          </a:p>
          <a:p>
            <a:pPr marL="742950" lvl="1" indent="-285750"/>
            <a:r>
              <a:rPr lang="es-ES" b="1"/>
              <a:t>Subrogada:</a:t>
            </a:r>
            <a:r>
              <a:rPr lang="es-ES"/>
              <a:t> Es una clave arbitraria cuya única función es la de identificar la entidad designada por la tupla. </a:t>
            </a:r>
            <a:endParaRPr lang="es-MX"/>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84323" name="2 CuadroTexto"/>
          <p:cNvSpPr txBox="1">
            <a:spLocks noChangeArrowheads="1"/>
          </p:cNvSpPr>
          <p:nvPr/>
        </p:nvSpPr>
        <p:spPr bwMode="auto">
          <a:xfrm>
            <a:off x="1116013" y="981075"/>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RELACIONES E INTERRELACIONES</a:t>
            </a:r>
          </a:p>
        </p:txBody>
      </p:sp>
      <p:sp>
        <p:nvSpPr>
          <p:cNvPr id="184324" name="1 Rectángulo"/>
          <p:cNvSpPr>
            <a:spLocks noChangeArrowheads="1"/>
          </p:cNvSpPr>
          <p:nvPr/>
        </p:nvSpPr>
        <p:spPr bwMode="auto">
          <a:xfrm>
            <a:off x="684213" y="1751013"/>
            <a:ext cx="8067675" cy="581025"/>
          </a:xfrm>
          <a:prstGeom prst="rect">
            <a:avLst/>
          </a:prstGeom>
          <a:noFill/>
          <a:ln w="9525" algn="ctr">
            <a:noFill/>
            <a:miter lim="800000"/>
            <a:headEnd/>
            <a:tailEnd/>
          </a:ln>
        </p:spPr>
        <p:txBody>
          <a:bodyPr>
            <a:spAutoFit/>
          </a:bodyPr>
          <a:lstStyle/>
          <a:p>
            <a:pPr marL="742950" lvl="1" indent="-285750"/>
            <a:r>
              <a:rPr lang="es-ES" sz="1600"/>
              <a:t>Las </a:t>
            </a:r>
            <a:r>
              <a:rPr lang="es-ES" sz="1600" b="1"/>
              <a:t>Relaciones</a:t>
            </a:r>
            <a:r>
              <a:rPr lang="es-ES" sz="1600"/>
              <a:t> son las tablas y la </a:t>
            </a:r>
            <a:r>
              <a:rPr lang="es-ES" sz="1600" b="1"/>
              <a:t>Interrelación</a:t>
            </a:r>
            <a:r>
              <a:rPr lang="es-ES" sz="1600"/>
              <a:t> es la correspondencia de datos entre ellas.</a:t>
            </a:r>
            <a:endParaRPr lang="es-MX" sz="1600"/>
          </a:p>
        </p:txBody>
      </p:sp>
      <p:sp>
        <p:nvSpPr>
          <p:cNvPr id="184325" name="Rectangle 5"/>
          <p:cNvSpPr>
            <a:spLocks noChangeArrowheads="1"/>
          </p:cNvSpPr>
          <p:nvPr/>
        </p:nvSpPr>
        <p:spPr bwMode="auto">
          <a:xfrm>
            <a:off x="755650" y="2760663"/>
            <a:ext cx="6913563" cy="336550"/>
          </a:xfrm>
          <a:prstGeom prst="rect">
            <a:avLst/>
          </a:prstGeom>
          <a:noFill/>
          <a:ln w="9525" algn="ctr">
            <a:noFill/>
            <a:miter lim="800000"/>
            <a:headEnd/>
            <a:tailEnd/>
          </a:ln>
        </p:spPr>
        <p:txBody>
          <a:bodyPr>
            <a:spAutoFit/>
          </a:bodyPr>
          <a:lstStyle/>
          <a:p>
            <a:r>
              <a:rPr lang="es-ES" sz="1600" b="1"/>
              <a:t>Ejemplo:</a:t>
            </a:r>
          </a:p>
        </p:txBody>
      </p:sp>
      <p:graphicFrame>
        <p:nvGraphicFramePr>
          <p:cNvPr id="202803" name="Group 51"/>
          <p:cNvGraphicFramePr>
            <a:graphicFrameLocks noGrp="1"/>
          </p:cNvGraphicFramePr>
          <p:nvPr/>
        </p:nvGraphicFramePr>
        <p:xfrm>
          <a:off x="1547813" y="3506788"/>
          <a:ext cx="6624637" cy="2011680"/>
        </p:xfrm>
        <a:graphic>
          <a:graphicData uri="http://schemas.openxmlformats.org/drawingml/2006/table">
            <a:tbl>
              <a:tblPr/>
              <a:tblGrid>
                <a:gridCol w="449262">
                  <a:extLst>
                    <a:ext uri="{9D8B030D-6E8A-4147-A177-3AD203B41FA5}">
                      <a16:colId xmlns:a16="http://schemas.microsoft.com/office/drawing/2014/main" val="20000"/>
                    </a:ext>
                  </a:extLst>
                </a:gridCol>
                <a:gridCol w="1322388">
                  <a:extLst>
                    <a:ext uri="{9D8B030D-6E8A-4147-A177-3AD203B41FA5}">
                      <a16:colId xmlns:a16="http://schemas.microsoft.com/office/drawing/2014/main" val="20001"/>
                    </a:ext>
                  </a:extLst>
                </a:gridCol>
                <a:gridCol w="2103437">
                  <a:extLst>
                    <a:ext uri="{9D8B030D-6E8A-4147-A177-3AD203B41FA5}">
                      <a16:colId xmlns:a16="http://schemas.microsoft.com/office/drawing/2014/main" val="20002"/>
                    </a:ext>
                  </a:extLst>
                </a:gridCol>
                <a:gridCol w="635000">
                  <a:extLst>
                    <a:ext uri="{9D8B030D-6E8A-4147-A177-3AD203B41FA5}">
                      <a16:colId xmlns:a16="http://schemas.microsoft.com/office/drawing/2014/main" val="20003"/>
                    </a:ext>
                  </a:extLst>
                </a:gridCol>
                <a:gridCol w="2114550">
                  <a:extLst>
                    <a:ext uri="{9D8B030D-6E8A-4147-A177-3AD203B41FA5}">
                      <a16:colId xmlns:a16="http://schemas.microsoft.com/office/drawing/2014/main" val="20004"/>
                    </a:ext>
                  </a:extLst>
                </a:gridCol>
              </a:tblGrid>
              <a:tr h="30638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1" i="0" u="none" strike="noStrike" cap="none" normalizeH="0" baseline="0">
                          <a:ln>
                            <a:noFill/>
                          </a:ln>
                          <a:solidFill>
                            <a:schemeClr val="tx1"/>
                          </a:solidFill>
                          <a:effectLst/>
                          <a:latin typeface="Arial" charset="0"/>
                        </a:rPr>
                        <a:t>ID</a:t>
                      </a:r>
                      <a:endParaRPr kumimoji="0" lang="es-ES" sz="16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1" i="0" u="none" strike="noStrike" cap="none" normalizeH="0" baseline="0">
                          <a:ln>
                            <a:noFill/>
                          </a:ln>
                          <a:solidFill>
                            <a:schemeClr val="tx1"/>
                          </a:solidFill>
                          <a:effectLst/>
                          <a:latin typeface="Arial" charset="0"/>
                        </a:rPr>
                        <a:t>PROFESOR</a:t>
                      </a:r>
                      <a:endParaRPr kumimoji="0" lang="es-ES" sz="16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1" i="0" u="none" strike="noStrike" cap="none" normalizeH="0" baseline="0">
                          <a:ln>
                            <a:noFill/>
                          </a:ln>
                          <a:solidFill>
                            <a:schemeClr val="tx1"/>
                          </a:solidFill>
                          <a:effectLst/>
                          <a:latin typeface="Arial" charset="0"/>
                        </a:rPr>
                        <a:t>CURSO</a:t>
                      </a:r>
                      <a:endParaRPr kumimoji="0" lang="es-ES" sz="16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1" i="0" u="none" strike="noStrike" cap="none" normalizeH="0" baseline="0">
                          <a:ln>
                            <a:noFill/>
                          </a:ln>
                          <a:solidFill>
                            <a:schemeClr val="tx1"/>
                          </a:solidFill>
                          <a:effectLst/>
                          <a:latin typeface="Arial" charset="0"/>
                        </a:rPr>
                        <a:t>AÑO</a:t>
                      </a:r>
                      <a:endParaRPr kumimoji="0" lang="es-ES" sz="16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1" i="0" u="none" strike="noStrike" cap="none" normalizeH="0" baseline="0">
                          <a:ln>
                            <a:noFill/>
                          </a:ln>
                          <a:solidFill>
                            <a:schemeClr val="tx1"/>
                          </a:solidFill>
                          <a:effectLst/>
                          <a:latin typeface="Arial" charset="0"/>
                        </a:rPr>
                        <a:t>DEPARTAMENTO</a:t>
                      </a:r>
                      <a:endParaRPr kumimoji="0" lang="es-ES" sz="16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638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Isabel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Bases de datos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1991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Informática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797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Marcos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Física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1994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Ciencias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638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Verónica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Modelado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1995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Informática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638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Clara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Matemáticas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1994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Ciencias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638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Martha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Lingüística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1990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600" b="0" i="0" u="none" strike="noStrike" cap="none" normalizeH="0" baseline="0">
                          <a:ln>
                            <a:noFill/>
                          </a:ln>
                          <a:solidFill>
                            <a:schemeClr val="tx1"/>
                          </a:solidFill>
                          <a:effectLst/>
                          <a:latin typeface="Arial" charset="0"/>
                        </a:rPr>
                        <a:t>Lexicografía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85347" name="Rectangle 50"/>
          <p:cNvSpPr>
            <a:spLocks noChangeArrowheads="1"/>
          </p:cNvSpPr>
          <p:nvPr/>
        </p:nvSpPr>
        <p:spPr bwMode="auto">
          <a:xfrm>
            <a:off x="827088" y="2176463"/>
            <a:ext cx="7704137" cy="1314450"/>
          </a:xfrm>
          <a:prstGeom prst="rect">
            <a:avLst/>
          </a:prstGeom>
          <a:noFill/>
          <a:ln w="9525" algn="ctr">
            <a:noFill/>
            <a:miter lim="800000"/>
            <a:headEnd/>
            <a:tailEnd/>
          </a:ln>
        </p:spPr>
        <p:txBody>
          <a:bodyPr>
            <a:spAutoFit/>
          </a:bodyPr>
          <a:lstStyle/>
          <a:p>
            <a:r>
              <a:rPr lang="es-ES" sz="1600"/>
              <a:t>Sería conveniente que la base de datos a la que pertenece esta relación contuviese también información sobre los datos personales de los profesores, descripción de los cursos ofrecidos y descripción de los distintos departamentos. Si quisiéramos incluir toda esta información en una tabla, esta debería contener, al menos, los siguientes atributos (columnas): </a:t>
            </a:r>
          </a:p>
        </p:txBody>
      </p:sp>
      <p:sp>
        <p:nvSpPr>
          <p:cNvPr id="185348" name="Rectangle 51"/>
          <p:cNvSpPr>
            <a:spLocks noChangeArrowheads="1"/>
          </p:cNvSpPr>
          <p:nvPr/>
        </p:nvSpPr>
        <p:spPr bwMode="auto">
          <a:xfrm>
            <a:off x="2886075" y="3781425"/>
            <a:ext cx="2127250" cy="2671763"/>
          </a:xfrm>
          <a:prstGeom prst="rect">
            <a:avLst/>
          </a:prstGeom>
          <a:noFill/>
          <a:ln w="9525">
            <a:noFill/>
            <a:miter lim="800000"/>
            <a:headEnd/>
            <a:tailEnd/>
          </a:ln>
        </p:spPr>
        <p:txBody>
          <a:bodyPr wrap="none" anchor="ctr">
            <a:spAutoFit/>
          </a:bodyPr>
          <a:lstStyle/>
          <a:p>
            <a:pPr eaLnBrk="0" hangingPunct="0"/>
            <a:r>
              <a:rPr lang="es-ES" sz="1300"/>
              <a:t>PROFESOR_COD</a:t>
            </a:r>
            <a:br>
              <a:rPr lang="es-ES" sz="1300"/>
            </a:br>
            <a:r>
              <a:rPr lang="es-ES" sz="1300"/>
              <a:t>PROFESOR_NOMBRE</a:t>
            </a:r>
            <a:br>
              <a:rPr lang="es-ES" sz="1300"/>
            </a:br>
            <a:r>
              <a:rPr lang="es-ES" sz="1300"/>
              <a:t>PROFESOR_DIRECCIÓN</a:t>
            </a:r>
            <a:br>
              <a:rPr lang="es-ES" sz="1300"/>
            </a:br>
            <a:r>
              <a:rPr lang="es-ES" sz="1300"/>
              <a:t>PROFESOR_TELÉFONO</a:t>
            </a:r>
            <a:br>
              <a:rPr lang="es-ES" sz="1300"/>
            </a:br>
            <a:r>
              <a:rPr lang="es-ES" sz="1300"/>
              <a:t>PROFESOR_DEPTO</a:t>
            </a:r>
            <a:br>
              <a:rPr lang="es-ES" sz="1300"/>
            </a:br>
            <a:r>
              <a:rPr lang="es-ES" sz="1300"/>
              <a:t>DEPTO_COD</a:t>
            </a:r>
            <a:br>
              <a:rPr lang="es-ES" sz="1300"/>
            </a:br>
            <a:r>
              <a:rPr lang="es-ES" sz="1300"/>
              <a:t>DEPTO_NOMBRE</a:t>
            </a:r>
            <a:br>
              <a:rPr lang="es-ES" sz="1300"/>
            </a:br>
            <a:r>
              <a:rPr lang="es-ES" sz="1300"/>
              <a:t>DEPTO_DESC</a:t>
            </a:r>
            <a:br>
              <a:rPr lang="es-ES" sz="1300"/>
            </a:br>
            <a:r>
              <a:rPr lang="es-ES" sz="1300"/>
              <a:t>CURSO_COD</a:t>
            </a:r>
            <a:br>
              <a:rPr lang="es-ES" sz="1300"/>
            </a:br>
            <a:r>
              <a:rPr lang="es-ES" sz="1300"/>
              <a:t>CURSO_NOMBRE</a:t>
            </a:r>
            <a:br>
              <a:rPr lang="es-ES" sz="1300"/>
            </a:br>
            <a:r>
              <a:rPr lang="es-ES" sz="1300"/>
              <a:t>CURSO_DESC</a:t>
            </a:r>
            <a:br>
              <a:rPr lang="es-ES" sz="1300"/>
            </a:br>
            <a:r>
              <a:rPr lang="es-ES" sz="1300"/>
              <a:t>CURSO_NIVEL </a:t>
            </a:r>
          </a:p>
          <a:p>
            <a:pPr eaLnBrk="0" hangingPunct="0"/>
            <a:r>
              <a:rPr lang="es-ES" sz="1300"/>
              <a:t>CURSO_AÑO </a:t>
            </a:r>
          </a:p>
        </p:txBody>
      </p:sp>
      <p:sp>
        <p:nvSpPr>
          <p:cNvPr id="185349" name="Rectangle 52"/>
          <p:cNvSpPr>
            <a:spLocks noChangeArrowheads="1"/>
          </p:cNvSpPr>
          <p:nvPr/>
        </p:nvSpPr>
        <p:spPr bwMode="auto">
          <a:xfrm>
            <a:off x="755650" y="1695450"/>
            <a:ext cx="6913563" cy="336550"/>
          </a:xfrm>
          <a:prstGeom prst="rect">
            <a:avLst/>
          </a:prstGeom>
          <a:noFill/>
          <a:ln w="9525" algn="ctr">
            <a:noFill/>
            <a:miter lim="800000"/>
            <a:headEnd/>
            <a:tailEnd/>
          </a:ln>
        </p:spPr>
        <p:txBody>
          <a:bodyPr>
            <a:spAutoFit/>
          </a:bodyPr>
          <a:lstStyle/>
          <a:p>
            <a:r>
              <a:rPr lang="es-ES" sz="1600" b="1"/>
              <a:t>Ejemplo:</a:t>
            </a:r>
          </a:p>
        </p:txBody>
      </p:sp>
      <p:sp>
        <p:nvSpPr>
          <p:cNvPr id="185350" name="2 CuadroTexto"/>
          <p:cNvSpPr txBox="1">
            <a:spLocks noChangeArrowheads="1"/>
          </p:cNvSpPr>
          <p:nvPr/>
        </p:nvSpPr>
        <p:spPr bwMode="auto">
          <a:xfrm>
            <a:off x="1116013" y="981075"/>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RELACIONES E INTERRELACIONES</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86371" name="Rectangle 5"/>
          <p:cNvSpPr>
            <a:spLocks noChangeArrowheads="1"/>
          </p:cNvSpPr>
          <p:nvPr/>
        </p:nvSpPr>
        <p:spPr bwMode="auto">
          <a:xfrm>
            <a:off x="827088" y="2949575"/>
            <a:ext cx="7704137" cy="1558925"/>
          </a:xfrm>
          <a:prstGeom prst="rect">
            <a:avLst/>
          </a:prstGeom>
          <a:noFill/>
          <a:ln w="9525" algn="ctr">
            <a:noFill/>
            <a:miter lim="800000"/>
            <a:headEnd/>
            <a:tailEnd/>
          </a:ln>
        </p:spPr>
        <p:txBody>
          <a:bodyPr>
            <a:spAutoFit/>
          </a:bodyPr>
          <a:lstStyle/>
          <a:p>
            <a:pPr algn="just">
              <a:lnSpc>
                <a:spcPct val="150000"/>
              </a:lnSpc>
              <a:buFontTx/>
              <a:buChar char="•"/>
            </a:pPr>
            <a:r>
              <a:rPr lang="es-ES" sz="1600">
                <a:latin typeface="Calibri" pitchFamily="34" charset="0"/>
              </a:rPr>
              <a:t>La cantidad de información redundante sería totalmente inaceptable para una base de datos.</a:t>
            </a:r>
          </a:p>
          <a:p>
            <a:pPr algn="just">
              <a:lnSpc>
                <a:spcPct val="150000"/>
              </a:lnSpc>
              <a:buFontTx/>
              <a:buChar char="•"/>
            </a:pPr>
            <a:r>
              <a:rPr lang="es-ES" sz="1600">
                <a:latin typeface="Calibri" pitchFamily="34" charset="0"/>
              </a:rPr>
              <a:t>Mayor necesidad de almacenamiento masivo.</a:t>
            </a:r>
          </a:p>
          <a:p>
            <a:pPr algn="just">
              <a:lnSpc>
                <a:spcPct val="150000"/>
              </a:lnSpc>
              <a:buFontTx/>
              <a:buChar char="•"/>
            </a:pPr>
            <a:r>
              <a:rPr lang="es-ES" sz="1600">
                <a:latin typeface="Calibri" pitchFamily="34" charset="0"/>
              </a:rPr>
              <a:t>Retardo de todas las operaciones con los datos.</a:t>
            </a:r>
          </a:p>
        </p:txBody>
      </p:sp>
      <p:sp>
        <p:nvSpPr>
          <p:cNvPr id="186372" name="Rectangle 6"/>
          <p:cNvSpPr>
            <a:spLocks noChangeArrowheads="1"/>
          </p:cNvSpPr>
          <p:nvPr/>
        </p:nvSpPr>
        <p:spPr bwMode="auto">
          <a:xfrm>
            <a:off x="755650" y="1695450"/>
            <a:ext cx="6913563" cy="336550"/>
          </a:xfrm>
          <a:prstGeom prst="rect">
            <a:avLst/>
          </a:prstGeom>
          <a:noFill/>
          <a:ln w="9525" algn="ctr">
            <a:noFill/>
            <a:miter lim="800000"/>
            <a:headEnd/>
            <a:tailEnd/>
          </a:ln>
        </p:spPr>
        <p:txBody>
          <a:bodyPr>
            <a:spAutoFit/>
          </a:bodyPr>
          <a:lstStyle/>
          <a:p>
            <a:r>
              <a:rPr lang="es-ES" sz="1600" b="1"/>
              <a:t>Ejemplo:</a:t>
            </a:r>
          </a:p>
        </p:txBody>
      </p:sp>
      <p:sp>
        <p:nvSpPr>
          <p:cNvPr id="186373" name="2 CuadroTexto"/>
          <p:cNvSpPr txBox="1">
            <a:spLocks noChangeArrowheads="1"/>
          </p:cNvSpPr>
          <p:nvPr/>
        </p:nvSpPr>
        <p:spPr bwMode="auto">
          <a:xfrm>
            <a:off x="1116013" y="981075"/>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RELACIONES E INTERRELACIONES</a:t>
            </a:r>
          </a:p>
        </p:txBody>
      </p:sp>
      <p:sp>
        <p:nvSpPr>
          <p:cNvPr id="186374" name="2 CuadroTexto"/>
          <p:cNvSpPr txBox="1">
            <a:spLocks noChangeArrowheads="1"/>
          </p:cNvSpPr>
          <p:nvPr/>
        </p:nvSpPr>
        <p:spPr bwMode="auto">
          <a:xfrm>
            <a:off x="1116013" y="2349500"/>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INCONVENIENTES</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87395" name="Rectangle 3"/>
          <p:cNvSpPr>
            <a:spLocks noChangeArrowheads="1"/>
          </p:cNvSpPr>
          <p:nvPr/>
        </p:nvSpPr>
        <p:spPr bwMode="auto">
          <a:xfrm>
            <a:off x="827088" y="2949575"/>
            <a:ext cx="7704137" cy="2568575"/>
          </a:xfrm>
          <a:prstGeom prst="rect">
            <a:avLst/>
          </a:prstGeom>
          <a:noFill/>
          <a:ln w="9525" algn="ctr">
            <a:noFill/>
            <a:miter lim="800000"/>
            <a:headEnd/>
            <a:tailEnd/>
          </a:ln>
        </p:spPr>
        <p:txBody>
          <a:bodyPr>
            <a:spAutoFit/>
          </a:bodyPr>
          <a:lstStyle/>
          <a:p>
            <a:pPr algn="just">
              <a:lnSpc>
                <a:spcPct val="150000"/>
              </a:lnSpc>
            </a:pPr>
            <a:r>
              <a:rPr lang="es-ES"/>
              <a:t>El modelo relacional ofrece una buena solución a este problema, que nos permite reducir la redundancia de datos al mínimo y agilizar las operaciones de consulta y actualización. Lo que deberíamos hacer es separar la información que se refiere a las tres entidades que tenemos (profesores, cursos y departamentos) en tres relaciones independientes, y después relacionarlas entre sí. </a:t>
            </a:r>
          </a:p>
        </p:txBody>
      </p:sp>
      <p:sp>
        <p:nvSpPr>
          <p:cNvPr id="187396" name="Rectangle 4"/>
          <p:cNvSpPr>
            <a:spLocks noChangeArrowheads="1"/>
          </p:cNvSpPr>
          <p:nvPr/>
        </p:nvSpPr>
        <p:spPr bwMode="auto">
          <a:xfrm>
            <a:off x="755650" y="1695450"/>
            <a:ext cx="6913563" cy="336550"/>
          </a:xfrm>
          <a:prstGeom prst="rect">
            <a:avLst/>
          </a:prstGeom>
          <a:noFill/>
          <a:ln w="9525" algn="ctr">
            <a:noFill/>
            <a:miter lim="800000"/>
            <a:headEnd/>
            <a:tailEnd/>
          </a:ln>
        </p:spPr>
        <p:txBody>
          <a:bodyPr>
            <a:spAutoFit/>
          </a:bodyPr>
          <a:lstStyle/>
          <a:p>
            <a:r>
              <a:rPr lang="es-ES" sz="1600" b="1"/>
              <a:t>Ejemplo:</a:t>
            </a:r>
          </a:p>
        </p:txBody>
      </p:sp>
      <p:sp>
        <p:nvSpPr>
          <p:cNvPr id="187397" name="2 CuadroTexto"/>
          <p:cNvSpPr txBox="1">
            <a:spLocks noChangeArrowheads="1"/>
          </p:cNvSpPr>
          <p:nvPr/>
        </p:nvSpPr>
        <p:spPr bwMode="auto">
          <a:xfrm>
            <a:off x="1116013" y="981075"/>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RELACIONES E INTERRELACIONES</a:t>
            </a:r>
          </a:p>
        </p:txBody>
      </p:sp>
      <p:sp>
        <p:nvSpPr>
          <p:cNvPr id="187398" name="2 CuadroTexto"/>
          <p:cNvSpPr txBox="1">
            <a:spLocks noChangeArrowheads="1"/>
          </p:cNvSpPr>
          <p:nvPr/>
        </p:nvSpPr>
        <p:spPr bwMode="auto">
          <a:xfrm>
            <a:off x="1116013" y="2349500"/>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SOLUCIÓN CON EL MODELO RELACIONAL</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88419" name="Rectangle 4"/>
          <p:cNvSpPr>
            <a:spLocks noChangeArrowheads="1"/>
          </p:cNvSpPr>
          <p:nvPr/>
        </p:nvSpPr>
        <p:spPr bwMode="auto">
          <a:xfrm>
            <a:off x="755650" y="1695450"/>
            <a:ext cx="6913563" cy="336550"/>
          </a:xfrm>
          <a:prstGeom prst="rect">
            <a:avLst/>
          </a:prstGeom>
          <a:noFill/>
          <a:ln w="9525" algn="ctr">
            <a:noFill/>
            <a:miter lim="800000"/>
            <a:headEnd/>
            <a:tailEnd/>
          </a:ln>
        </p:spPr>
        <p:txBody>
          <a:bodyPr>
            <a:spAutoFit/>
          </a:bodyPr>
          <a:lstStyle/>
          <a:p>
            <a:r>
              <a:rPr lang="es-ES" sz="1600" b="1"/>
              <a:t>Ejemplo:</a:t>
            </a:r>
          </a:p>
        </p:txBody>
      </p:sp>
      <p:sp>
        <p:nvSpPr>
          <p:cNvPr id="188420" name="2 CuadroTexto"/>
          <p:cNvSpPr txBox="1">
            <a:spLocks noChangeArrowheads="1"/>
          </p:cNvSpPr>
          <p:nvPr/>
        </p:nvSpPr>
        <p:spPr bwMode="auto">
          <a:xfrm>
            <a:off x="1116013" y="981075"/>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RELACIONES E INTERRELACIONES</a:t>
            </a:r>
          </a:p>
        </p:txBody>
      </p:sp>
      <p:sp>
        <p:nvSpPr>
          <p:cNvPr id="188421" name="2 CuadroTexto"/>
          <p:cNvSpPr txBox="1">
            <a:spLocks noChangeArrowheads="1"/>
          </p:cNvSpPr>
          <p:nvPr/>
        </p:nvSpPr>
        <p:spPr bwMode="auto">
          <a:xfrm>
            <a:off x="1116013" y="2349500"/>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SOLUCIÓN CON EL MODELO RELACIONAL</a:t>
            </a:r>
          </a:p>
        </p:txBody>
      </p:sp>
      <p:pic>
        <p:nvPicPr>
          <p:cNvPr id="188422" name="Picture 8" descr="Figura 4.10"/>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843213" y="2995613"/>
            <a:ext cx="3648075" cy="3673475"/>
          </a:xfrm>
          <a:prstGeom prst="rect">
            <a:avLst/>
          </a:prstGeom>
          <a:noFill/>
          <a:ln w="9525">
            <a:noFill/>
            <a:miter lim="800000"/>
            <a:headEnd/>
            <a:tailEnd/>
          </a:ln>
        </p:spPr>
      </p:pic>
      <p:sp>
        <p:nvSpPr>
          <p:cNvPr id="206857" name="Oval 9"/>
          <p:cNvSpPr>
            <a:spLocks noChangeArrowheads="1"/>
          </p:cNvSpPr>
          <p:nvPr/>
        </p:nvSpPr>
        <p:spPr bwMode="auto">
          <a:xfrm>
            <a:off x="2843213" y="4076700"/>
            <a:ext cx="1223962" cy="2232025"/>
          </a:xfrm>
          <a:prstGeom prst="ellipse">
            <a:avLst/>
          </a:prstGeom>
          <a:noFill/>
          <a:ln w="38100">
            <a:solidFill>
              <a:schemeClr val="accent2"/>
            </a:solidFill>
            <a:round/>
            <a:headEnd/>
            <a:tailEnd/>
          </a:ln>
        </p:spPr>
        <p:txBody>
          <a:bodyPr wrap="none" anchor="ctr"/>
          <a:lstStyle/>
          <a:p>
            <a:endParaRPr lang="es-ES"/>
          </a:p>
        </p:txBody>
      </p:sp>
      <p:sp>
        <p:nvSpPr>
          <p:cNvPr id="206858" name="Oval 10"/>
          <p:cNvSpPr>
            <a:spLocks noChangeArrowheads="1"/>
          </p:cNvSpPr>
          <p:nvPr/>
        </p:nvSpPr>
        <p:spPr bwMode="auto">
          <a:xfrm>
            <a:off x="5292725" y="2997200"/>
            <a:ext cx="1223963" cy="1728788"/>
          </a:xfrm>
          <a:prstGeom prst="ellipse">
            <a:avLst/>
          </a:prstGeom>
          <a:noFill/>
          <a:ln w="38100">
            <a:solidFill>
              <a:schemeClr val="accent2"/>
            </a:solidFill>
            <a:round/>
            <a:headEnd/>
            <a:tailEnd/>
          </a:ln>
        </p:spPr>
        <p:txBody>
          <a:bodyPr wrap="none" anchor="ctr"/>
          <a:lstStyle/>
          <a:p>
            <a:endParaRPr lang="es-ES"/>
          </a:p>
        </p:txBody>
      </p:sp>
      <p:sp>
        <p:nvSpPr>
          <p:cNvPr id="206859" name="Oval 11"/>
          <p:cNvSpPr>
            <a:spLocks noChangeArrowheads="1"/>
          </p:cNvSpPr>
          <p:nvPr/>
        </p:nvSpPr>
        <p:spPr bwMode="auto">
          <a:xfrm>
            <a:off x="5291138" y="5156200"/>
            <a:ext cx="1223962" cy="1441450"/>
          </a:xfrm>
          <a:prstGeom prst="ellipse">
            <a:avLst/>
          </a:prstGeom>
          <a:noFill/>
          <a:ln w="38100">
            <a:solidFill>
              <a:schemeClr val="accent2"/>
            </a:solidFill>
            <a:round/>
            <a:headEnd/>
            <a:tailEnd/>
          </a:ln>
        </p:spPr>
        <p:txBody>
          <a:bodyPr wrap="none" anchor="ctr"/>
          <a:lstStyle/>
          <a:p>
            <a:endParaRPr lang="es-ES"/>
          </a:p>
        </p:txBody>
      </p:sp>
      <p:sp>
        <p:nvSpPr>
          <p:cNvPr id="206860" name="Text Box 12"/>
          <p:cNvSpPr txBox="1">
            <a:spLocks noChangeArrowheads="1"/>
          </p:cNvSpPr>
          <p:nvPr/>
        </p:nvSpPr>
        <p:spPr bwMode="auto">
          <a:xfrm>
            <a:off x="6804025" y="4754563"/>
            <a:ext cx="2016125" cy="320675"/>
          </a:xfrm>
          <a:prstGeom prst="rect">
            <a:avLst/>
          </a:prstGeom>
          <a:noFill/>
          <a:ln w="9525">
            <a:noFill/>
            <a:miter lim="800000"/>
            <a:headEnd/>
            <a:tailEnd/>
          </a:ln>
        </p:spPr>
        <p:txBody>
          <a:bodyPr wrap="none">
            <a:spAutoFit/>
          </a:bodyPr>
          <a:lstStyle/>
          <a:p>
            <a:r>
              <a:rPr lang="es-ES" sz="1500" b="1">
                <a:solidFill>
                  <a:schemeClr val="accent2"/>
                </a:solidFill>
              </a:rPr>
              <a:t>RELACIONES BASE</a:t>
            </a:r>
          </a:p>
        </p:txBody>
      </p:sp>
      <p:sp>
        <p:nvSpPr>
          <p:cNvPr id="206861" name="Oval 13"/>
          <p:cNvSpPr>
            <a:spLocks noChangeArrowheads="1"/>
          </p:cNvSpPr>
          <p:nvPr/>
        </p:nvSpPr>
        <p:spPr bwMode="auto">
          <a:xfrm>
            <a:off x="4067175" y="3787775"/>
            <a:ext cx="1223963" cy="1150938"/>
          </a:xfrm>
          <a:prstGeom prst="ellipse">
            <a:avLst/>
          </a:prstGeom>
          <a:noFill/>
          <a:ln w="38100">
            <a:solidFill>
              <a:schemeClr val="hlink"/>
            </a:solidFill>
            <a:round/>
            <a:headEnd/>
            <a:tailEnd/>
          </a:ln>
        </p:spPr>
        <p:txBody>
          <a:bodyPr wrap="none" anchor="ctr"/>
          <a:lstStyle/>
          <a:p>
            <a:endParaRPr lang="es-ES"/>
          </a:p>
        </p:txBody>
      </p:sp>
      <p:sp>
        <p:nvSpPr>
          <p:cNvPr id="206862" name="Oval 14"/>
          <p:cNvSpPr>
            <a:spLocks noChangeArrowheads="1"/>
          </p:cNvSpPr>
          <p:nvPr/>
        </p:nvSpPr>
        <p:spPr bwMode="auto">
          <a:xfrm>
            <a:off x="4067175" y="5157788"/>
            <a:ext cx="1223963" cy="1150937"/>
          </a:xfrm>
          <a:prstGeom prst="ellipse">
            <a:avLst/>
          </a:prstGeom>
          <a:noFill/>
          <a:ln w="38100">
            <a:solidFill>
              <a:schemeClr val="hlink"/>
            </a:solidFill>
            <a:round/>
            <a:headEnd/>
            <a:tailEnd/>
          </a:ln>
        </p:spPr>
        <p:txBody>
          <a:bodyPr wrap="none" anchor="ctr"/>
          <a:lstStyle/>
          <a:p>
            <a:endParaRPr lang="es-ES"/>
          </a:p>
        </p:txBody>
      </p:sp>
      <p:sp>
        <p:nvSpPr>
          <p:cNvPr id="206863" name="Text Box 15"/>
          <p:cNvSpPr txBox="1">
            <a:spLocks noChangeArrowheads="1"/>
          </p:cNvSpPr>
          <p:nvPr/>
        </p:nvSpPr>
        <p:spPr bwMode="auto">
          <a:xfrm>
            <a:off x="900113" y="3140075"/>
            <a:ext cx="2089150" cy="777875"/>
          </a:xfrm>
          <a:prstGeom prst="rect">
            <a:avLst/>
          </a:prstGeom>
          <a:noFill/>
          <a:ln w="9525">
            <a:noFill/>
            <a:miter lim="800000"/>
            <a:headEnd/>
            <a:tailEnd/>
          </a:ln>
        </p:spPr>
        <p:txBody>
          <a:bodyPr>
            <a:spAutoFit/>
          </a:bodyPr>
          <a:lstStyle/>
          <a:p>
            <a:pPr algn="ctr"/>
            <a:r>
              <a:rPr lang="es-ES" sz="1500" b="1">
                <a:solidFill>
                  <a:schemeClr val="hlink"/>
                </a:solidFill>
              </a:rPr>
              <a:t>INTERRELACIONES ENTRE RELACIONES BASE</a:t>
            </a:r>
          </a:p>
        </p:txBody>
      </p:sp>
      <p:sp>
        <p:nvSpPr>
          <p:cNvPr id="206864" name="Oval 16"/>
          <p:cNvSpPr>
            <a:spLocks noChangeArrowheads="1"/>
          </p:cNvSpPr>
          <p:nvPr/>
        </p:nvSpPr>
        <p:spPr bwMode="auto">
          <a:xfrm>
            <a:off x="4033838" y="4546600"/>
            <a:ext cx="504825" cy="430213"/>
          </a:xfrm>
          <a:prstGeom prst="ellipse">
            <a:avLst/>
          </a:prstGeom>
          <a:noFill/>
          <a:ln w="38100">
            <a:solidFill>
              <a:srgbClr val="008000"/>
            </a:solidFill>
            <a:round/>
            <a:headEnd/>
            <a:tailEnd/>
          </a:ln>
        </p:spPr>
        <p:txBody>
          <a:bodyPr wrap="none" anchor="ctr"/>
          <a:lstStyle/>
          <a:p>
            <a:endParaRPr lang="es-ES"/>
          </a:p>
        </p:txBody>
      </p:sp>
      <p:sp>
        <p:nvSpPr>
          <p:cNvPr id="206865" name="Oval 17"/>
          <p:cNvSpPr>
            <a:spLocks noChangeArrowheads="1"/>
          </p:cNvSpPr>
          <p:nvPr/>
        </p:nvSpPr>
        <p:spPr bwMode="auto">
          <a:xfrm>
            <a:off x="4787900" y="3919538"/>
            <a:ext cx="504825" cy="430212"/>
          </a:xfrm>
          <a:prstGeom prst="ellipse">
            <a:avLst/>
          </a:prstGeom>
          <a:noFill/>
          <a:ln w="38100">
            <a:solidFill>
              <a:srgbClr val="008000"/>
            </a:solidFill>
            <a:round/>
            <a:headEnd/>
            <a:tailEnd/>
          </a:ln>
        </p:spPr>
        <p:txBody>
          <a:bodyPr wrap="none" anchor="ctr"/>
          <a:lstStyle/>
          <a:p>
            <a:endParaRPr lang="es-ES"/>
          </a:p>
        </p:txBody>
      </p:sp>
      <p:sp>
        <p:nvSpPr>
          <p:cNvPr id="206866" name="Oval 18"/>
          <p:cNvSpPr>
            <a:spLocks noChangeArrowheads="1"/>
          </p:cNvSpPr>
          <p:nvPr/>
        </p:nvSpPr>
        <p:spPr bwMode="auto">
          <a:xfrm>
            <a:off x="4787900" y="5807075"/>
            <a:ext cx="504825" cy="430213"/>
          </a:xfrm>
          <a:prstGeom prst="ellipse">
            <a:avLst/>
          </a:prstGeom>
          <a:noFill/>
          <a:ln w="38100">
            <a:solidFill>
              <a:srgbClr val="008000"/>
            </a:solidFill>
            <a:round/>
            <a:headEnd/>
            <a:tailEnd/>
          </a:ln>
        </p:spPr>
        <p:txBody>
          <a:bodyPr wrap="none" anchor="ctr"/>
          <a:lstStyle/>
          <a:p>
            <a:endParaRPr lang="es-ES"/>
          </a:p>
        </p:txBody>
      </p:sp>
      <p:sp>
        <p:nvSpPr>
          <p:cNvPr id="206867" name="Oval 19"/>
          <p:cNvSpPr>
            <a:spLocks noChangeArrowheads="1"/>
          </p:cNvSpPr>
          <p:nvPr/>
        </p:nvSpPr>
        <p:spPr bwMode="auto">
          <a:xfrm>
            <a:off x="4067175" y="5159375"/>
            <a:ext cx="504825" cy="430213"/>
          </a:xfrm>
          <a:prstGeom prst="ellipse">
            <a:avLst/>
          </a:prstGeom>
          <a:noFill/>
          <a:ln w="38100">
            <a:solidFill>
              <a:srgbClr val="008000"/>
            </a:solidFill>
            <a:round/>
            <a:headEnd/>
            <a:tailEnd/>
          </a:ln>
        </p:spPr>
        <p:txBody>
          <a:bodyPr wrap="none" anchor="ctr"/>
          <a:lstStyle/>
          <a:p>
            <a:endParaRPr lang="es-ES"/>
          </a:p>
        </p:txBody>
      </p:sp>
      <p:sp>
        <p:nvSpPr>
          <p:cNvPr id="206868" name="Text Box 20"/>
          <p:cNvSpPr txBox="1">
            <a:spLocks noChangeArrowheads="1"/>
          </p:cNvSpPr>
          <p:nvPr/>
        </p:nvSpPr>
        <p:spPr bwMode="auto">
          <a:xfrm>
            <a:off x="395288" y="4797425"/>
            <a:ext cx="2089150" cy="549275"/>
          </a:xfrm>
          <a:prstGeom prst="rect">
            <a:avLst/>
          </a:prstGeom>
          <a:noFill/>
          <a:ln w="9525">
            <a:noFill/>
            <a:miter lim="800000"/>
            <a:headEnd/>
            <a:tailEnd/>
          </a:ln>
        </p:spPr>
        <p:txBody>
          <a:bodyPr>
            <a:spAutoFit/>
          </a:bodyPr>
          <a:lstStyle/>
          <a:p>
            <a:pPr algn="ctr"/>
            <a:r>
              <a:rPr lang="es-ES" sz="1500" b="1">
                <a:solidFill>
                  <a:srgbClr val="008000"/>
                </a:solidFill>
              </a:rPr>
              <a:t>RESTRICCIONES RELACIONALES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6857"/>
                                        </p:tgtEl>
                                        <p:attrNameLst>
                                          <p:attrName>style.visibility</p:attrName>
                                        </p:attrNameLst>
                                      </p:cBhvr>
                                      <p:to>
                                        <p:strVal val="visible"/>
                                      </p:to>
                                    </p:set>
                                  </p:childTnLst>
                                  <p:subTnLst>
                                    <p:set>
                                      <p:cBhvr override="childStyle">
                                        <p:cTn dur="1" fill="hold" display="0" masterRel="nextClick" afterEffect="1"/>
                                        <p:tgtEl>
                                          <p:spTgt spid="206857"/>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206858"/>
                                        </p:tgtEl>
                                        <p:attrNameLst>
                                          <p:attrName>style.visibility</p:attrName>
                                        </p:attrNameLst>
                                      </p:cBhvr>
                                      <p:to>
                                        <p:strVal val="visible"/>
                                      </p:to>
                                    </p:set>
                                  </p:childTnLst>
                                  <p:subTnLst>
                                    <p:set>
                                      <p:cBhvr override="childStyle">
                                        <p:cTn dur="1" fill="hold" display="0" masterRel="nextClick" afterEffect="1"/>
                                        <p:tgtEl>
                                          <p:spTgt spid="206858"/>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206859"/>
                                        </p:tgtEl>
                                        <p:attrNameLst>
                                          <p:attrName>style.visibility</p:attrName>
                                        </p:attrNameLst>
                                      </p:cBhvr>
                                      <p:to>
                                        <p:strVal val="visible"/>
                                      </p:to>
                                    </p:set>
                                  </p:childTnLst>
                                  <p:subTnLst>
                                    <p:set>
                                      <p:cBhvr override="childStyle">
                                        <p:cTn dur="1" fill="hold" display="0" masterRel="nextClick" afterEffect="1"/>
                                        <p:tgtEl>
                                          <p:spTgt spid="206859"/>
                                        </p:tgtEl>
                                        <p:attrNameLst>
                                          <p:attrName>style.visibility</p:attrName>
                                        </p:attrNameLst>
                                      </p:cBhvr>
                                      <p:to>
                                        <p:strVal val="hidden"/>
                                      </p:to>
                                    </p:set>
                                  </p:subTnLst>
                                </p:cTn>
                              </p:par>
                              <p:par>
                                <p:cTn id="11" presetID="1" presetClass="entr" presetSubtype="0" fill="hold" grpId="0" nodeType="withEffect">
                                  <p:stCondLst>
                                    <p:cond delay="0"/>
                                  </p:stCondLst>
                                  <p:childTnLst>
                                    <p:set>
                                      <p:cBhvr>
                                        <p:cTn id="12" dur="1" fill="hold">
                                          <p:stCondLst>
                                            <p:cond delay="0"/>
                                          </p:stCondLst>
                                        </p:cTn>
                                        <p:tgtEl>
                                          <p:spTgt spid="206860"/>
                                        </p:tgtEl>
                                        <p:attrNameLst>
                                          <p:attrName>style.visibility</p:attrName>
                                        </p:attrNameLst>
                                      </p:cBhvr>
                                      <p:to>
                                        <p:strVal val="visible"/>
                                      </p:to>
                                    </p:set>
                                  </p:childTnLst>
                                  <p:subTnLst>
                                    <p:set>
                                      <p:cBhvr override="childStyle">
                                        <p:cTn dur="1" fill="hold" display="0" masterRel="nextClick" afterEffect="1"/>
                                        <p:tgtEl>
                                          <p:spTgt spid="206860"/>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6861"/>
                                        </p:tgtEl>
                                        <p:attrNameLst>
                                          <p:attrName>style.visibility</p:attrName>
                                        </p:attrNameLst>
                                      </p:cBhvr>
                                      <p:to>
                                        <p:strVal val="visible"/>
                                      </p:to>
                                    </p:set>
                                  </p:childTnLst>
                                  <p:subTnLst>
                                    <p:set>
                                      <p:cBhvr override="childStyle">
                                        <p:cTn dur="1" fill="hold" display="0" masterRel="nextClick" afterEffect="1"/>
                                        <p:tgtEl>
                                          <p:spTgt spid="206861"/>
                                        </p:tgtEl>
                                        <p:attrNameLst>
                                          <p:attrName>style.visibility</p:attrName>
                                        </p:attrNameLst>
                                      </p:cBhvr>
                                      <p:to>
                                        <p:strVal val="hidden"/>
                                      </p:to>
                                    </p:set>
                                  </p:subTnLst>
                                </p:cTn>
                              </p:par>
                              <p:par>
                                <p:cTn id="17" presetID="1" presetClass="entr" presetSubtype="0" fill="hold" grpId="0" nodeType="withEffect">
                                  <p:stCondLst>
                                    <p:cond delay="0"/>
                                  </p:stCondLst>
                                  <p:childTnLst>
                                    <p:set>
                                      <p:cBhvr>
                                        <p:cTn id="18" dur="1" fill="hold">
                                          <p:stCondLst>
                                            <p:cond delay="0"/>
                                          </p:stCondLst>
                                        </p:cTn>
                                        <p:tgtEl>
                                          <p:spTgt spid="206862"/>
                                        </p:tgtEl>
                                        <p:attrNameLst>
                                          <p:attrName>style.visibility</p:attrName>
                                        </p:attrNameLst>
                                      </p:cBhvr>
                                      <p:to>
                                        <p:strVal val="visible"/>
                                      </p:to>
                                    </p:set>
                                  </p:childTnLst>
                                  <p:subTnLst>
                                    <p:set>
                                      <p:cBhvr override="childStyle">
                                        <p:cTn dur="1" fill="hold" display="0" masterRel="nextClick" afterEffect="1"/>
                                        <p:tgtEl>
                                          <p:spTgt spid="206862"/>
                                        </p:tgtEl>
                                        <p:attrNameLst>
                                          <p:attrName>style.visibility</p:attrName>
                                        </p:attrNameLst>
                                      </p:cBhvr>
                                      <p:to>
                                        <p:strVal val="hidden"/>
                                      </p:to>
                                    </p:set>
                                  </p:subTnLst>
                                </p:cTn>
                              </p:par>
                              <p:par>
                                <p:cTn id="19" presetID="1" presetClass="entr" presetSubtype="0" fill="hold" grpId="0" nodeType="withEffect">
                                  <p:stCondLst>
                                    <p:cond delay="0"/>
                                  </p:stCondLst>
                                  <p:childTnLst>
                                    <p:set>
                                      <p:cBhvr>
                                        <p:cTn id="20" dur="1" fill="hold">
                                          <p:stCondLst>
                                            <p:cond delay="0"/>
                                          </p:stCondLst>
                                        </p:cTn>
                                        <p:tgtEl>
                                          <p:spTgt spid="206863"/>
                                        </p:tgtEl>
                                        <p:attrNameLst>
                                          <p:attrName>style.visibility</p:attrName>
                                        </p:attrNameLst>
                                      </p:cBhvr>
                                      <p:to>
                                        <p:strVal val="visible"/>
                                      </p:to>
                                    </p:set>
                                  </p:childTnLst>
                                  <p:subTnLst>
                                    <p:set>
                                      <p:cBhvr override="childStyle">
                                        <p:cTn dur="1" fill="hold" display="0" masterRel="nextClick" afterEffect="1"/>
                                        <p:tgtEl>
                                          <p:spTgt spid="206863"/>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6864"/>
                                        </p:tgtEl>
                                        <p:attrNameLst>
                                          <p:attrName>style.visibility</p:attrName>
                                        </p:attrNameLst>
                                      </p:cBhvr>
                                      <p:to>
                                        <p:strVal val="visible"/>
                                      </p:to>
                                    </p:set>
                                  </p:childTnLst>
                                  <p:subTnLst>
                                    <p:set>
                                      <p:cBhvr override="childStyle">
                                        <p:cTn dur="1" fill="hold" display="0" masterRel="nextClick" afterEffect="1"/>
                                        <p:tgtEl>
                                          <p:spTgt spid="206864"/>
                                        </p:tgtEl>
                                        <p:attrNameLst>
                                          <p:attrName>style.visibility</p:attrName>
                                        </p:attrNameLst>
                                      </p:cBhvr>
                                      <p:to>
                                        <p:strVal val="hidden"/>
                                      </p:to>
                                    </p:set>
                                  </p:subTnLst>
                                </p:cTn>
                              </p:par>
                              <p:par>
                                <p:cTn id="25" presetID="1" presetClass="entr" presetSubtype="0" fill="hold" grpId="0" nodeType="withEffect">
                                  <p:stCondLst>
                                    <p:cond delay="0"/>
                                  </p:stCondLst>
                                  <p:childTnLst>
                                    <p:set>
                                      <p:cBhvr>
                                        <p:cTn id="26" dur="1" fill="hold">
                                          <p:stCondLst>
                                            <p:cond delay="0"/>
                                          </p:stCondLst>
                                        </p:cTn>
                                        <p:tgtEl>
                                          <p:spTgt spid="206865"/>
                                        </p:tgtEl>
                                        <p:attrNameLst>
                                          <p:attrName>style.visibility</p:attrName>
                                        </p:attrNameLst>
                                      </p:cBhvr>
                                      <p:to>
                                        <p:strVal val="visible"/>
                                      </p:to>
                                    </p:set>
                                  </p:childTnLst>
                                  <p:subTnLst>
                                    <p:set>
                                      <p:cBhvr override="childStyle">
                                        <p:cTn dur="1" fill="hold" display="0" masterRel="nextClick" afterEffect="1"/>
                                        <p:tgtEl>
                                          <p:spTgt spid="206865"/>
                                        </p:tgtEl>
                                        <p:attrNameLst>
                                          <p:attrName>style.visibility</p:attrName>
                                        </p:attrNameLst>
                                      </p:cBhvr>
                                      <p:to>
                                        <p:strVal val="hidden"/>
                                      </p:to>
                                    </p:set>
                                  </p:subTnLst>
                                </p:cTn>
                              </p:par>
                              <p:par>
                                <p:cTn id="27" presetID="1" presetClass="entr" presetSubtype="0" fill="hold" grpId="0" nodeType="withEffect">
                                  <p:stCondLst>
                                    <p:cond delay="0"/>
                                  </p:stCondLst>
                                  <p:childTnLst>
                                    <p:set>
                                      <p:cBhvr>
                                        <p:cTn id="28" dur="1" fill="hold">
                                          <p:stCondLst>
                                            <p:cond delay="0"/>
                                          </p:stCondLst>
                                        </p:cTn>
                                        <p:tgtEl>
                                          <p:spTgt spid="206866"/>
                                        </p:tgtEl>
                                        <p:attrNameLst>
                                          <p:attrName>style.visibility</p:attrName>
                                        </p:attrNameLst>
                                      </p:cBhvr>
                                      <p:to>
                                        <p:strVal val="visible"/>
                                      </p:to>
                                    </p:set>
                                  </p:childTnLst>
                                  <p:subTnLst>
                                    <p:set>
                                      <p:cBhvr override="childStyle">
                                        <p:cTn dur="1" fill="hold" display="0" masterRel="nextClick" afterEffect="1"/>
                                        <p:tgtEl>
                                          <p:spTgt spid="206866"/>
                                        </p:tgtEl>
                                        <p:attrNameLst>
                                          <p:attrName>style.visibility</p:attrName>
                                        </p:attrNameLst>
                                      </p:cBhvr>
                                      <p:to>
                                        <p:strVal val="hidden"/>
                                      </p:to>
                                    </p:set>
                                  </p:subTnLst>
                                </p:cTn>
                              </p:par>
                              <p:par>
                                <p:cTn id="29" presetID="1" presetClass="entr" presetSubtype="0" fill="hold" grpId="0" nodeType="withEffect">
                                  <p:stCondLst>
                                    <p:cond delay="0"/>
                                  </p:stCondLst>
                                  <p:childTnLst>
                                    <p:set>
                                      <p:cBhvr>
                                        <p:cTn id="30" dur="1" fill="hold">
                                          <p:stCondLst>
                                            <p:cond delay="0"/>
                                          </p:stCondLst>
                                        </p:cTn>
                                        <p:tgtEl>
                                          <p:spTgt spid="206867"/>
                                        </p:tgtEl>
                                        <p:attrNameLst>
                                          <p:attrName>style.visibility</p:attrName>
                                        </p:attrNameLst>
                                      </p:cBhvr>
                                      <p:to>
                                        <p:strVal val="visible"/>
                                      </p:to>
                                    </p:set>
                                  </p:childTnLst>
                                  <p:subTnLst>
                                    <p:set>
                                      <p:cBhvr override="childStyle">
                                        <p:cTn dur="1" fill="hold" display="0" masterRel="nextClick" afterEffect="1"/>
                                        <p:tgtEl>
                                          <p:spTgt spid="206867"/>
                                        </p:tgtEl>
                                        <p:attrNameLst>
                                          <p:attrName>style.visibility</p:attrName>
                                        </p:attrNameLst>
                                      </p:cBhvr>
                                      <p:to>
                                        <p:strVal val="hidden"/>
                                      </p:to>
                                    </p:set>
                                  </p:subTnLst>
                                </p:cTn>
                              </p:par>
                              <p:par>
                                <p:cTn id="31" presetID="1" presetClass="entr" presetSubtype="0" fill="hold" grpId="0" nodeType="withEffect">
                                  <p:stCondLst>
                                    <p:cond delay="0"/>
                                  </p:stCondLst>
                                  <p:childTnLst>
                                    <p:set>
                                      <p:cBhvr>
                                        <p:cTn id="32" dur="1" fill="hold">
                                          <p:stCondLst>
                                            <p:cond delay="0"/>
                                          </p:stCondLst>
                                        </p:cTn>
                                        <p:tgtEl>
                                          <p:spTgt spid="206868"/>
                                        </p:tgtEl>
                                        <p:attrNameLst>
                                          <p:attrName>style.visibility</p:attrName>
                                        </p:attrNameLst>
                                      </p:cBhvr>
                                      <p:to>
                                        <p:strVal val="visible"/>
                                      </p:to>
                                    </p:set>
                                  </p:childTnLst>
                                  <p:subTnLst>
                                    <p:set>
                                      <p:cBhvr override="childStyle">
                                        <p:cTn dur="1" fill="hold" display="0" masterRel="nextClick" afterEffect="1"/>
                                        <p:tgtEl>
                                          <p:spTgt spid="20686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7" grpId="0" animBg="1"/>
      <p:bldP spid="206858" grpId="0" animBg="1"/>
      <p:bldP spid="206859" grpId="0" animBg="1"/>
      <p:bldP spid="206860" grpId="0"/>
      <p:bldP spid="206861" grpId="0" animBg="1"/>
      <p:bldP spid="206862" grpId="0" animBg="1"/>
      <p:bldP spid="206863" grpId="0"/>
      <p:bldP spid="206864" grpId="0" animBg="1"/>
      <p:bldP spid="206865" grpId="0" animBg="1"/>
      <p:bldP spid="206866" grpId="0" animBg="1"/>
      <p:bldP spid="206867" grpId="0" animBg="1"/>
      <p:bldP spid="206868"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89443" name="2 CuadroTexto"/>
          <p:cNvSpPr txBox="1">
            <a:spLocks noChangeArrowheads="1"/>
          </p:cNvSpPr>
          <p:nvPr/>
        </p:nvSpPr>
        <p:spPr bwMode="auto">
          <a:xfrm>
            <a:off x="1116013" y="981075"/>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RESTRICCIONES RELACIONALES</a:t>
            </a:r>
          </a:p>
        </p:txBody>
      </p:sp>
      <p:sp>
        <p:nvSpPr>
          <p:cNvPr id="189444" name="Text Box 4"/>
          <p:cNvSpPr txBox="1">
            <a:spLocks noChangeArrowheads="1"/>
          </p:cNvSpPr>
          <p:nvPr/>
        </p:nvSpPr>
        <p:spPr bwMode="auto">
          <a:xfrm>
            <a:off x="3132138" y="1557338"/>
            <a:ext cx="2574925" cy="1190625"/>
          </a:xfrm>
          <a:prstGeom prst="rect">
            <a:avLst/>
          </a:prstGeom>
          <a:noFill/>
          <a:ln w="9525">
            <a:noFill/>
            <a:miter lim="800000"/>
            <a:headEnd/>
            <a:tailEnd/>
          </a:ln>
        </p:spPr>
        <p:txBody>
          <a:bodyPr wrap="none">
            <a:spAutoFit/>
          </a:bodyPr>
          <a:lstStyle/>
          <a:p>
            <a:pPr>
              <a:buFontTx/>
              <a:buChar char="•"/>
            </a:pPr>
            <a:r>
              <a:rPr lang="es-ES"/>
              <a:t>UNO A UNO</a:t>
            </a:r>
          </a:p>
          <a:p>
            <a:pPr>
              <a:buFontTx/>
              <a:buChar char="•"/>
            </a:pPr>
            <a:r>
              <a:rPr lang="es-ES"/>
              <a:t>UNO A MUCHOS</a:t>
            </a:r>
          </a:p>
          <a:p>
            <a:pPr>
              <a:buFontTx/>
              <a:buChar char="•"/>
            </a:pPr>
            <a:r>
              <a:rPr lang="es-ES"/>
              <a:t>MUCHOS A UNO</a:t>
            </a:r>
          </a:p>
          <a:p>
            <a:pPr>
              <a:buFontTx/>
              <a:buChar char="•"/>
            </a:pPr>
            <a:r>
              <a:rPr lang="es-ES"/>
              <a:t>MUCHOS A MUCHOS</a:t>
            </a:r>
          </a:p>
        </p:txBody>
      </p:sp>
      <p:sp>
        <p:nvSpPr>
          <p:cNvPr id="189445" name="Rectangle 5"/>
          <p:cNvSpPr>
            <a:spLocks noChangeArrowheads="1"/>
          </p:cNvSpPr>
          <p:nvPr/>
        </p:nvSpPr>
        <p:spPr bwMode="auto">
          <a:xfrm>
            <a:off x="1116013" y="3500438"/>
            <a:ext cx="6858000" cy="1739900"/>
          </a:xfrm>
          <a:prstGeom prst="rect">
            <a:avLst/>
          </a:prstGeom>
          <a:noFill/>
          <a:ln w="9525">
            <a:noFill/>
            <a:miter lim="800000"/>
            <a:headEnd/>
            <a:tailEnd/>
          </a:ln>
        </p:spPr>
        <p:txBody>
          <a:bodyPr anchor="ctr">
            <a:spAutoFit/>
          </a:bodyPr>
          <a:lstStyle/>
          <a:p>
            <a:pPr eaLnBrk="0" hangingPunct="0"/>
            <a:r>
              <a:rPr lang="es-ES"/>
              <a:t>Las interrelaciones de uno a muchos se implementan mediante el uso de </a:t>
            </a:r>
            <a:r>
              <a:rPr lang="es-ES" b="1">
                <a:solidFill>
                  <a:srgbClr val="008000"/>
                </a:solidFill>
              </a:rPr>
              <a:t>claves ajenas</a:t>
            </a:r>
            <a:r>
              <a:rPr lang="es-ES"/>
              <a:t>, también llamadas </a:t>
            </a:r>
            <a:r>
              <a:rPr lang="es-ES" b="1">
                <a:solidFill>
                  <a:srgbClr val="008000"/>
                </a:solidFill>
              </a:rPr>
              <a:t>externas o foráneas</a:t>
            </a:r>
            <a:r>
              <a:rPr lang="es-ES"/>
              <a:t> (foreign keys). Una clave ajena es un atributo de una relación R2, cuyos valores han de concordar con los de alguna clave primaria en otra relación R1. R1 y R2 no han de ser necesariamente distintas. </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90467" name="Rectangle 20"/>
          <p:cNvSpPr>
            <a:spLocks noChangeArrowheads="1"/>
          </p:cNvSpPr>
          <p:nvPr/>
        </p:nvSpPr>
        <p:spPr bwMode="auto">
          <a:xfrm>
            <a:off x="395288" y="1422400"/>
            <a:ext cx="8208962" cy="1069975"/>
          </a:xfrm>
          <a:prstGeom prst="rect">
            <a:avLst/>
          </a:prstGeom>
          <a:noFill/>
          <a:ln w="9525">
            <a:noFill/>
            <a:miter lim="800000"/>
            <a:headEnd/>
            <a:tailEnd/>
          </a:ln>
        </p:spPr>
        <p:txBody>
          <a:bodyPr anchor="ctr">
            <a:spAutoFit/>
          </a:bodyPr>
          <a:lstStyle/>
          <a:p>
            <a:pPr eaLnBrk="0" hangingPunct="0"/>
            <a:r>
              <a:rPr lang="es-ES" sz="1600"/>
              <a:t>Las interrelaciones de uno a muchos se implementan mediante el uso de </a:t>
            </a:r>
            <a:r>
              <a:rPr lang="es-ES" sz="1600" b="1" u="sng">
                <a:solidFill>
                  <a:srgbClr val="008000"/>
                </a:solidFill>
              </a:rPr>
              <a:t>claves ajenas</a:t>
            </a:r>
            <a:r>
              <a:rPr lang="es-ES" sz="1600"/>
              <a:t>, también llamadas </a:t>
            </a:r>
            <a:r>
              <a:rPr lang="es-ES" sz="1600" b="1" u="sng">
                <a:solidFill>
                  <a:srgbClr val="008000"/>
                </a:solidFill>
              </a:rPr>
              <a:t>externas o foráneas</a:t>
            </a:r>
            <a:r>
              <a:rPr lang="es-ES" sz="1600"/>
              <a:t> (</a:t>
            </a:r>
            <a:r>
              <a:rPr lang="es-ES" sz="1600" b="1" u="sng">
                <a:solidFill>
                  <a:srgbClr val="008000"/>
                </a:solidFill>
              </a:rPr>
              <a:t>foreign keys</a:t>
            </a:r>
            <a:r>
              <a:rPr lang="es-ES" sz="1600"/>
              <a:t>). Una clave ajena es un atributo de una relación R2, cuyos valores han de concordar con los de alguna clave primaria en otra relación R1. </a:t>
            </a:r>
            <a:r>
              <a:rPr lang="es-ES" sz="1600" u="sng">
                <a:solidFill>
                  <a:schemeClr val="hlink"/>
                </a:solidFill>
              </a:rPr>
              <a:t>R1 y R2 no han de ser necesariamente distintas.</a:t>
            </a:r>
            <a:r>
              <a:rPr lang="es-ES" sz="1600"/>
              <a:t> </a:t>
            </a:r>
          </a:p>
        </p:txBody>
      </p:sp>
      <p:sp>
        <p:nvSpPr>
          <p:cNvPr id="190468" name="2 CuadroTexto"/>
          <p:cNvSpPr txBox="1">
            <a:spLocks noChangeArrowheads="1"/>
          </p:cNvSpPr>
          <p:nvPr/>
        </p:nvSpPr>
        <p:spPr bwMode="auto">
          <a:xfrm>
            <a:off x="1116013" y="981075"/>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CLAVES EXTERNAS</a:t>
            </a:r>
          </a:p>
        </p:txBody>
      </p:sp>
      <p:pic>
        <p:nvPicPr>
          <p:cNvPr id="190469" name="Picture 22" descr="Figura 4.10"/>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843213" y="2995613"/>
            <a:ext cx="3648075" cy="3673475"/>
          </a:xfrm>
          <a:prstGeom prst="rect">
            <a:avLst/>
          </a:prstGeom>
          <a:noFill/>
          <a:ln w="9525">
            <a:noFill/>
            <a:miter lim="800000"/>
            <a:headEnd/>
            <a:tailEnd/>
          </a:ln>
        </p:spPr>
      </p:pic>
      <p:sp>
        <p:nvSpPr>
          <p:cNvPr id="207895" name="Oval 23"/>
          <p:cNvSpPr>
            <a:spLocks noChangeArrowheads="1"/>
          </p:cNvSpPr>
          <p:nvPr/>
        </p:nvSpPr>
        <p:spPr bwMode="auto">
          <a:xfrm>
            <a:off x="2628900" y="4724400"/>
            <a:ext cx="1150938" cy="360363"/>
          </a:xfrm>
          <a:prstGeom prst="ellipse">
            <a:avLst/>
          </a:prstGeom>
          <a:noFill/>
          <a:ln w="38100">
            <a:solidFill>
              <a:schemeClr val="accent2"/>
            </a:solidFill>
            <a:round/>
            <a:headEnd/>
            <a:tailEnd/>
          </a:ln>
        </p:spPr>
        <p:txBody>
          <a:bodyPr wrap="none" anchor="ctr"/>
          <a:lstStyle/>
          <a:p>
            <a:endParaRPr lang="es-ES"/>
          </a:p>
        </p:txBody>
      </p:sp>
      <p:sp>
        <p:nvSpPr>
          <p:cNvPr id="207896" name="Oval 24"/>
          <p:cNvSpPr>
            <a:spLocks noChangeArrowheads="1"/>
          </p:cNvSpPr>
          <p:nvPr/>
        </p:nvSpPr>
        <p:spPr bwMode="auto">
          <a:xfrm>
            <a:off x="5076825" y="3644900"/>
            <a:ext cx="1150938" cy="360363"/>
          </a:xfrm>
          <a:prstGeom prst="ellipse">
            <a:avLst/>
          </a:prstGeom>
          <a:noFill/>
          <a:ln w="38100">
            <a:solidFill>
              <a:srgbClr val="008000"/>
            </a:solidFill>
            <a:round/>
            <a:headEnd/>
            <a:tailEnd/>
          </a:ln>
        </p:spPr>
        <p:txBody>
          <a:bodyPr wrap="none" anchor="ctr"/>
          <a:lstStyle/>
          <a:p>
            <a:endParaRPr lang="es-ES"/>
          </a:p>
        </p:txBody>
      </p:sp>
      <p:sp>
        <p:nvSpPr>
          <p:cNvPr id="207897" name="Text Box 25"/>
          <p:cNvSpPr txBox="1">
            <a:spLocks noChangeArrowheads="1"/>
          </p:cNvSpPr>
          <p:nvPr/>
        </p:nvSpPr>
        <p:spPr bwMode="auto">
          <a:xfrm>
            <a:off x="1114425" y="4652963"/>
            <a:ext cx="1296988" cy="549275"/>
          </a:xfrm>
          <a:prstGeom prst="rect">
            <a:avLst/>
          </a:prstGeom>
          <a:noFill/>
          <a:ln w="9525">
            <a:noFill/>
            <a:miter lim="800000"/>
            <a:headEnd/>
            <a:tailEnd/>
          </a:ln>
        </p:spPr>
        <p:txBody>
          <a:bodyPr>
            <a:spAutoFit/>
          </a:bodyPr>
          <a:lstStyle/>
          <a:p>
            <a:pPr algn="ctr"/>
            <a:r>
              <a:rPr lang="es-ES" sz="1500" b="1">
                <a:solidFill>
                  <a:schemeClr val="accent2"/>
                </a:solidFill>
              </a:rPr>
              <a:t>CLAVE PRIMARIA</a:t>
            </a:r>
          </a:p>
        </p:txBody>
      </p:sp>
      <p:sp>
        <p:nvSpPr>
          <p:cNvPr id="207898" name="Text Box 26"/>
          <p:cNvSpPr txBox="1">
            <a:spLocks noChangeArrowheads="1"/>
          </p:cNvSpPr>
          <p:nvPr/>
        </p:nvSpPr>
        <p:spPr bwMode="auto">
          <a:xfrm>
            <a:off x="6516688" y="3500438"/>
            <a:ext cx="1296987" cy="549275"/>
          </a:xfrm>
          <a:prstGeom prst="rect">
            <a:avLst/>
          </a:prstGeom>
          <a:noFill/>
          <a:ln w="9525">
            <a:noFill/>
            <a:miter lim="800000"/>
            <a:headEnd/>
            <a:tailEnd/>
          </a:ln>
        </p:spPr>
        <p:txBody>
          <a:bodyPr>
            <a:spAutoFit/>
          </a:bodyPr>
          <a:lstStyle/>
          <a:p>
            <a:pPr algn="ctr"/>
            <a:r>
              <a:rPr lang="es-ES" sz="1500" b="1">
                <a:solidFill>
                  <a:srgbClr val="008000"/>
                </a:solidFill>
              </a:rPr>
              <a:t>CLAVE EXTERNA</a:t>
            </a:r>
          </a:p>
        </p:txBody>
      </p:sp>
      <p:sp>
        <p:nvSpPr>
          <p:cNvPr id="207899" name="Text Box 27"/>
          <p:cNvSpPr txBox="1">
            <a:spLocks noChangeArrowheads="1"/>
          </p:cNvSpPr>
          <p:nvPr/>
        </p:nvSpPr>
        <p:spPr bwMode="auto">
          <a:xfrm>
            <a:off x="5292725" y="2708275"/>
            <a:ext cx="1296988" cy="320675"/>
          </a:xfrm>
          <a:prstGeom prst="rect">
            <a:avLst/>
          </a:prstGeom>
          <a:noFill/>
          <a:ln w="9525">
            <a:noFill/>
            <a:miter lim="800000"/>
            <a:headEnd/>
            <a:tailEnd/>
          </a:ln>
        </p:spPr>
        <p:txBody>
          <a:bodyPr>
            <a:spAutoFit/>
          </a:bodyPr>
          <a:lstStyle/>
          <a:p>
            <a:pPr algn="ctr"/>
            <a:r>
              <a:rPr lang="es-ES" sz="1500" b="1">
                <a:solidFill>
                  <a:srgbClr val="008000"/>
                </a:solidFill>
              </a:rPr>
              <a:t>R2</a:t>
            </a:r>
          </a:p>
        </p:txBody>
      </p:sp>
      <p:sp>
        <p:nvSpPr>
          <p:cNvPr id="207900" name="Text Box 28"/>
          <p:cNvSpPr txBox="1">
            <a:spLocks noChangeArrowheads="1"/>
          </p:cNvSpPr>
          <p:nvPr/>
        </p:nvSpPr>
        <p:spPr bwMode="auto">
          <a:xfrm>
            <a:off x="2771775" y="4003675"/>
            <a:ext cx="1296988" cy="320675"/>
          </a:xfrm>
          <a:prstGeom prst="rect">
            <a:avLst/>
          </a:prstGeom>
          <a:noFill/>
          <a:ln w="9525">
            <a:noFill/>
            <a:miter lim="800000"/>
            <a:headEnd/>
            <a:tailEnd/>
          </a:ln>
        </p:spPr>
        <p:txBody>
          <a:bodyPr>
            <a:spAutoFit/>
          </a:bodyPr>
          <a:lstStyle/>
          <a:p>
            <a:pPr algn="ctr"/>
            <a:r>
              <a:rPr lang="es-ES" sz="1500" b="1">
                <a:solidFill>
                  <a:schemeClr val="accent2"/>
                </a:solidFill>
              </a:rPr>
              <a:t>R1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7898"/>
                                        </p:tgtEl>
                                        <p:attrNameLst>
                                          <p:attrName>style.visibility</p:attrName>
                                        </p:attrNameLst>
                                      </p:cBhvr>
                                      <p:to>
                                        <p:strVal val="visible"/>
                                      </p:to>
                                    </p:set>
                                  </p:childTnLst>
                                  <p:subTnLst>
                                    <p:set>
                                      <p:cBhvr override="childStyle">
                                        <p:cTn dur="1" fill="hold" display="0" masterRel="nextClick" afterEffect="1"/>
                                        <p:tgtEl>
                                          <p:spTgt spid="207898"/>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207896"/>
                                        </p:tgtEl>
                                        <p:attrNameLst>
                                          <p:attrName>style.visibility</p:attrName>
                                        </p:attrNameLst>
                                      </p:cBhvr>
                                      <p:to>
                                        <p:strVal val="visible"/>
                                      </p:to>
                                    </p:set>
                                  </p:childTnLst>
                                  <p:subTnLst>
                                    <p:set>
                                      <p:cBhvr override="childStyle">
                                        <p:cTn dur="1" fill="hold" display="0" masterRel="nextClick" afterEffect="1"/>
                                        <p:tgtEl>
                                          <p:spTgt spid="207896"/>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207899"/>
                                        </p:tgtEl>
                                        <p:attrNameLst>
                                          <p:attrName>style.visibility</p:attrName>
                                        </p:attrNameLst>
                                      </p:cBhvr>
                                      <p:to>
                                        <p:strVal val="visible"/>
                                      </p:to>
                                    </p:set>
                                  </p:childTnLst>
                                  <p:subTnLst>
                                    <p:set>
                                      <p:cBhvr override="childStyle">
                                        <p:cTn dur="1" fill="hold" display="0" masterRel="nextClick" afterEffect="1"/>
                                        <p:tgtEl>
                                          <p:spTgt spid="207899"/>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7897"/>
                                        </p:tgtEl>
                                        <p:attrNameLst>
                                          <p:attrName>style.visibility</p:attrName>
                                        </p:attrNameLst>
                                      </p:cBhvr>
                                      <p:to>
                                        <p:strVal val="visible"/>
                                      </p:to>
                                    </p:set>
                                  </p:childTnLst>
                                  <p:subTnLst>
                                    <p:set>
                                      <p:cBhvr override="childStyle">
                                        <p:cTn dur="1" fill="hold" display="0" masterRel="nextClick" afterEffect="1"/>
                                        <p:tgtEl>
                                          <p:spTgt spid="207897"/>
                                        </p:tgtEl>
                                        <p:attrNameLst>
                                          <p:attrName>style.visibility</p:attrName>
                                        </p:attrNameLst>
                                      </p:cBhvr>
                                      <p:to>
                                        <p:strVal val="hidden"/>
                                      </p:to>
                                    </p:set>
                                  </p:subTnLst>
                                </p:cTn>
                              </p:par>
                              <p:par>
                                <p:cTn id="15" presetID="1" presetClass="entr" presetSubtype="0" fill="hold" grpId="0" nodeType="withEffect">
                                  <p:stCondLst>
                                    <p:cond delay="0"/>
                                  </p:stCondLst>
                                  <p:childTnLst>
                                    <p:set>
                                      <p:cBhvr>
                                        <p:cTn id="16" dur="1" fill="hold">
                                          <p:stCondLst>
                                            <p:cond delay="0"/>
                                          </p:stCondLst>
                                        </p:cTn>
                                        <p:tgtEl>
                                          <p:spTgt spid="207895"/>
                                        </p:tgtEl>
                                        <p:attrNameLst>
                                          <p:attrName>style.visibility</p:attrName>
                                        </p:attrNameLst>
                                      </p:cBhvr>
                                      <p:to>
                                        <p:strVal val="visible"/>
                                      </p:to>
                                    </p:set>
                                  </p:childTnLst>
                                  <p:subTnLst>
                                    <p:set>
                                      <p:cBhvr override="childStyle">
                                        <p:cTn dur="1" fill="hold" display="0" masterRel="nextClick" afterEffect="1"/>
                                        <p:tgtEl>
                                          <p:spTgt spid="207895"/>
                                        </p:tgtEl>
                                        <p:attrNameLst>
                                          <p:attrName>style.visibility</p:attrName>
                                        </p:attrNameLst>
                                      </p:cBhvr>
                                      <p:to>
                                        <p:strVal val="hidden"/>
                                      </p:to>
                                    </p:set>
                                  </p:subTnLst>
                                </p:cTn>
                              </p:par>
                              <p:par>
                                <p:cTn id="17" presetID="1" presetClass="entr" presetSubtype="0" fill="hold" grpId="0" nodeType="withEffect">
                                  <p:stCondLst>
                                    <p:cond delay="0"/>
                                  </p:stCondLst>
                                  <p:childTnLst>
                                    <p:set>
                                      <p:cBhvr>
                                        <p:cTn id="18" dur="1" fill="hold">
                                          <p:stCondLst>
                                            <p:cond delay="0"/>
                                          </p:stCondLst>
                                        </p:cTn>
                                        <p:tgtEl>
                                          <p:spTgt spid="207900"/>
                                        </p:tgtEl>
                                        <p:attrNameLst>
                                          <p:attrName>style.visibility</p:attrName>
                                        </p:attrNameLst>
                                      </p:cBhvr>
                                      <p:to>
                                        <p:strVal val="visible"/>
                                      </p:to>
                                    </p:set>
                                  </p:childTnLst>
                                  <p:subTnLst>
                                    <p:set>
                                      <p:cBhvr override="childStyle">
                                        <p:cTn dur="1" fill="hold" display="0" masterRel="nextClick" afterEffect="1"/>
                                        <p:tgtEl>
                                          <p:spTgt spid="20790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95" grpId="0" animBg="1"/>
      <p:bldP spid="207896" grpId="0" animBg="1"/>
      <p:bldP spid="207897" grpId="0"/>
      <p:bldP spid="207898" grpId="0"/>
      <p:bldP spid="207899" grpId="0"/>
      <p:bldP spid="207900"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91491" name="2 CuadroTexto"/>
          <p:cNvSpPr txBox="1">
            <a:spLocks noChangeArrowheads="1"/>
          </p:cNvSpPr>
          <p:nvPr/>
        </p:nvSpPr>
        <p:spPr bwMode="auto">
          <a:xfrm>
            <a:off x="1116013" y="981075"/>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CLAVES EXTERNAS</a:t>
            </a:r>
          </a:p>
        </p:txBody>
      </p:sp>
      <p:sp>
        <p:nvSpPr>
          <p:cNvPr id="191492" name="AutoShape 12"/>
          <p:cNvSpPr>
            <a:spLocks noChangeArrowheads="1"/>
          </p:cNvSpPr>
          <p:nvPr/>
        </p:nvSpPr>
        <p:spPr bwMode="auto">
          <a:xfrm>
            <a:off x="1763713" y="2781300"/>
            <a:ext cx="2160587" cy="2808288"/>
          </a:xfrm>
          <a:prstGeom prst="flowChartAlternateProcess">
            <a:avLst/>
          </a:prstGeom>
          <a:noFill/>
          <a:ln w="9525">
            <a:solidFill>
              <a:schemeClr val="tx1"/>
            </a:solidFill>
            <a:miter lim="800000"/>
            <a:headEnd/>
            <a:tailEnd/>
          </a:ln>
        </p:spPr>
        <p:txBody>
          <a:bodyPr wrap="none" anchor="ctr"/>
          <a:lstStyle/>
          <a:p>
            <a:endParaRPr lang="es-ES"/>
          </a:p>
        </p:txBody>
      </p:sp>
      <p:sp>
        <p:nvSpPr>
          <p:cNvPr id="191493" name="Line 13"/>
          <p:cNvSpPr>
            <a:spLocks noChangeShapeType="1"/>
          </p:cNvSpPr>
          <p:nvPr/>
        </p:nvSpPr>
        <p:spPr bwMode="auto">
          <a:xfrm>
            <a:off x="1763713" y="3284538"/>
            <a:ext cx="2160587" cy="0"/>
          </a:xfrm>
          <a:prstGeom prst="line">
            <a:avLst/>
          </a:prstGeom>
          <a:noFill/>
          <a:ln w="9525">
            <a:solidFill>
              <a:schemeClr val="tx1"/>
            </a:solidFill>
            <a:round/>
            <a:headEnd/>
            <a:tailEnd/>
          </a:ln>
        </p:spPr>
        <p:txBody>
          <a:bodyPr/>
          <a:lstStyle/>
          <a:p>
            <a:endParaRPr lang="es-ES"/>
          </a:p>
        </p:txBody>
      </p:sp>
      <p:sp>
        <p:nvSpPr>
          <p:cNvPr id="191494" name="Text Box 14"/>
          <p:cNvSpPr txBox="1">
            <a:spLocks noChangeArrowheads="1"/>
          </p:cNvSpPr>
          <p:nvPr/>
        </p:nvSpPr>
        <p:spPr bwMode="auto">
          <a:xfrm>
            <a:off x="2143125" y="2873375"/>
            <a:ext cx="1276350" cy="366713"/>
          </a:xfrm>
          <a:prstGeom prst="rect">
            <a:avLst/>
          </a:prstGeom>
          <a:noFill/>
          <a:ln w="9525">
            <a:noFill/>
            <a:miter lim="800000"/>
            <a:headEnd/>
            <a:tailEnd/>
          </a:ln>
        </p:spPr>
        <p:txBody>
          <a:bodyPr wrap="none">
            <a:spAutoFit/>
          </a:bodyPr>
          <a:lstStyle/>
          <a:p>
            <a:r>
              <a:rPr lang="es-ES" b="1"/>
              <a:t>Empleado</a:t>
            </a:r>
          </a:p>
        </p:txBody>
      </p:sp>
      <p:sp>
        <p:nvSpPr>
          <p:cNvPr id="191495" name="Text Box 15"/>
          <p:cNvSpPr txBox="1">
            <a:spLocks noChangeArrowheads="1"/>
          </p:cNvSpPr>
          <p:nvPr/>
        </p:nvSpPr>
        <p:spPr bwMode="auto">
          <a:xfrm>
            <a:off x="2051050" y="3448050"/>
            <a:ext cx="1568450" cy="1739900"/>
          </a:xfrm>
          <a:prstGeom prst="rect">
            <a:avLst/>
          </a:prstGeom>
          <a:noFill/>
          <a:ln w="9525">
            <a:noFill/>
            <a:miter lim="800000"/>
            <a:headEnd/>
            <a:tailEnd/>
          </a:ln>
        </p:spPr>
        <p:txBody>
          <a:bodyPr wrap="none">
            <a:spAutoFit/>
          </a:bodyPr>
          <a:lstStyle/>
          <a:p>
            <a:r>
              <a:rPr lang="es-ES"/>
              <a:t>ID_Empleado</a:t>
            </a:r>
          </a:p>
          <a:p>
            <a:r>
              <a:rPr lang="es-ES"/>
              <a:t>Nombre</a:t>
            </a:r>
          </a:p>
          <a:p>
            <a:r>
              <a:rPr lang="es-ES"/>
              <a:t>Puesto</a:t>
            </a:r>
          </a:p>
          <a:p>
            <a:r>
              <a:rPr lang="es-ES"/>
              <a:t>Sueldo</a:t>
            </a:r>
          </a:p>
          <a:p>
            <a:r>
              <a:rPr lang="es-ES"/>
              <a:t>ID_Jefe</a:t>
            </a:r>
          </a:p>
          <a:p>
            <a:endParaRPr lang="es-ES"/>
          </a:p>
        </p:txBody>
      </p:sp>
      <p:sp>
        <p:nvSpPr>
          <p:cNvPr id="191496" name="AutoShape 16"/>
          <p:cNvSpPr>
            <a:spLocks noChangeArrowheads="1"/>
          </p:cNvSpPr>
          <p:nvPr/>
        </p:nvSpPr>
        <p:spPr bwMode="auto">
          <a:xfrm>
            <a:off x="5364163" y="2708275"/>
            <a:ext cx="2160587" cy="2808288"/>
          </a:xfrm>
          <a:prstGeom prst="flowChartAlternateProcess">
            <a:avLst/>
          </a:prstGeom>
          <a:noFill/>
          <a:ln w="9525">
            <a:solidFill>
              <a:schemeClr val="tx1"/>
            </a:solidFill>
            <a:miter lim="800000"/>
            <a:headEnd/>
            <a:tailEnd/>
          </a:ln>
        </p:spPr>
        <p:txBody>
          <a:bodyPr wrap="none" anchor="ctr"/>
          <a:lstStyle/>
          <a:p>
            <a:endParaRPr lang="es-ES"/>
          </a:p>
        </p:txBody>
      </p:sp>
      <p:sp>
        <p:nvSpPr>
          <p:cNvPr id="191497" name="Line 17"/>
          <p:cNvSpPr>
            <a:spLocks noChangeShapeType="1"/>
          </p:cNvSpPr>
          <p:nvPr/>
        </p:nvSpPr>
        <p:spPr bwMode="auto">
          <a:xfrm>
            <a:off x="5364163" y="3211513"/>
            <a:ext cx="2160587" cy="0"/>
          </a:xfrm>
          <a:prstGeom prst="line">
            <a:avLst/>
          </a:prstGeom>
          <a:noFill/>
          <a:ln w="9525">
            <a:solidFill>
              <a:schemeClr val="tx1"/>
            </a:solidFill>
            <a:round/>
            <a:headEnd/>
            <a:tailEnd/>
          </a:ln>
        </p:spPr>
        <p:txBody>
          <a:bodyPr/>
          <a:lstStyle/>
          <a:p>
            <a:endParaRPr lang="es-ES"/>
          </a:p>
        </p:txBody>
      </p:sp>
      <p:sp>
        <p:nvSpPr>
          <p:cNvPr id="191498" name="Text Box 18"/>
          <p:cNvSpPr txBox="1">
            <a:spLocks noChangeArrowheads="1"/>
          </p:cNvSpPr>
          <p:nvPr/>
        </p:nvSpPr>
        <p:spPr bwMode="auto">
          <a:xfrm>
            <a:off x="5743575" y="2800350"/>
            <a:ext cx="1276350" cy="366713"/>
          </a:xfrm>
          <a:prstGeom prst="rect">
            <a:avLst/>
          </a:prstGeom>
          <a:noFill/>
          <a:ln w="9525">
            <a:noFill/>
            <a:miter lim="800000"/>
            <a:headEnd/>
            <a:tailEnd/>
          </a:ln>
        </p:spPr>
        <p:txBody>
          <a:bodyPr wrap="none">
            <a:spAutoFit/>
          </a:bodyPr>
          <a:lstStyle/>
          <a:p>
            <a:r>
              <a:rPr lang="es-ES" b="1"/>
              <a:t>Empleado</a:t>
            </a:r>
          </a:p>
        </p:txBody>
      </p:sp>
      <p:sp>
        <p:nvSpPr>
          <p:cNvPr id="191499" name="Text Box 19"/>
          <p:cNvSpPr txBox="1">
            <a:spLocks noChangeArrowheads="1"/>
          </p:cNvSpPr>
          <p:nvPr/>
        </p:nvSpPr>
        <p:spPr bwMode="auto">
          <a:xfrm>
            <a:off x="5651500" y="3375025"/>
            <a:ext cx="1568450" cy="1739900"/>
          </a:xfrm>
          <a:prstGeom prst="rect">
            <a:avLst/>
          </a:prstGeom>
          <a:noFill/>
          <a:ln w="9525">
            <a:noFill/>
            <a:miter lim="800000"/>
            <a:headEnd/>
            <a:tailEnd/>
          </a:ln>
        </p:spPr>
        <p:txBody>
          <a:bodyPr wrap="none">
            <a:spAutoFit/>
          </a:bodyPr>
          <a:lstStyle/>
          <a:p>
            <a:r>
              <a:rPr lang="es-ES"/>
              <a:t>ID_Empleado</a:t>
            </a:r>
          </a:p>
          <a:p>
            <a:r>
              <a:rPr lang="es-ES"/>
              <a:t>Nombre</a:t>
            </a:r>
          </a:p>
          <a:p>
            <a:r>
              <a:rPr lang="es-ES"/>
              <a:t>Puesto</a:t>
            </a:r>
          </a:p>
          <a:p>
            <a:r>
              <a:rPr lang="es-ES"/>
              <a:t>Sueldo</a:t>
            </a:r>
          </a:p>
          <a:p>
            <a:r>
              <a:rPr lang="es-ES"/>
              <a:t>ID_Jefe</a:t>
            </a:r>
          </a:p>
          <a:p>
            <a:endParaRPr lang="es-ES"/>
          </a:p>
        </p:txBody>
      </p:sp>
      <p:cxnSp>
        <p:nvCxnSpPr>
          <p:cNvPr id="191500" name="AutoShape 20"/>
          <p:cNvCxnSpPr>
            <a:cxnSpLocks noChangeShapeType="1"/>
            <a:stCxn id="191501" idx="1"/>
            <a:endCxn id="191502" idx="3"/>
          </p:cNvCxnSpPr>
          <p:nvPr/>
        </p:nvCxnSpPr>
        <p:spPr bwMode="auto">
          <a:xfrm rot="10800000" flipV="1">
            <a:off x="3132138" y="3500438"/>
            <a:ext cx="2519362" cy="1223962"/>
          </a:xfrm>
          <a:prstGeom prst="bentConnector3">
            <a:avLst>
              <a:gd name="adj1" fmla="val 50032"/>
            </a:avLst>
          </a:prstGeom>
          <a:noFill/>
          <a:ln w="9525">
            <a:solidFill>
              <a:schemeClr val="tx1"/>
            </a:solidFill>
            <a:miter lim="800000"/>
            <a:headEnd/>
            <a:tailEnd type="triangle" w="med" len="med"/>
          </a:ln>
        </p:spPr>
      </p:cxnSp>
      <p:sp>
        <p:nvSpPr>
          <p:cNvPr id="191501" name="Rectangle 21"/>
          <p:cNvSpPr>
            <a:spLocks noChangeArrowheads="1"/>
          </p:cNvSpPr>
          <p:nvPr/>
        </p:nvSpPr>
        <p:spPr bwMode="auto">
          <a:xfrm>
            <a:off x="5651500" y="3284538"/>
            <a:ext cx="1728788" cy="431800"/>
          </a:xfrm>
          <a:prstGeom prst="rect">
            <a:avLst/>
          </a:prstGeom>
          <a:noFill/>
          <a:ln w="9525">
            <a:noFill/>
            <a:miter lim="800000"/>
            <a:headEnd/>
            <a:tailEnd/>
          </a:ln>
        </p:spPr>
        <p:txBody>
          <a:bodyPr wrap="none" anchor="ctr"/>
          <a:lstStyle/>
          <a:p>
            <a:endParaRPr lang="es-ES"/>
          </a:p>
        </p:txBody>
      </p:sp>
      <p:sp>
        <p:nvSpPr>
          <p:cNvPr id="191502" name="Rectangle 22"/>
          <p:cNvSpPr>
            <a:spLocks noChangeArrowheads="1"/>
          </p:cNvSpPr>
          <p:nvPr/>
        </p:nvSpPr>
        <p:spPr bwMode="auto">
          <a:xfrm>
            <a:off x="1403350" y="4508500"/>
            <a:ext cx="1728788" cy="431800"/>
          </a:xfrm>
          <a:prstGeom prst="rect">
            <a:avLst/>
          </a:prstGeom>
          <a:noFill/>
          <a:ln w="9525">
            <a:noFill/>
            <a:miter lim="800000"/>
            <a:headEnd/>
            <a:tailEnd/>
          </a:ln>
        </p:spPr>
        <p:txBody>
          <a:bodyPr wrap="none" anchor="ctr"/>
          <a:lstStyle/>
          <a:p>
            <a:endParaRPr lang="es-ES"/>
          </a:p>
        </p:txBody>
      </p:sp>
      <p:sp>
        <p:nvSpPr>
          <p:cNvPr id="191503" name="Text Box 23"/>
          <p:cNvSpPr txBox="1">
            <a:spLocks noChangeArrowheads="1"/>
          </p:cNvSpPr>
          <p:nvPr/>
        </p:nvSpPr>
        <p:spPr bwMode="auto">
          <a:xfrm>
            <a:off x="5053013" y="3133725"/>
            <a:ext cx="311150" cy="366713"/>
          </a:xfrm>
          <a:prstGeom prst="rect">
            <a:avLst/>
          </a:prstGeom>
          <a:noFill/>
          <a:ln w="9525">
            <a:noFill/>
            <a:miter lim="800000"/>
            <a:headEnd/>
            <a:tailEnd/>
          </a:ln>
        </p:spPr>
        <p:txBody>
          <a:bodyPr wrap="none">
            <a:spAutoFit/>
          </a:bodyPr>
          <a:lstStyle/>
          <a:p>
            <a:r>
              <a:rPr lang="es-ES"/>
              <a:t>1</a:t>
            </a:r>
          </a:p>
        </p:txBody>
      </p:sp>
      <p:sp>
        <p:nvSpPr>
          <p:cNvPr id="191504" name="Text Box 24"/>
          <p:cNvSpPr txBox="1">
            <a:spLocks noChangeArrowheads="1"/>
          </p:cNvSpPr>
          <p:nvPr/>
        </p:nvSpPr>
        <p:spPr bwMode="auto">
          <a:xfrm>
            <a:off x="3924300" y="4357688"/>
            <a:ext cx="374650" cy="366712"/>
          </a:xfrm>
          <a:prstGeom prst="rect">
            <a:avLst/>
          </a:prstGeom>
          <a:noFill/>
          <a:ln w="9525">
            <a:noFill/>
            <a:miter lim="800000"/>
            <a:headEnd/>
            <a:tailEnd/>
          </a:ln>
        </p:spPr>
        <p:txBody>
          <a:bodyPr wrap="none">
            <a:spAutoFit/>
          </a:bodyPr>
          <a:lstStyle/>
          <a:p>
            <a:r>
              <a:rPr lang="es-ES"/>
              <a:t>M</a:t>
            </a:r>
          </a:p>
        </p:txBody>
      </p:sp>
      <p:sp>
        <p:nvSpPr>
          <p:cNvPr id="191505" name="Rectangle 25"/>
          <p:cNvSpPr>
            <a:spLocks noChangeArrowheads="1"/>
          </p:cNvSpPr>
          <p:nvPr/>
        </p:nvSpPr>
        <p:spPr bwMode="auto">
          <a:xfrm>
            <a:off x="2009775" y="1773238"/>
            <a:ext cx="5124450" cy="366712"/>
          </a:xfrm>
          <a:prstGeom prst="rect">
            <a:avLst/>
          </a:prstGeom>
          <a:noFill/>
          <a:ln w="9525">
            <a:noFill/>
            <a:miter lim="800000"/>
            <a:headEnd/>
            <a:tailEnd/>
          </a:ln>
        </p:spPr>
        <p:txBody>
          <a:bodyPr wrap="none">
            <a:spAutoFit/>
          </a:bodyPr>
          <a:lstStyle/>
          <a:p>
            <a:r>
              <a:rPr lang="es-ES" u="sng">
                <a:solidFill>
                  <a:schemeClr val="hlink"/>
                </a:solidFill>
              </a:rPr>
              <a:t>R1 y R2 no han de ser necesariamente distintas.</a:t>
            </a:r>
          </a:p>
        </p:txBody>
      </p:sp>
      <p:sp>
        <p:nvSpPr>
          <p:cNvPr id="191506" name="Text Box 26"/>
          <p:cNvSpPr txBox="1">
            <a:spLocks noChangeArrowheads="1"/>
          </p:cNvSpPr>
          <p:nvPr/>
        </p:nvSpPr>
        <p:spPr bwMode="auto">
          <a:xfrm>
            <a:off x="4335463" y="5897563"/>
            <a:ext cx="1200150" cy="366712"/>
          </a:xfrm>
          <a:prstGeom prst="rect">
            <a:avLst/>
          </a:prstGeom>
          <a:noFill/>
          <a:ln w="9525">
            <a:noFill/>
            <a:miter lim="800000"/>
            <a:headEnd/>
            <a:tailEnd/>
          </a:ln>
        </p:spPr>
        <p:txBody>
          <a:bodyPr wrap="none">
            <a:spAutoFit/>
          </a:bodyPr>
          <a:lstStyle/>
          <a:p>
            <a:r>
              <a:rPr lang="es-ES"/>
              <a:t>Ejemplo 1</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92515" name="2 CuadroTexto"/>
          <p:cNvSpPr txBox="1">
            <a:spLocks noChangeArrowheads="1"/>
          </p:cNvSpPr>
          <p:nvPr/>
        </p:nvSpPr>
        <p:spPr bwMode="auto">
          <a:xfrm>
            <a:off x="1116013" y="981075"/>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CLAVES EXTERNAS</a:t>
            </a:r>
          </a:p>
        </p:txBody>
      </p:sp>
      <p:sp>
        <p:nvSpPr>
          <p:cNvPr id="192516" name="AutoShape 4"/>
          <p:cNvSpPr>
            <a:spLocks noChangeArrowheads="1"/>
          </p:cNvSpPr>
          <p:nvPr/>
        </p:nvSpPr>
        <p:spPr bwMode="auto">
          <a:xfrm>
            <a:off x="1763713" y="2781300"/>
            <a:ext cx="2160587" cy="2808288"/>
          </a:xfrm>
          <a:prstGeom prst="flowChartAlternateProcess">
            <a:avLst/>
          </a:prstGeom>
          <a:noFill/>
          <a:ln w="9525">
            <a:solidFill>
              <a:schemeClr val="tx1"/>
            </a:solidFill>
            <a:miter lim="800000"/>
            <a:headEnd/>
            <a:tailEnd/>
          </a:ln>
        </p:spPr>
        <p:txBody>
          <a:bodyPr wrap="none" anchor="ctr"/>
          <a:lstStyle/>
          <a:p>
            <a:endParaRPr lang="es-ES"/>
          </a:p>
        </p:txBody>
      </p:sp>
      <p:sp>
        <p:nvSpPr>
          <p:cNvPr id="192517" name="Line 5"/>
          <p:cNvSpPr>
            <a:spLocks noChangeShapeType="1"/>
          </p:cNvSpPr>
          <p:nvPr/>
        </p:nvSpPr>
        <p:spPr bwMode="auto">
          <a:xfrm>
            <a:off x="1763713" y="3284538"/>
            <a:ext cx="2160587" cy="0"/>
          </a:xfrm>
          <a:prstGeom prst="line">
            <a:avLst/>
          </a:prstGeom>
          <a:noFill/>
          <a:ln w="9525">
            <a:solidFill>
              <a:schemeClr val="tx1"/>
            </a:solidFill>
            <a:round/>
            <a:headEnd/>
            <a:tailEnd/>
          </a:ln>
        </p:spPr>
        <p:txBody>
          <a:bodyPr/>
          <a:lstStyle/>
          <a:p>
            <a:endParaRPr lang="es-ES"/>
          </a:p>
        </p:txBody>
      </p:sp>
      <p:sp>
        <p:nvSpPr>
          <p:cNvPr id="192518" name="Text Box 6"/>
          <p:cNvSpPr txBox="1">
            <a:spLocks noChangeArrowheads="1"/>
          </p:cNvSpPr>
          <p:nvPr/>
        </p:nvSpPr>
        <p:spPr bwMode="auto">
          <a:xfrm>
            <a:off x="2241550" y="2873375"/>
            <a:ext cx="1035050" cy="366713"/>
          </a:xfrm>
          <a:prstGeom prst="rect">
            <a:avLst/>
          </a:prstGeom>
          <a:noFill/>
          <a:ln w="9525">
            <a:noFill/>
            <a:miter lim="800000"/>
            <a:headEnd/>
            <a:tailEnd/>
          </a:ln>
        </p:spPr>
        <p:txBody>
          <a:bodyPr wrap="none">
            <a:spAutoFit/>
          </a:bodyPr>
          <a:lstStyle/>
          <a:p>
            <a:r>
              <a:rPr lang="es-ES" b="1"/>
              <a:t>Alumno</a:t>
            </a:r>
          </a:p>
        </p:txBody>
      </p:sp>
      <p:sp>
        <p:nvSpPr>
          <p:cNvPr id="192519" name="Text Box 7"/>
          <p:cNvSpPr txBox="1">
            <a:spLocks noChangeArrowheads="1"/>
          </p:cNvSpPr>
          <p:nvPr/>
        </p:nvSpPr>
        <p:spPr bwMode="auto">
          <a:xfrm>
            <a:off x="1908175" y="3448050"/>
            <a:ext cx="1860550" cy="1739900"/>
          </a:xfrm>
          <a:prstGeom prst="rect">
            <a:avLst/>
          </a:prstGeom>
          <a:noFill/>
          <a:ln w="9525">
            <a:noFill/>
            <a:miter lim="800000"/>
            <a:headEnd/>
            <a:tailEnd/>
          </a:ln>
        </p:spPr>
        <p:txBody>
          <a:bodyPr wrap="none">
            <a:spAutoFit/>
          </a:bodyPr>
          <a:lstStyle/>
          <a:p>
            <a:r>
              <a:rPr lang="es-ES"/>
              <a:t>NoExpediente</a:t>
            </a:r>
          </a:p>
          <a:p>
            <a:r>
              <a:rPr lang="es-ES"/>
              <a:t>Nombre</a:t>
            </a:r>
          </a:p>
          <a:p>
            <a:r>
              <a:rPr lang="es-ES"/>
              <a:t>Carrera</a:t>
            </a:r>
          </a:p>
          <a:p>
            <a:r>
              <a:rPr lang="es-ES"/>
              <a:t>Cuatrimestre</a:t>
            </a:r>
          </a:p>
          <a:p>
            <a:r>
              <a:rPr lang="es-ES"/>
              <a:t>NoExp_JefeGpo</a:t>
            </a:r>
          </a:p>
          <a:p>
            <a:endParaRPr lang="es-ES"/>
          </a:p>
        </p:txBody>
      </p:sp>
      <p:sp>
        <p:nvSpPr>
          <p:cNvPr id="192520" name="AutoShape 8"/>
          <p:cNvSpPr>
            <a:spLocks noChangeArrowheads="1"/>
          </p:cNvSpPr>
          <p:nvPr/>
        </p:nvSpPr>
        <p:spPr bwMode="auto">
          <a:xfrm>
            <a:off x="5364163" y="2708275"/>
            <a:ext cx="2160587" cy="2808288"/>
          </a:xfrm>
          <a:prstGeom prst="flowChartAlternateProcess">
            <a:avLst/>
          </a:prstGeom>
          <a:noFill/>
          <a:ln w="9525">
            <a:solidFill>
              <a:schemeClr val="tx1"/>
            </a:solidFill>
            <a:miter lim="800000"/>
            <a:headEnd/>
            <a:tailEnd/>
          </a:ln>
        </p:spPr>
        <p:txBody>
          <a:bodyPr wrap="none" anchor="ctr"/>
          <a:lstStyle/>
          <a:p>
            <a:endParaRPr lang="es-ES"/>
          </a:p>
        </p:txBody>
      </p:sp>
      <p:sp>
        <p:nvSpPr>
          <p:cNvPr id="192521" name="Line 9"/>
          <p:cNvSpPr>
            <a:spLocks noChangeShapeType="1"/>
          </p:cNvSpPr>
          <p:nvPr/>
        </p:nvSpPr>
        <p:spPr bwMode="auto">
          <a:xfrm>
            <a:off x="5364163" y="3211513"/>
            <a:ext cx="2160587" cy="0"/>
          </a:xfrm>
          <a:prstGeom prst="line">
            <a:avLst/>
          </a:prstGeom>
          <a:noFill/>
          <a:ln w="9525">
            <a:solidFill>
              <a:schemeClr val="tx1"/>
            </a:solidFill>
            <a:round/>
            <a:headEnd/>
            <a:tailEnd/>
          </a:ln>
        </p:spPr>
        <p:txBody>
          <a:bodyPr/>
          <a:lstStyle/>
          <a:p>
            <a:endParaRPr lang="es-ES"/>
          </a:p>
        </p:txBody>
      </p:sp>
      <p:sp>
        <p:nvSpPr>
          <p:cNvPr id="192522" name="Text Box 10"/>
          <p:cNvSpPr txBox="1">
            <a:spLocks noChangeArrowheads="1"/>
          </p:cNvSpPr>
          <p:nvPr/>
        </p:nvSpPr>
        <p:spPr bwMode="auto">
          <a:xfrm>
            <a:off x="5867400" y="2800350"/>
            <a:ext cx="1035050" cy="366713"/>
          </a:xfrm>
          <a:prstGeom prst="rect">
            <a:avLst/>
          </a:prstGeom>
          <a:noFill/>
          <a:ln w="9525">
            <a:noFill/>
            <a:miter lim="800000"/>
            <a:headEnd/>
            <a:tailEnd/>
          </a:ln>
        </p:spPr>
        <p:txBody>
          <a:bodyPr wrap="none">
            <a:spAutoFit/>
          </a:bodyPr>
          <a:lstStyle/>
          <a:p>
            <a:r>
              <a:rPr lang="es-ES" b="1"/>
              <a:t>Alumno</a:t>
            </a:r>
          </a:p>
        </p:txBody>
      </p:sp>
      <p:cxnSp>
        <p:nvCxnSpPr>
          <p:cNvPr id="192523" name="AutoShape 12"/>
          <p:cNvCxnSpPr>
            <a:cxnSpLocks noChangeShapeType="1"/>
            <a:stCxn id="192524" idx="1"/>
            <a:endCxn id="192525" idx="3"/>
          </p:cNvCxnSpPr>
          <p:nvPr/>
        </p:nvCxnSpPr>
        <p:spPr bwMode="auto">
          <a:xfrm rot="10800000" flipV="1">
            <a:off x="3708400" y="3500438"/>
            <a:ext cx="1943100" cy="1223962"/>
          </a:xfrm>
          <a:prstGeom prst="bentConnector3">
            <a:avLst>
              <a:gd name="adj1" fmla="val 50000"/>
            </a:avLst>
          </a:prstGeom>
          <a:noFill/>
          <a:ln w="9525">
            <a:solidFill>
              <a:schemeClr val="tx1"/>
            </a:solidFill>
            <a:miter lim="800000"/>
            <a:headEnd/>
            <a:tailEnd type="triangle" w="med" len="med"/>
          </a:ln>
        </p:spPr>
      </p:cxnSp>
      <p:sp>
        <p:nvSpPr>
          <p:cNvPr id="192524" name="Rectangle 13"/>
          <p:cNvSpPr>
            <a:spLocks noChangeArrowheads="1"/>
          </p:cNvSpPr>
          <p:nvPr/>
        </p:nvSpPr>
        <p:spPr bwMode="auto">
          <a:xfrm>
            <a:off x="5651500" y="3284538"/>
            <a:ext cx="1728788" cy="431800"/>
          </a:xfrm>
          <a:prstGeom prst="rect">
            <a:avLst/>
          </a:prstGeom>
          <a:noFill/>
          <a:ln w="9525">
            <a:noFill/>
            <a:miter lim="800000"/>
            <a:headEnd/>
            <a:tailEnd/>
          </a:ln>
        </p:spPr>
        <p:txBody>
          <a:bodyPr wrap="none" anchor="ctr"/>
          <a:lstStyle/>
          <a:p>
            <a:endParaRPr lang="es-ES"/>
          </a:p>
        </p:txBody>
      </p:sp>
      <p:sp>
        <p:nvSpPr>
          <p:cNvPr id="192525" name="Rectangle 14"/>
          <p:cNvSpPr>
            <a:spLocks noChangeArrowheads="1"/>
          </p:cNvSpPr>
          <p:nvPr/>
        </p:nvSpPr>
        <p:spPr bwMode="auto">
          <a:xfrm>
            <a:off x="1403350" y="4508500"/>
            <a:ext cx="2305050" cy="431800"/>
          </a:xfrm>
          <a:prstGeom prst="rect">
            <a:avLst/>
          </a:prstGeom>
          <a:noFill/>
          <a:ln w="9525">
            <a:noFill/>
            <a:miter lim="800000"/>
            <a:headEnd/>
            <a:tailEnd/>
          </a:ln>
        </p:spPr>
        <p:txBody>
          <a:bodyPr wrap="none" anchor="ctr"/>
          <a:lstStyle/>
          <a:p>
            <a:endParaRPr lang="es-ES"/>
          </a:p>
        </p:txBody>
      </p:sp>
      <p:sp>
        <p:nvSpPr>
          <p:cNvPr id="192526" name="Text Box 15"/>
          <p:cNvSpPr txBox="1">
            <a:spLocks noChangeArrowheads="1"/>
          </p:cNvSpPr>
          <p:nvPr/>
        </p:nvSpPr>
        <p:spPr bwMode="auto">
          <a:xfrm>
            <a:off x="5053013" y="3133725"/>
            <a:ext cx="311150" cy="366713"/>
          </a:xfrm>
          <a:prstGeom prst="rect">
            <a:avLst/>
          </a:prstGeom>
          <a:noFill/>
          <a:ln w="9525">
            <a:noFill/>
            <a:miter lim="800000"/>
            <a:headEnd/>
            <a:tailEnd/>
          </a:ln>
        </p:spPr>
        <p:txBody>
          <a:bodyPr wrap="none">
            <a:spAutoFit/>
          </a:bodyPr>
          <a:lstStyle/>
          <a:p>
            <a:r>
              <a:rPr lang="es-ES"/>
              <a:t>1</a:t>
            </a:r>
          </a:p>
        </p:txBody>
      </p:sp>
      <p:sp>
        <p:nvSpPr>
          <p:cNvPr id="192527" name="Text Box 16"/>
          <p:cNvSpPr txBox="1">
            <a:spLocks noChangeArrowheads="1"/>
          </p:cNvSpPr>
          <p:nvPr/>
        </p:nvSpPr>
        <p:spPr bwMode="auto">
          <a:xfrm>
            <a:off x="3924300" y="4357688"/>
            <a:ext cx="374650" cy="366712"/>
          </a:xfrm>
          <a:prstGeom prst="rect">
            <a:avLst/>
          </a:prstGeom>
          <a:noFill/>
          <a:ln w="9525">
            <a:noFill/>
            <a:miter lim="800000"/>
            <a:headEnd/>
            <a:tailEnd/>
          </a:ln>
        </p:spPr>
        <p:txBody>
          <a:bodyPr wrap="none">
            <a:spAutoFit/>
          </a:bodyPr>
          <a:lstStyle/>
          <a:p>
            <a:r>
              <a:rPr lang="es-ES"/>
              <a:t>M</a:t>
            </a:r>
          </a:p>
        </p:txBody>
      </p:sp>
      <p:sp>
        <p:nvSpPr>
          <p:cNvPr id="192528" name="Rectangle 17"/>
          <p:cNvSpPr>
            <a:spLocks noChangeArrowheads="1"/>
          </p:cNvSpPr>
          <p:nvPr/>
        </p:nvSpPr>
        <p:spPr bwMode="auto">
          <a:xfrm>
            <a:off x="2009775" y="1773238"/>
            <a:ext cx="5124450" cy="366712"/>
          </a:xfrm>
          <a:prstGeom prst="rect">
            <a:avLst/>
          </a:prstGeom>
          <a:noFill/>
          <a:ln w="9525">
            <a:noFill/>
            <a:miter lim="800000"/>
            <a:headEnd/>
            <a:tailEnd/>
          </a:ln>
        </p:spPr>
        <p:txBody>
          <a:bodyPr wrap="none">
            <a:spAutoFit/>
          </a:bodyPr>
          <a:lstStyle/>
          <a:p>
            <a:r>
              <a:rPr lang="es-ES" u="sng">
                <a:solidFill>
                  <a:schemeClr val="hlink"/>
                </a:solidFill>
              </a:rPr>
              <a:t>R1 y R2 no han de ser necesariamente distintas.</a:t>
            </a:r>
          </a:p>
        </p:txBody>
      </p:sp>
      <p:sp>
        <p:nvSpPr>
          <p:cNvPr id="192529" name="Text Box 18"/>
          <p:cNvSpPr txBox="1">
            <a:spLocks noChangeArrowheads="1"/>
          </p:cNvSpPr>
          <p:nvPr/>
        </p:nvSpPr>
        <p:spPr bwMode="auto">
          <a:xfrm>
            <a:off x="4335463" y="5897563"/>
            <a:ext cx="1200150" cy="366712"/>
          </a:xfrm>
          <a:prstGeom prst="rect">
            <a:avLst/>
          </a:prstGeom>
          <a:noFill/>
          <a:ln w="9525">
            <a:noFill/>
            <a:miter lim="800000"/>
            <a:headEnd/>
            <a:tailEnd/>
          </a:ln>
        </p:spPr>
        <p:txBody>
          <a:bodyPr wrap="none">
            <a:spAutoFit/>
          </a:bodyPr>
          <a:lstStyle/>
          <a:p>
            <a:r>
              <a:rPr lang="es-ES"/>
              <a:t>Ejemplo 2</a:t>
            </a:r>
          </a:p>
        </p:txBody>
      </p:sp>
      <p:sp>
        <p:nvSpPr>
          <p:cNvPr id="192530" name="Text Box 19"/>
          <p:cNvSpPr txBox="1">
            <a:spLocks noChangeArrowheads="1"/>
          </p:cNvSpPr>
          <p:nvPr/>
        </p:nvSpPr>
        <p:spPr bwMode="auto">
          <a:xfrm>
            <a:off x="5664200" y="3284538"/>
            <a:ext cx="1860550" cy="1739900"/>
          </a:xfrm>
          <a:prstGeom prst="rect">
            <a:avLst/>
          </a:prstGeom>
          <a:noFill/>
          <a:ln w="9525">
            <a:noFill/>
            <a:miter lim="800000"/>
            <a:headEnd/>
            <a:tailEnd/>
          </a:ln>
        </p:spPr>
        <p:txBody>
          <a:bodyPr wrap="none">
            <a:spAutoFit/>
          </a:bodyPr>
          <a:lstStyle/>
          <a:p>
            <a:r>
              <a:rPr lang="es-ES"/>
              <a:t>NoExpediente</a:t>
            </a:r>
          </a:p>
          <a:p>
            <a:r>
              <a:rPr lang="es-ES"/>
              <a:t>Nombre</a:t>
            </a:r>
          </a:p>
          <a:p>
            <a:r>
              <a:rPr lang="es-ES"/>
              <a:t>Carrera</a:t>
            </a:r>
          </a:p>
          <a:p>
            <a:r>
              <a:rPr lang="es-ES"/>
              <a:t>Cuatrimestre</a:t>
            </a:r>
          </a:p>
          <a:p>
            <a:r>
              <a:rPr lang="es-ES"/>
              <a:t>NoExp_JefeGpo</a:t>
            </a:r>
          </a:p>
          <a:p>
            <a:endParaRPr lang="es-E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93539" name="2 CuadroTexto"/>
          <p:cNvSpPr txBox="1">
            <a:spLocks noChangeArrowheads="1"/>
          </p:cNvSpPr>
          <p:nvPr/>
        </p:nvSpPr>
        <p:spPr bwMode="auto">
          <a:xfrm>
            <a:off x="1116013" y="981075"/>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CLAVES EXTERNAS</a:t>
            </a:r>
          </a:p>
        </p:txBody>
      </p:sp>
      <p:sp>
        <p:nvSpPr>
          <p:cNvPr id="193540" name="AutoShape 4"/>
          <p:cNvSpPr>
            <a:spLocks noChangeArrowheads="1"/>
          </p:cNvSpPr>
          <p:nvPr/>
        </p:nvSpPr>
        <p:spPr bwMode="auto">
          <a:xfrm>
            <a:off x="1763713" y="2781300"/>
            <a:ext cx="2160587" cy="2808288"/>
          </a:xfrm>
          <a:prstGeom prst="flowChartAlternateProcess">
            <a:avLst/>
          </a:prstGeom>
          <a:noFill/>
          <a:ln w="9525">
            <a:solidFill>
              <a:schemeClr val="tx1"/>
            </a:solidFill>
            <a:miter lim="800000"/>
            <a:headEnd/>
            <a:tailEnd/>
          </a:ln>
        </p:spPr>
        <p:txBody>
          <a:bodyPr wrap="none" anchor="ctr"/>
          <a:lstStyle/>
          <a:p>
            <a:endParaRPr lang="es-ES"/>
          </a:p>
        </p:txBody>
      </p:sp>
      <p:sp>
        <p:nvSpPr>
          <p:cNvPr id="193541" name="Line 5"/>
          <p:cNvSpPr>
            <a:spLocks noChangeShapeType="1"/>
          </p:cNvSpPr>
          <p:nvPr/>
        </p:nvSpPr>
        <p:spPr bwMode="auto">
          <a:xfrm>
            <a:off x="1763713" y="3284538"/>
            <a:ext cx="2160587" cy="0"/>
          </a:xfrm>
          <a:prstGeom prst="line">
            <a:avLst/>
          </a:prstGeom>
          <a:noFill/>
          <a:ln w="9525">
            <a:solidFill>
              <a:schemeClr val="tx1"/>
            </a:solidFill>
            <a:round/>
            <a:headEnd/>
            <a:tailEnd/>
          </a:ln>
        </p:spPr>
        <p:txBody>
          <a:bodyPr/>
          <a:lstStyle/>
          <a:p>
            <a:endParaRPr lang="es-ES"/>
          </a:p>
        </p:txBody>
      </p:sp>
      <p:sp>
        <p:nvSpPr>
          <p:cNvPr id="193542" name="Text Box 6"/>
          <p:cNvSpPr txBox="1">
            <a:spLocks noChangeArrowheads="1"/>
          </p:cNvSpPr>
          <p:nvPr/>
        </p:nvSpPr>
        <p:spPr bwMode="auto">
          <a:xfrm>
            <a:off x="2143125" y="2873375"/>
            <a:ext cx="1466850" cy="366713"/>
          </a:xfrm>
          <a:prstGeom prst="rect">
            <a:avLst/>
          </a:prstGeom>
          <a:noFill/>
          <a:ln w="9525">
            <a:noFill/>
            <a:miter lim="800000"/>
            <a:headEnd/>
            <a:tailEnd/>
          </a:ln>
        </p:spPr>
        <p:txBody>
          <a:bodyPr wrap="none">
            <a:spAutoFit/>
          </a:bodyPr>
          <a:lstStyle/>
          <a:p>
            <a:r>
              <a:rPr lang="es-ES" b="1"/>
              <a:t>Actividades</a:t>
            </a:r>
          </a:p>
        </p:txBody>
      </p:sp>
      <p:sp>
        <p:nvSpPr>
          <p:cNvPr id="193543" name="Text Box 7"/>
          <p:cNvSpPr txBox="1">
            <a:spLocks noChangeArrowheads="1"/>
          </p:cNvSpPr>
          <p:nvPr/>
        </p:nvSpPr>
        <p:spPr bwMode="auto">
          <a:xfrm>
            <a:off x="1908175" y="3716338"/>
            <a:ext cx="1949450" cy="1465262"/>
          </a:xfrm>
          <a:prstGeom prst="rect">
            <a:avLst/>
          </a:prstGeom>
          <a:noFill/>
          <a:ln w="9525">
            <a:noFill/>
            <a:miter lim="800000"/>
            <a:headEnd/>
            <a:tailEnd/>
          </a:ln>
        </p:spPr>
        <p:txBody>
          <a:bodyPr wrap="none">
            <a:spAutoFit/>
          </a:bodyPr>
          <a:lstStyle/>
          <a:p>
            <a:r>
              <a:rPr lang="es-ES"/>
              <a:t>ID_Actividad</a:t>
            </a:r>
          </a:p>
          <a:p>
            <a:r>
              <a:rPr lang="es-ES"/>
              <a:t>Desc_Actividad</a:t>
            </a:r>
          </a:p>
          <a:p>
            <a:r>
              <a:rPr lang="es-ES"/>
              <a:t>Fecha_Actividad</a:t>
            </a:r>
          </a:p>
          <a:p>
            <a:r>
              <a:rPr lang="es-ES"/>
              <a:t>ID_Act_Siguiente</a:t>
            </a:r>
          </a:p>
          <a:p>
            <a:endParaRPr lang="es-ES"/>
          </a:p>
        </p:txBody>
      </p:sp>
      <p:sp>
        <p:nvSpPr>
          <p:cNvPr id="193544" name="AutoShape 8"/>
          <p:cNvSpPr>
            <a:spLocks noChangeArrowheads="1"/>
          </p:cNvSpPr>
          <p:nvPr/>
        </p:nvSpPr>
        <p:spPr bwMode="auto">
          <a:xfrm>
            <a:off x="5364163" y="2708275"/>
            <a:ext cx="2160587" cy="2808288"/>
          </a:xfrm>
          <a:prstGeom prst="flowChartAlternateProcess">
            <a:avLst/>
          </a:prstGeom>
          <a:noFill/>
          <a:ln w="9525">
            <a:solidFill>
              <a:schemeClr val="tx1"/>
            </a:solidFill>
            <a:miter lim="800000"/>
            <a:headEnd/>
            <a:tailEnd/>
          </a:ln>
        </p:spPr>
        <p:txBody>
          <a:bodyPr wrap="none" anchor="ctr"/>
          <a:lstStyle/>
          <a:p>
            <a:endParaRPr lang="es-ES"/>
          </a:p>
        </p:txBody>
      </p:sp>
      <p:sp>
        <p:nvSpPr>
          <p:cNvPr id="193545" name="Line 9"/>
          <p:cNvSpPr>
            <a:spLocks noChangeShapeType="1"/>
          </p:cNvSpPr>
          <p:nvPr/>
        </p:nvSpPr>
        <p:spPr bwMode="auto">
          <a:xfrm>
            <a:off x="5364163" y="3211513"/>
            <a:ext cx="2160587" cy="0"/>
          </a:xfrm>
          <a:prstGeom prst="line">
            <a:avLst/>
          </a:prstGeom>
          <a:noFill/>
          <a:ln w="9525">
            <a:solidFill>
              <a:schemeClr val="tx1"/>
            </a:solidFill>
            <a:round/>
            <a:headEnd/>
            <a:tailEnd/>
          </a:ln>
        </p:spPr>
        <p:txBody>
          <a:bodyPr/>
          <a:lstStyle/>
          <a:p>
            <a:endParaRPr lang="es-ES"/>
          </a:p>
        </p:txBody>
      </p:sp>
      <p:sp>
        <p:nvSpPr>
          <p:cNvPr id="193546" name="Text Box 10"/>
          <p:cNvSpPr txBox="1">
            <a:spLocks noChangeArrowheads="1"/>
          </p:cNvSpPr>
          <p:nvPr/>
        </p:nvSpPr>
        <p:spPr bwMode="auto">
          <a:xfrm>
            <a:off x="5743575" y="2800350"/>
            <a:ext cx="1466850" cy="366713"/>
          </a:xfrm>
          <a:prstGeom prst="rect">
            <a:avLst/>
          </a:prstGeom>
          <a:noFill/>
          <a:ln w="9525">
            <a:noFill/>
            <a:miter lim="800000"/>
            <a:headEnd/>
            <a:tailEnd/>
          </a:ln>
        </p:spPr>
        <p:txBody>
          <a:bodyPr wrap="none">
            <a:spAutoFit/>
          </a:bodyPr>
          <a:lstStyle/>
          <a:p>
            <a:r>
              <a:rPr lang="es-ES" b="1"/>
              <a:t>Actividades</a:t>
            </a:r>
          </a:p>
        </p:txBody>
      </p:sp>
      <p:cxnSp>
        <p:nvCxnSpPr>
          <p:cNvPr id="193547" name="AutoShape 12"/>
          <p:cNvCxnSpPr>
            <a:cxnSpLocks noChangeShapeType="1"/>
            <a:stCxn id="193548" idx="1"/>
            <a:endCxn id="193549" idx="3"/>
          </p:cNvCxnSpPr>
          <p:nvPr/>
        </p:nvCxnSpPr>
        <p:spPr bwMode="auto">
          <a:xfrm rot="10800000" flipV="1">
            <a:off x="3851275" y="3500438"/>
            <a:ext cx="1800225" cy="1223962"/>
          </a:xfrm>
          <a:prstGeom prst="bentConnector3">
            <a:avLst>
              <a:gd name="adj1" fmla="val 50000"/>
            </a:avLst>
          </a:prstGeom>
          <a:noFill/>
          <a:ln w="9525">
            <a:solidFill>
              <a:schemeClr val="tx1"/>
            </a:solidFill>
            <a:miter lim="800000"/>
            <a:headEnd/>
            <a:tailEnd type="triangle" w="med" len="med"/>
          </a:ln>
        </p:spPr>
      </p:cxnSp>
      <p:sp>
        <p:nvSpPr>
          <p:cNvPr id="193548" name="Rectangle 13"/>
          <p:cNvSpPr>
            <a:spLocks noChangeArrowheads="1"/>
          </p:cNvSpPr>
          <p:nvPr/>
        </p:nvSpPr>
        <p:spPr bwMode="auto">
          <a:xfrm>
            <a:off x="5651500" y="3284538"/>
            <a:ext cx="1728788" cy="431800"/>
          </a:xfrm>
          <a:prstGeom prst="rect">
            <a:avLst/>
          </a:prstGeom>
          <a:noFill/>
          <a:ln w="9525">
            <a:noFill/>
            <a:miter lim="800000"/>
            <a:headEnd/>
            <a:tailEnd/>
          </a:ln>
        </p:spPr>
        <p:txBody>
          <a:bodyPr wrap="none" anchor="ctr"/>
          <a:lstStyle/>
          <a:p>
            <a:endParaRPr lang="es-ES"/>
          </a:p>
        </p:txBody>
      </p:sp>
      <p:sp>
        <p:nvSpPr>
          <p:cNvPr id="193549" name="Rectangle 14"/>
          <p:cNvSpPr>
            <a:spLocks noChangeArrowheads="1"/>
          </p:cNvSpPr>
          <p:nvPr/>
        </p:nvSpPr>
        <p:spPr bwMode="auto">
          <a:xfrm>
            <a:off x="2122488" y="4508500"/>
            <a:ext cx="1728787" cy="431800"/>
          </a:xfrm>
          <a:prstGeom prst="rect">
            <a:avLst/>
          </a:prstGeom>
          <a:noFill/>
          <a:ln w="9525">
            <a:noFill/>
            <a:miter lim="800000"/>
            <a:headEnd/>
            <a:tailEnd/>
          </a:ln>
        </p:spPr>
        <p:txBody>
          <a:bodyPr wrap="none" anchor="ctr"/>
          <a:lstStyle/>
          <a:p>
            <a:endParaRPr lang="es-ES"/>
          </a:p>
        </p:txBody>
      </p:sp>
      <p:sp>
        <p:nvSpPr>
          <p:cNvPr id="193550" name="Text Box 15"/>
          <p:cNvSpPr txBox="1">
            <a:spLocks noChangeArrowheads="1"/>
          </p:cNvSpPr>
          <p:nvPr/>
        </p:nvSpPr>
        <p:spPr bwMode="auto">
          <a:xfrm>
            <a:off x="5053013" y="3133725"/>
            <a:ext cx="311150" cy="366713"/>
          </a:xfrm>
          <a:prstGeom prst="rect">
            <a:avLst/>
          </a:prstGeom>
          <a:noFill/>
          <a:ln w="9525">
            <a:noFill/>
            <a:miter lim="800000"/>
            <a:headEnd/>
            <a:tailEnd/>
          </a:ln>
        </p:spPr>
        <p:txBody>
          <a:bodyPr wrap="none">
            <a:spAutoFit/>
          </a:bodyPr>
          <a:lstStyle/>
          <a:p>
            <a:r>
              <a:rPr lang="es-ES"/>
              <a:t>1</a:t>
            </a:r>
          </a:p>
        </p:txBody>
      </p:sp>
      <p:sp>
        <p:nvSpPr>
          <p:cNvPr id="193551" name="Text Box 16"/>
          <p:cNvSpPr txBox="1">
            <a:spLocks noChangeArrowheads="1"/>
          </p:cNvSpPr>
          <p:nvPr/>
        </p:nvSpPr>
        <p:spPr bwMode="auto">
          <a:xfrm>
            <a:off x="3924300" y="4357688"/>
            <a:ext cx="374650" cy="366712"/>
          </a:xfrm>
          <a:prstGeom prst="rect">
            <a:avLst/>
          </a:prstGeom>
          <a:noFill/>
          <a:ln w="9525">
            <a:noFill/>
            <a:miter lim="800000"/>
            <a:headEnd/>
            <a:tailEnd/>
          </a:ln>
        </p:spPr>
        <p:txBody>
          <a:bodyPr wrap="none">
            <a:spAutoFit/>
          </a:bodyPr>
          <a:lstStyle/>
          <a:p>
            <a:r>
              <a:rPr lang="es-ES"/>
              <a:t>M</a:t>
            </a:r>
          </a:p>
        </p:txBody>
      </p:sp>
      <p:sp>
        <p:nvSpPr>
          <p:cNvPr id="193552" name="Rectangle 17"/>
          <p:cNvSpPr>
            <a:spLocks noChangeArrowheads="1"/>
          </p:cNvSpPr>
          <p:nvPr/>
        </p:nvSpPr>
        <p:spPr bwMode="auto">
          <a:xfrm>
            <a:off x="2009775" y="1773238"/>
            <a:ext cx="5124450" cy="366712"/>
          </a:xfrm>
          <a:prstGeom prst="rect">
            <a:avLst/>
          </a:prstGeom>
          <a:noFill/>
          <a:ln w="9525">
            <a:noFill/>
            <a:miter lim="800000"/>
            <a:headEnd/>
            <a:tailEnd/>
          </a:ln>
        </p:spPr>
        <p:txBody>
          <a:bodyPr wrap="none">
            <a:spAutoFit/>
          </a:bodyPr>
          <a:lstStyle/>
          <a:p>
            <a:r>
              <a:rPr lang="es-ES" u="sng">
                <a:solidFill>
                  <a:schemeClr val="hlink"/>
                </a:solidFill>
              </a:rPr>
              <a:t>R1 y R2 no han de ser necesariamente distintas.</a:t>
            </a:r>
          </a:p>
        </p:txBody>
      </p:sp>
      <p:sp>
        <p:nvSpPr>
          <p:cNvPr id="193553" name="Text Box 18"/>
          <p:cNvSpPr txBox="1">
            <a:spLocks noChangeArrowheads="1"/>
          </p:cNvSpPr>
          <p:nvPr/>
        </p:nvSpPr>
        <p:spPr bwMode="auto">
          <a:xfrm>
            <a:off x="4335463" y="5897563"/>
            <a:ext cx="1200150" cy="366712"/>
          </a:xfrm>
          <a:prstGeom prst="rect">
            <a:avLst/>
          </a:prstGeom>
          <a:noFill/>
          <a:ln w="9525">
            <a:noFill/>
            <a:miter lim="800000"/>
            <a:headEnd/>
            <a:tailEnd/>
          </a:ln>
        </p:spPr>
        <p:txBody>
          <a:bodyPr wrap="none">
            <a:spAutoFit/>
          </a:bodyPr>
          <a:lstStyle/>
          <a:p>
            <a:r>
              <a:rPr lang="es-ES"/>
              <a:t>Ejemplo 3</a:t>
            </a:r>
          </a:p>
        </p:txBody>
      </p:sp>
      <p:sp>
        <p:nvSpPr>
          <p:cNvPr id="193554" name="Text Box 19"/>
          <p:cNvSpPr txBox="1">
            <a:spLocks noChangeArrowheads="1"/>
          </p:cNvSpPr>
          <p:nvPr/>
        </p:nvSpPr>
        <p:spPr bwMode="auto">
          <a:xfrm>
            <a:off x="5580063" y="3284538"/>
            <a:ext cx="1949450" cy="1465262"/>
          </a:xfrm>
          <a:prstGeom prst="rect">
            <a:avLst/>
          </a:prstGeom>
          <a:noFill/>
          <a:ln w="9525">
            <a:noFill/>
            <a:miter lim="800000"/>
            <a:headEnd/>
            <a:tailEnd/>
          </a:ln>
        </p:spPr>
        <p:txBody>
          <a:bodyPr wrap="none">
            <a:spAutoFit/>
          </a:bodyPr>
          <a:lstStyle/>
          <a:p>
            <a:r>
              <a:rPr lang="es-ES"/>
              <a:t>ID_Actividad</a:t>
            </a:r>
          </a:p>
          <a:p>
            <a:r>
              <a:rPr lang="es-ES"/>
              <a:t>Desc_Actividad</a:t>
            </a:r>
          </a:p>
          <a:p>
            <a:r>
              <a:rPr lang="es-ES"/>
              <a:t>Fecha_Actividad</a:t>
            </a:r>
          </a:p>
          <a:p>
            <a:r>
              <a:rPr lang="es-ES"/>
              <a:t>ID_Act_Siguiente</a:t>
            </a:r>
          </a:p>
          <a:p>
            <a:endParaRPr lang="es-E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94563" name="Rectangle 12"/>
          <p:cNvSpPr>
            <a:spLocks noChangeArrowheads="1"/>
          </p:cNvSpPr>
          <p:nvPr/>
        </p:nvSpPr>
        <p:spPr bwMode="auto">
          <a:xfrm>
            <a:off x="827088" y="1912938"/>
            <a:ext cx="7489825" cy="3387725"/>
          </a:xfrm>
          <a:prstGeom prst="rect">
            <a:avLst/>
          </a:prstGeom>
          <a:noFill/>
          <a:ln w="9525" algn="ctr">
            <a:noFill/>
            <a:miter lim="800000"/>
            <a:headEnd/>
            <a:tailEnd/>
          </a:ln>
        </p:spPr>
        <p:txBody>
          <a:bodyPr>
            <a:spAutoFit/>
          </a:bodyPr>
          <a:lstStyle/>
          <a:p>
            <a:pPr marL="342900" indent="-342900" algn="just">
              <a:buFont typeface="Lucida Sans Unicode" pitchFamily="34" charset="0"/>
              <a:buNone/>
            </a:pPr>
            <a:r>
              <a:rPr lang="es-ES">
                <a:latin typeface="Calibri" pitchFamily="34" charset="0"/>
              </a:rPr>
              <a:t>	Con este nombre se designa aquellas reglas que han de ser aplicadas a una base de datos para asegurar que los datos introducidos sean consistentes con la realidad que pretenden modelar. Existen dos reglas generales que aporta el modelo relacional. Estas dos reglas son muy simples, y son las siguientes: </a:t>
            </a:r>
          </a:p>
          <a:p>
            <a:pPr marL="342900" indent="-342900" algn="just">
              <a:buFont typeface="Lucida Sans Unicode" pitchFamily="34" charset="0"/>
              <a:buNone/>
            </a:pPr>
            <a:endParaRPr lang="es-ES">
              <a:latin typeface="Calibri" pitchFamily="34" charset="0"/>
            </a:endParaRPr>
          </a:p>
          <a:p>
            <a:pPr marL="342900" indent="-342900" algn="just">
              <a:buFont typeface="Lucida Sans Unicode" pitchFamily="34" charset="0"/>
              <a:buChar char="•"/>
            </a:pPr>
            <a:r>
              <a:rPr lang="es-ES" b="1">
                <a:latin typeface="Calibri" pitchFamily="34" charset="0"/>
              </a:rPr>
              <a:t>Regla de integridad de las entidades:</a:t>
            </a:r>
            <a:r>
              <a:rPr lang="es-ES">
                <a:latin typeface="Calibri" pitchFamily="34" charset="0"/>
              </a:rPr>
              <a:t> ningún componente de la clave primaria de una relación base puede aceptar valores nulos. </a:t>
            </a:r>
          </a:p>
          <a:p>
            <a:pPr marL="342900" indent="-342900" algn="just">
              <a:buFont typeface="Lucida Sans Unicode" pitchFamily="34" charset="0"/>
              <a:buChar char="•"/>
            </a:pPr>
            <a:endParaRPr lang="es-ES">
              <a:latin typeface="Calibri" pitchFamily="34" charset="0"/>
            </a:endParaRPr>
          </a:p>
          <a:p>
            <a:pPr marL="342900" indent="-342900" algn="just">
              <a:buFont typeface="Lucida Sans Unicode" pitchFamily="34" charset="0"/>
              <a:buChar char="•"/>
            </a:pPr>
            <a:r>
              <a:rPr lang="es-ES" b="1">
                <a:latin typeface="Calibri" pitchFamily="34" charset="0"/>
              </a:rPr>
              <a:t>Regla de integridad referencial:</a:t>
            </a:r>
            <a:r>
              <a:rPr lang="es-ES">
                <a:latin typeface="Calibri" pitchFamily="34" charset="0"/>
              </a:rPr>
              <a:t> la base de datos no debe contener valores de clave ajena sin concordancia. </a:t>
            </a:r>
          </a:p>
          <a:p>
            <a:pPr marL="342900" indent="-342900" algn="just">
              <a:buFont typeface="Lucida Sans Unicode" pitchFamily="34" charset="0"/>
              <a:buChar char="•"/>
            </a:pPr>
            <a:endParaRPr lang="es-ES">
              <a:latin typeface="Calibri" pitchFamily="34" charset="0"/>
            </a:endParaRPr>
          </a:p>
        </p:txBody>
      </p:sp>
      <p:sp>
        <p:nvSpPr>
          <p:cNvPr id="194564" name="2 CuadroTexto"/>
          <p:cNvSpPr txBox="1">
            <a:spLocks noChangeArrowheads="1"/>
          </p:cNvSpPr>
          <p:nvPr/>
        </p:nvSpPr>
        <p:spPr bwMode="auto">
          <a:xfrm>
            <a:off x="1116013" y="981075"/>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INTEGRIDAD RELACIONAL</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95587" name="Rectangle 3"/>
          <p:cNvSpPr>
            <a:spLocks noChangeArrowheads="1"/>
          </p:cNvSpPr>
          <p:nvPr/>
        </p:nvSpPr>
        <p:spPr bwMode="auto">
          <a:xfrm>
            <a:off x="827088" y="1773238"/>
            <a:ext cx="7489825" cy="3937000"/>
          </a:xfrm>
          <a:prstGeom prst="rect">
            <a:avLst/>
          </a:prstGeom>
          <a:noFill/>
          <a:ln w="9525" algn="ctr">
            <a:noFill/>
            <a:miter lim="800000"/>
            <a:headEnd/>
            <a:tailEnd/>
          </a:ln>
        </p:spPr>
        <p:txBody>
          <a:bodyPr>
            <a:spAutoFit/>
          </a:bodyPr>
          <a:lstStyle/>
          <a:p>
            <a:pPr marL="342900" indent="-342900" algn="just">
              <a:buFont typeface="Lucida Sans Unicode" pitchFamily="34" charset="0"/>
              <a:buNone/>
            </a:pPr>
            <a:r>
              <a:rPr lang="es-ES" b="1">
                <a:latin typeface="Calibri" pitchFamily="34" charset="0"/>
              </a:rPr>
              <a:t>	REGLA DE INTEGRIDAD DE LAS ENTIDADES</a:t>
            </a:r>
          </a:p>
          <a:p>
            <a:pPr marL="342900" indent="-342900" algn="just">
              <a:buFont typeface="Lucida Sans Unicode" pitchFamily="34" charset="0"/>
              <a:buNone/>
            </a:pPr>
            <a:endParaRPr lang="es-ES" b="1"/>
          </a:p>
          <a:p>
            <a:pPr marL="342900" indent="-342900" algn="just">
              <a:buFont typeface="Lucida Sans Unicode" pitchFamily="34" charset="0"/>
              <a:buNone/>
            </a:pPr>
            <a:r>
              <a:rPr lang="es-ES"/>
              <a:t>	Esta regla impide la existencia de una tupla sin identificador único. </a:t>
            </a:r>
          </a:p>
          <a:p>
            <a:pPr marL="342900" indent="-342900" algn="just">
              <a:buFont typeface="Lucida Sans Unicode" pitchFamily="34" charset="0"/>
              <a:buNone/>
            </a:pPr>
            <a:endParaRPr lang="es-ES" b="1"/>
          </a:p>
          <a:p>
            <a:pPr marL="342900" indent="-342900" algn="just">
              <a:buFont typeface="Lucida Sans Unicode" pitchFamily="34" charset="0"/>
              <a:buNone/>
            </a:pPr>
            <a:r>
              <a:rPr lang="es-ES" b="1"/>
              <a:t>	REGLA DE INTEGRIDAD REFERENCIAL</a:t>
            </a:r>
          </a:p>
          <a:p>
            <a:pPr marL="342900" indent="-342900" algn="just">
              <a:buFont typeface="Lucida Sans Unicode" pitchFamily="34" charset="0"/>
              <a:buNone/>
            </a:pPr>
            <a:endParaRPr lang="es-ES"/>
          </a:p>
          <a:p>
            <a:pPr marL="342900" indent="-342900" algn="just">
              <a:buFont typeface="Lucida Sans Unicode" pitchFamily="34" charset="0"/>
              <a:buNone/>
            </a:pPr>
            <a:r>
              <a:rPr lang="es-ES"/>
              <a:t>	Impide que, por ejemplo, en nuestra base de datos académica, exista un profesor adscrito a un departamento inexistente, o un curso impartido por un profesor inexistente. </a:t>
            </a:r>
          </a:p>
          <a:p>
            <a:pPr marL="342900" indent="-342900" algn="just">
              <a:buFont typeface="Lucida Sans Unicode" pitchFamily="34" charset="0"/>
              <a:buNone/>
            </a:pPr>
            <a:endParaRPr lang="es-ES"/>
          </a:p>
          <a:p>
            <a:pPr marL="742950" lvl="1" indent="-285750" algn="just">
              <a:buFont typeface="Lucida Sans Unicode" pitchFamily="34" charset="0"/>
              <a:buNone/>
            </a:pPr>
            <a:r>
              <a:rPr lang="es-ES" i="1"/>
              <a:t>	Hemos de recordar que sólo los productos puramente relacionales implementan realmente estas dos reglas generales de integridad relacional. En otros, destinados al mercado doméstico, estas incongruencias son admitidas sin problemas.</a:t>
            </a:r>
          </a:p>
        </p:txBody>
      </p:sp>
      <p:sp>
        <p:nvSpPr>
          <p:cNvPr id="195588" name="2 CuadroTexto"/>
          <p:cNvSpPr txBox="1">
            <a:spLocks noChangeArrowheads="1"/>
          </p:cNvSpPr>
          <p:nvPr/>
        </p:nvSpPr>
        <p:spPr bwMode="auto">
          <a:xfrm>
            <a:off x="1116013" y="981075"/>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INTEGRIDAD RELACIONAL</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96611" name="Rectangle 3"/>
          <p:cNvSpPr>
            <a:spLocks noChangeArrowheads="1"/>
          </p:cNvSpPr>
          <p:nvPr/>
        </p:nvSpPr>
        <p:spPr bwMode="auto">
          <a:xfrm>
            <a:off x="827088" y="2060575"/>
            <a:ext cx="7489825" cy="3387725"/>
          </a:xfrm>
          <a:prstGeom prst="rect">
            <a:avLst/>
          </a:prstGeom>
          <a:noFill/>
          <a:ln w="9525" algn="ctr">
            <a:noFill/>
            <a:miter lim="800000"/>
            <a:headEnd/>
            <a:tailEnd/>
          </a:ln>
        </p:spPr>
        <p:txBody>
          <a:bodyPr>
            <a:spAutoFit/>
          </a:bodyPr>
          <a:lstStyle/>
          <a:p>
            <a:pPr marL="342900" indent="-342900" algn="just">
              <a:buFont typeface="Lucida Sans Unicode" pitchFamily="34" charset="0"/>
              <a:buNone/>
            </a:pPr>
            <a:r>
              <a:rPr lang="es-ES" b="1">
                <a:latin typeface="Calibri" pitchFamily="34" charset="0"/>
              </a:rPr>
              <a:t>RESTRICCIONES DE INTEGRIDAD DEFINIDAS POR EL USUARIO</a:t>
            </a:r>
          </a:p>
          <a:p>
            <a:pPr marL="342900" indent="-342900" algn="just">
              <a:buFont typeface="Lucida Sans Unicode" pitchFamily="34" charset="0"/>
              <a:buNone/>
            </a:pPr>
            <a:r>
              <a:rPr lang="es-ES" b="1"/>
              <a:t>	</a:t>
            </a:r>
          </a:p>
          <a:p>
            <a:pPr marL="342900" indent="-342900" algn="just">
              <a:buFont typeface="Lucida Sans Unicode" pitchFamily="34" charset="0"/>
              <a:buNone/>
            </a:pPr>
            <a:r>
              <a:rPr lang="es-ES" b="1"/>
              <a:t>	</a:t>
            </a:r>
            <a:r>
              <a:rPr lang="es-ES"/>
              <a:t>Además, muchos DBMS añaden un buen número de características que ayudan al DBA a mantener más fácilmente la integridad de los datos. Mediante estos mecanismos es posible añadir reglas específicas para cada base de datos; éstas son las denominadas </a:t>
            </a:r>
            <a:r>
              <a:rPr lang="es-ES" b="1" i="1"/>
              <a:t>restricciones de integridad definidas por el usuario</a:t>
            </a:r>
            <a:r>
              <a:rPr lang="es-ES"/>
              <a:t>. Por ejemplo, podríamos determinar que un profesor no pueda ser menor de </a:t>
            </a:r>
            <a:r>
              <a:rPr lang="es-ES" i="1"/>
              <a:t>x</a:t>
            </a:r>
            <a:r>
              <a:rPr lang="es-ES"/>
              <a:t> años o que un curso sólo pueda pertenecer a los niveles 1, 2 ó 3. El resultado sería que al intentar introducir un valor fuera de este rango, el DBMS rechazaría la información introducida mostrando un mensaje de error.</a:t>
            </a:r>
          </a:p>
        </p:txBody>
      </p:sp>
      <p:sp>
        <p:nvSpPr>
          <p:cNvPr id="196612" name="2 CuadroTexto"/>
          <p:cNvSpPr txBox="1">
            <a:spLocks noChangeArrowheads="1"/>
          </p:cNvSpPr>
          <p:nvPr/>
        </p:nvSpPr>
        <p:spPr bwMode="auto">
          <a:xfrm>
            <a:off x="1116013" y="981075"/>
            <a:ext cx="6192837"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MX" b="1"/>
              <a:t>INTEGRIDAD RELACIONAL</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1 Rectángulo"/>
          <p:cNvSpPr>
            <a:spLocks noChangeArrowheads="1"/>
          </p:cNvSpPr>
          <p:nvPr/>
        </p:nvSpPr>
        <p:spPr bwMode="auto">
          <a:xfrm>
            <a:off x="395288" y="1571625"/>
            <a:ext cx="8497887" cy="4737100"/>
          </a:xfrm>
          <a:prstGeom prst="rect">
            <a:avLst/>
          </a:prstGeom>
          <a:noFill/>
          <a:ln w="9525">
            <a:noFill/>
            <a:miter lim="800000"/>
            <a:headEnd/>
            <a:tailEnd/>
          </a:ln>
        </p:spPr>
        <p:txBody>
          <a:bodyPr>
            <a:spAutoFit/>
          </a:bodyPr>
          <a:lstStyle/>
          <a:p>
            <a:pPr marL="342900" indent="-342900" algn="just">
              <a:buFont typeface="Arial" charset="0"/>
              <a:buNone/>
            </a:pPr>
            <a:r>
              <a:rPr lang="es-ES" sz="1600"/>
              <a:t>Para transformar un modelo entidad-relación a modelo relacional seguiremos las siguientes reglas:</a:t>
            </a:r>
          </a:p>
          <a:p>
            <a:pPr marL="342900" indent="-342900" algn="just">
              <a:buFont typeface="Arial" charset="0"/>
              <a:buNone/>
            </a:pPr>
            <a:endParaRPr lang="es-ES" sz="1600"/>
          </a:p>
          <a:p>
            <a:pPr marL="800100" lvl="1" indent="-342900" algn="just">
              <a:buFont typeface="Arial" charset="0"/>
              <a:buAutoNum type="arabicPeriod"/>
            </a:pPr>
            <a:r>
              <a:rPr lang="es-ES" sz="1600"/>
              <a:t>Toda entidad del modelo entidad-relación se transforma en una tabla.</a:t>
            </a:r>
          </a:p>
          <a:p>
            <a:pPr marL="800100" lvl="1" indent="-342900" algn="just">
              <a:buFont typeface="Arial" charset="0"/>
              <a:buAutoNum type="arabicPeriod"/>
            </a:pPr>
            <a:r>
              <a:rPr lang="es-ES" sz="1600"/>
              <a:t>Cualquier atributo de una entidad se transforma en un campo dentro la tabla, manteniendo las claves primarias.</a:t>
            </a:r>
          </a:p>
          <a:p>
            <a:pPr marL="800100" lvl="1" indent="-342900" algn="just">
              <a:buFont typeface="Arial" charset="0"/>
              <a:buAutoNum type="arabicPeriod"/>
            </a:pPr>
            <a:r>
              <a:rPr lang="es-ES" sz="1600"/>
              <a:t>Las relaciones N:M se transforman en una nueva tabla que tendrá como clave primaria la concatenación de los atributos clave de las entidades que relaciona.</a:t>
            </a:r>
          </a:p>
          <a:p>
            <a:pPr marL="800100" lvl="1" indent="-342900" algn="just">
              <a:buFont typeface="Arial" charset="0"/>
              <a:buAutoNum type="arabicPeriod"/>
            </a:pPr>
            <a:r>
              <a:rPr lang="es-ES" sz="1600"/>
              <a:t>En las relaciones 1:N se pueden tener dos casos:</a:t>
            </a:r>
            <a:endParaRPr lang="es-ES_tradnl" sz="1600"/>
          </a:p>
          <a:p>
            <a:pPr marL="1257300" lvl="2" indent="-342900" algn="just">
              <a:buFont typeface="Wingdings" pitchFamily="2" charset="2"/>
              <a:buChar char="ü"/>
            </a:pPr>
            <a:r>
              <a:rPr lang="es-ES" sz="1600"/>
              <a:t>Si la entidad que participa con cardinalidad máxima uno lo hace también con cardinalidad mínima uno, entonces se propaga el atributo de la entidad que tiene cardinalidad máxima 1 a la que tiene cardinalidad máxima N, desapareciendo el nombre de la relación. Si existen atributos en la relación éstos también se propagarán.</a:t>
            </a:r>
          </a:p>
          <a:p>
            <a:pPr marL="1257300" lvl="2" indent="-342900" algn="just">
              <a:buFont typeface="Wingdings" pitchFamily="2" charset="2"/>
              <a:buChar char="ü"/>
            </a:pPr>
            <a:r>
              <a:rPr lang="es-ES" sz="1600"/>
              <a:t>Si la entidad que participa con cardinalidad máxima uno lo hace también cardinalidad mínima cero, entonces se crea una nueva tabla formada por las claves de cada entidad y los atributos de la relación. La clave primaria de la nueva tabla será el identificador de la entidad que participa con cardinalidad máxima N.</a:t>
            </a:r>
            <a:endParaRPr lang="es-ES_tradnl" sz="1600"/>
          </a:p>
        </p:txBody>
      </p:sp>
      <p:sp>
        <p:nvSpPr>
          <p:cNvPr id="197635"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97636" name="2 CuadroTexto"/>
          <p:cNvSpPr txBox="1">
            <a:spLocks noChangeArrowheads="1"/>
          </p:cNvSpPr>
          <p:nvPr/>
        </p:nvSpPr>
        <p:spPr bwMode="auto">
          <a:xfrm>
            <a:off x="1116013" y="981075"/>
            <a:ext cx="6985000"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b="1"/>
              <a:t>TRANSFORMACIÓN DEL MER AL MODELO RELACIONAL</a:t>
            </a:r>
            <a:endParaRPr lang="es-MX" b="1"/>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1 Rectángulo"/>
          <p:cNvSpPr>
            <a:spLocks noChangeArrowheads="1"/>
          </p:cNvSpPr>
          <p:nvPr/>
        </p:nvSpPr>
        <p:spPr bwMode="auto">
          <a:xfrm>
            <a:off x="323850" y="2074863"/>
            <a:ext cx="8497888" cy="3514725"/>
          </a:xfrm>
          <a:prstGeom prst="rect">
            <a:avLst/>
          </a:prstGeom>
          <a:noFill/>
          <a:ln w="9525">
            <a:noFill/>
            <a:miter lim="800000"/>
            <a:headEnd/>
            <a:tailEnd/>
          </a:ln>
        </p:spPr>
        <p:txBody>
          <a:bodyPr>
            <a:spAutoFit/>
          </a:bodyPr>
          <a:lstStyle/>
          <a:p>
            <a:pPr marL="800100" lvl="1" indent="-342900" algn="just">
              <a:buFont typeface="Arial" charset="0"/>
              <a:buAutoNum type="arabicPeriod" startAt="5"/>
            </a:pPr>
            <a:r>
              <a:rPr lang="es-ES" sz="1600"/>
              <a:t>En el caso de las relaciones 1:1 también pueden darse dos casos:</a:t>
            </a:r>
            <a:endParaRPr lang="es-ES_tradnl" sz="1600"/>
          </a:p>
          <a:p>
            <a:pPr marL="1257300" lvl="2" indent="-342900" algn="just">
              <a:buFont typeface="Wingdings" pitchFamily="2" charset="2"/>
              <a:buChar char="ü"/>
            </a:pPr>
            <a:r>
              <a:rPr lang="es-ES" sz="1600"/>
              <a:t>Si las entidades poseen cardinalidades (0,1), la relación se convierte en una tabla.</a:t>
            </a:r>
          </a:p>
          <a:p>
            <a:pPr marL="1257300" lvl="2" indent="-342900" algn="just">
              <a:buFont typeface="Wingdings" pitchFamily="2" charset="2"/>
              <a:buChar char="ü"/>
            </a:pPr>
            <a:r>
              <a:rPr lang="es-ES" sz="1600"/>
              <a:t>Si una de las entidades posee cardinalidad (0,1) y la otra (1,1), conviene propagar la clave de la entidad con cardinalidad (1,1) a la tabla resultante de la entidad con cardinalidad (0,1). Si ambas entidades poseen cardinalidades (1,1) se puede propagar la clave de cualquiera de ellas a la tabla resultante de la otra.</a:t>
            </a:r>
          </a:p>
          <a:p>
            <a:pPr marL="800100" lvl="1" indent="-342900" algn="just">
              <a:buFont typeface="Arial" charset="0"/>
              <a:buAutoNum type="arabicPeriod" startAt="5"/>
            </a:pPr>
            <a:r>
              <a:rPr lang="es-ES" sz="1600"/>
              <a:t>En el caso de las relaciones N-arias se aplica la misma regla que para las relaciones N:M.</a:t>
            </a:r>
          </a:p>
          <a:p>
            <a:pPr marL="800100" lvl="1" indent="-342900" algn="just">
              <a:buFont typeface="Arial" charset="0"/>
              <a:buAutoNum type="arabicPeriod" startAt="5"/>
            </a:pPr>
            <a:r>
              <a:rPr lang="es-ES" sz="1600"/>
              <a:t>En el caso de las relaciones reflexivas supondremos que se trata de una relación binaria con la particularidad que las dos entidades son iguales y aplicaremos las reglas vistas en los puntos anteriores.</a:t>
            </a:r>
            <a:endParaRPr lang="es-ES_tradnl" sz="1600"/>
          </a:p>
          <a:p>
            <a:pPr marL="800100" lvl="1" indent="-342900" algn="just">
              <a:buFont typeface="Wingdings" pitchFamily="2" charset="2"/>
              <a:buNone/>
            </a:pPr>
            <a:endParaRPr lang="es-ES_tradnl" sz="1600"/>
          </a:p>
        </p:txBody>
      </p:sp>
      <p:sp>
        <p:nvSpPr>
          <p:cNvPr id="198659"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98660" name="2 CuadroTexto"/>
          <p:cNvSpPr txBox="1">
            <a:spLocks noChangeArrowheads="1"/>
          </p:cNvSpPr>
          <p:nvPr/>
        </p:nvSpPr>
        <p:spPr bwMode="auto">
          <a:xfrm>
            <a:off x="1116013" y="981075"/>
            <a:ext cx="6985000"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b="1"/>
              <a:t>TRANSFORMACIÓN DEL MER AL MODELO RELACIONAL</a:t>
            </a:r>
            <a:endParaRPr lang="es-MX" b="1"/>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1 Rectángulo"/>
          <p:cNvSpPr>
            <a:spLocks noChangeArrowheads="1"/>
          </p:cNvSpPr>
          <p:nvPr/>
        </p:nvSpPr>
        <p:spPr bwMode="auto">
          <a:xfrm>
            <a:off x="0" y="1268413"/>
            <a:ext cx="9036050" cy="549275"/>
          </a:xfrm>
          <a:prstGeom prst="rect">
            <a:avLst/>
          </a:prstGeom>
          <a:noFill/>
          <a:ln w="9525">
            <a:noFill/>
            <a:miter lim="800000"/>
            <a:headEnd/>
            <a:tailEnd/>
          </a:ln>
        </p:spPr>
        <p:txBody>
          <a:bodyPr>
            <a:spAutoFit/>
          </a:bodyPr>
          <a:lstStyle/>
          <a:p>
            <a:pPr marL="342900" indent="-342900" algn="just">
              <a:buFont typeface="Arial" charset="0"/>
              <a:buNone/>
            </a:pPr>
            <a:r>
              <a:rPr lang="es-ES" sz="1500" b="1"/>
              <a:t>	EJEMPLO REGLA 3:</a:t>
            </a:r>
            <a:r>
              <a:rPr lang="es-ES" sz="1500"/>
              <a:t> Las relaciones N:M se transforman en una nueva tabla que tendrá como clave primaria la concatenación de los atributos clave de las entidades que relaciona.</a:t>
            </a:r>
            <a:endParaRPr lang="es-ES_tradnl" sz="1500"/>
          </a:p>
        </p:txBody>
      </p:sp>
      <p:sp>
        <p:nvSpPr>
          <p:cNvPr id="199683"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199684" name="2 CuadroTexto"/>
          <p:cNvSpPr txBox="1">
            <a:spLocks noChangeArrowheads="1"/>
          </p:cNvSpPr>
          <p:nvPr/>
        </p:nvSpPr>
        <p:spPr bwMode="auto">
          <a:xfrm>
            <a:off x="1116013" y="765175"/>
            <a:ext cx="6985000"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b="1"/>
              <a:t>TRANSFORMACIÓN DEL MER AL MODELO RELACIONAL</a:t>
            </a:r>
            <a:endParaRPr lang="es-MX" b="1"/>
          </a:p>
        </p:txBody>
      </p:sp>
      <p:pic>
        <p:nvPicPr>
          <p:cNvPr id="199685" name="Picture 8"/>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008063" y="1773238"/>
            <a:ext cx="6588125" cy="2805112"/>
          </a:xfrm>
          <a:prstGeom prst="rect">
            <a:avLst/>
          </a:prstGeom>
          <a:noFill/>
          <a:ln w="9525">
            <a:noFill/>
            <a:miter lim="800000"/>
            <a:headEnd/>
            <a:tailEnd/>
          </a:ln>
        </p:spPr>
      </p:pic>
      <p:sp>
        <p:nvSpPr>
          <p:cNvPr id="199686" name="Rectangle 9"/>
          <p:cNvSpPr>
            <a:spLocks noChangeArrowheads="1"/>
          </p:cNvSpPr>
          <p:nvPr/>
        </p:nvSpPr>
        <p:spPr bwMode="auto">
          <a:xfrm>
            <a:off x="107950" y="4581525"/>
            <a:ext cx="9001125" cy="1235075"/>
          </a:xfrm>
          <a:prstGeom prst="rect">
            <a:avLst/>
          </a:prstGeom>
          <a:noFill/>
          <a:ln w="9525">
            <a:noFill/>
            <a:miter lim="800000"/>
            <a:headEnd/>
            <a:tailEnd/>
          </a:ln>
        </p:spPr>
        <p:txBody>
          <a:bodyPr anchor="ctr">
            <a:spAutoFit/>
          </a:bodyPr>
          <a:lstStyle/>
          <a:p>
            <a:pPr algn="just"/>
            <a:r>
              <a:rPr lang="es-ES" sz="1500"/>
              <a:t>En este caso la relación “compra” se transforma en una nueva tabla cuya clave primaria estará formada por los atributos </a:t>
            </a:r>
            <a:r>
              <a:rPr lang="es-ES" sz="1500" b="1"/>
              <a:t>dni</a:t>
            </a:r>
            <a:r>
              <a:rPr lang="es-ES" sz="1500"/>
              <a:t>, que es la clave primaria de cliente, y </a:t>
            </a:r>
            <a:r>
              <a:rPr lang="es-ES" sz="1500" b="1"/>
              <a:t>código</a:t>
            </a:r>
            <a:r>
              <a:rPr lang="es-ES" sz="1500"/>
              <a:t>, que es la clave primaria de producto. Además tendrá como campo fecha compra, ya que este atributo forma parte de la relación.</a:t>
            </a:r>
          </a:p>
          <a:p>
            <a:pPr algn="just"/>
            <a:endParaRPr lang="es-ES" sz="1500"/>
          </a:p>
          <a:p>
            <a:pPr algn="just"/>
            <a:r>
              <a:rPr lang="es-ES" sz="1500"/>
              <a:t>El </a:t>
            </a:r>
            <a:r>
              <a:rPr lang="es-ES" sz="1500" b="1"/>
              <a:t>modelo relacional</a:t>
            </a:r>
            <a:r>
              <a:rPr lang="es-ES" sz="1500"/>
              <a:t> quedaría de la siguiente forma:</a:t>
            </a:r>
          </a:p>
        </p:txBody>
      </p:sp>
      <p:sp>
        <p:nvSpPr>
          <p:cNvPr id="199687" name="Rectangle 10"/>
          <p:cNvSpPr>
            <a:spLocks noChangeArrowheads="1"/>
          </p:cNvSpPr>
          <p:nvPr/>
        </p:nvSpPr>
        <p:spPr bwMode="auto">
          <a:xfrm>
            <a:off x="3059113" y="5805488"/>
            <a:ext cx="5886450" cy="777875"/>
          </a:xfrm>
          <a:prstGeom prst="rect">
            <a:avLst/>
          </a:prstGeom>
          <a:noFill/>
          <a:ln w="9525">
            <a:noFill/>
            <a:miter lim="800000"/>
            <a:headEnd/>
            <a:tailEnd/>
          </a:ln>
        </p:spPr>
        <p:txBody>
          <a:bodyPr>
            <a:spAutoFit/>
          </a:bodyPr>
          <a:lstStyle/>
          <a:p>
            <a:r>
              <a:rPr lang="es-ES" sz="1500"/>
              <a:t>CLIENTE(</a:t>
            </a:r>
            <a:r>
              <a:rPr lang="es-ES" sz="1500" b="1" u="sng"/>
              <a:t>dni</a:t>
            </a:r>
            <a:r>
              <a:rPr lang="es-ES" sz="1500"/>
              <a:t>,nombre,apellidos) </a:t>
            </a:r>
          </a:p>
          <a:p>
            <a:r>
              <a:rPr lang="es-ES" sz="1500"/>
              <a:t>PRODUCTO(</a:t>
            </a:r>
            <a:r>
              <a:rPr lang="es-ES" sz="1500" b="1" u="sng"/>
              <a:t>código</a:t>
            </a:r>
            <a:r>
              <a:rPr lang="es-ES" sz="1500"/>
              <a:t>,descripción) </a:t>
            </a:r>
          </a:p>
          <a:p>
            <a:r>
              <a:rPr lang="es-ES" sz="1500"/>
              <a:t>COMPRA(</a:t>
            </a:r>
            <a:r>
              <a:rPr lang="es-ES" sz="1500" b="1" u="sng"/>
              <a:t>dni_cliente,código_producto</a:t>
            </a:r>
            <a:r>
              <a:rPr lang="es-ES" sz="1500"/>
              <a:t>,fecha_compra)</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1 Rectángulo"/>
          <p:cNvSpPr>
            <a:spLocks noChangeArrowheads="1"/>
          </p:cNvSpPr>
          <p:nvPr/>
        </p:nvSpPr>
        <p:spPr bwMode="auto">
          <a:xfrm>
            <a:off x="107950" y="1268413"/>
            <a:ext cx="9036050" cy="1235075"/>
          </a:xfrm>
          <a:prstGeom prst="rect">
            <a:avLst/>
          </a:prstGeom>
          <a:noFill/>
          <a:ln w="9525">
            <a:noFill/>
            <a:miter lim="800000"/>
            <a:headEnd/>
            <a:tailEnd/>
          </a:ln>
        </p:spPr>
        <p:txBody>
          <a:bodyPr>
            <a:spAutoFit/>
          </a:bodyPr>
          <a:lstStyle/>
          <a:p>
            <a:pPr marL="342900" indent="-342900" algn="just"/>
            <a:r>
              <a:rPr lang="es-ES" sz="1500" b="1"/>
              <a:t>EJEMPLO REGLA 4:</a:t>
            </a:r>
            <a:r>
              <a:rPr lang="es-ES" sz="1500"/>
              <a:t> En las relaciones 1:N se pueden tener dos casos:</a:t>
            </a:r>
          </a:p>
          <a:p>
            <a:pPr marL="342900" indent="-342900" algn="just"/>
            <a:endParaRPr lang="es-ES_tradnl" sz="1500"/>
          </a:p>
          <a:p>
            <a:pPr marL="342900" indent="-342900" algn="just">
              <a:buFont typeface="Wingdings" pitchFamily="2" charset="2"/>
              <a:buNone/>
            </a:pPr>
            <a:r>
              <a:rPr lang="es-ES" sz="1500"/>
              <a:t>	Veamos ahora el caso de una relación 1:N. En el siguiente </a:t>
            </a:r>
            <a:r>
              <a:rPr lang="es-ES" sz="1500" b="1"/>
              <a:t>modelo entidad-relación</a:t>
            </a:r>
            <a:r>
              <a:rPr lang="es-ES" sz="1500"/>
              <a:t> un empleado pertenece a un único departamento (debe pertenecer a uno obligatoriamente), y un departamento tiene 1 o más empleados. </a:t>
            </a:r>
            <a:endParaRPr lang="es-ES_tradnl" sz="1500"/>
          </a:p>
        </p:txBody>
      </p:sp>
      <p:sp>
        <p:nvSpPr>
          <p:cNvPr id="200707"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200708" name="2 CuadroTexto"/>
          <p:cNvSpPr txBox="1">
            <a:spLocks noChangeArrowheads="1"/>
          </p:cNvSpPr>
          <p:nvPr/>
        </p:nvSpPr>
        <p:spPr bwMode="auto">
          <a:xfrm>
            <a:off x="1116013" y="765175"/>
            <a:ext cx="6985000"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b="1"/>
              <a:t>TRANSFORMACIÓN DEL MER AL MODELO RELACIONAL</a:t>
            </a:r>
            <a:endParaRPr lang="es-MX" b="1"/>
          </a:p>
        </p:txBody>
      </p:sp>
      <p:sp>
        <p:nvSpPr>
          <p:cNvPr id="200709" name="Rectangle 10"/>
          <p:cNvSpPr>
            <a:spLocks noChangeArrowheads="1"/>
          </p:cNvSpPr>
          <p:nvPr/>
        </p:nvSpPr>
        <p:spPr bwMode="auto">
          <a:xfrm>
            <a:off x="719138" y="5084763"/>
            <a:ext cx="7740650" cy="1463675"/>
          </a:xfrm>
          <a:prstGeom prst="rect">
            <a:avLst/>
          </a:prstGeom>
          <a:noFill/>
          <a:ln w="9525" algn="ctr">
            <a:noFill/>
            <a:miter lim="800000"/>
            <a:headEnd/>
            <a:tailEnd/>
          </a:ln>
        </p:spPr>
        <p:txBody>
          <a:bodyPr>
            <a:spAutoFit/>
          </a:bodyPr>
          <a:lstStyle/>
          <a:p>
            <a:pPr marL="342900" indent="-342900" algn="just">
              <a:buFont typeface="Wingdings" pitchFamily="2" charset="2"/>
              <a:buNone/>
            </a:pPr>
            <a:r>
              <a:rPr lang="es-ES" sz="1500"/>
              <a:t>En este caso se propaga el atributo código de departamento a la tabla EMPLEADO. </a:t>
            </a:r>
          </a:p>
          <a:p>
            <a:pPr marL="342900" indent="-342900" algn="just">
              <a:buFont typeface="Wingdings" pitchFamily="2" charset="2"/>
              <a:buNone/>
            </a:pPr>
            <a:r>
              <a:rPr lang="es-ES" sz="1500"/>
              <a:t>El modelo relacional quedaría de la siguiente manera:</a:t>
            </a:r>
          </a:p>
          <a:p>
            <a:pPr marL="342900" indent="-342900" algn="just">
              <a:buFont typeface="Wingdings" pitchFamily="2" charset="2"/>
              <a:buNone/>
            </a:pPr>
            <a:endParaRPr lang="es-ES" sz="1500"/>
          </a:p>
          <a:p>
            <a:pPr marL="2171700" lvl="4" indent="-342900" algn="just">
              <a:buFont typeface="Wingdings" pitchFamily="2" charset="2"/>
              <a:buNone/>
            </a:pPr>
            <a:r>
              <a:rPr lang="es-ES" sz="1500"/>
              <a:t>EMPLEADO(rfc,nombre,salario,código_departamento) </a:t>
            </a:r>
          </a:p>
          <a:p>
            <a:pPr marL="2171700" lvl="4" indent="-342900" algn="just">
              <a:buFont typeface="Wingdings" pitchFamily="2" charset="2"/>
              <a:buNone/>
            </a:pPr>
            <a:r>
              <a:rPr lang="es-ES" sz="1500"/>
              <a:t>DEPARTAMENTO(código,nombre,ubicacion) </a:t>
            </a:r>
          </a:p>
          <a:p>
            <a:pPr marL="342900" indent="-342900" algn="just">
              <a:buFont typeface="Wingdings" pitchFamily="2" charset="2"/>
              <a:buNone/>
            </a:pPr>
            <a:endParaRPr lang="es-ES" sz="1500"/>
          </a:p>
        </p:txBody>
      </p:sp>
      <p:pic>
        <p:nvPicPr>
          <p:cNvPr id="200710" name="Picture 11"/>
          <p:cNvPicPr>
            <a:picLocks noChangeAspect="1" noChangeArrowheads="1"/>
          </p:cNvPicPr>
          <p:nvPr/>
        </p:nvPicPr>
        <p:blipFill>
          <a:blip r:embed="rId2" cstate="print">
            <a:clrChange>
              <a:clrFrom>
                <a:srgbClr val="FEFEFE"/>
              </a:clrFrom>
              <a:clrTo>
                <a:srgbClr val="FEFEFE">
                  <a:alpha val="0"/>
                </a:srgbClr>
              </a:clrTo>
            </a:clrChange>
          </a:blip>
          <a:srcRect/>
          <a:stretch>
            <a:fillRect/>
          </a:stretch>
        </p:blipFill>
        <p:spPr bwMode="auto">
          <a:xfrm>
            <a:off x="511175" y="2343150"/>
            <a:ext cx="8164513" cy="2598738"/>
          </a:xfrm>
          <a:prstGeom prst="rect">
            <a:avLst/>
          </a:prstGeom>
          <a:noFill/>
          <a:ln w="9525">
            <a:noFill/>
            <a:miter lim="800000"/>
            <a:headEnd/>
            <a:tailEnd/>
          </a:ln>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1730" name="Picture 7"/>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576263" y="1989138"/>
            <a:ext cx="8172450" cy="2600325"/>
          </a:xfrm>
          <a:prstGeom prst="rect">
            <a:avLst/>
          </a:prstGeom>
          <a:noFill/>
          <a:ln w="9525">
            <a:noFill/>
            <a:miter lim="800000"/>
            <a:headEnd/>
            <a:tailEnd/>
          </a:ln>
        </p:spPr>
      </p:pic>
      <p:sp>
        <p:nvSpPr>
          <p:cNvPr id="201731" name="1 Rectángulo"/>
          <p:cNvSpPr>
            <a:spLocks noChangeArrowheads="1"/>
          </p:cNvSpPr>
          <p:nvPr/>
        </p:nvSpPr>
        <p:spPr bwMode="auto">
          <a:xfrm>
            <a:off x="107950" y="1268413"/>
            <a:ext cx="9036050" cy="1006475"/>
          </a:xfrm>
          <a:prstGeom prst="rect">
            <a:avLst/>
          </a:prstGeom>
          <a:noFill/>
          <a:ln w="9525">
            <a:noFill/>
            <a:miter lim="800000"/>
            <a:headEnd/>
            <a:tailEnd/>
          </a:ln>
        </p:spPr>
        <p:txBody>
          <a:bodyPr>
            <a:spAutoFit/>
          </a:bodyPr>
          <a:lstStyle/>
          <a:p>
            <a:pPr marL="342900" indent="-342900" algn="just"/>
            <a:r>
              <a:rPr lang="es-ES" sz="1500" b="1"/>
              <a:t>EJEMPLO REGLA 4:</a:t>
            </a:r>
            <a:r>
              <a:rPr lang="es-ES" sz="1500"/>
              <a:t> En las relaciones 1:N se pueden tener dos casos:</a:t>
            </a:r>
          </a:p>
          <a:p>
            <a:pPr marL="342900" indent="-342900" algn="just"/>
            <a:endParaRPr lang="es-ES_tradnl" sz="1500"/>
          </a:p>
          <a:p>
            <a:pPr marL="342900" indent="-342900" algn="just">
              <a:buFont typeface="Wingdings" pitchFamily="2" charset="2"/>
              <a:buNone/>
            </a:pPr>
            <a:r>
              <a:rPr lang="es-ES" sz="1500"/>
              <a:t>	Imaginemos ahora que pudiera darse el caso de que hubiera empleados que no pertenecieran a ningún departamento.  </a:t>
            </a:r>
            <a:endParaRPr lang="es-ES_tradnl" sz="1500"/>
          </a:p>
        </p:txBody>
      </p:sp>
      <p:sp>
        <p:nvSpPr>
          <p:cNvPr id="201732"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201733" name="2 CuadroTexto"/>
          <p:cNvSpPr txBox="1">
            <a:spLocks noChangeArrowheads="1"/>
          </p:cNvSpPr>
          <p:nvPr/>
        </p:nvSpPr>
        <p:spPr bwMode="auto">
          <a:xfrm>
            <a:off x="1116013" y="765175"/>
            <a:ext cx="6985000"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b="1"/>
              <a:t>TRANSFORMACIÓN DEL MER AL MODELO RELACIONAL</a:t>
            </a:r>
            <a:endParaRPr lang="es-MX" b="1"/>
          </a:p>
        </p:txBody>
      </p:sp>
      <p:sp>
        <p:nvSpPr>
          <p:cNvPr id="201734" name="Rectangle 6"/>
          <p:cNvSpPr>
            <a:spLocks noChangeArrowheads="1"/>
          </p:cNvSpPr>
          <p:nvPr/>
        </p:nvSpPr>
        <p:spPr bwMode="auto">
          <a:xfrm>
            <a:off x="236538" y="4497388"/>
            <a:ext cx="8250237" cy="2170112"/>
          </a:xfrm>
          <a:prstGeom prst="rect">
            <a:avLst/>
          </a:prstGeom>
          <a:noFill/>
          <a:ln w="9525" algn="ctr">
            <a:noFill/>
            <a:miter lim="800000"/>
            <a:headEnd/>
            <a:tailEnd/>
          </a:ln>
        </p:spPr>
        <p:txBody>
          <a:bodyPr>
            <a:spAutoFit/>
          </a:bodyPr>
          <a:lstStyle/>
          <a:p>
            <a:pPr marL="342900" indent="-342900" algn="just"/>
            <a:r>
              <a:rPr lang="es-ES" sz="1500"/>
              <a:t>	En este caso la entidad que participa con cardinalidad máxima 1, DEPARTAMENTO, también lo hace con cardinalidad mínima 0, ya que puede haber empleados que no pertenezcan a ningún departamento. Así pues, se crea una nueva tabla formada por rfc de EMPLEADO y código de DEPARTAMENTO. En esta nueva tabla rfc de EMPLEADO será la clave primaria. El </a:t>
            </a:r>
            <a:r>
              <a:rPr lang="es-ES" sz="1500" b="1"/>
              <a:t>modelo relacional</a:t>
            </a:r>
            <a:r>
              <a:rPr lang="es-ES" sz="1500"/>
              <a:t> quedaría de la siguiente forma:</a:t>
            </a:r>
          </a:p>
          <a:p>
            <a:pPr marL="342900" indent="-342900" algn="just"/>
            <a:endParaRPr lang="es-ES" sz="1500"/>
          </a:p>
          <a:p>
            <a:pPr marL="342900" indent="-342900" algn="just"/>
            <a:r>
              <a:rPr lang="es-ES" sz="1500"/>
              <a:t>			                EMPLEADO(</a:t>
            </a:r>
            <a:r>
              <a:rPr lang="es-ES" sz="1500" b="1"/>
              <a:t>rfc</a:t>
            </a:r>
            <a:r>
              <a:rPr lang="es-ES" sz="1500"/>
              <a:t>,nombre,salario) </a:t>
            </a:r>
          </a:p>
          <a:p>
            <a:pPr marL="2171700" lvl="4" indent="-342900" algn="just"/>
            <a:r>
              <a:rPr lang="es-ES" sz="1500"/>
              <a:t>                DEPARTAMENTO(</a:t>
            </a:r>
            <a:r>
              <a:rPr lang="es-ES" sz="1500" b="1"/>
              <a:t>código</a:t>
            </a:r>
            <a:r>
              <a:rPr lang="es-ES" sz="1500"/>
              <a:t>,nombre,ubicacion) </a:t>
            </a:r>
          </a:p>
          <a:p>
            <a:pPr marL="2171700" lvl="4" indent="-342900" algn="just"/>
            <a:r>
              <a:rPr lang="es-ES" sz="1500"/>
              <a:t>                 PERTENECE(</a:t>
            </a:r>
            <a:r>
              <a:rPr lang="es-ES" sz="1500" b="1"/>
              <a:t>rfc_empleado</a:t>
            </a:r>
            <a:r>
              <a:rPr lang="es-ES" sz="1500"/>
              <a:t>,código_departamento) </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1 Rectángulo"/>
          <p:cNvSpPr>
            <a:spLocks noChangeArrowheads="1"/>
          </p:cNvSpPr>
          <p:nvPr/>
        </p:nvSpPr>
        <p:spPr bwMode="auto">
          <a:xfrm>
            <a:off x="107950" y="1268413"/>
            <a:ext cx="9036050" cy="1006475"/>
          </a:xfrm>
          <a:prstGeom prst="rect">
            <a:avLst/>
          </a:prstGeom>
          <a:noFill/>
          <a:ln w="9525">
            <a:noFill/>
            <a:miter lim="800000"/>
            <a:headEnd/>
            <a:tailEnd/>
          </a:ln>
        </p:spPr>
        <p:txBody>
          <a:bodyPr>
            <a:spAutoFit/>
          </a:bodyPr>
          <a:lstStyle/>
          <a:p>
            <a:pPr marL="342900" indent="-342900"/>
            <a:r>
              <a:rPr lang="es-ES" sz="1500" b="1"/>
              <a:t>EJEMPLO REGLA 5:</a:t>
            </a:r>
            <a:r>
              <a:rPr lang="es-ES" sz="1500"/>
              <a:t> En el caso de las relaciones 1:1 también pueden darse dos casos: </a:t>
            </a:r>
          </a:p>
          <a:p>
            <a:pPr marL="342900" indent="-342900"/>
            <a:endParaRPr lang="es-ES_tradnl" sz="1500"/>
          </a:p>
          <a:p>
            <a:pPr marL="342900" indent="-342900">
              <a:buFont typeface="Wingdings" pitchFamily="2" charset="2"/>
              <a:buNone/>
            </a:pPr>
            <a:r>
              <a:rPr lang="es-ES" sz="1500"/>
              <a:t>	En el siguiente </a:t>
            </a:r>
            <a:r>
              <a:rPr lang="es-ES" sz="1500" b="1"/>
              <a:t>modelo entidad-relación</a:t>
            </a:r>
            <a:r>
              <a:rPr lang="es-ES" sz="1500"/>
              <a:t> un equipo de fútbol tiene a un único presidente y un presidente preside a un único club de fútbol.   </a:t>
            </a:r>
            <a:endParaRPr lang="es-ES_tradnl" sz="1500"/>
          </a:p>
        </p:txBody>
      </p:sp>
      <p:sp>
        <p:nvSpPr>
          <p:cNvPr id="202755"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202756" name="2 CuadroTexto"/>
          <p:cNvSpPr txBox="1">
            <a:spLocks noChangeArrowheads="1"/>
          </p:cNvSpPr>
          <p:nvPr/>
        </p:nvSpPr>
        <p:spPr bwMode="auto">
          <a:xfrm>
            <a:off x="1116013" y="765175"/>
            <a:ext cx="6985000"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b="1"/>
              <a:t>TRANSFORMACIÓN DEL MER AL MODELO RELACIONAL</a:t>
            </a:r>
            <a:endParaRPr lang="es-MX" b="1"/>
          </a:p>
        </p:txBody>
      </p:sp>
      <p:sp>
        <p:nvSpPr>
          <p:cNvPr id="223238" name="Rectangle 6"/>
          <p:cNvSpPr>
            <a:spLocks noChangeArrowheads="1"/>
          </p:cNvSpPr>
          <p:nvPr/>
        </p:nvSpPr>
        <p:spPr bwMode="auto">
          <a:xfrm>
            <a:off x="0" y="4676775"/>
            <a:ext cx="9109075" cy="1920875"/>
          </a:xfrm>
          <a:prstGeom prst="rect">
            <a:avLst/>
          </a:prstGeom>
          <a:noFill/>
          <a:ln w="9525" algn="ctr">
            <a:noFill/>
            <a:miter lim="800000"/>
            <a:headEnd/>
            <a:tailEnd/>
          </a:ln>
          <a:effectLst/>
        </p:spPr>
        <p:txBody>
          <a:bodyPr>
            <a:spAutoFit/>
          </a:bodyPr>
          <a:lstStyle/>
          <a:p>
            <a:pPr marL="342900" indent="-342900" algn="just">
              <a:defRPr/>
            </a:pPr>
            <a:r>
              <a:rPr lang="es-ES" sz="1500" dirty="0"/>
              <a:t>	En este ejemplo, tal y como dicen las reglas, podemos propagar la clave de cualquier tabla a la tabla resultante de la otra. Es decir, tenemos dos opciones, o mover la clave de PRESIDENTE a EQUIPO o mover la clave de EQUIPO a PRESIDENTE. El </a:t>
            </a:r>
            <a:r>
              <a:rPr lang="es-ES" sz="1500" b="1" dirty="0"/>
              <a:t>modelo relacional</a:t>
            </a:r>
            <a:r>
              <a:rPr lang="es-ES" sz="1500" dirty="0"/>
              <a:t> podría quedar de cualquiera de las dos formas siguientes:</a:t>
            </a:r>
          </a:p>
          <a:p>
            <a:pPr marL="3086100" lvl="6" indent="-342900" algn="just">
              <a:defRPr/>
            </a:pPr>
            <a:r>
              <a:rPr lang="es-ES" sz="1500" dirty="0"/>
              <a:t>		EQUIPO(</a:t>
            </a:r>
            <a:r>
              <a:rPr lang="es-ES" sz="1500" b="1" dirty="0" err="1"/>
              <a:t>código</a:t>
            </a:r>
            <a:r>
              <a:rPr lang="es-ES" sz="1500" dirty="0" err="1"/>
              <a:t>,nombre,año_fundación</a:t>
            </a:r>
            <a:r>
              <a:rPr lang="es-ES" sz="1500" dirty="0"/>
              <a:t>) </a:t>
            </a:r>
          </a:p>
          <a:p>
            <a:pPr marL="3086100" lvl="6" indent="-342900" algn="just">
              <a:defRPr/>
            </a:pPr>
            <a:r>
              <a:rPr lang="es-ES" sz="1500" dirty="0"/>
              <a:t>		PRESIDENTE(</a:t>
            </a:r>
            <a:r>
              <a:rPr lang="es-ES" sz="1500" b="1" dirty="0" err="1"/>
              <a:t>dn</a:t>
            </a:r>
            <a:r>
              <a:rPr lang="es-ES" sz="1500" dirty="0" err="1"/>
              <a:t>i,nombre,código_equipo</a:t>
            </a:r>
            <a:r>
              <a:rPr lang="es-ES" sz="1500" dirty="0"/>
              <a:t>) </a:t>
            </a:r>
          </a:p>
          <a:p>
            <a:pPr marL="3086100" lvl="6" indent="-342900" algn="just">
              <a:defRPr/>
            </a:pPr>
            <a:r>
              <a:rPr lang="es-ES" sz="1500" dirty="0"/>
              <a:t>		EQUIPO(</a:t>
            </a:r>
            <a:r>
              <a:rPr lang="es-ES" sz="1500" b="1" dirty="0" err="1"/>
              <a:t>código</a:t>
            </a:r>
            <a:r>
              <a:rPr lang="es-ES" sz="1500" dirty="0" err="1"/>
              <a:t>,nombre,año_fundación,dni_presidente</a:t>
            </a:r>
            <a:r>
              <a:rPr lang="es-ES" sz="1500" dirty="0"/>
              <a:t>) </a:t>
            </a:r>
          </a:p>
          <a:p>
            <a:pPr marL="3086100" lvl="6" indent="-342900" algn="just">
              <a:defRPr/>
            </a:pPr>
            <a:r>
              <a:rPr lang="es-ES" sz="1500" dirty="0"/>
              <a:t>		PRESIDENTE(</a:t>
            </a:r>
            <a:r>
              <a:rPr lang="es-ES" sz="1500" b="1" dirty="0" err="1"/>
              <a:t>dni</a:t>
            </a:r>
            <a:r>
              <a:rPr lang="es-ES" sz="1500" dirty="0" err="1"/>
              <a:t>,nombre</a:t>
            </a:r>
            <a:r>
              <a:rPr lang="es-ES" sz="1500" dirty="0"/>
              <a:t>) </a:t>
            </a:r>
          </a:p>
        </p:txBody>
      </p:sp>
      <p:pic>
        <p:nvPicPr>
          <p:cNvPr id="202758" name="Picture 8"/>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908175" y="2276475"/>
            <a:ext cx="4968875" cy="2363788"/>
          </a:xfrm>
          <a:prstGeom prst="rect">
            <a:avLst/>
          </a:prstGeom>
          <a:noFill/>
          <a:ln w="9525">
            <a:noFill/>
            <a:miter lim="800000"/>
            <a:headEnd/>
            <a:tailEnd/>
          </a:ln>
        </p:spPr>
      </p:pic>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1 Rectángulo"/>
          <p:cNvSpPr>
            <a:spLocks noChangeArrowheads="1"/>
          </p:cNvSpPr>
          <p:nvPr/>
        </p:nvSpPr>
        <p:spPr bwMode="auto">
          <a:xfrm>
            <a:off x="107950" y="1268413"/>
            <a:ext cx="9036050" cy="1463675"/>
          </a:xfrm>
          <a:prstGeom prst="rect">
            <a:avLst/>
          </a:prstGeom>
          <a:noFill/>
          <a:ln w="9525">
            <a:noFill/>
            <a:miter lim="800000"/>
            <a:headEnd/>
            <a:tailEnd/>
          </a:ln>
        </p:spPr>
        <p:txBody>
          <a:bodyPr>
            <a:spAutoFit/>
          </a:bodyPr>
          <a:lstStyle/>
          <a:p>
            <a:pPr marL="342900" indent="-342900"/>
            <a:r>
              <a:rPr lang="es-ES" sz="1500" b="1"/>
              <a:t>EJEMPLO REGLA 7:</a:t>
            </a:r>
            <a:r>
              <a:rPr lang="es-ES" sz="1500"/>
              <a:t> se trata de una relación binaria con la particularidad que las dos entidades son </a:t>
            </a:r>
          </a:p>
          <a:p>
            <a:pPr marL="342900" indent="-342900"/>
            <a:r>
              <a:rPr lang="es-ES" sz="1500"/>
              <a:t>iguales y aplicaremos las reglas vistas en los puntos anteriores.</a:t>
            </a:r>
          </a:p>
          <a:p>
            <a:pPr marL="342900" indent="-342900"/>
            <a:endParaRPr lang="es-ES" sz="1500"/>
          </a:p>
          <a:p>
            <a:pPr marL="342900" indent="-342900"/>
            <a:r>
              <a:rPr lang="es-ES" sz="1500"/>
              <a:t>	En el siguiente modelo entidad-relación un ALUMNO es jefe de grupo de varios ALUMNOS y un ALUMNO tiene obligatoriamente un jefe de grupo y sólo a uno. </a:t>
            </a:r>
            <a:endParaRPr lang="es-ES_tradnl" sz="1500"/>
          </a:p>
          <a:p>
            <a:pPr marL="342900" indent="-342900"/>
            <a:endParaRPr lang="es-ES_tradnl" sz="1500"/>
          </a:p>
        </p:txBody>
      </p:sp>
      <p:sp>
        <p:nvSpPr>
          <p:cNvPr id="203779" name="2 CuadroTexto"/>
          <p:cNvSpPr txBox="1">
            <a:spLocks noChangeArrowheads="1"/>
          </p:cNvSpPr>
          <p:nvPr/>
        </p:nvSpPr>
        <p:spPr bwMode="auto">
          <a:xfrm>
            <a:off x="214313" y="131763"/>
            <a:ext cx="8643937" cy="457200"/>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sz="2400" b="1"/>
              <a:t>MODELO RELACIONAL</a:t>
            </a:r>
            <a:endParaRPr lang="es-MX" sz="2400" b="1"/>
          </a:p>
        </p:txBody>
      </p:sp>
      <p:sp>
        <p:nvSpPr>
          <p:cNvPr id="203780" name="2 CuadroTexto"/>
          <p:cNvSpPr txBox="1">
            <a:spLocks noChangeArrowheads="1"/>
          </p:cNvSpPr>
          <p:nvPr/>
        </p:nvSpPr>
        <p:spPr bwMode="auto">
          <a:xfrm>
            <a:off x="1116013" y="765175"/>
            <a:ext cx="6985000" cy="366713"/>
          </a:xfrm>
          <a:prstGeom prst="rect">
            <a:avLst/>
          </a:prstGeom>
          <a:noFill/>
          <a:ln w="9525">
            <a:noFill/>
            <a:miter lim="800000"/>
            <a:headEnd/>
            <a:tailEnd/>
          </a:ln>
        </p:spPr>
        <p:txBody>
          <a:bodyPr>
            <a:spAutoFit/>
          </a:bodyPr>
          <a:lstStyle/>
          <a:p>
            <a:pPr marL="514350" indent="-514350">
              <a:buFont typeface="Lucida Sans Unicode" pitchFamily="34" charset="0"/>
              <a:buNone/>
            </a:pPr>
            <a:r>
              <a:rPr lang="es-ES_tradnl" b="1"/>
              <a:t>TRANSFORMACIÓN DEL MER AL MODELO RELACIONAL</a:t>
            </a:r>
            <a:endParaRPr lang="es-MX" b="1"/>
          </a:p>
        </p:txBody>
      </p:sp>
      <p:pic>
        <p:nvPicPr>
          <p:cNvPr id="203781" name="Picture 7"/>
          <p:cNvPicPr>
            <a:picLocks noChangeAspect="1" noChangeArrowheads="1"/>
          </p:cNvPicPr>
          <p:nvPr/>
        </p:nvPicPr>
        <p:blipFill>
          <a:blip r:embed="rId2" cstate="print"/>
          <a:srcRect/>
          <a:stretch>
            <a:fillRect/>
          </a:stretch>
        </p:blipFill>
        <p:spPr bwMode="auto">
          <a:xfrm>
            <a:off x="179388" y="2697163"/>
            <a:ext cx="3406775" cy="2532062"/>
          </a:xfrm>
          <a:prstGeom prst="rect">
            <a:avLst/>
          </a:prstGeom>
          <a:noFill/>
          <a:ln w="9525">
            <a:noFill/>
            <a:miter lim="800000"/>
            <a:headEnd/>
            <a:tailEnd/>
          </a:ln>
        </p:spPr>
      </p:pic>
      <p:sp>
        <p:nvSpPr>
          <p:cNvPr id="203782" name="Rectangle 8"/>
          <p:cNvSpPr>
            <a:spLocks noChangeArrowheads="1"/>
          </p:cNvSpPr>
          <p:nvPr/>
        </p:nvSpPr>
        <p:spPr bwMode="auto">
          <a:xfrm>
            <a:off x="3203575" y="4000500"/>
            <a:ext cx="5940425" cy="2149475"/>
          </a:xfrm>
          <a:prstGeom prst="rect">
            <a:avLst/>
          </a:prstGeom>
          <a:noFill/>
          <a:ln w="9525" algn="ctr">
            <a:noFill/>
            <a:miter lim="800000"/>
            <a:headEnd/>
            <a:tailEnd/>
          </a:ln>
        </p:spPr>
        <p:txBody>
          <a:bodyPr>
            <a:spAutoFit/>
          </a:bodyPr>
          <a:lstStyle/>
          <a:p>
            <a:pPr marL="342900" indent="-342900" algn="just"/>
            <a:r>
              <a:rPr lang="es-ES" sz="1500"/>
              <a:t>	Como podemos observar en las reglas de transformación, en este caso la relación reflexiva se trata como si fuera una relación binaria con la particularidad de que las dos entidades son iguales. Al tratarse de una relación 1:N se propagará la clave de la entidad ALUMNO a la entidad ALUMNO, quedando el modelo relacional de la siguiente forma:</a:t>
            </a:r>
          </a:p>
          <a:p>
            <a:pPr marL="342900" indent="-342900" algn="just"/>
            <a:endParaRPr lang="es-ES" sz="1500"/>
          </a:p>
          <a:p>
            <a:pPr marL="342900" indent="-342900" algn="just"/>
            <a:r>
              <a:rPr lang="es-ES" sz="1500"/>
              <a:t>ALUMNO(</a:t>
            </a:r>
            <a:r>
              <a:rPr lang="es-ES" sz="1500" b="1"/>
              <a:t>num_expediente</a:t>
            </a:r>
            <a:r>
              <a:rPr lang="es-ES" sz="1500"/>
              <a:t>,nombre,num_expediente_delegado) </a:t>
            </a:r>
          </a:p>
          <a:p>
            <a:pPr marL="342900" indent="-342900" algn="just"/>
            <a:endParaRPr lang="es-ES" sz="150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1 Rectángulo"/>
          <p:cNvSpPr>
            <a:spLocks noChangeArrowheads="1"/>
          </p:cNvSpPr>
          <p:nvPr/>
        </p:nvSpPr>
        <p:spPr bwMode="auto">
          <a:xfrm>
            <a:off x="1062038" y="650875"/>
            <a:ext cx="7000875" cy="5632450"/>
          </a:xfrm>
          <a:prstGeom prst="rect">
            <a:avLst/>
          </a:prstGeom>
          <a:noFill/>
          <a:ln w="9525">
            <a:noFill/>
            <a:miter lim="800000"/>
            <a:headEnd/>
            <a:tailEnd/>
          </a:ln>
        </p:spPr>
        <p:txBody>
          <a:bodyPr>
            <a:spAutoFit/>
          </a:bodyPr>
          <a:lstStyle/>
          <a:p>
            <a:pPr marL="800100" lvl="1" indent="-342900">
              <a:buFont typeface="Arial" charset="0"/>
              <a:buChar char="•"/>
            </a:pPr>
            <a:r>
              <a:rPr lang="es-ES_tradnl" sz="2000"/>
              <a:t>Introducción al Algebra Relacional</a:t>
            </a:r>
          </a:p>
          <a:p>
            <a:pPr marL="800100" lvl="1" indent="-342900">
              <a:buFont typeface="Arial" charset="0"/>
              <a:buChar char="•"/>
            </a:pPr>
            <a:r>
              <a:rPr lang="es-ES_tradnl" sz="2000"/>
              <a:t>Operaciones del Algebra Relacional</a:t>
            </a:r>
          </a:p>
          <a:p>
            <a:pPr marL="1257300" lvl="2" indent="-342900">
              <a:buFont typeface="Wingdings" pitchFamily="2" charset="2"/>
              <a:buChar char="ü"/>
            </a:pPr>
            <a:r>
              <a:rPr lang="es-ES_tradnl" sz="2000"/>
              <a:t>Seleccionar</a:t>
            </a:r>
          </a:p>
          <a:p>
            <a:pPr marL="1257300" lvl="2" indent="-342900">
              <a:buFont typeface="Wingdings" pitchFamily="2" charset="2"/>
              <a:buChar char="ü"/>
            </a:pPr>
            <a:r>
              <a:rPr lang="es-ES_tradnl" sz="2000"/>
              <a:t>Proyectar</a:t>
            </a:r>
          </a:p>
          <a:p>
            <a:pPr marL="1257300" lvl="2" indent="-342900">
              <a:buFont typeface="Wingdings" pitchFamily="2" charset="2"/>
              <a:buChar char="ü"/>
            </a:pPr>
            <a:r>
              <a:rPr lang="es-ES_tradnl" sz="2000"/>
              <a:t>Renombrar</a:t>
            </a:r>
          </a:p>
          <a:p>
            <a:pPr marL="1257300" lvl="2" indent="-342900">
              <a:buFont typeface="Wingdings" pitchFamily="2" charset="2"/>
              <a:buChar char="ü"/>
            </a:pPr>
            <a:r>
              <a:rPr lang="es-ES_tradnl" sz="2000"/>
              <a:t>De la Teoría de Conjuntos</a:t>
            </a:r>
          </a:p>
          <a:p>
            <a:pPr marL="1714500" lvl="3" indent="-342900">
              <a:buFont typeface="Wingdings" pitchFamily="2" charset="2"/>
              <a:buChar char="Ø"/>
            </a:pPr>
            <a:r>
              <a:rPr lang="es-ES_tradnl" sz="2000"/>
              <a:t>Unión</a:t>
            </a:r>
          </a:p>
          <a:p>
            <a:pPr marL="1714500" lvl="3" indent="-342900">
              <a:buFont typeface="Wingdings" pitchFamily="2" charset="2"/>
              <a:buChar char="Ø"/>
            </a:pPr>
            <a:r>
              <a:rPr lang="es-ES_tradnl" sz="2000"/>
              <a:t>Intersección</a:t>
            </a:r>
          </a:p>
          <a:p>
            <a:pPr marL="1714500" lvl="3" indent="-342900">
              <a:buFont typeface="Wingdings" pitchFamily="2" charset="2"/>
              <a:buChar char="Ø"/>
            </a:pPr>
            <a:r>
              <a:rPr lang="es-ES_tradnl" sz="2000"/>
              <a:t>Diferencia</a:t>
            </a:r>
          </a:p>
          <a:p>
            <a:pPr marL="1714500" lvl="3" indent="-342900">
              <a:buFont typeface="Wingdings" pitchFamily="2" charset="2"/>
              <a:buChar char="Ø"/>
            </a:pPr>
            <a:r>
              <a:rPr lang="es-ES_tradnl" sz="2000"/>
              <a:t>Producto Cruzado</a:t>
            </a:r>
          </a:p>
          <a:p>
            <a:pPr marL="1257300" lvl="2" indent="-342900">
              <a:buFont typeface="Wingdings" pitchFamily="2" charset="2"/>
              <a:buChar char="ü"/>
            </a:pPr>
            <a:r>
              <a:rPr lang="es-ES_tradnl" sz="2000"/>
              <a:t>Reunión</a:t>
            </a:r>
          </a:p>
          <a:p>
            <a:pPr marL="1257300" lvl="2" indent="-342900">
              <a:buFont typeface="Wingdings" pitchFamily="2" charset="2"/>
              <a:buChar char="ü"/>
            </a:pPr>
            <a:r>
              <a:rPr lang="es-ES_tradnl" sz="2000"/>
              <a:t>Reunión Natural</a:t>
            </a:r>
          </a:p>
          <a:p>
            <a:pPr marL="1257300" lvl="2" indent="-342900">
              <a:buFont typeface="Wingdings" pitchFamily="2" charset="2"/>
              <a:buChar char="ü"/>
            </a:pPr>
            <a:r>
              <a:rPr lang="es-ES_tradnl" sz="2000"/>
              <a:t>División</a:t>
            </a:r>
          </a:p>
          <a:p>
            <a:pPr marL="800100" lvl="1" indent="-342900">
              <a:buFont typeface="Arial" charset="0"/>
              <a:buChar char="•"/>
            </a:pPr>
            <a:r>
              <a:rPr lang="es-ES_tradnl" sz="2000"/>
              <a:t>Operaciones Adicionales</a:t>
            </a:r>
          </a:p>
          <a:p>
            <a:pPr marL="1714500" lvl="3" indent="-342900">
              <a:buFont typeface="Wingdings" pitchFamily="2" charset="2"/>
              <a:buChar char="Ø"/>
            </a:pPr>
            <a:r>
              <a:rPr lang="es-ES_tradnl" sz="2000"/>
              <a:t>Funciones agregadas</a:t>
            </a:r>
          </a:p>
          <a:p>
            <a:pPr marL="1714500" lvl="3" indent="-342900">
              <a:buFont typeface="Wingdings" pitchFamily="2" charset="2"/>
              <a:buChar char="Ø"/>
            </a:pPr>
            <a:r>
              <a:rPr lang="es-ES_tradnl" sz="2000"/>
              <a:t>De cierre recursivo</a:t>
            </a:r>
          </a:p>
          <a:p>
            <a:pPr marL="1714500" lvl="3" indent="-342900">
              <a:buFont typeface="Wingdings" pitchFamily="2" charset="2"/>
              <a:buChar char="Ø"/>
            </a:pPr>
            <a:r>
              <a:rPr lang="es-ES_tradnl" sz="2000"/>
              <a:t>Reunión externa</a:t>
            </a:r>
          </a:p>
          <a:p>
            <a:pPr marL="1714500" lvl="3" indent="-342900">
              <a:buFont typeface="Wingdings" pitchFamily="2" charset="2"/>
              <a:buChar char="Ø"/>
            </a:pPr>
            <a:r>
              <a:rPr lang="es-ES_tradnl" sz="2000"/>
              <a:t>Unión externa</a:t>
            </a:r>
            <a:endParaRPr lang="es-MX" sz="2000"/>
          </a:p>
        </p:txBody>
      </p:sp>
      <p:sp>
        <p:nvSpPr>
          <p:cNvPr id="204803"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1 Rectángulo"/>
          <p:cNvSpPr>
            <a:spLocks noChangeArrowheads="1"/>
          </p:cNvSpPr>
          <p:nvPr/>
        </p:nvSpPr>
        <p:spPr bwMode="auto">
          <a:xfrm>
            <a:off x="34925" y="1042988"/>
            <a:ext cx="7000875" cy="396875"/>
          </a:xfrm>
          <a:prstGeom prst="rect">
            <a:avLst/>
          </a:prstGeom>
          <a:noFill/>
          <a:ln w="9525">
            <a:noFill/>
            <a:miter lim="800000"/>
            <a:headEnd/>
            <a:tailEnd/>
          </a:ln>
        </p:spPr>
        <p:txBody>
          <a:bodyPr>
            <a:spAutoFit/>
          </a:bodyPr>
          <a:lstStyle/>
          <a:p>
            <a:pPr marL="800100" lvl="1" indent="-342900">
              <a:buFont typeface="Arial" charset="0"/>
              <a:buNone/>
            </a:pPr>
            <a:r>
              <a:rPr lang="es-ES_tradnl" sz="2000" b="1"/>
              <a:t>Introducción al Algebra Relacional</a:t>
            </a:r>
          </a:p>
        </p:txBody>
      </p:sp>
      <p:sp>
        <p:nvSpPr>
          <p:cNvPr id="205827"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05828" name="Rectangle 4"/>
          <p:cNvSpPr>
            <a:spLocks noChangeArrowheads="1"/>
          </p:cNvSpPr>
          <p:nvPr/>
        </p:nvSpPr>
        <p:spPr bwMode="auto">
          <a:xfrm>
            <a:off x="1258888" y="2087563"/>
            <a:ext cx="6335712" cy="1920875"/>
          </a:xfrm>
          <a:prstGeom prst="rect">
            <a:avLst/>
          </a:prstGeom>
          <a:noFill/>
          <a:ln w="9525" algn="ctr">
            <a:noFill/>
            <a:miter lim="800000"/>
            <a:headEnd/>
            <a:tailEnd/>
          </a:ln>
        </p:spPr>
        <p:txBody>
          <a:bodyPr>
            <a:spAutoFit/>
          </a:bodyPr>
          <a:lstStyle/>
          <a:p>
            <a:pPr marL="342900" indent="-342900" algn="just">
              <a:buFont typeface="Lucida Sans Unicode" pitchFamily="34" charset="0"/>
              <a:buNone/>
            </a:pPr>
            <a:r>
              <a:rPr lang="es-ES" sz="2000"/>
              <a:t>	El álgebra relacional consiste de algunas simples pero poderosas maneras de </a:t>
            </a:r>
            <a:r>
              <a:rPr lang="es-ES" sz="2000" b="1">
                <a:solidFill>
                  <a:schemeClr val="accent2"/>
                </a:solidFill>
              </a:rPr>
              <a:t>construir nuevas relaciones</a:t>
            </a:r>
            <a:r>
              <a:rPr lang="es-ES" sz="2000"/>
              <a:t> a partir de otras. Si pensamos que las relaciones iniciales son los datos almacenados entonces las nuevas relaciones se pueden ver como respuestas a algunas </a:t>
            </a:r>
            <a:r>
              <a:rPr lang="es-ES" sz="2000" b="1">
                <a:solidFill>
                  <a:schemeClr val="accent2"/>
                </a:solidFill>
              </a:rPr>
              <a:t>consultas deseadas</a:t>
            </a:r>
            <a:r>
              <a:rPr lang="es-ES" sz="2000"/>
              <a:t>. </a:t>
            </a:r>
          </a:p>
        </p:txBody>
      </p:sp>
      <p:sp>
        <p:nvSpPr>
          <p:cNvPr id="205829" name="Rectangle 5"/>
          <p:cNvSpPr>
            <a:spLocks noChangeArrowheads="1"/>
          </p:cNvSpPr>
          <p:nvPr/>
        </p:nvSpPr>
        <p:spPr bwMode="auto">
          <a:xfrm>
            <a:off x="1258888" y="4367213"/>
            <a:ext cx="6337300" cy="1006475"/>
          </a:xfrm>
          <a:prstGeom prst="rect">
            <a:avLst/>
          </a:prstGeom>
          <a:noFill/>
          <a:ln w="9525" algn="ctr">
            <a:noFill/>
            <a:miter lim="800000"/>
            <a:headEnd/>
            <a:tailEnd/>
          </a:ln>
        </p:spPr>
        <p:txBody>
          <a:bodyPr>
            <a:spAutoFit/>
          </a:bodyPr>
          <a:lstStyle/>
          <a:p>
            <a:pPr marL="342900" indent="-342900" algn="just">
              <a:buFont typeface="Lucida Sans Unicode" pitchFamily="34" charset="0"/>
              <a:buNone/>
            </a:pPr>
            <a:r>
              <a:rPr lang="es-ES" sz="2000"/>
              <a:t>	Es la manera de hacer consultas a una base de datos empleando algunos </a:t>
            </a:r>
            <a:r>
              <a:rPr lang="es-ES" sz="2000" b="1">
                <a:solidFill>
                  <a:schemeClr val="accent2"/>
                </a:solidFill>
              </a:rPr>
              <a:t>conceptos matemáticos</a:t>
            </a:r>
            <a:r>
              <a:rPr lang="es-ES" sz="2000"/>
              <a:t> aplicados a un </a:t>
            </a:r>
            <a:r>
              <a:rPr lang="es-ES" sz="2000" b="1">
                <a:solidFill>
                  <a:schemeClr val="accent2"/>
                </a:solidFill>
              </a:rPr>
              <a:t>esquema relacional</a:t>
            </a:r>
            <a:r>
              <a:rPr lang="es-ES" sz="2000"/>
              <a:t>.</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1 Rectángulo"/>
          <p:cNvSpPr>
            <a:spLocks noChangeArrowheads="1"/>
          </p:cNvSpPr>
          <p:nvPr/>
        </p:nvSpPr>
        <p:spPr bwMode="auto">
          <a:xfrm>
            <a:off x="34925" y="1042988"/>
            <a:ext cx="7000875" cy="396875"/>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a:t>
            </a:r>
          </a:p>
        </p:txBody>
      </p:sp>
      <p:sp>
        <p:nvSpPr>
          <p:cNvPr id="206851"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06852" name="1 Rectángulo"/>
          <p:cNvSpPr>
            <a:spLocks noChangeArrowheads="1"/>
          </p:cNvSpPr>
          <p:nvPr/>
        </p:nvSpPr>
        <p:spPr bwMode="auto">
          <a:xfrm>
            <a:off x="1062038" y="1839913"/>
            <a:ext cx="7000875" cy="3749675"/>
          </a:xfrm>
          <a:prstGeom prst="rect">
            <a:avLst/>
          </a:prstGeom>
          <a:noFill/>
          <a:ln w="9525">
            <a:noFill/>
            <a:miter lim="800000"/>
            <a:headEnd/>
            <a:tailEnd/>
          </a:ln>
        </p:spPr>
        <p:txBody>
          <a:bodyPr>
            <a:spAutoFit/>
          </a:bodyPr>
          <a:lstStyle/>
          <a:p>
            <a:pPr marL="1257300" lvl="2" indent="-342900">
              <a:buFont typeface="Arial" charset="0"/>
              <a:buChar char="•"/>
            </a:pPr>
            <a:endParaRPr lang="es-ES_tradnl" sz="2000"/>
          </a:p>
          <a:p>
            <a:pPr marL="1257300" lvl="2" indent="-342900">
              <a:buFont typeface="Wingdings" pitchFamily="2" charset="2"/>
              <a:buChar char="ü"/>
            </a:pPr>
            <a:r>
              <a:rPr lang="es-ES_tradnl" sz="2000"/>
              <a:t>Seleccionar</a:t>
            </a:r>
          </a:p>
          <a:p>
            <a:pPr marL="1257300" lvl="2" indent="-342900">
              <a:buFont typeface="Wingdings" pitchFamily="2" charset="2"/>
              <a:buChar char="ü"/>
            </a:pPr>
            <a:r>
              <a:rPr lang="es-ES_tradnl" sz="2000"/>
              <a:t>Proyectar</a:t>
            </a:r>
          </a:p>
          <a:p>
            <a:pPr marL="1257300" lvl="2" indent="-342900">
              <a:buFont typeface="Wingdings" pitchFamily="2" charset="2"/>
              <a:buChar char="ü"/>
            </a:pPr>
            <a:r>
              <a:rPr lang="es-ES_tradnl" sz="2000"/>
              <a:t>Renombrar</a:t>
            </a:r>
          </a:p>
          <a:p>
            <a:pPr marL="1257300" lvl="2" indent="-342900">
              <a:buFont typeface="Wingdings" pitchFamily="2" charset="2"/>
              <a:buChar char="ü"/>
            </a:pPr>
            <a:r>
              <a:rPr lang="es-ES_tradnl" sz="2000"/>
              <a:t>De la Teoría de Conjuntos</a:t>
            </a:r>
          </a:p>
          <a:p>
            <a:pPr marL="1714500" lvl="3" indent="-342900">
              <a:buFont typeface="Wingdings" pitchFamily="2" charset="2"/>
              <a:buChar char="Ø"/>
            </a:pPr>
            <a:r>
              <a:rPr lang="es-ES_tradnl" sz="2000"/>
              <a:t>Unión</a:t>
            </a:r>
          </a:p>
          <a:p>
            <a:pPr marL="1714500" lvl="3" indent="-342900">
              <a:buFont typeface="Wingdings" pitchFamily="2" charset="2"/>
              <a:buChar char="Ø"/>
            </a:pPr>
            <a:r>
              <a:rPr lang="es-ES_tradnl" sz="2000"/>
              <a:t>Intersección</a:t>
            </a:r>
          </a:p>
          <a:p>
            <a:pPr marL="1714500" lvl="3" indent="-342900">
              <a:buFont typeface="Wingdings" pitchFamily="2" charset="2"/>
              <a:buChar char="Ø"/>
            </a:pPr>
            <a:r>
              <a:rPr lang="es-ES_tradnl" sz="2000"/>
              <a:t>Diferencia</a:t>
            </a:r>
          </a:p>
          <a:p>
            <a:pPr marL="1714500" lvl="3" indent="-342900">
              <a:buFont typeface="Wingdings" pitchFamily="2" charset="2"/>
              <a:buChar char="Ø"/>
            </a:pPr>
            <a:r>
              <a:rPr lang="es-ES_tradnl" sz="2000"/>
              <a:t>Producto Cruzado</a:t>
            </a:r>
          </a:p>
          <a:p>
            <a:pPr marL="1257300" lvl="2" indent="-342900">
              <a:buFont typeface="Wingdings" pitchFamily="2" charset="2"/>
              <a:buChar char="ü"/>
            </a:pPr>
            <a:r>
              <a:rPr lang="es-ES_tradnl" sz="2000"/>
              <a:t>Reunión</a:t>
            </a:r>
          </a:p>
          <a:p>
            <a:pPr marL="1257300" lvl="2" indent="-342900">
              <a:buFont typeface="Wingdings" pitchFamily="2" charset="2"/>
              <a:buChar char="ü"/>
            </a:pPr>
            <a:r>
              <a:rPr lang="es-ES_tradnl" sz="2000"/>
              <a:t>Reunión Natural</a:t>
            </a:r>
          </a:p>
          <a:p>
            <a:pPr marL="1257300" lvl="2" indent="-342900">
              <a:buFont typeface="Wingdings" pitchFamily="2" charset="2"/>
              <a:buChar char="ü"/>
            </a:pPr>
            <a:r>
              <a:rPr lang="es-ES_tradnl" sz="2000"/>
              <a:t>División</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1 Rectángulo"/>
          <p:cNvSpPr>
            <a:spLocks noChangeArrowheads="1"/>
          </p:cNvSpPr>
          <p:nvPr/>
        </p:nvSpPr>
        <p:spPr bwMode="auto">
          <a:xfrm>
            <a:off x="34925" y="1042988"/>
            <a:ext cx="9074150" cy="549275"/>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Seleccionar </a:t>
            </a:r>
            <a:r>
              <a:rPr lang="es-ES_tradnl" sz="3000" b="1">
                <a:solidFill>
                  <a:schemeClr val="accent2"/>
                </a:solidFill>
                <a:sym typeface="Symbol" pitchFamily="18" charset="2"/>
              </a:rPr>
              <a:t> </a:t>
            </a:r>
            <a:r>
              <a:rPr lang="es-ES_tradnl" sz="2000" b="1">
                <a:sym typeface="Symbol" pitchFamily="18" charset="2"/>
              </a:rPr>
              <a:t>(sigma)</a:t>
            </a:r>
          </a:p>
        </p:txBody>
      </p:sp>
      <p:sp>
        <p:nvSpPr>
          <p:cNvPr id="207875"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07876" name="Rectangle 5"/>
          <p:cNvSpPr>
            <a:spLocks noChangeArrowheads="1"/>
          </p:cNvSpPr>
          <p:nvPr/>
        </p:nvSpPr>
        <p:spPr bwMode="auto">
          <a:xfrm>
            <a:off x="1012825" y="2060575"/>
            <a:ext cx="6799263" cy="3200400"/>
          </a:xfrm>
          <a:prstGeom prst="rect">
            <a:avLst/>
          </a:prstGeom>
          <a:noFill/>
          <a:ln w="9525" algn="ctr">
            <a:noFill/>
            <a:miter lim="800000"/>
            <a:headEnd/>
            <a:tailEnd/>
          </a:ln>
        </p:spPr>
        <p:txBody>
          <a:bodyPr>
            <a:spAutoFit/>
          </a:bodyPr>
          <a:lstStyle/>
          <a:p>
            <a:pPr marL="342900" indent="-342900" algn="just">
              <a:buFont typeface="Lucida Sans Unicode" pitchFamily="34" charset="0"/>
              <a:buNone/>
            </a:pPr>
            <a:r>
              <a:rPr lang="es-ES" sz="2000"/>
              <a:t>	Crea una nueva relación a partir de otra, pero incluyendo </a:t>
            </a:r>
            <a:r>
              <a:rPr lang="es-ES" sz="2000" b="1">
                <a:solidFill>
                  <a:schemeClr val="accent2"/>
                </a:solidFill>
              </a:rPr>
              <a:t>sólo algunas de las tuplas a partir de un criterio</a:t>
            </a:r>
            <a:r>
              <a:rPr lang="es-ES" sz="2000"/>
              <a:t> dado. </a:t>
            </a:r>
          </a:p>
          <a:p>
            <a:pPr marL="342900" indent="-342900" algn="just">
              <a:buFont typeface="Lucida Sans Unicode" pitchFamily="34" charset="0"/>
              <a:buNone/>
            </a:pPr>
            <a:r>
              <a:rPr lang="es-ES" sz="2000"/>
              <a:t>	</a:t>
            </a:r>
          </a:p>
          <a:p>
            <a:pPr marL="342900" indent="-342900" algn="just">
              <a:buFont typeface="Lucida Sans Unicode" pitchFamily="34" charset="0"/>
              <a:buNone/>
            </a:pPr>
            <a:r>
              <a:rPr lang="es-ES" sz="2000"/>
              <a:t>	El criterio se basa en </a:t>
            </a:r>
            <a:r>
              <a:rPr lang="es-ES" sz="2000" b="1">
                <a:solidFill>
                  <a:schemeClr val="accent2"/>
                </a:solidFill>
              </a:rPr>
              <a:t>restricciones sobre los atributos</a:t>
            </a:r>
            <a:r>
              <a:rPr lang="es-ES" sz="2000"/>
              <a:t> de la relación R y no pueden incluirse otras relaciones en dicho criterio que no estén en R.</a:t>
            </a:r>
          </a:p>
          <a:p>
            <a:pPr marL="342900" indent="-342900" algn="just">
              <a:buFont typeface="Lucida Sans Unicode" pitchFamily="34" charset="0"/>
              <a:buNone/>
            </a:pPr>
            <a:endParaRPr lang="es-ES" sz="2000"/>
          </a:p>
          <a:p>
            <a:pPr marL="342900" indent="-342900" algn="just">
              <a:buFont typeface="Lucida Sans Unicode" pitchFamily="34" charset="0"/>
              <a:buNone/>
            </a:pPr>
            <a:r>
              <a:rPr lang="es-ES" sz="2000" b="1"/>
              <a:t>Sintaxis</a:t>
            </a:r>
          </a:p>
          <a:p>
            <a:pPr marL="342900" indent="-342900" algn="just">
              <a:buFont typeface="Lucida Sans Unicode" pitchFamily="34" charset="0"/>
              <a:buNone/>
            </a:pPr>
            <a:r>
              <a:rPr lang="es-ES" sz="2000"/>
              <a:t>     </a:t>
            </a:r>
            <a:r>
              <a:rPr lang="es-ES_tradnl" sz="2400" b="1">
                <a:solidFill>
                  <a:schemeClr val="accent2"/>
                </a:solidFill>
                <a:sym typeface="Symbol" pitchFamily="18" charset="2"/>
              </a:rPr>
              <a:t></a:t>
            </a:r>
            <a:r>
              <a:rPr lang="es-ES" sz="2400"/>
              <a:t> </a:t>
            </a:r>
            <a:r>
              <a:rPr lang="es-ES" sz="2000"/>
              <a:t>Ax Condición (R)</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graphicFrame>
        <p:nvGraphicFramePr>
          <p:cNvPr id="231574" name="Group 150"/>
          <p:cNvGraphicFramePr>
            <a:graphicFrameLocks noGrp="1"/>
          </p:cNvGraphicFramePr>
          <p:nvPr/>
        </p:nvGraphicFramePr>
        <p:xfrm>
          <a:off x="1989138" y="2155825"/>
          <a:ext cx="5319712"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gridCol w="677862">
                  <a:extLst>
                    <a:ext uri="{9D8B030D-6E8A-4147-A177-3AD203B41FA5}">
                      <a16:colId xmlns:a16="http://schemas.microsoft.com/office/drawing/2014/main" val="20003"/>
                    </a:ext>
                  </a:extLst>
                </a:gridCol>
                <a:gridCol w="1279525">
                  <a:extLst>
                    <a:ext uri="{9D8B030D-6E8A-4147-A177-3AD203B41FA5}">
                      <a16:colId xmlns:a16="http://schemas.microsoft.com/office/drawing/2014/main" val="20004"/>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Año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Duración</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Tipo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Estudio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124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104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95</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Paramount</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08931" name="Rectangle 134"/>
          <p:cNvSpPr>
            <a:spLocks noChangeArrowheads="1"/>
          </p:cNvSpPr>
          <p:nvPr/>
        </p:nvSpPr>
        <p:spPr bwMode="auto">
          <a:xfrm>
            <a:off x="4121150" y="1700213"/>
            <a:ext cx="1074738" cy="366712"/>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Pel</a:t>
            </a:r>
            <a:r>
              <a:rPr lang="es-ES" b="1">
                <a:cs typeface="Tahoma" pitchFamily="34" charset="0"/>
              </a:rPr>
              <a:t>í</a:t>
            </a:r>
            <a:r>
              <a:rPr lang="es-ES" b="1">
                <a:latin typeface="Tahoma" pitchFamily="34" charset="0"/>
                <a:cs typeface="Tahoma" pitchFamily="34" charset="0"/>
              </a:rPr>
              <a:t>cula</a:t>
            </a:r>
            <a:endParaRPr lang="es-ES" b="1"/>
          </a:p>
        </p:txBody>
      </p:sp>
      <p:sp>
        <p:nvSpPr>
          <p:cNvPr id="208932" name="Rectangle 148"/>
          <p:cNvSpPr>
            <a:spLocks noChangeArrowheads="1"/>
          </p:cNvSpPr>
          <p:nvPr/>
        </p:nvSpPr>
        <p:spPr bwMode="auto">
          <a:xfrm>
            <a:off x="323850" y="3732213"/>
            <a:ext cx="6278563" cy="320675"/>
          </a:xfrm>
          <a:prstGeom prst="rect">
            <a:avLst/>
          </a:prstGeom>
          <a:noFill/>
          <a:ln w="9525">
            <a:noFill/>
            <a:miter lim="800000"/>
            <a:headEnd/>
            <a:tailEnd/>
          </a:ln>
        </p:spPr>
        <p:txBody>
          <a:bodyPr wrap="none" anchor="ctr">
            <a:spAutoFit/>
          </a:bodyPr>
          <a:lstStyle/>
          <a:p>
            <a:pPr eaLnBrk="0" hangingPunct="0"/>
            <a:r>
              <a:rPr lang="es-ES" sz="1500" b="1">
                <a:solidFill>
                  <a:schemeClr val="accent2"/>
                </a:solidFill>
                <a:latin typeface="Calibri" pitchFamily="34" charset="0"/>
              </a:rPr>
              <a:t>Ejemplo 1:</a:t>
            </a:r>
            <a:r>
              <a:rPr lang="es-ES" sz="1500">
                <a:latin typeface="Calibri" pitchFamily="34" charset="0"/>
              </a:rPr>
              <a:t> Mostrar las películas cuya duración sea mayor ó igual a 100</a:t>
            </a:r>
          </a:p>
        </p:txBody>
      </p:sp>
      <p:sp>
        <p:nvSpPr>
          <p:cNvPr id="231573" name="Rectangle 149"/>
          <p:cNvSpPr>
            <a:spLocks noChangeArrowheads="1"/>
          </p:cNvSpPr>
          <p:nvPr/>
        </p:nvSpPr>
        <p:spPr bwMode="auto">
          <a:xfrm>
            <a:off x="900113" y="4221163"/>
            <a:ext cx="5381625" cy="457200"/>
          </a:xfrm>
          <a:prstGeom prst="rect">
            <a:avLst/>
          </a:prstGeom>
          <a:noFill/>
          <a:ln w="9525">
            <a:noFill/>
            <a:miter lim="800000"/>
            <a:headEnd/>
            <a:tailEnd/>
          </a:ln>
        </p:spPr>
        <p:txBody>
          <a:bodyPr>
            <a:spAutoFit/>
          </a:bodyPr>
          <a:lstStyle/>
          <a:p>
            <a:r>
              <a:rPr lang="es-ES_tradnl" sz="2400" b="1">
                <a:solidFill>
                  <a:schemeClr val="accent2"/>
                </a:solidFill>
                <a:latin typeface="Calibri" pitchFamily="34" charset="0"/>
                <a:sym typeface="Symbol" pitchFamily="18" charset="2"/>
              </a:rPr>
              <a:t></a:t>
            </a:r>
            <a:r>
              <a:rPr lang="es-ES" sz="1500">
                <a:latin typeface="Calibri" pitchFamily="34" charset="0"/>
              </a:rPr>
              <a:t>    Duración   &gt;= 100   (Película)</a:t>
            </a:r>
          </a:p>
        </p:txBody>
      </p:sp>
      <p:graphicFrame>
        <p:nvGraphicFramePr>
          <p:cNvPr id="231611" name="Group 187"/>
          <p:cNvGraphicFramePr>
            <a:graphicFrameLocks noGrp="1"/>
          </p:cNvGraphicFramePr>
          <p:nvPr/>
        </p:nvGraphicFramePr>
        <p:xfrm>
          <a:off x="3644900" y="5711825"/>
          <a:ext cx="5319713" cy="960120"/>
        </p:xfrm>
        <a:graphic>
          <a:graphicData uri="http://schemas.openxmlformats.org/drawingml/2006/table">
            <a:tbl>
              <a:tblPr/>
              <a:tblGrid>
                <a:gridCol w="146367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1279525">
                  <a:extLst>
                    <a:ext uri="{9D8B030D-6E8A-4147-A177-3AD203B41FA5}">
                      <a16:colId xmlns:a16="http://schemas.microsoft.com/office/drawing/2014/main" val="20004"/>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Año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Duración</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Tipo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Estudio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124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104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2" name="Group 196"/>
          <p:cNvGrpSpPr>
            <a:grpSpLocks/>
          </p:cNvGrpSpPr>
          <p:nvPr/>
        </p:nvGrpSpPr>
        <p:grpSpPr bwMode="auto">
          <a:xfrm>
            <a:off x="107950" y="4149725"/>
            <a:ext cx="1223963" cy="1584325"/>
            <a:chOff x="68" y="2614"/>
            <a:chExt cx="771" cy="998"/>
          </a:xfrm>
        </p:grpSpPr>
        <p:sp>
          <p:nvSpPr>
            <p:cNvPr id="208974" name="Oval 151"/>
            <p:cNvSpPr>
              <a:spLocks noChangeArrowheads="1"/>
            </p:cNvSpPr>
            <p:nvPr/>
          </p:nvSpPr>
          <p:spPr bwMode="auto">
            <a:xfrm>
              <a:off x="521" y="2614"/>
              <a:ext cx="318" cy="408"/>
            </a:xfrm>
            <a:prstGeom prst="ellipse">
              <a:avLst/>
            </a:prstGeom>
            <a:noFill/>
            <a:ln w="9525">
              <a:solidFill>
                <a:schemeClr val="tx1"/>
              </a:solidFill>
              <a:round/>
              <a:headEnd/>
              <a:tailEnd/>
            </a:ln>
          </p:spPr>
          <p:txBody>
            <a:bodyPr wrap="none" anchor="ctr"/>
            <a:lstStyle/>
            <a:p>
              <a:endParaRPr lang="es-ES"/>
            </a:p>
          </p:txBody>
        </p:sp>
        <p:sp>
          <p:nvSpPr>
            <p:cNvPr id="208975" name="Freeform 188"/>
            <p:cNvSpPr>
              <a:spLocks/>
            </p:cNvSpPr>
            <p:nvPr/>
          </p:nvSpPr>
          <p:spPr bwMode="auto">
            <a:xfrm rot="1813670">
              <a:off x="506" y="2902"/>
              <a:ext cx="184" cy="412"/>
            </a:xfrm>
            <a:custGeom>
              <a:avLst/>
              <a:gdLst>
                <a:gd name="T0" fmla="*/ 8 w 309"/>
                <a:gd name="T1" fmla="*/ 0 h 648"/>
                <a:gd name="T2" fmla="*/ 3 w 309"/>
                <a:gd name="T3" fmla="*/ 151 h 648"/>
                <a:gd name="T4" fmla="*/ 76 w 309"/>
                <a:gd name="T5" fmla="*/ 131 h 648"/>
                <a:gd name="T6" fmla="*/ 80 w 309"/>
                <a:gd name="T7" fmla="*/ 151 h 648"/>
                <a:gd name="T8" fmla="*/ 84 w 309"/>
                <a:gd name="T9" fmla="*/ 247 h 648"/>
                <a:gd name="T10" fmla="*/ 97 w 309"/>
                <a:gd name="T11" fmla="*/ 252 h 648"/>
                <a:gd name="T12" fmla="*/ 110 w 309"/>
                <a:gd name="T13" fmla="*/ 262 h 648"/>
                <a:gd name="T14" fmla="*/ 0 60000 65536"/>
                <a:gd name="T15" fmla="*/ 0 60000 65536"/>
                <a:gd name="T16" fmla="*/ 0 60000 65536"/>
                <a:gd name="T17" fmla="*/ 0 60000 65536"/>
                <a:gd name="T18" fmla="*/ 0 60000 65536"/>
                <a:gd name="T19" fmla="*/ 0 60000 65536"/>
                <a:gd name="T20" fmla="*/ 0 60000 65536"/>
                <a:gd name="T21" fmla="*/ 0 w 309"/>
                <a:gd name="T22" fmla="*/ 0 h 648"/>
                <a:gd name="T23" fmla="*/ 309 w 309"/>
                <a:gd name="T24" fmla="*/ 648 h 6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9" h="648">
                  <a:moveTo>
                    <a:pt x="21" y="0"/>
                  </a:moveTo>
                  <a:cubicBezTo>
                    <a:pt x="6" y="136"/>
                    <a:pt x="0" y="231"/>
                    <a:pt x="9" y="372"/>
                  </a:cubicBezTo>
                  <a:cubicBezTo>
                    <a:pt x="94" y="287"/>
                    <a:pt x="94" y="294"/>
                    <a:pt x="213" y="324"/>
                  </a:cubicBezTo>
                  <a:cubicBezTo>
                    <a:pt x="217" y="340"/>
                    <a:pt x="224" y="356"/>
                    <a:pt x="225" y="372"/>
                  </a:cubicBezTo>
                  <a:cubicBezTo>
                    <a:pt x="232" y="452"/>
                    <a:pt x="222" y="533"/>
                    <a:pt x="237" y="612"/>
                  </a:cubicBezTo>
                  <a:cubicBezTo>
                    <a:pt x="239" y="624"/>
                    <a:pt x="262" y="618"/>
                    <a:pt x="273" y="624"/>
                  </a:cubicBezTo>
                  <a:cubicBezTo>
                    <a:pt x="286" y="630"/>
                    <a:pt x="309" y="648"/>
                    <a:pt x="309" y="648"/>
                  </a:cubicBezTo>
                </a:path>
              </a:pathLst>
            </a:custGeom>
            <a:noFill/>
            <a:ln w="9525">
              <a:solidFill>
                <a:schemeClr val="tx1"/>
              </a:solidFill>
              <a:round/>
              <a:headEnd type="triangle" w="med" len="med"/>
              <a:tailEnd/>
            </a:ln>
          </p:spPr>
          <p:txBody>
            <a:bodyPr/>
            <a:lstStyle/>
            <a:p>
              <a:endParaRPr lang="es-ES"/>
            </a:p>
          </p:txBody>
        </p:sp>
        <p:sp>
          <p:nvSpPr>
            <p:cNvPr id="208976" name="Text Box 192"/>
            <p:cNvSpPr txBox="1">
              <a:spLocks noChangeArrowheads="1"/>
            </p:cNvSpPr>
            <p:nvPr/>
          </p:nvSpPr>
          <p:spPr bwMode="auto">
            <a:xfrm>
              <a:off x="68" y="3304"/>
              <a:ext cx="693" cy="308"/>
            </a:xfrm>
            <a:prstGeom prst="rect">
              <a:avLst/>
            </a:prstGeom>
            <a:noFill/>
            <a:ln w="9525">
              <a:noFill/>
              <a:miter lim="800000"/>
              <a:headEnd/>
              <a:tailEnd/>
            </a:ln>
          </p:spPr>
          <p:txBody>
            <a:bodyPr>
              <a:spAutoFit/>
            </a:bodyPr>
            <a:lstStyle/>
            <a:p>
              <a:pPr algn="ctr"/>
              <a:r>
                <a:rPr lang="es-ES" sz="1300"/>
                <a:t>Símbolo de Seleccionar</a:t>
              </a:r>
            </a:p>
          </p:txBody>
        </p:sp>
      </p:grpSp>
      <p:grpSp>
        <p:nvGrpSpPr>
          <p:cNvPr id="3" name="Group 197"/>
          <p:cNvGrpSpPr>
            <a:grpSpLocks/>
          </p:cNvGrpSpPr>
          <p:nvPr/>
        </p:nvGrpSpPr>
        <p:grpSpPr bwMode="auto">
          <a:xfrm>
            <a:off x="1331913" y="4149725"/>
            <a:ext cx="954087" cy="2016125"/>
            <a:chOff x="839" y="2614"/>
            <a:chExt cx="693" cy="1270"/>
          </a:xfrm>
        </p:grpSpPr>
        <p:sp>
          <p:nvSpPr>
            <p:cNvPr id="208971" name="Oval 152"/>
            <p:cNvSpPr>
              <a:spLocks noChangeArrowheads="1"/>
            </p:cNvSpPr>
            <p:nvPr/>
          </p:nvSpPr>
          <p:spPr bwMode="auto">
            <a:xfrm>
              <a:off x="839" y="2614"/>
              <a:ext cx="590" cy="408"/>
            </a:xfrm>
            <a:prstGeom prst="ellipse">
              <a:avLst/>
            </a:prstGeom>
            <a:noFill/>
            <a:ln w="9525">
              <a:solidFill>
                <a:schemeClr val="tx1"/>
              </a:solidFill>
              <a:round/>
              <a:headEnd/>
              <a:tailEnd/>
            </a:ln>
          </p:spPr>
          <p:txBody>
            <a:bodyPr wrap="none" anchor="ctr"/>
            <a:lstStyle/>
            <a:p>
              <a:endParaRPr lang="es-ES"/>
            </a:p>
          </p:txBody>
        </p:sp>
        <p:sp>
          <p:nvSpPr>
            <p:cNvPr id="208972" name="Freeform 189"/>
            <p:cNvSpPr>
              <a:spLocks/>
            </p:cNvSpPr>
            <p:nvPr/>
          </p:nvSpPr>
          <p:spPr bwMode="auto">
            <a:xfrm rot="2500703">
              <a:off x="884" y="2964"/>
              <a:ext cx="309" cy="648"/>
            </a:xfrm>
            <a:custGeom>
              <a:avLst/>
              <a:gdLst>
                <a:gd name="T0" fmla="*/ 21 w 309"/>
                <a:gd name="T1" fmla="*/ 0 h 648"/>
                <a:gd name="T2" fmla="*/ 9 w 309"/>
                <a:gd name="T3" fmla="*/ 372 h 648"/>
                <a:gd name="T4" fmla="*/ 213 w 309"/>
                <a:gd name="T5" fmla="*/ 324 h 648"/>
                <a:gd name="T6" fmla="*/ 225 w 309"/>
                <a:gd name="T7" fmla="*/ 372 h 648"/>
                <a:gd name="T8" fmla="*/ 237 w 309"/>
                <a:gd name="T9" fmla="*/ 612 h 648"/>
                <a:gd name="T10" fmla="*/ 273 w 309"/>
                <a:gd name="T11" fmla="*/ 624 h 648"/>
                <a:gd name="T12" fmla="*/ 309 w 309"/>
                <a:gd name="T13" fmla="*/ 648 h 648"/>
                <a:gd name="T14" fmla="*/ 0 60000 65536"/>
                <a:gd name="T15" fmla="*/ 0 60000 65536"/>
                <a:gd name="T16" fmla="*/ 0 60000 65536"/>
                <a:gd name="T17" fmla="*/ 0 60000 65536"/>
                <a:gd name="T18" fmla="*/ 0 60000 65536"/>
                <a:gd name="T19" fmla="*/ 0 60000 65536"/>
                <a:gd name="T20" fmla="*/ 0 60000 65536"/>
                <a:gd name="T21" fmla="*/ 0 w 309"/>
                <a:gd name="T22" fmla="*/ 0 h 648"/>
                <a:gd name="T23" fmla="*/ 309 w 309"/>
                <a:gd name="T24" fmla="*/ 648 h 6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9" h="648">
                  <a:moveTo>
                    <a:pt x="21" y="0"/>
                  </a:moveTo>
                  <a:cubicBezTo>
                    <a:pt x="6" y="136"/>
                    <a:pt x="0" y="231"/>
                    <a:pt x="9" y="372"/>
                  </a:cubicBezTo>
                  <a:cubicBezTo>
                    <a:pt x="94" y="287"/>
                    <a:pt x="94" y="294"/>
                    <a:pt x="213" y="324"/>
                  </a:cubicBezTo>
                  <a:cubicBezTo>
                    <a:pt x="217" y="340"/>
                    <a:pt x="224" y="356"/>
                    <a:pt x="225" y="372"/>
                  </a:cubicBezTo>
                  <a:cubicBezTo>
                    <a:pt x="232" y="452"/>
                    <a:pt x="222" y="533"/>
                    <a:pt x="237" y="612"/>
                  </a:cubicBezTo>
                  <a:cubicBezTo>
                    <a:pt x="239" y="624"/>
                    <a:pt x="262" y="618"/>
                    <a:pt x="273" y="624"/>
                  </a:cubicBezTo>
                  <a:cubicBezTo>
                    <a:pt x="286" y="630"/>
                    <a:pt x="309" y="648"/>
                    <a:pt x="309" y="648"/>
                  </a:cubicBezTo>
                </a:path>
              </a:pathLst>
            </a:custGeom>
            <a:noFill/>
            <a:ln w="9525">
              <a:solidFill>
                <a:schemeClr val="tx1"/>
              </a:solidFill>
              <a:round/>
              <a:headEnd type="triangle" w="med" len="med"/>
              <a:tailEnd/>
            </a:ln>
          </p:spPr>
          <p:txBody>
            <a:bodyPr/>
            <a:lstStyle/>
            <a:p>
              <a:endParaRPr lang="es-ES"/>
            </a:p>
          </p:txBody>
        </p:sp>
        <p:sp>
          <p:nvSpPr>
            <p:cNvPr id="208973" name="Text Box 193"/>
            <p:cNvSpPr txBox="1">
              <a:spLocks noChangeArrowheads="1"/>
            </p:cNvSpPr>
            <p:nvPr/>
          </p:nvSpPr>
          <p:spPr bwMode="auto">
            <a:xfrm>
              <a:off x="839" y="3576"/>
              <a:ext cx="693" cy="308"/>
            </a:xfrm>
            <a:prstGeom prst="rect">
              <a:avLst/>
            </a:prstGeom>
            <a:noFill/>
            <a:ln w="9525">
              <a:noFill/>
              <a:miter lim="800000"/>
              <a:headEnd/>
              <a:tailEnd/>
            </a:ln>
          </p:spPr>
          <p:txBody>
            <a:bodyPr>
              <a:spAutoFit/>
            </a:bodyPr>
            <a:lstStyle/>
            <a:p>
              <a:pPr algn="ctr"/>
              <a:r>
                <a:rPr lang="es-ES" sz="1300"/>
                <a:t>Atributo a restringir</a:t>
              </a:r>
            </a:p>
          </p:txBody>
        </p:sp>
      </p:grpSp>
      <p:grpSp>
        <p:nvGrpSpPr>
          <p:cNvPr id="4" name="Group 198"/>
          <p:cNvGrpSpPr>
            <a:grpSpLocks/>
          </p:cNvGrpSpPr>
          <p:nvPr/>
        </p:nvGrpSpPr>
        <p:grpSpPr bwMode="auto">
          <a:xfrm>
            <a:off x="2117725" y="4149725"/>
            <a:ext cx="1239838" cy="1924050"/>
            <a:chOff x="1428" y="2614"/>
            <a:chExt cx="781" cy="1212"/>
          </a:xfrm>
        </p:grpSpPr>
        <p:sp>
          <p:nvSpPr>
            <p:cNvPr id="208968" name="Oval 153"/>
            <p:cNvSpPr>
              <a:spLocks noChangeArrowheads="1"/>
            </p:cNvSpPr>
            <p:nvPr/>
          </p:nvSpPr>
          <p:spPr bwMode="auto">
            <a:xfrm>
              <a:off x="1428" y="2614"/>
              <a:ext cx="454" cy="408"/>
            </a:xfrm>
            <a:prstGeom prst="ellipse">
              <a:avLst/>
            </a:prstGeom>
            <a:noFill/>
            <a:ln w="9525">
              <a:solidFill>
                <a:schemeClr val="tx1"/>
              </a:solidFill>
              <a:round/>
              <a:headEnd/>
              <a:tailEnd/>
            </a:ln>
          </p:spPr>
          <p:txBody>
            <a:bodyPr wrap="none" anchor="ctr"/>
            <a:lstStyle/>
            <a:p>
              <a:endParaRPr lang="es-ES"/>
            </a:p>
          </p:txBody>
        </p:sp>
        <p:sp>
          <p:nvSpPr>
            <p:cNvPr id="208969" name="Freeform 190"/>
            <p:cNvSpPr>
              <a:spLocks/>
            </p:cNvSpPr>
            <p:nvPr/>
          </p:nvSpPr>
          <p:spPr bwMode="auto">
            <a:xfrm>
              <a:off x="1630" y="2898"/>
              <a:ext cx="309" cy="648"/>
            </a:xfrm>
            <a:custGeom>
              <a:avLst/>
              <a:gdLst>
                <a:gd name="T0" fmla="*/ 21 w 309"/>
                <a:gd name="T1" fmla="*/ 0 h 648"/>
                <a:gd name="T2" fmla="*/ 9 w 309"/>
                <a:gd name="T3" fmla="*/ 372 h 648"/>
                <a:gd name="T4" fmla="*/ 213 w 309"/>
                <a:gd name="T5" fmla="*/ 324 h 648"/>
                <a:gd name="T6" fmla="*/ 225 w 309"/>
                <a:gd name="T7" fmla="*/ 372 h 648"/>
                <a:gd name="T8" fmla="*/ 237 w 309"/>
                <a:gd name="T9" fmla="*/ 612 h 648"/>
                <a:gd name="T10" fmla="*/ 273 w 309"/>
                <a:gd name="T11" fmla="*/ 624 h 648"/>
                <a:gd name="T12" fmla="*/ 309 w 309"/>
                <a:gd name="T13" fmla="*/ 648 h 648"/>
                <a:gd name="T14" fmla="*/ 0 60000 65536"/>
                <a:gd name="T15" fmla="*/ 0 60000 65536"/>
                <a:gd name="T16" fmla="*/ 0 60000 65536"/>
                <a:gd name="T17" fmla="*/ 0 60000 65536"/>
                <a:gd name="T18" fmla="*/ 0 60000 65536"/>
                <a:gd name="T19" fmla="*/ 0 60000 65536"/>
                <a:gd name="T20" fmla="*/ 0 60000 65536"/>
                <a:gd name="T21" fmla="*/ 0 w 309"/>
                <a:gd name="T22" fmla="*/ 0 h 648"/>
                <a:gd name="T23" fmla="*/ 309 w 309"/>
                <a:gd name="T24" fmla="*/ 648 h 6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9" h="648">
                  <a:moveTo>
                    <a:pt x="21" y="0"/>
                  </a:moveTo>
                  <a:cubicBezTo>
                    <a:pt x="6" y="136"/>
                    <a:pt x="0" y="231"/>
                    <a:pt x="9" y="372"/>
                  </a:cubicBezTo>
                  <a:cubicBezTo>
                    <a:pt x="94" y="287"/>
                    <a:pt x="94" y="294"/>
                    <a:pt x="213" y="324"/>
                  </a:cubicBezTo>
                  <a:cubicBezTo>
                    <a:pt x="217" y="340"/>
                    <a:pt x="224" y="356"/>
                    <a:pt x="225" y="372"/>
                  </a:cubicBezTo>
                  <a:cubicBezTo>
                    <a:pt x="232" y="452"/>
                    <a:pt x="222" y="533"/>
                    <a:pt x="237" y="612"/>
                  </a:cubicBezTo>
                  <a:cubicBezTo>
                    <a:pt x="239" y="624"/>
                    <a:pt x="262" y="618"/>
                    <a:pt x="273" y="624"/>
                  </a:cubicBezTo>
                  <a:cubicBezTo>
                    <a:pt x="286" y="630"/>
                    <a:pt x="309" y="648"/>
                    <a:pt x="309" y="648"/>
                  </a:cubicBezTo>
                </a:path>
              </a:pathLst>
            </a:custGeom>
            <a:noFill/>
            <a:ln w="9525">
              <a:solidFill>
                <a:schemeClr val="tx1"/>
              </a:solidFill>
              <a:round/>
              <a:headEnd type="triangle" w="med" len="med"/>
              <a:tailEnd/>
            </a:ln>
          </p:spPr>
          <p:txBody>
            <a:bodyPr/>
            <a:lstStyle/>
            <a:p>
              <a:endParaRPr lang="es-ES"/>
            </a:p>
          </p:txBody>
        </p:sp>
        <p:sp>
          <p:nvSpPr>
            <p:cNvPr id="208970" name="Text Box 194"/>
            <p:cNvSpPr txBox="1">
              <a:spLocks noChangeArrowheads="1"/>
            </p:cNvSpPr>
            <p:nvPr/>
          </p:nvSpPr>
          <p:spPr bwMode="auto">
            <a:xfrm>
              <a:off x="1516" y="3518"/>
              <a:ext cx="693" cy="308"/>
            </a:xfrm>
            <a:prstGeom prst="rect">
              <a:avLst/>
            </a:prstGeom>
            <a:noFill/>
            <a:ln w="9525">
              <a:noFill/>
              <a:miter lim="800000"/>
              <a:headEnd/>
              <a:tailEnd/>
            </a:ln>
          </p:spPr>
          <p:txBody>
            <a:bodyPr>
              <a:spAutoFit/>
            </a:bodyPr>
            <a:lstStyle/>
            <a:p>
              <a:pPr algn="ctr"/>
              <a:r>
                <a:rPr lang="es-ES" sz="1300"/>
                <a:t>Criterio ó Condición</a:t>
              </a:r>
            </a:p>
          </p:txBody>
        </p:sp>
      </p:grpSp>
      <p:grpSp>
        <p:nvGrpSpPr>
          <p:cNvPr id="5" name="Group 199"/>
          <p:cNvGrpSpPr>
            <a:grpSpLocks/>
          </p:cNvGrpSpPr>
          <p:nvPr/>
        </p:nvGrpSpPr>
        <p:grpSpPr bwMode="auto">
          <a:xfrm>
            <a:off x="2643188" y="4149725"/>
            <a:ext cx="2592387" cy="1281113"/>
            <a:chOff x="1882" y="2614"/>
            <a:chExt cx="1633" cy="807"/>
          </a:xfrm>
        </p:grpSpPr>
        <p:sp>
          <p:nvSpPr>
            <p:cNvPr id="208965" name="Oval 154"/>
            <p:cNvSpPr>
              <a:spLocks noChangeArrowheads="1"/>
            </p:cNvSpPr>
            <p:nvPr/>
          </p:nvSpPr>
          <p:spPr bwMode="auto">
            <a:xfrm>
              <a:off x="1882" y="2614"/>
              <a:ext cx="635" cy="408"/>
            </a:xfrm>
            <a:prstGeom prst="ellipse">
              <a:avLst/>
            </a:prstGeom>
            <a:noFill/>
            <a:ln w="9525">
              <a:solidFill>
                <a:schemeClr val="tx1"/>
              </a:solidFill>
              <a:round/>
              <a:headEnd/>
              <a:tailEnd/>
            </a:ln>
          </p:spPr>
          <p:txBody>
            <a:bodyPr wrap="none" anchor="ctr"/>
            <a:lstStyle/>
            <a:p>
              <a:endParaRPr lang="es-ES"/>
            </a:p>
          </p:txBody>
        </p:sp>
        <p:sp>
          <p:nvSpPr>
            <p:cNvPr id="208966" name="Freeform 191"/>
            <p:cNvSpPr>
              <a:spLocks/>
            </p:cNvSpPr>
            <p:nvPr/>
          </p:nvSpPr>
          <p:spPr bwMode="auto">
            <a:xfrm rot="-2216402">
              <a:off x="2435" y="2750"/>
              <a:ext cx="309" cy="648"/>
            </a:xfrm>
            <a:custGeom>
              <a:avLst/>
              <a:gdLst>
                <a:gd name="T0" fmla="*/ 21 w 309"/>
                <a:gd name="T1" fmla="*/ 0 h 648"/>
                <a:gd name="T2" fmla="*/ 9 w 309"/>
                <a:gd name="T3" fmla="*/ 372 h 648"/>
                <a:gd name="T4" fmla="*/ 213 w 309"/>
                <a:gd name="T5" fmla="*/ 324 h 648"/>
                <a:gd name="T6" fmla="*/ 225 w 309"/>
                <a:gd name="T7" fmla="*/ 372 h 648"/>
                <a:gd name="T8" fmla="*/ 237 w 309"/>
                <a:gd name="T9" fmla="*/ 612 h 648"/>
                <a:gd name="T10" fmla="*/ 273 w 309"/>
                <a:gd name="T11" fmla="*/ 624 h 648"/>
                <a:gd name="T12" fmla="*/ 309 w 309"/>
                <a:gd name="T13" fmla="*/ 648 h 648"/>
                <a:gd name="T14" fmla="*/ 0 60000 65536"/>
                <a:gd name="T15" fmla="*/ 0 60000 65536"/>
                <a:gd name="T16" fmla="*/ 0 60000 65536"/>
                <a:gd name="T17" fmla="*/ 0 60000 65536"/>
                <a:gd name="T18" fmla="*/ 0 60000 65536"/>
                <a:gd name="T19" fmla="*/ 0 60000 65536"/>
                <a:gd name="T20" fmla="*/ 0 60000 65536"/>
                <a:gd name="T21" fmla="*/ 0 w 309"/>
                <a:gd name="T22" fmla="*/ 0 h 648"/>
                <a:gd name="T23" fmla="*/ 309 w 309"/>
                <a:gd name="T24" fmla="*/ 648 h 6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9" h="648">
                  <a:moveTo>
                    <a:pt x="21" y="0"/>
                  </a:moveTo>
                  <a:cubicBezTo>
                    <a:pt x="6" y="136"/>
                    <a:pt x="0" y="231"/>
                    <a:pt x="9" y="372"/>
                  </a:cubicBezTo>
                  <a:cubicBezTo>
                    <a:pt x="94" y="287"/>
                    <a:pt x="94" y="294"/>
                    <a:pt x="213" y="324"/>
                  </a:cubicBezTo>
                  <a:cubicBezTo>
                    <a:pt x="217" y="340"/>
                    <a:pt x="224" y="356"/>
                    <a:pt x="225" y="372"/>
                  </a:cubicBezTo>
                  <a:cubicBezTo>
                    <a:pt x="232" y="452"/>
                    <a:pt x="222" y="533"/>
                    <a:pt x="237" y="612"/>
                  </a:cubicBezTo>
                  <a:cubicBezTo>
                    <a:pt x="239" y="624"/>
                    <a:pt x="262" y="618"/>
                    <a:pt x="273" y="624"/>
                  </a:cubicBezTo>
                  <a:cubicBezTo>
                    <a:pt x="286" y="630"/>
                    <a:pt x="309" y="648"/>
                    <a:pt x="309" y="648"/>
                  </a:cubicBezTo>
                </a:path>
              </a:pathLst>
            </a:custGeom>
            <a:noFill/>
            <a:ln w="9525">
              <a:solidFill>
                <a:schemeClr val="tx1"/>
              </a:solidFill>
              <a:round/>
              <a:headEnd type="triangle" w="med" len="med"/>
              <a:tailEnd/>
            </a:ln>
          </p:spPr>
          <p:txBody>
            <a:bodyPr/>
            <a:lstStyle/>
            <a:p>
              <a:endParaRPr lang="es-ES"/>
            </a:p>
          </p:txBody>
        </p:sp>
        <p:sp>
          <p:nvSpPr>
            <p:cNvPr id="208967" name="Text Box 195"/>
            <p:cNvSpPr txBox="1">
              <a:spLocks noChangeArrowheads="1"/>
            </p:cNvSpPr>
            <p:nvPr/>
          </p:nvSpPr>
          <p:spPr bwMode="auto">
            <a:xfrm>
              <a:off x="2822" y="3113"/>
              <a:ext cx="693" cy="308"/>
            </a:xfrm>
            <a:prstGeom prst="rect">
              <a:avLst/>
            </a:prstGeom>
            <a:noFill/>
            <a:ln w="9525">
              <a:noFill/>
              <a:miter lim="800000"/>
              <a:headEnd/>
              <a:tailEnd/>
            </a:ln>
          </p:spPr>
          <p:txBody>
            <a:bodyPr>
              <a:spAutoFit/>
            </a:bodyPr>
            <a:lstStyle/>
            <a:p>
              <a:pPr algn="ctr"/>
              <a:r>
                <a:rPr lang="es-ES" sz="1300"/>
                <a:t>Nombre de la Relación</a:t>
              </a:r>
            </a:p>
          </p:txBody>
        </p:sp>
      </p:grpSp>
      <p:sp>
        <p:nvSpPr>
          <p:cNvPr id="208964" name="1 Rectángulo"/>
          <p:cNvSpPr>
            <a:spLocks noChangeArrowheads="1"/>
          </p:cNvSpPr>
          <p:nvPr/>
        </p:nvSpPr>
        <p:spPr bwMode="auto">
          <a:xfrm>
            <a:off x="34925" y="1042988"/>
            <a:ext cx="9074150" cy="549275"/>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Seleccionar </a:t>
            </a:r>
            <a:r>
              <a:rPr lang="es-ES_tradnl" sz="3000" b="1">
                <a:solidFill>
                  <a:schemeClr val="accent2"/>
                </a:solidFill>
                <a:sym typeface="Symbol" pitchFamily="18" charset="2"/>
              </a:rPr>
              <a:t> </a:t>
            </a:r>
            <a:r>
              <a:rPr lang="es-ES_tradnl" sz="2000" b="1">
                <a:sym typeface="Symbol" pitchFamily="18" charset="2"/>
              </a:rPr>
              <a:t>(sigma)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1573"/>
                                        </p:tgtEl>
                                        <p:attrNameLst>
                                          <p:attrName>style.visibility</p:attrName>
                                        </p:attrNameLst>
                                      </p:cBhvr>
                                      <p:to>
                                        <p:strVal val="visible"/>
                                      </p:to>
                                    </p:set>
                                    <p:animEffect transition="in" filter="fade">
                                      <p:cBhvr>
                                        <p:cTn id="7" dur="500"/>
                                        <p:tgtEl>
                                          <p:spTgt spid="2315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1611"/>
                                        </p:tgtEl>
                                        <p:attrNameLst>
                                          <p:attrName>style.visibility</p:attrName>
                                        </p:attrNameLst>
                                      </p:cBhvr>
                                      <p:to>
                                        <p:strVal val="visible"/>
                                      </p:to>
                                    </p:set>
                                    <p:animEffect transition="in" filter="fade">
                                      <p:cBhvr>
                                        <p:cTn id="32" dur="500"/>
                                        <p:tgtEl>
                                          <p:spTgt spid="231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573" grpId="0"/>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graphicFrame>
        <p:nvGraphicFramePr>
          <p:cNvPr id="233476" name="Group 4"/>
          <p:cNvGraphicFramePr>
            <a:graphicFrameLocks noGrp="1"/>
          </p:cNvGraphicFramePr>
          <p:nvPr/>
        </p:nvGraphicFramePr>
        <p:xfrm>
          <a:off x="1989138" y="2155825"/>
          <a:ext cx="5319712"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gridCol w="677862">
                  <a:extLst>
                    <a:ext uri="{9D8B030D-6E8A-4147-A177-3AD203B41FA5}">
                      <a16:colId xmlns:a16="http://schemas.microsoft.com/office/drawing/2014/main" val="20003"/>
                    </a:ext>
                  </a:extLst>
                </a:gridCol>
                <a:gridCol w="1279525">
                  <a:extLst>
                    <a:ext uri="{9D8B030D-6E8A-4147-A177-3AD203B41FA5}">
                      <a16:colId xmlns:a16="http://schemas.microsoft.com/office/drawing/2014/main" val="20004"/>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Año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Duración</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Tipo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Estudio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124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104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95</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Paramount</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09955" name="Rectangle 36"/>
          <p:cNvSpPr>
            <a:spLocks noChangeArrowheads="1"/>
          </p:cNvSpPr>
          <p:nvPr/>
        </p:nvSpPr>
        <p:spPr bwMode="auto">
          <a:xfrm>
            <a:off x="4121150" y="1700213"/>
            <a:ext cx="1074738" cy="366712"/>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Pel</a:t>
            </a:r>
            <a:r>
              <a:rPr lang="es-ES" b="1">
                <a:cs typeface="Tahoma" pitchFamily="34" charset="0"/>
              </a:rPr>
              <a:t>í</a:t>
            </a:r>
            <a:r>
              <a:rPr lang="es-ES" b="1">
                <a:latin typeface="Tahoma" pitchFamily="34" charset="0"/>
                <a:cs typeface="Tahoma" pitchFamily="34" charset="0"/>
              </a:rPr>
              <a:t>cula</a:t>
            </a:r>
            <a:endParaRPr lang="es-ES" b="1"/>
          </a:p>
        </p:txBody>
      </p:sp>
      <p:sp>
        <p:nvSpPr>
          <p:cNvPr id="209956" name="Rectangle 37"/>
          <p:cNvSpPr>
            <a:spLocks noChangeArrowheads="1"/>
          </p:cNvSpPr>
          <p:nvPr/>
        </p:nvSpPr>
        <p:spPr bwMode="auto">
          <a:xfrm>
            <a:off x="323850" y="3732213"/>
            <a:ext cx="8631238" cy="320675"/>
          </a:xfrm>
          <a:prstGeom prst="rect">
            <a:avLst/>
          </a:prstGeom>
          <a:noFill/>
          <a:ln w="9525">
            <a:noFill/>
            <a:miter lim="800000"/>
            <a:headEnd/>
            <a:tailEnd/>
          </a:ln>
        </p:spPr>
        <p:txBody>
          <a:bodyPr wrap="none" anchor="ctr">
            <a:spAutoFit/>
          </a:bodyPr>
          <a:lstStyle/>
          <a:p>
            <a:pPr eaLnBrk="0" hangingPunct="0"/>
            <a:r>
              <a:rPr lang="es-ES" sz="1500" b="1">
                <a:solidFill>
                  <a:schemeClr val="accent2"/>
                </a:solidFill>
                <a:latin typeface="Calibri" pitchFamily="34" charset="0"/>
              </a:rPr>
              <a:t>Ejemplo 2:</a:t>
            </a:r>
            <a:r>
              <a:rPr lang="es-ES" sz="1500">
                <a:latin typeface="Calibri" pitchFamily="34" charset="0"/>
              </a:rPr>
              <a:t> Mostrar las películas cuya duración sea mayor ó igual a 100 y que sean del Estudio Fox</a:t>
            </a:r>
          </a:p>
        </p:txBody>
      </p:sp>
      <p:sp>
        <p:nvSpPr>
          <p:cNvPr id="233510" name="Rectangle 38"/>
          <p:cNvSpPr>
            <a:spLocks noChangeArrowheads="1"/>
          </p:cNvSpPr>
          <p:nvPr/>
        </p:nvSpPr>
        <p:spPr bwMode="auto">
          <a:xfrm>
            <a:off x="900113" y="4221163"/>
            <a:ext cx="5381625" cy="457200"/>
          </a:xfrm>
          <a:prstGeom prst="rect">
            <a:avLst/>
          </a:prstGeom>
          <a:noFill/>
          <a:ln w="9525">
            <a:noFill/>
            <a:miter lim="800000"/>
            <a:headEnd/>
            <a:tailEnd/>
          </a:ln>
        </p:spPr>
        <p:txBody>
          <a:bodyPr>
            <a:spAutoFit/>
          </a:bodyPr>
          <a:lstStyle/>
          <a:p>
            <a:r>
              <a:rPr lang="es-ES_tradnl" sz="2400" b="1">
                <a:solidFill>
                  <a:schemeClr val="accent2"/>
                </a:solidFill>
                <a:latin typeface="Calibri" pitchFamily="34" charset="0"/>
                <a:sym typeface="Symbol" pitchFamily="18" charset="2"/>
              </a:rPr>
              <a:t></a:t>
            </a:r>
            <a:r>
              <a:rPr lang="es-ES" sz="1500">
                <a:latin typeface="Calibri" pitchFamily="34" charset="0"/>
              </a:rPr>
              <a:t>    Duración   &gt;= 100   and   Estudio  = ‘Fox’  (Película)</a:t>
            </a:r>
          </a:p>
        </p:txBody>
      </p:sp>
      <p:graphicFrame>
        <p:nvGraphicFramePr>
          <p:cNvPr id="233553" name="Group 81"/>
          <p:cNvGraphicFramePr>
            <a:graphicFrameLocks noGrp="1"/>
          </p:cNvGraphicFramePr>
          <p:nvPr/>
        </p:nvGraphicFramePr>
        <p:xfrm>
          <a:off x="2051050" y="5084763"/>
          <a:ext cx="5319713" cy="640080"/>
        </p:xfrm>
        <a:graphic>
          <a:graphicData uri="http://schemas.openxmlformats.org/drawingml/2006/table">
            <a:tbl>
              <a:tblPr/>
              <a:tblGrid>
                <a:gridCol w="146367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1279525">
                  <a:extLst>
                    <a:ext uri="{9D8B030D-6E8A-4147-A177-3AD203B41FA5}">
                      <a16:colId xmlns:a16="http://schemas.microsoft.com/office/drawing/2014/main" val="20004"/>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Año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Duración</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Tipo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Estudio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124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09978" name="1 Rectángulo"/>
          <p:cNvSpPr>
            <a:spLocks noChangeArrowheads="1"/>
          </p:cNvSpPr>
          <p:nvPr/>
        </p:nvSpPr>
        <p:spPr bwMode="auto">
          <a:xfrm>
            <a:off x="34925" y="1042988"/>
            <a:ext cx="9074150" cy="549275"/>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Seleccionar </a:t>
            </a:r>
            <a:r>
              <a:rPr lang="es-ES_tradnl" sz="3000" b="1">
                <a:solidFill>
                  <a:schemeClr val="accent2"/>
                </a:solidFill>
                <a:sym typeface="Symbol" pitchFamily="18" charset="2"/>
              </a:rPr>
              <a:t> </a:t>
            </a:r>
            <a:r>
              <a:rPr lang="es-ES_tradnl" sz="2000" b="1">
                <a:sym typeface="Symbol" pitchFamily="18" charset="2"/>
              </a:rPr>
              <a:t>(sigma)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3510"/>
                                        </p:tgtEl>
                                        <p:attrNameLst>
                                          <p:attrName>style.visibility</p:attrName>
                                        </p:attrNameLst>
                                      </p:cBhvr>
                                      <p:to>
                                        <p:strVal val="visible"/>
                                      </p:to>
                                    </p:set>
                                    <p:animEffect transition="in" filter="fade">
                                      <p:cBhvr>
                                        <p:cTn id="7" dur="500"/>
                                        <p:tgtEl>
                                          <p:spTgt spid="2335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3553"/>
                                        </p:tgtEl>
                                        <p:attrNameLst>
                                          <p:attrName>style.visibility</p:attrName>
                                        </p:attrNameLst>
                                      </p:cBhvr>
                                      <p:to>
                                        <p:strVal val="visible"/>
                                      </p:to>
                                    </p:set>
                                    <p:animEffect transition="in" filter="fade">
                                      <p:cBhvr>
                                        <p:cTn id="12" dur="500"/>
                                        <p:tgtEl>
                                          <p:spTgt spid="2335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510" grpId="0"/>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graphicFrame>
        <p:nvGraphicFramePr>
          <p:cNvPr id="235524" name="Group 4"/>
          <p:cNvGraphicFramePr>
            <a:graphicFrameLocks noGrp="1"/>
          </p:cNvGraphicFramePr>
          <p:nvPr/>
        </p:nvGraphicFramePr>
        <p:xfrm>
          <a:off x="1989138" y="2155825"/>
          <a:ext cx="5319712"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gridCol w="677862">
                  <a:extLst>
                    <a:ext uri="{9D8B030D-6E8A-4147-A177-3AD203B41FA5}">
                      <a16:colId xmlns:a16="http://schemas.microsoft.com/office/drawing/2014/main" val="20003"/>
                    </a:ext>
                  </a:extLst>
                </a:gridCol>
                <a:gridCol w="1279525">
                  <a:extLst>
                    <a:ext uri="{9D8B030D-6E8A-4147-A177-3AD203B41FA5}">
                      <a16:colId xmlns:a16="http://schemas.microsoft.com/office/drawing/2014/main" val="20004"/>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Año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Duración</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Tipo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Estudio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124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104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95</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Paramount</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10979" name="Rectangle 36"/>
          <p:cNvSpPr>
            <a:spLocks noChangeArrowheads="1"/>
          </p:cNvSpPr>
          <p:nvPr/>
        </p:nvSpPr>
        <p:spPr bwMode="auto">
          <a:xfrm>
            <a:off x="4121150" y="1700213"/>
            <a:ext cx="1074738" cy="366712"/>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Pel</a:t>
            </a:r>
            <a:r>
              <a:rPr lang="es-ES" b="1">
                <a:cs typeface="Tahoma" pitchFamily="34" charset="0"/>
              </a:rPr>
              <a:t>í</a:t>
            </a:r>
            <a:r>
              <a:rPr lang="es-ES" b="1">
                <a:latin typeface="Tahoma" pitchFamily="34" charset="0"/>
                <a:cs typeface="Tahoma" pitchFamily="34" charset="0"/>
              </a:rPr>
              <a:t>cula</a:t>
            </a:r>
            <a:endParaRPr lang="es-ES" b="1"/>
          </a:p>
        </p:txBody>
      </p:sp>
      <p:sp>
        <p:nvSpPr>
          <p:cNvPr id="210980" name="Rectangle 37"/>
          <p:cNvSpPr>
            <a:spLocks noChangeArrowheads="1"/>
          </p:cNvSpPr>
          <p:nvPr/>
        </p:nvSpPr>
        <p:spPr bwMode="auto">
          <a:xfrm>
            <a:off x="323850" y="3732213"/>
            <a:ext cx="6892925" cy="320675"/>
          </a:xfrm>
          <a:prstGeom prst="rect">
            <a:avLst/>
          </a:prstGeom>
          <a:noFill/>
          <a:ln w="9525">
            <a:noFill/>
            <a:miter lim="800000"/>
            <a:headEnd/>
            <a:tailEnd/>
          </a:ln>
        </p:spPr>
        <p:txBody>
          <a:bodyPr wrap="none" anchor="ctr">
            <a:spAutoFit/>
          </a:bodyPr>
          <a:lstStyle/>
          <a:p>
            <a:pPr eaLnBrk="0" hangingPunct="0"/>
            <a:r>
              <a:rPr lang="es-ES" sz="1500" b="1">
                <a:solidFill>
                  <a:schemeClr val="accent2"/>
                </a:solidFill>
                <a:latin typeface="Calibri" pitchFamily="34" charset="0"/>
              </a:rPr>
              <a:t>Ejemplo 3:</a:t>
            </a:r>
            <a:r>
              <a:rPr lang="es-ES" sz="1500">
                <a:latin typeface="Calibri" pitchFamily="34" charset="0"/>
              </a:rPr>
              <a:t> Mostrar las películas que se estrenaron entre los años 1990 y 2009</a:t>
            </a:r>
          </a:p>
        </p:txBody>
      </p:sp>
      <p:sp>
        <p:nvSpPr>
          <p:cNvPr id="235558" name="Rectangle 38"/>
          <p:cNvSpPr>
            <a:spLocks noChangeArrowheads="1"/>
          </p:cNvSpPr>
          <p:nvPr/>
        </p:nvSpPr>
        <p:spPr bwMode="auto">
          <a:xfrm>
            <a:off x="900113" y="4221163"/>
            <a:ext cx="5381625" cy="457200"/>
          </a:xfrm>
          <a:prstGeom prst="rect">
            <a:avLst/>
          </a:prstGeom>
          <a:noFill/>
          <a:ln w="9525">
            <a:noFill/>
            <a:miter lim="800000"/>
            <a:headEnd/>
            <a:tailEnd/>
          </a:ln>
        </p:spPr>
        <p:txBody>
          <a:bodyPr>
            <a:spAutoFit/>
          </a:bodyPr>
          <a:lstStyle/>
          <a:p>
            <a:r>
              <a:rPr lang="es-ES_tradnl" sz="2400" b="1">
                <a:solidFill>
                  <a:schemeClr val="accent2"/>
                </a:solidFill>
                <a:latin typeface="Calibri" pitchFamily="34" charset="0"/>
                <a:sym typeface="Symbol" pitchFamily="18" charset="2"/>
              </a:rPr>
              <a:t></a:t>
            </a:r>
            <a:r>
              <a:rPr lang="es-ES" sz="1500">
                <a:latin typeface="Calibri" pitchFamily="34" charset="0"/>
              </a:rPr>
              <a:t>    Año   &gt;= 1990   and   Año &lt;=2009   (Película)</a:t>
            </a:r>
          </a:p>
        </p:txBody>
      </p:sp>
      <p:graphicFrame>
        <p:nvGraphicFramePr>
          <p:cNvPr id="235612" name="Group 92"/>
          <p:cNvGraphicFramePr>
            <a:graphicFrameLocks noGrp="1"/>
          </p:cNvGraphicFramePr>
          <p:nvPr/>
        </p:nvGraphicFramePr>
        <p:xfrm>
          <a:off x="1979613" y="5064125"/>
          <a:ext cx="5319712" cy="960120"/>
        </p:xfrm>
        <a:graphic>
          <a:graphicData uri="http://schemas.openxmlformats.org/drawingml/2006/table">
            <a:tbl>
              <a:tblPr/>
              <a:tblGrid>
                <a:gridCol w="146367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gridCol w="677862">
                  <a:extLst>
                    <a:ext uri="{9D8B030D-6E8A-4147-A177-3AD203B41FA5}">
                      <a16:colId xmlns:a16="http://schemas.microsoft.com/office/drawing/2014/main" val="20003"/>
                    </a:ext>
                  </a:extLst>
                </a:gridCol>
                <a:gridCol w="1279525">
                  <a:extLst>
                    <a:ext uri="{9D8B030D-6E8A-4147-A177-3AD203B41FA5}">
                      <a16:colId xmlns:a16="http://schemas.microsoft.com/office/drawing/2014/main" val="20004"/>
                    </a:ext>
                  </a:extLst>
                </a:gridCol>
              </a:tblGrid>
              <a:tr h="2682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Año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Duración</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Tipo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Estudio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104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95</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Paramount</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11008" name="1 Rectángulo"/>
          <p:cNvSpPr>
            <a:spLocks noChangeArrowheads="1"/>
          </p:cNvSpPr>
          <p:nvPr/>
        </p:nvSpPr>
        <p:spPr bwMode="auto">
          <a:xfrm>
            <a:off x="34925" y="1042988"/>
            <a:ext cx="9074150" cy="549275"/>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Seleccionar </a:t>
            </a:r>
            <a:r>
              <a:rPr lang="es-ES_tradnl" sz="3000" b="1">
                <a:solidFill>
                  <a:schemeClr val="accent2"/>
                </a:solidFill>
                <a:sym typeface="Symbol" pitchFamily="18" charset="2"/>
              </a:rPr>
              <a:t> </a:t>
            </a:r>
            <a:r>
              <a:rPr lang="es-ES_tradnl" sz="2000" b="1">
                <a:sym typeface="Symbol" pitchFamily="18" charset="2"/>
              </a:rPr>
              <a:t>(sigma)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5558"/>
                                        </p:tgtEl>
                                        <p:attrNameLst>
                                          <p:attrName>style.visibility</p:attrName>
                                        </p:attrNameLst>
                                      </p:cBhvr>
                                      <p:to>
                                        <p:strVal val="visible"/>
                                      </p:to>
                                    </p:set>
                                    <p:animEffect transition="in" filter="fade">
                                      <p:cBhvr>
                                        <p:cTn id="7" dur="500"/>
                                        <p:tgtEl>
                                          <p:spTgt spid="2355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5612"/>
                                        </p:tgtEl>
                                        <p:attrNameLst>
                                          <p:attrName>style.visibility</p:attrName>
                                        </p:attrNameLst>
                                      </p:cBhvr>
                                      <p:to>
                                        <p:strVal val="visible"/>
                                      </p:to>
                                    </p:set>
                                    <p:animEffect transition="in" filter="fade">
                                      <p:cBhvr>
                                        <p:cTn id="12" dur="500"/>
                                        <p:tgtEl>
                                          <p:spTgt spid="235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8"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1 Rectángulo"/>
          <p:cNvSpPr>
            <a:spLocks noChangeArrowheads="1"/>
          </p:cNvSpPr>
          <p:nvPr/>
        </p:nvSpPr>
        <p:spPr bwMode="auto">
          <a:xfrm>
            <a:off x="34925" y="1042988"/>
            <a:ext cx="7561263" cy="549275"/>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Proyectar </a:t>
            </a:r>
            <a:r>
              <a:rPr lang="es-ES_tradnl" sz="3000" b="1">
                <a:solidFill>
                  <a:schemeClr val="accent2"/>
                </a:solidFill>
                <a:sym typeface="Symbol" pitchFamily="18" charset="2"/>
              </a:rPr>
              <a:t> </a:t>
            </a:r>
            <a:r>
              <a:rPr lang="es-ES_tradnl" sz="2000" b="1">
                <a:sym typeface="Symbol" pitchFamily="18" charset="2"/>
              </a:rPr>
              <a:t>(pi)</a:t>
            </a:r>
          </a:p>
        </p:txBody>
      </p:sp>
      <p:sp>
        <p:nvSpPr>
          <p:cNvPr id="211971"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11972" name="Rectangle 66"/>
          <p:cNvSpPr>
            <a:spLocks noChangeArrowheads="1"/>
          </p:cNvSpPr>
          <p:nvPr/>
        </p:nvSpPr>
        <p:spPr bwMode="auto">
          <a:xfrm>
            <a:off x="1012825" y="2455863"/>
            <a:ext cx="6799263" cy="1981200"/>
          </a:xfrm>
          <a:prstGeom prst="rect">
            <a:avLst/>
          </a:prstGeom>
          <a:noFill/>
          <a:ln w="9525" algn="ctr">
            <a:noFill/>
            <a:miter lim="800000"/>
            <a:headEnd/>
            <a:tailEnd/>
          </a:ln>
        </p:spPr>
        <p:txBody>
          <a:bodyPr>
            <a:spAutoFit/>
          </a:bodyPr>
          <a:lstStyle/>
          <a:p>
            <a:pPr marL="342900" indent="-342900" algn="just">
              <a:buFont typeface="Lucida Sans Unicode" pitchFamily="34" charset="0"/>
              <a:buNone/>
            </a:pPr>
            <a:r>
              <a:rPr lang="es-ES" sz="2000"/>
              <a:t>	Crea una nueva relación a partir de otra, pero incluyendo </a:t>
            </a:r>
            <a:r>
              <a:rPr lang="es-ES" sz="2000" b="1">
                <a:solidFill>
                  <a:schemeClr val="accent2"/>
                </a:solidFill>
              </a:rPr>
              <a:t>sólo algunas de las columnas</a:t>
            </a:r>
            <a:r>
              <a:rPr lang="es-ES" sz="2000"/>
              <a:t>. </a:t>
            </a:r>
          </a:p>
          <a:p>
            <a:pPr marL="342900" indent="-342900" algn="just">
              <a:buFont typeface="Lucida Sans Unicode" pitchFamily="34" charset="0"/>
              <a:buNone/>
            </a:pPr>
            <a:r>
              <a:rPr lang="es-ES" sz="2000"/>
              <a:t>	</a:t>
            </a:r>
          </a:p>
          <a:p>
            <a:pPr marL="342900" indent="-342900" algn="just">
              <a:buFont typeface="Lucida Sans Unicode" pitchFamily="34" charset="0"/>
              <a:buNone/>
            </a:pPr>
            <a:endParaRPr lang="es-ES" sz="2000"/>
          </a:p>
          <a:p>
            <a:pPr marL="342900" indent="-342900" algn="just">
              <a:buFont typeface="Lucida Sans Unicode" pitchFamily="34" charset="0"/>
              <a:buNone/>
            </a:pPr>
            <a:r>
              <a:rPr lang="es-ES" sz="2000" b="1"/>
              <a:t>Sintaxis</a:t>
            </a:r>
          </a:p>
          <a:p>
            <a:pPr marL="342900" indent="-342900" algn="just">
              <a:buFont typeface="Lucida Sans Unicode" pitchFamily="34" charset="0"/>
              <a:buNone/>
            </a:pPr>
            <a:r>
              <a:rPr lang="es-ES" sz="2000"/>
              <a:t>     </a:t>
            </a:r>
            <a:r>
              <a:rPr lang="es-ES_tradnl" sz="2400" b="1">
                <a:solidFill>
                  <a:schemeClr val="accent2"/>
                </a:solidFill>
                <a:sym typeface="Symbol" pitchFamily="18" charset="2"/>
              </a:rPr>
              <a:t></a:t>
            </a:r>
            <a:r>
              <a:rPr lang="es-ES" sz="2400"/>
              <a:t> </a:t>
            </a:r>
            <a:r>
              <a:rPr lang="es-ES" sz="2000"/>
              <a:t>A1, A3, A6 (R)</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graphicFrame>
        <p:nvGraphicFramePr>
          <p:cNvPr id="239620" name="Group 4"/>
          <p:cNvGraphicFramePr>
            <a:graphicFrameLocks noGrp="1"/>
          </p:cNvGraphicFramePr>
          <p:nvPr/>
        </p:nvGraphicFramePr>
        <p:xfrm>
          <a:off x="1989138" y="2155825"/>
          <a:ext cx="5319712"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gridCol w="677862">
                  <a:extLst>
                    <a:ext uri="{9D8B030D-6E8A-4147-A177-3AD203B41FA5}">
                      <a16:colId xmlns:a16="http://schemas.microsoft.com/office/drawing/2014/main" val="20003"/>
                    </a:ext>
                  </a:extLst>
                </a:gridCol>
                <a:gridCol w="1279525">
                  <a:extLst>
                    <a:ext uri="{9D8B030D-6E8A-4147-A177-3AD203B41FA5}">
                      <a16:colId xmlns:a16="http://schemas.microsoft.com/office/drawing/2014/main" val="20004"/>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Año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Duración</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Tipo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Estudio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124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104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95</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Paramount</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13027" name="Rectangle 36"/>
          <p:cNvSpPr>
            <a:spLocks noChangeArrowheads="1"/>
          </p:cNvSpPr>
          <p:nvPr/>
        </p:nvSpPr>
        <p:spPr bwMode="auto">
          <a:xfrm>
            <a:off x="4121150" y="1700213"/>
            <a:ext cx="1074738" cy="366712"/>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Pel</a:t>
            </a:r>
            <a:r>
              <a:rPr lang="es-ES" b="1">
                <a:cs typeface="Tahoma" pitchFamily="34" charset="0"/>
              </a:rPr>
              <a:t>í</a:t>
            </a:r>
            <a:r>
              <a:rPr lang="es-ES" b="1">
                <a:latin typeface="Tahoma" pitchFamily="34" charset="0"/>
                <a:cs typeface="Tahoma" pitchFamily="34" charset="0"/>
              </a:rPr>
              <a:t>cula</a:t>
            </a:r>
            <a:endParaRPr lang="es-ES" b="1"/>
          </a:p>
        </p:txBody>
      </p:sp>
      <p:sp>
        <p:nvSpPr>
          <p:cNvPr id="213028" name="Rectangle 37"/>
          <p:cNvSpPr>
            <a:spLocks noChangeArrowheads="1"/>
          </p:cNvSpPr>
          <p:nvPr/>
        </p:nvSpPr>
        <p:spPr bwMode="auto">
          <a:xfrm>
            <a:off x="323850" y="3732213"/>
            <a:ext cx="5172075" cy="320675"/>
          </a:xfrm>
          <a:prstGeom prst="rect">
            <a:avLst/>
          </a:prstGeom>
          <a:noFill/>
          <a:ln w="9525">
            <a:noFill/>
            <a:miter lim="800000"/>
            <a:headEnd/>
            <a:tailEnd/>
          </a:ln>
        </p:spPr>
        <p:txBody>
          <a:bodyPr wrap="none" anchor="ctr">
            <a:spAutoFit/>
          </a:bodyPr>
          <a:lstStyle/>
          <a:p>
            <a:pPr eaLnBrk="0" hangingPunct="0"/>
            <a:r>
              <a:rPr lang="es-ES" sz="1500" b="1">
                <a:solidFill>
                  <a:schemeClr val="accent2"/>
                </a:solidFill>
                <a:latin typeface="Calibri" pitchFamily="34" charset="0"/>
              </a:rPr>
              <a:t>Ejemplo 1:</a:t>
            </a:r>
            <a:r>
              <a:rPr lang="es-ES" sz="1500">
                <a:latin typeface="Calibri" pitchFamily="34" charset="0"/>
              </a:rPr>
              <a:t> Mostrar Título, Año y Duración de las Películas</a:t>
            </a:r>
          </a:p>
        </p:txBody>
      </p:sp>
      <p:sp>
        <p:nvSpPr>
          <p:cNvPr id="239654" name="Rectangle 38"/>
          <p:cNvSpPr>
            <a:spLocks noChangeArrowheads="1"/>
          </p:cNvSpPr>
          <p:nvPr/>
        </p:nvSpPr>
        <p:spPr bwMode="auto">
          <a:xfrm>
            <a:off x="900113" y="4221163"/>
            <a:ext cx="5381625" cy="457200"/>
          </a:xfrm>
          <a:prstGeom prst="rect">
            <a:avLst/>
          </a:prstGeom>
          <a:noFill/>
          <a:ln w="9525">
            <a:noFill/>
            <a:miter lim="800000"/>
            <a:headEnd/>
            <a:tailEnd/>
          </a:ln>
        </p:spPr>
        <p:txBody>
          <a:bodyPr>
            <a:spAutoFit/>
          </a:bodyPr>
          <a:lstStyle/>
          <a:p>
            <a:r>
              <a:rPr lang="es-ES_tradnl" sz="2400" b="1">
                <a:solidFill>
                  <a:schemeClr val="accent2"/>
                </a:solidFill>
                <a:latin typeface="Calibri" pitchFamily="34" charset="0"/>
                <a:sym typeface="Symbol" pitchFamily="18" charset="2"/>
              </a:rPr>
              <a:t></a:t>
            </a:r>
            <a:r>
              <a:rPr lang="es-ES" sz="1500">
                <a:latin typeface="Calibri" pitchFamily="34" charset="0"/>
              </a:rPr>
              <a:t>    Título, Año, Duración   (Película)</a:t>
            </a:r>
          </a:p>
        </p:txBody>
      </p:sp>
      <p:grpSp>
        <p:nvGrpSpPr>
          <p:cNvPr id="2" name="Group 65"/>
          <p:cNvGrpSpPr>
            <a:grpSpLocks/>
          </p:cNvGrpSpPr>
          <p:nvPr/>
        </p:nvGrpSpPr>
        <p:grpSpPr bwMode="auto">
          <a:xfrm>
            <a:off x="107950" y="4149725"/>
            <a:ext cx="1223963" cy="1584325"/>
            <a:chOff x="68" y="2614"/>
            <a:chExt cx="771" cy="998"/>
          </a:xfrm>
        </p:grpSpPr>
        <p:sp>
          <p:nvSpPr>
            <p:cNvPr id="213062" name="Oval 66"/>
            <p:cNvSpPr>
              <a:spLocks noChangeArrowheads="1"/>
            </p:cNvSpPr>
            <p:nvPr/>
          </p:nvSpPr>
          <p:spPr bwMode="auto">
            <a:xfrm>
              <a:off x="521" y="2614"/>
              <a:ext cx="318" cy="408"/>
            </a:xfrm>
            <a:prstGeom prst="ellipse">
              <a:avLst/>
            </a:prstGeom>
            <a:noFill/>
            <a:ln w="9525">
              <a:solidFill>
                <a:schemeClr val="tx1"/>
              </a:solidFill>
              <a:round/>
              <a:headEnd/>
              <a:tailEnd/>
            </a:ln>
          </p:spPr>
          <p:txBody>
            <a:bodyPr wrap="none" anchor="ctr"/>
            <a:lstStyle/>
            <a:p>
              <a:endParaRPr lang="es-ES"/>
            </a:p>
          </p:txBody>
        </p:sp>
        <p:sp>
          <p:nvSpPr>
            <p:cNvPr id="213063" name="Freeform 67"/>
            <p:cNvSpPr>
              <a:spLocks/>
            </p:cNvSpPr>
            <p:nvPr/>
          </p:nvSpPr>
          <p:spPr bwMode="auto">
            <a:xfrm rot="1813670">
              <a:off x="506" y="2902"/>
              <a:ext cx="184" cy="412"/>
            </a:xfrm>
            <a:custGeom>
              <a:avLst/>
              <a:gdLst>
                <a:gd name="T0" fmla="*/ 8 w 309"/>
                <a:gd name="T1" fmla="*/ 0 h 648"/>
                <a:gd name="T2" fmla="*/ 3 w 309"/>
                <a:gd name="T3" fmla="*/ 151 h 648"/>
                <a:gd name="T4" fmla="*/ 76 w 309"/>
                <a:gd name="T5" fmla="*/ 131 h 648"/>
                <a:gd name="T6" fmla="*/ 80 w 309"/>
                <a:gd name="T7" fmla="*/ 151 h 648"/>
                <a:gd name="T8" fmla="*/ 84 w 309"/>
                <a:gd name="T9" fmla="*/ 247 h 648"/>
                <a:gd name="T10" fmla="*/ 97 w 309"/>
                <a:gd name="T11" fmla="*/ 252 h 648"/>
                <a:gd name="T12" fmla="*/ 110 w 309"/>
                <a:gd name="T13" fmla="*/ 262 h 648"/>
                <a:gd name="T14" fmla="*/ 0 60000 65536"/>
                <a:gd name="T15" fmla="*/ 0 60000 65536"/>
                <a:gd name="T16" fmla="*/ 0 60000 65536"/>
                <a:gd name="T17" fmla="*/ 0 60000 65536"/>
                <a:gd name="T18" fmla="*/ 0 60000 65536"/>
                <a:gd name="T19" fmla="*/ 0 60000 65536"/>
                <a:gd name="T20" fmla="*/ 0 60000 65536"/>
                <a:gd name="T21" fmla="*/ 0 w 309"/>
                <a:gd name="T22" fmla="*/ 0 h 648"/>
                <a:gd name="T23" fmla="*/ 309 w 309"/>
                <a:gd name="T24" fmla="*/ 648 h 6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9" h="648">
                  <a:moveTo>
                    <a:pt x="21" y="0"/>
                  </a:moveTo>
                  <a:cubicBezTo>
                    <a:pt x="6" y="136"/>
                    <a:pt x="0" y="231"/>
                    <a:pt x="9" y="372"/>
                  </a:cubicBezTo>
                  <a:cubicBezTo>
                    <a:pt x="94" y="287"/>
                    <a:pt x="94" y="294"/>
                    <a:pt x="213" y="324"/>
                  </a:cubicBezTo>
                  <a:cubicBezTo>
                    <a:pt x="217" y="340"/>
                    <a:pt x="224" y="356"/>
                    <a:pt x="225" y="372"/>
                  </a:cubicBezTo>
                  <a:cubicBezTo>
                    <a:pt x="232" y="452"/>
                    <a:pt x="222" y="533"/>
                    <a:pt x="237" y="612"/>
                  </a:cubicBezTo>
                  <a:cubicBezTo>
                    <a:pt x="239" y="624"/>
                    <a:pt x="262" y="618"/>
                    <a:pt x="273" y="624"/>
                  </a:cubicBezTo>
                  <a:cubicBezTo>
                    <a:pt x="286" y="630"/>
                    <a:pt x="309" y="648"/>
                    <a:pt x="309" y="648"/>
                  </a:cubicBezTo>
                </a:path>
              </a:pathLst>
            </a:custGeom>
            <a:noFill/>
            <a:ln w="9525">
              <a:solidFill>
                <a:schemeClr val="tx1"/>
              </a:solidFill>
              <a:round/>
              <a:headEnd type="triangle" w="med" len="med"/>
              <a:tailEnd/>
            </a:ln>
          </p:spPr>
          <p:txBody>
            <a:bodyPr/>
            <a:lstStyle/>
            <a:p>
              <a:endParaRPr lang="es-ES"/>
            </a:p>
          </p:txBody>
        </p:sp>
        <p:sp>
          <p:nvSpPr>
            <p:cNvPr id="213064" name="Text Box 68"/>
            <p:cNvSpPr txBox="1">
              <a:spLocks noChangeArrowheads="1"/>
            </p:cNvSpPr>
            <p:nvPr/>
          </p:nvSpPr>
          <p:spPr bwMode="auto">
            <a:xfrm>
              <a:off x="68" y="3304"/>
              <a:ext cx="693" cy="308"/>
            </a:xfrm>
            <a:prstGeom prst="rect">
              <a:avLst/>
            </a:prstGeom>
            <a:noFill/>
            <a:ln w="9525">
              <a:noFill/>
              <a:miter lim="800000"/>
              <a:headEnd/>
              <a:tailEnd/>
            </a:ln>
          </p:spPr>
          <p:txBody>
            <a:bodyPr>
              <a:spAutoFit/>
            </a:bodyPr>
            <a:lstStyle/>
            <a:p>
              <a:pPr algn="ctr"/>
              <a:r>
                <a:rPr lang="es-ES" sz="1300"/>
                <a:t>Símbolo de Proyectar</a:t>
              </a:r>
            </a:p>
          </p:txBody>
        </p:sp>
      </p:grpSp>
      <p:grpSp>
        <p:nvGrpSpPr>
          <p:cNvPr id="3" name="Group 82"/>
          <p:cNvGrpSpPr>
            <a:grpSpLocks/>
          </p:cNvGrpSpPr>
          <p:nvPr/>
        </p:nvGrpSpPr>
        <p:grpSpPr bwMode="auto">
          <a:xfrm>
            <a:off x="1331913" y="4149725"/>
            <a:ext cx="1668462" cy="2016125"/>
            <a:chOff x="839" y="2614"/>
            <a:chExt cx="1179" cy="1270"/>
          </a:xfrm>
        </p:grpSpPr>
        <p:sp>
          <p:nvSpPr>
            <p:cNvPr id="213059" name="Oval 70"/>
            <p:cNvSpPr>
              <a:spLocks noChangeArrowheads="1"/>
            </p:cNvSpPr>
            <p:nvPr/>
          </p:nvSpPr>
          <p:spPr bwMode="auto">
            <a:xfrm>
              <a:off x="839" y="2614"/>
              <a:ext cx="1179" cy="408"/>
            </a:xfrm>
            <a:prstGeom prst="ellipse">
              <a:avLst/>
            </a:prstGeom>
            <a:noFill/>
            <a:ln w="9525">
              <a:solidFill>
                <a:schemeClr val="tx1"/>
              </a:solidFill>
              <a:round/>
              <a:headEnd/>
              <a:tailEnd/>
            </a:ln>
          </p:spPr>
          <p:txBody>
            <a:bodyPr wrap="none" anchor="ctr"/>
            <a:lstStyle/>
            <a:p>
              <a:endParaRPr lang="es-ES"/>
            </a:p>
          </p:txBody>
        </p:sp>
        <p:sp>
          <p:nvSpPr>
            <p:cNvPr id="213060" name="Freeform 71"/>
            <p:cNvSpPr>
              <a:spLocks/>
            </p:cNvSpPr>
            <p:nvPr/>
          </p:nvSpPr>
          <p:spPr bwMode="auto">
            <a:xfrm rot="2500703">
              <a:off x="884" y="2964"/>
              <a:ext cx="309" cy="648"/>
            </a:xfrm>
            <a:custGeom>
              <a:avLst/>
              <a:gdLst>
                <a:gd name="T0" fmla="*/ 21 w 309"/>
                <a:gd name="T1" fmla="*/ 0 h 648"/>
                <a:gd name="T2" fmla="*/ 9 w 309"/>
                <a:gd name="T3" fmla="*/ 372 h 648"/>
                <a:gd name="T4" fmla="*/ 213 w 309"/>
                <a:gd name="T5" fmla="*/ 324 h 648"/>
                <a:gd name="T6" fmla="*/ 225 w 309"/>
                <a:gd name="T7" fmla="*/ 372 h 648"/>
                <a:gd name="T8" fmla="*/ 237 w 309"/>
                <a:gd name="T9" fmla="*/ 612 h 648"/>
                <a:gd name="T10" fmla="*/ 273 w 309"/>
                <a:gd name="T11" fmla="*/ 624 h 648"/>
                <a:gd name="T12" fmla="*/ 309 w 309"/>
                <a:gd name="T13" fmla="*/ 648 h 648"/>
                <a:gd name="T14" fmla="*/ 0 60000 65536"/>
                <a:gd name="T15" fmla="*/ 0 60000 65536"/>
                <a:gd name="T16" fmla="*/ 0 60000 65536"/>
                <a:gd name="T17" fmla="*/ 0 60000 65536"/>
                <a:gd name="T18" fmla="*/ 0 60000 65536"/>
                <a:gd name="T19" fmla="*/ 0 60000 65536"/>
                <a:gd name="T20" fmla="*/ 0 60000 65536"/>
                <a:gd name="T21" fmla="*/ 0 w 309"/>
                <a:gd name="T22" fmla="*/ 0 h 648"/>
                <a:gd name="T23" fmla="*/ 309 w 309"/>
                <a:gd name="T24" fmla="*/ 648 h 6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9" h="648">
                  <a:moveTo>
                    <a:pt x="21" y="0"/>
                  </a:moveTo>
                  <a:cubicBezTo>
                    <a:pt x="6" y="136"/>
                    <a:pt x="0" y="231"/>
                    <a:pt x="9" y="372"/>
                  </a:cubicBezTo>
                  <a:cubicBezTo>
                    <a:pt x="94" y="287"/>
                    <a:pt x="94" y="294"/>
                    <a:pt x="213" y="324"/>
                  </a:cubicBezTo>
                  <a:cubicBezTo>
                    <a:pt x="217" y="340"/>
                    <a:pt x="224" y="356"/>
                    <a:pt x="225" y="372"/>
                  </a:cubicBezTo>
                  <a:cubicBezTo>
                    <a:pt x="232" y="452"/>
                    <a:pt x="222" y="533"/>
                    <a:pt x="237" y="612"/>
                  </a:cubicBezTo>
                  <a:cubicBezTo>
                    <a:pt x="239" y="624"/>
                    <a:pt x="262" y="618"/>
                    <a:pt x="273" y="624"/>
                  </a:cubicBezTo>
                  <a:cubicBezTo>
                    <a:pt x="286" y="630"/>
                    <a:pt x="309" y="648"/>
                    <a:pt x="309" y="648"/>
                  </a:cubicBezTo>
                </a:path>
              </a:pathLst>
            </a:custGeom>
            <a:noFill/>
            <a:ln w="9525">
              <a:solidFill>
                <a:schemeClr val="tx1"/>
              </a:solidFill>
              <a:round/>
              <a:headEnd type="triangle" w="med" len="med"/>
              <a:tailEnd/>
            </a:ln>
          </p:spPr>
          <p:txBody>
            <a:bodyPr/>
            <a:lstStyle/>
            <a:p>
              <a:endParaRPr lang="es-ES"/>
            </a:p>
          </p:txBody>
        </p:sp>
        <p:sp>
          <p:nvSpPr>
            <p:cNvPr id="213061" name="Text Box 72"/>
            <p:cNvSpPr txBox="1">
              <a:spLocks noChangeArrowheads="1"/>
            </p:cNvSpPr>
            <p:nvPr/>
          </p:nvSpPr>
          <p:spPr bwMode="auto">
            <a:xfrm>
              <a:off x="839" y="3576"/>
              <a:ext cx="693" cy="308"/>
            </a:xfrm>
            <a:prstGeom prst="rect">
              <a:avLst/>
            </a:prstGeom>
            <a:noFill/>
            <a:ln w="9525">
              <a:noFill/>
              <a:miter lim="800000"/>
              <a:headEnd/>
              <a:tailEnd/>
            </a:ln>
          </p:spPr>
          <p:txBody>
            <a:bodyPr>
              <a:spAutoFit/>
            </a:bodyPr>
            <a:lstStyle/>
            <a:p>
              <a:pPr algn="ctr"/>
              <a:r>
                <a:rPr lang="es-ES" sz="1300"/>
                <a:t>Atributos a mostrar</a:t>
              </a:r>
            </a:p>
          </p:txBody>
        </p:sp>
      </p:grpSp>
      <p:grpSp>
        <p:nvGrpSpPr>
          <p:cNvPr id="4" name="Group 77"/>
          <p:cNvGrpSpPr>
            <a:grpSpLocks/>
          </p:cNvGrpSpPr>
          <p:nvPr/>
        </p:nvGrpSpPr>
        <p:grpSpPr bwMode="auto">
          <a:xfrm>
            <a:off x="2928938" y="4149725"/>
            <a:ext cx="2592387" cy="1281113"/>
            <a:chOff x="1882" y="2614"/>
            <a:chExt cx="1633" cy="807"/>
          </a:xfrm>
        </p:grpSpPr>
        <p:sp>
          <p:nvSpPr>
            <p:cNvPr id="213056" name="Oval 78"/>
            <p:cNvSpPr>
              <a:spLocks noChangeArrowheads="1"/>
            </p:cNvSpPr>
            <p:nvPr/>
          </p:nvSpPr>
          <p:spPr bwMode="auto">
            <a:xfrm>
              <a:off x="1882" y="2614"/>
              <a:ext cx="635" cy="408"/>
            </a:xfrm>
            <a:prstGeom prst="ellipse">
              <a:avLst/>
            </a:prstGeom>
            <a:noFill/>
            <a:ln w="9525">
              <a:solidFill>
                <a:schemeClr val="tx1"/>
              </a:solidFill>
              <a:round/>
              <a:headEnd/>
              <a:tailEnd/>
            </a:ln>
          </p:spPr>
          <p:txBody>
            <a:bodyPr wrap="none" anchor="ctr"/>
            <a:lstStyle/>
            <a:p>
              <a:endParaRPr lang="es-ES"/>
            </a:p>
          </p:txBody>
        </p:sp>
        <p:sp>
          <p:nvSpPr>
            <p:cNvPr id="213057" name="Freeform 79"/>
            <p:cNvSpPr>
              <a:spLocks/>
            </p:cNvSpPr>
            <p:nvPr/>
          </p:nvSpPr>
          <p:spPr bwMode="auto">
            <a:xfrm rot="-2216402">
              <a:off x="2435" y="2773"/>
              <a:ext cx="309" cy="648"/>
            </a:xfrm>
            <a:custGeom>
              <a:avLst/>
              <a:gdLst>
                <a:gd name="T0" fmla="*/ 21 w 309"/>
                <a:gd name="T1" fmla="*/ 0 h 648"/>
                <a:gd name="T2" fmla="*/ 9 w 309"/>
                <a:gd name="T3" fmla="*/ 372 h 648"/>
                <a:gd name="T4" fmla="*/ 213 w 309"/>
                <a:gd name="T5" fmla="*/ 324 h 648"/>
                <a:gd name="T6" fmla="*/ 225 w 309"/>
                <a:gd name="T7" fmla="*/ 372 h 648"/>
                <a:gd name="T8" fmla="*/ 237 w 309"/>
                <a:gd name="T9" fmla="*/ 612 h 648"/>
                <a:gd name="T10" fmla="*/ 273 w 309"/>
                <a:gd name="T11" fmla="*/ 624 h 648"/>
                <a:gd name="T12" fmla="*/ 309 w 309"/>
                <a:gd name="T13" fmla="*/ 648 h 648"/>
                <a:gd name="T14" fmla="*/ 0 60000 65536"/>
                <a:gd name="T15" fmla="*/ 0 60000 65536"/>
                <a:gd name="T16" fmla="*/ 0 60000 65536"/>
                <a:gd name="T17" fmla="*/ 0 60000 65536"/>
                <a:gd name="T18" fmla="*/ 0 60000 65536"/>
                <a:gd name="T19" fmla="*/ 0 60000 65536"/>
                <a:gd name="T20" fmla="*/ 0 60000 65536"/>
                <a:gd name="T21" fmla="*/ 0 w 309"/>
                <a:gd name="T22" fmla="*/ 0 h 648"/>
                <a:gd name="T23" fmla="*/ 309 w 309"/>
                <a:gd name="T24" fmla="*/ 648 h 6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9" h="648">
                  <a:moveTo>
                    <a:pt x="21" y="0"/>
                  </a:moveTo>
                  <a:cubicBezTo>
                    <a:pt x="6" y="136"/>
                    <a:pt x="0" y="231"/>
                    <a:pt x="9" y="372"/>
                  </a:cubicBezTo>
                  <a:cubicBezTo>
                    <a:pt x="94" y="287"/>
                    <a:pt x="94" y="294"/>
                    <a:pt x="213" y="324"/>
                  </a:cubicBezTo>
                  <a:cubicBezTo>
                    <a:pt x="217" y="340"/>
                    <a:pt x="224" y="356"/>
                    <a:pt x="225" y="372"/>
                  </a:cubicBezTo>
                  <a:cubicBezTo>
                    <a:pt x="232" y="452"/>
                    <a:pt x="222" y="533"/>
                    <a:pt x="237" y="612"/>
                  </a:cubicBezTo>
                  <a:cubicBezTo>
                    <a:pt x="239" y="624"/>
                    <a:pt x="262" y="618"/>
                    <a:pt x="273" y="624"/>
                  </a:cubicBezTo>
                  <a:cubicBezTo>
                    <a:pt x="286" y="630"/>
                    <a:pt x="309" y="648"/>
                    <a:pt x="309" y="648"/>
                  </a:cubicBezTo>
                </a:path>
              </a:pathLst>
            </a:custGeom>
            <a:noFill/>
            <a:ln w="9525">
              <a:solidFill>
                <a:schemeClr val="tx1"/>
              </a:solidFill>
              <a:round/>
              <a:headEnd type="triangle" w="med" len="med"/>
              <a:tailEnd/>
            </a:ln>
          </p:spPr>
          <p:txBody>
            <a:bodyPr/>
            <a:lstStyle/>
            <a:p>
              <a:endParaRPr lang="es-ES"/>
            </a:p>
          </p:txBody>
        </p:sp>
        <p:sp>
          <p:nvSpPr>
            <p:cNvPr id="213058" name="Text Box 80"/>
            <p:cNvSpPr txBox="1">
              <a:spLocks noChangeArrowheads="1"/>
            </p:cNvSpPr>
            <p:nvPr/>
          </p:nvSpPr>
          <p:spPr bwMode="auto">
            <a:xfrm>
              <a:off x="2822" y="3113"/>
              <a:ext cx="693" cy="308"/>
            </a:xfrm>
            <a:prstGeom prst="rect">
              <a:avLst/>
            </a:prstGeom>
            <a:noFill/>
            <a:ln w="9525">
              <a:noFill/>
              <a:miter lim="800000"/>
              <a:headEnd/>
              <a:tailEnd/>
            </a:ln>
          </p:spPr>
          <p:txBody>
            <a:bodyPr>
              <a:spAutoFit/>
            </a:bodyPr>
            <a:lstStyle/>
            <a:p>
              <a:pPr algn="ctr"/>
              <a:r>
                <a:rPr lang="es-ES" sz="1300"/>
                <a:t>Nombre de la Relación</a:t>
              </a:r>
            </a:p>
          </p:txBody>
        </p:sp>
      </p:grpSp>
      <p:graphicFrame>
        <p:nvGraphicFramePr>
          <p:cNvPr id="239731" name="Group 115"/>
          <p:cNvGraphicFramePr>
            <a:graphicFrameLocks noGrp="1"/>
          </p:cNvGraphicFramePr>
          <p:nvPr/>
        </p:nvGraphicFramePr>
        <p:xfrm>
          <a:off x="5673725" y="5392738"/>
          <a:ext cx="3362325"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Año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Duración</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124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104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95</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13055" name="1 Rectángulo"/>
          <p:cNvSpPr>
            <a:spLocks noChangeArrowheads="1"/>
          </p:cNvSpPr>
          <p:nvPr/>
        </p:nvSpPr>
        <p:spPr bwMode="auto">
          <a:xfrm>
            <a:off x="34925" y="1042988"/>
            <a:ext cx="7561263" cy="549275"/>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Proyectar </a:t>
            </a:r>
            <a:r>
              <a:rPr lang="es-ES_tradnl" sz="3000" b="1">
                <a:solidFill>
                  <a:schemeClr val="accent2"/>
                </a:solidFill>
                <a:sym typeface="Symbol" pitchFamily="18" charset="2"/>
              </a:rPr>
              <a:t> </a:t>
            </a:r>
            <a:r>
              <a:rPr lang="es-ES_tradnl" sz="2000" b="1">
                <a:sym typeface="Symbol" pitchFamily="18" charset="2"/>
              </a:rPr>
              <a:t>(pi)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9654"/>
                                        </p:tgtEl>
                                        <p:attrNameLst>
                                          <p:attrName>style.visibility</p:attrName>
                                        </p:attrNameLst>
                                      </p:cBhvr>
                                      <p:to>
                                        <p:strVal val="visible"/>
                                      </p:to>
                                    </p:set>
                                    <p:animEffect transition="in" filter="fade">
                                      <p:cBhvr>
                                        <p:cTn id="7" dur="500"/>
                                        <p:tgtEl>
                                          <p:spTgt spid="23965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9731"/>
                                        </p:tgtEl>
                                        <p:attrNameLst>
                                          <p:attrName>style.visibility</p:attrName>
                                        </p:attrNameLst>
                                      </p:cBhvr>
                                      <p:to>
                                        <p:strVal val="visible"/>
                                      </p:to>
                                    </p:set>
                                    <p:animEffect transition="in" filter="fade">
                                      <p:cBhvr>
                                        <p:cTn id="27" dur="500"/>
                                        <p:tgtEl>
                                          <p:spTgt spid="239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54" grpId="0"/>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graphicFrame>
        <p:nvGraphicFramePr>
          <p:cNvPr id="241667" name="Group 3"/>
          <p:cNvGraphicFramePr>
            <a:graphicFrameLocks noGrp="1"/>
          </p:cNvGraphicFramePr>
          <p:nvPr/>
        </p:nvGraphicFramePr>
        <p:xfrm>
          <a:off x="1989138" y="2155825"/>
          <a:ext cx="5319712"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gridCol w="677862">
                  <a:extLst>
                    <a:ext uri="{9D8B030D-6E8A-4147-A177-3AD203B41FA5}">
                      <a16:colId xmlns:a16="http://schemas.microsoft.com/office/drawing/2014/main" val="20003"/>
                    </a:ext>
                  </a:extLst>
                </a:gridCol>
                <a:gridCol w="1279525">
                  <a:extLst>
                    <a:ext uri="{9D8B030D-6E8A-4147-A177-3AD203B41FA5}">
                      <a16:colId xmlns:a16="http://schemas.microsoft.com/office/drawing/2014/main" val="20004"/>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Año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Duración</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Tipo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Estudio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124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104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95</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Paramount</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14051" name="Rectangle 35"/>
          <p:cNvSpPr>
            <a:spLocks noChangeArrowheads="1"/>
          </p:cNvSpPr>
          <p:nvPr/>
        </p:nvSpPr>
        <p:spPr bwMode="auto">
          <a:xfrm>
            <a:off x="4121150" y="1700213"/>
            <a:ext cx="1074738" cy="366712"/>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Pel</a:t>
            </a:r>
            <a:r>
              <a:rPr lang="es-ES" b="1">
                <a:cs typeface="Tahoma" pitchFamily="34" charset="0"/>
              </a:rPr>
              <a:t>í</a:t>
            </a:r>
            <a:r>
              <a:rPr lang="es-ES" b="1">
                <a:latin typeface="Tahoma" pitchFamily="34" charset="0"/>
                <a:cs typeface="Tahoma" pitchFamily="34" charset="0"/>
              </a:rPr>
              <a:t>cula</a:t>
            </a:r>
            <a:endParaRPr lang="es-ES" b="1"/>
          </a:p>
        </p:txBody>
      </p:sp>
      <p:sp>
        <p:nvSpPr>
          <p:cNvPr id="214052" name="Rectangle 36"/>
          <p:cNvSpPr>
            <a:spLocks noChangeArrowheads="1"/>
          </p:cNvSpPr>
          <p:nvPr/>
        </p:nvSpPr>
        <p:spPr bwMode="auto">
          <a:xfrm>
            <a:off x="323850" y="3732213"/>
            <a:ext cx="3922713" cy="320675"/>
          </a:xfrm>
          <a:prstGeom prst="rect">
            <a:avLst/>
          </a:prstGeom>
          <a:noFill/>
          <a:ln w="9525">
            <a:noFill/>
            <a:miter lim="800000"/>
            <a:headEnd/>
            <a:tailEnd/>
          </a:ln>
        </p:spPr>
        <p:txBody>
          <a:bodyPr wrap="none" anchor="ctr">
            <a:spAutoFit/>
          </a:bodyPr>
          <a:lstStyle/>
          <a:p>
            <a:pPr eaLnBrk="0" hangingPunct="0"/>
            <a:r>
              <a:rPr lang="es-ES" sz="1500" b="1">
                <a:solidFill>
                  <a:schemeClr val="accent2"/>
                </a:solidFill>
                <a:latin typeface="Calibri" pitchFamily="34" charset="0"/>
              </a:rPr>
              <a:t>Ejemplo 2:</a:t>
            </a:r>
            <a:r>
              <a:rPr lang="es-ES" sz="1500">
                <a:latin typeface="Calibri" pitchFamily="34" charset="0"/>
              </a:rPr>
              <a:t> Mostrar Estudio de las Películas</a:t>
            </a:r>
          </a:p>
        </p:txBody>
      </p:sp>
      <p:sp>
        <p:nvSpPr>
          <p:cNvPr id="241701" name="Rectangle 37"/>
          <p:cNvSpPr>
            <a:spLocks noChangeArrowheads="1"/>
          </p:cNvSpPr>
          <p:nvPr/>
        </p:nvSpPr>
        <p:spPr bwMode="auto">
          <a:xfrm>
            <a:off x="900113" y="4221163"/>
            <a:ext cx="5381625" cy="457200"/>
          </a:xfrm>
          <a:prstGeom prst="rect">
            <a:avLst/>
          </a:prstGeom>
          <a:noFill/>
          <a:ln w="9525">
            <a:noFill/>
            <a:miter lim="800000"/>
            <a:headEnd/>
            <a:tailEnd/>
          </a:ln>
        </p:spPr>
        <p:txBody>
          <a:bodyPr>
            <a:spAutoFit/>
          </a:bodyPr>
          <a:lstStyle/>
          <a:p>
            <a:r>
              <a:rPr lang="es-ES_tradnl" sz="2400" b="1">
                <a:solidFill>
                  <a:schemeClr val="accent2"/>
                </a:solidFill>
                <a:latin typeface="Calibri" pitchFamily="34" charset="0"/>
                <a:sym typeface="Symbol" pitchFamily="18" charset="2"/>
              </a:rPr>
              <a:t></a:t>
            </a:r>
            <a:r>
              <a:rPr lang="es-ES" sz="1500">
                <a:latin typeface="Calibri" pitchFamily="34" charset="0"/>
              </a:rPr>
              <a:t>    Estudio   (Película)</a:t>
            </a:r>
          </a:p>
        </p:txBody>
      </p:sp>
      <p:graphicFrame>
        <p:nvGraphicFramePr>
          <p:cNvPr id="241769" name="Group 105"/>
          <p:cNvGraphicFramePr>
            <a:graphicFrameLocks noGrp="1"/>
          </p:cNvGraphicFramePr>
          <p:nvPr/>
        </p:nvGraphicFramePr>
        <p:xfrm>
          <a:off x="4084638" y="4889500"/>
          <a:ext cx="1279525" cy="1280160"/>
        </p:xfrm>
        <a:graphic>
          <a:graphicData uri="http://schemas.openxmlformats.org/drawingml/2006/table">
            <a:tbl>
              <a:tblPr/>
              <a:tblGrid>
                <a:gridCol w="1279525">
                  <a:extLst>
                    <a:ext uri="{9D8B030D-6E8A-4147-A177-3AD203B41FA5}">
                      <a16:colId xmlns:a16="http://schemas.microsoft.com/office/drawing/2014/main" val="20000"/>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Estudio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Paramount</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14066" name="1 Rectángulo"/>
          <p:cNvSpPr>
            <a:spLocks noChangeArrowheads="1"/>
          </p:cNvSpPr>
          <p:nvPr/>
        </p:nvSpPr>
        <p:spPr bwMode="auto">
          <a:xfrm>
            <a:off x="34925" y="1042988"/>
            <a:ext cx="7561263" cy="549275"/>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Proyectar </a:t>
            </a:r>
            <a:r>
              <a:rPr lang="es-ES_tradnl" sz="3000" b="1">
                <a:solidFill>
                  <a:schemeClr val="accent2"/>
                </a:solidFill>
                <a:sym typeface="Symbol" pitchFamily="18" charset="2"/>
              </a:rPr>
              <a:t> </a:t>
            </a:r>
            <a:r>
              <a:rPr lang="es-ES_tradnl" sz="2000" b="1">
                <a:sym typeface="Symbol" pitchFamily="18" charset="2"/>
              </a:rPr>
              <a:t>(pi)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1701"/>
                                        </p:tgtEl>
                                        <p:attrNameLst>
                                          <p:attrName>style.visibility</p:attrName>
                                        </p:attrNameLst>
                                      </p:cBhvr>
                                      <p:to>
                                        <p:strVal val="visible"/>
                                      </p:to>
                                    </p:set>
                                    <p:animEffect transition="in" filter="fade">
                                      <p:cBhvr>
                                        <p:cTn id="7" dur="500"/>
                                        <p:tgtEl>
                                          <p:spTgt spid="2417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1769"/>
                                        </p:tgtEl>
                                        <p:attrNameLst>
                                          <p:attrName>style.visibility</p:attrName>
                                        </p:attrNameLst>
                                      </p:cBhvr>
                                      <p:to>
                                        <p:strVal val="visible"/>
                                      </p:to>
                                    </p:set>
                                    <p:animEffect transition="in" filter="fade">
                                      <p:cBhvr>
                                        <p:cTn id="12" dur="500"/>
                                        <p:tgtEl>
                                          <p:spTgt spid="2417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701" grpId="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graphicFrame>
        <p:nvGraphicFramePr>
          <p:cNvPr id="243715" name="Group 3"/>
          <p:cNvGraphicFramePr>
            <a:graphicFrameLocks noGrp="1"/>
          </p:cNvGraphicFramePr>
          <p:nvPr/>
        </p:nvGraphicFramePr>
        <p:xfrm>
          <a:off x="1989138" y="2155825"/>
          <a:ext cx="5319712"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gridCol w="677862">
                  <a:extLst>
                    <a:ext uri="{9D8B030D-6E8A-4147-A177-3AD203B41FA5}">
                      <a16:colId xmlns:a16="http://schemas.microsoft.com/office/drawing/2014/main" val="20003"/>
                    </a:ext>
                  </a:extLst>
                </a:gridCol>
                <a:gridCol w="1279525">
                  <a:extLst>
                    <a:ext uri="{9D8B030D-6E8A-4147-A177-3AD203B41FA5}">
                      <a16:colId xmlns:a16="http://schemas.microsoft.com/office/drawing/2014/main" val="20004"/>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Año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Duración</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Tipo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Estudio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124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104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95</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Paramount</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15075" name="Rectangle 35"/>
          <p:cNvSpPr>
            <a:spLocks noChangeArrowheads="1"/>
          </p:cNvSpPr>
          <p:nvPr/>
        </p:nvSpPr>
        <p:spPr bwMode="auto">
          <a:xfrm>
            <a:off x="4121150" y="1700213"/>
            <a:ext cx="1074738" cy="366712"/>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Pel</a:t>
            </a:r>
            <a:r>
              <a:rPr lang="es-ES" b="1">
                <a:cs typeface="Tahoma" pitchFamily="34" charset="0"/>
              </a:rPr>
              <a:t>í</a:t>
            </a:r>
            <a:r>
              <a:rPr lang="es-ES" b="1">
                <a:latin typeface="Tahoma" pitchFamily="34" charset="0"/>
                <a:cs typeface="Tahoma" pitchFamily="34" charset="0"/>
              </a:rPr>
              <a:t>cula</a:t>
            </a:r>
            <a:endParaRPr lang="es-ES" b="1"/>
          </a:p>
        </p:txBody>
      </p:sp>
      <p:sp>
        <p:nvSpPr>
          <p:cNvPr id="215076" name="Rectangle 36"/>
          <p:cNvSpPr>
            <a:spLocks noChangeArrowheads="1"/>
          </p:cNvSpPr>
          <p:nvPr/>
        </p:nvSpPr>
        <p:spPr bwMode="auto">
          <a:xfrm>
            <a:off x="323850" y="3732213"/>
            <a:ext cx="5468938" cy="320675"/>
          </a:xfrm>
          <a:prstGeom prst="rect">
            <a:avLst/>
          </a:prstGeom>
          <a:noFill/>
          <a:ln w="9525">
            <a:noFill/>
            <a:miter lim="800000"/>
            <a:headEnd/>
            <a:tailEnd/>
          </a:ln>
        </p:spPr>
        <p:txBody>
          <a:bodyPr wrap="none" anchor="ctr">
            <a:spAutoFit/>
          </a:bodyPr>
          <a:lstStyle/>
          <a:p>
            <a:pPr eaLnBrk="0" hangingPunct="0"/>
            <a:r>
              <a:rPr lang="es-ES" sz="1500" b="1">
                <a:solidFill>
                  <a:schemeClr val="accent2"/>
                </a:solidFill>
                <a:latin typeface="Calibri" pitchFamily="34" charset="0"/>
              </a:rPr>
              <a:t>Ejemplo 3:</a:t>
            </a:r>
            <a:r>
              <a:rPr lang="es-ES" sz="1500">
                <a:latin typeface="Calibri" pitchFamily="34" charset="0"/>
              </a:rPr>
              <a:t> Mostrar Título, Duración y Estudio de las Películas</a:t>
            </a:r>
          </a:p>
        </p:txBody>
      </p:sp>
      <p:sp>
        <p:nvSpPr>
          <p:cNvPr id="243749" name="Rectangle 37"/>
          <p:cNvSpPr>
            <a:spLocks noChangeArrowheads="1"/>
          </p:cNvSpPr>
          <p:nvPr/>
        </p:nvSpPr>
        <p:spPr bwMode="auto">
          <a:xfrm>
            <a:off x="900113" y="4221163"/>
            <a:ext cx="5381625" cy="457200"/>
          </a:xfrm>
          <a:prstGeom prst="rect">
            <a:avLst/>
          </a:prstGeom>
          <a:noFill/>
          <a:ln w="9525">
            <a:noFill/>
            <a:miter lim="800000"/>
            <a:headEnd/>
            <a:tailEnd/>
          </a:ln>
        </p:spPr>
        <p:txBody>
          <a:bodyPr>
            <a:spAutoFit/>
          </a:bodyPr>
          <a:lstStyle/>
          <a:p>
            <a:r>
              <a:rPr lang="es-ES_tradnl" sz="2400" b="1">
                <a:solidFill>
                  <a:schemeClr val="accent2"/>
                </a:solidFill>
                <a:latin typeface="Calibri" pitchFamily="34" charset="0"/>
                <a:sym typeface="Symbol" pitchFamily="18" charset="2"/>
              </a:rPr>
              <a:t></a:t>
            </a:r>
            <a:r>
              <a:rPr lang="es-ES" sz="1500">
                <a:latin typeface="Calibri" pitchFamily="34" charset="0"/>
              </a:rPr>
              <a:t>    Título, Duración, Estudio   (Película)</a:t>
            </a:r>
          </a:p>
        </p:txBody>
      </p:sp>
      <p:graphicFrame>
        <p:nvGraphicFramePr>
          <p:cNvPr id="243796" name="Group 84"/>
          <p:cNvGraphicFramePr>
            <a:graphicFrameLocks noGrp="1"/>
          </p:cNvGraphicFramePr>
          <p:nvPr/>
        </p:nvGraphicFramePr>
        <p:xfrm>
          <a:off x="2627313" y="4889500"/>
          <a:ext cx="3956050"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1212850">
                  <a:extLst>
                    <a:ext uri="{9D8B030D-6E8A-4147-A177-3AD203B41FA5}">
                      <a16:colId xmlns:a16="http://schemas.microsoft.com/office/drawing/2014/main" val="20001"/>
                    </a:ext>
                  </a:extLst>
                </a:gridCol>
                <a:gridCol w="1279525">
                  <a:extLst>
                    <a:ext uri="{9D8B030D-6E8A-4147-A177-3AD203B41FA5}">
                      <a16:colId xmlns:a16="http://schemas.microsoft.com/office/drawing/2014/main" val="20002"/>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Duración</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Estudio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124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104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95</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Paramount</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15100" name="1 Rectángulo"/>
          <p:cNvSpPr>
            <a:spLocks noChangeArrowheads="1"/>
          </p:cNvSpPr>
          <p:nvPr/>
        </p:nvSpPr>
        <p:spPr bwMode="auto">
          <a:xfrm>
            <a:off x="34925" y="1042988"/>
            <a:ext cx="7561263" cy="549275"/>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Proyectar </a:t>
            </a:r>
            <a:r>
              <a:rPr lang="es-ES_tradnl" sz="3000" b="1">
                <a:solidFill>
                  <a:schemeClr val="accent2"/>
                </a:solidFill>
                <a:sym typeface="Symbol" pitchFamily="18" charset="2"/>
              </a:rPr>
              <a:t> </a:t>
            </a:r>
            <a:r>
              <a:rPr lang="es-ES_tradnl" sz="2000" b="1">
                <a:sym typeface="Symbol" pitchFamily="18" charset="2"/>
              </a:rPr>
              <a:t>(pi)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3749"/>
                                        </p:tgtEl>
                                        <p:attrNameLst>
                                          <p:attrName>style.visibility</p:attrName>
                                        </p:attrNameLst>
                                      </p:cBhvr>
                                      <p:to>
                                        <p:strVal val="visible"/>
                                      </p:to>
                                    </p:set>
                                    <p:animEffect transition="in" filter="fade">
                                      <p:cBhvr>
                                        <p:cTn id="7" dur="500"/>
                                        <p:tgtEl>
                                          <p:spTgt spid="2437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3796"/>
                                        </p:tgtEl>
                                        <p:attrNameLst>
                                          <p:attrName>style.visibility</p:attrName>
                                        </p:attrNameLst>
                                      </p:cBhvr>
                                      <p:to>
                                        <p:strVal val="visible"/>
                                      </p:to>
                                    </p:set>
                                    <p:animEffect transition="in" filter="fade">
                                      <p:cBhvr>
                                        <p:cTn id="12" dur="500"/>
                                        <p:tgtEl>
                                          <p:spTgt spid="243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49" grpId="0"/>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1 Rectángulo"/>
          <p:cNvSpPr>
            <a:spLocks noChangeArrowheads="1"/>
          </p:cNvSpPr>
          <p:nvPr/>
        </p:nvSpPr>
        <p:spPr bwMode="auto">
          <a:xfrm>
            <a:off x="34925" y="1042988"/>
            <a:ext cx="9074150" cy="549275"/>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Renombrar </a:t>
            </a:r>
            <a:r>
              <a:rPr lang="es-ES_tradnl" sz="3000" b="1">
                <a:solidFill>
                  <a:schemeClr val="accent2"/>
                </a:solidFill>
                <a:sym typeface="Symbol" pitchFamily="18" charset="2"/>
              </a:rPr>
              <a:t> </a:t>
            </a:r>
            <a:r>
              <a:rPr lang="es-ES_tradnl" sz="2000" b="1">
                <a:sym typeface="Symbol" pitchFamily="18" charset="2"/>
              </a:rPr>
              <a:t>(ro)</a:t>
            </a:r>
          </a:p>
        </p:txBody>
      </p:sp>
      <p:sp>
        <p:nvSpPr>
          <p:cNvPr id="216067"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16068" name="Rectangle 4"/>
          <p:cNvSpPr>
            <a:spLocks noChangeArrowheads="1"/>
          </p:cNvSpPr>
          <p:nvPr/>
        </p:nvSpPr>
        <p:spPr bwMode="auto">
          <a:xfrm>
            <a:off x="1660525" y="1844675"/>
            <a:ext cx="6799263" cy="4660900"/>
          </a:xfrm>
          <a:prstGeom prst="rect">
            <a:avLst/>
          </a:prstGeom>
          <a:noFill/>
          <a:ln w="9525" algn="ctr">
            <a:noFill/>
            <a:miter lim="800000"/>
            <a:headEnd/>
            <a:tailEnd/>
          </a:ln>
        </p:spPr>
        <p:txBody>
          <a:bodyPr>
            <a:spAutoFit/>
          </a:bodyPr>
          <a:lstStyle/>
          <a:p>
            <a:pPr marL="342900" indent="-342900" algn="just">
              <a:buFont typeface="Lucida Sans Unicode" pitchFamily="34" charset="0"/>
              <a:buNone/>
            </a:pPr>
            <a:r>
              <a:rPr lang="es-ES" sz="2000"/>
              <a:t>	Renombrar ya sea atributos o relaciones, facilita su interacción y comprensión. </a:t>
            </a:r>
          </a:p>
          <a:p>
            <a:pPr marL="342900" indent="-342900" algn="just">
              <a:buFont typeface="Lucida Sans Unicode" pitchFamily="34" charset="0"/>
              <a:buNone/>
            </a:pPr>
            <a:r>
              <a:rPr lang="es-ES" sz="2000"/>
              <a:t>	</a:t>
            </a:r>
          </a:p>
          <a:p>
            <a:pPr marL="342900" indent="-342900" algn="just">
              <a:buFont typeface="Lucida Sans Unicode" pitchFamily="34" charset="0"/>
              <a:buNone/>
            </a:pPr>
            <a:endParaRPr lang="es-ES" sz="2000"/>
          </a:p>
          <a:p>
            <a:pPr marL="342900" indent="-342900" algn="just">
              <a:buFont typeface="Lucida Sans Unicode" pitchFamily="34" charset="0"/>
              <a:buNone/>
            </a:pPr>
            <a:r>
              <a:rPr lang="es-ES" sz="2000" b="1"/>
              <a:t>Sintaxis</a:t>
            </a:r>
          </a:p>
          <a:p>
            <a:pPr marL="342900" indent="-342900" algn="just">
              <a:buFont typeface="Lucida Sans Unicode" pitchFamily="34" charset="0"/>
              <a:buNone/>
            </a:pPr>
            <a:endParaRPr lang="es-ES" sz="2000"/>
          </a:p>
          <a:p>
            <a:pPr marL="342900" indent="-342900" algn="just">
              <a:buFont typeface="Lucida Sans Unicode" pitchFamily="34" charset="0"/>
              <a:buNone/>
            </a:pPr>
            <a:r>
              <a:rPr lang="es-ES" sz="2000"/>
              <a:t>Renombrar Relaciones     </a:t>
            </a:r>
          </a:p>
          <a:p>
            <a:pPr marL="342900" indent="-342900" algn="just">
              <a:buFont typeface="Lucida Sans Unicode" pitchFamily="34" charset="0"/>
              <a:buNone/>
            </a:pPr>
            <a:r>
              <a:rPr lang="es-ES" sz="2000"/>
              <a:t>		</a:t>
            </a:r>
            <a:r>
              <a:rPr lang="es-ES_tradnl" sz="2400" b="1">
                <a:solidFill>
                  <a:schemeClr val="accent2"/>
                </a:solidFill>
                <a:sym typeface="Symbol" pitchFamily="18" charset="2"/>
              </a:rPr>
              <a:t></a:t>
            </a:r>
            <a:r>
              <a:rPr lang="es-ES" sz="2400"/>
              <a:t> </a:t>
            </a:r>
            <a:r>
              <a:rPr lang="es-ES" sz="2000"/>
              <a:t>s (R)</a:t>
            </a:r>
          </a:p>
          <a:p>
            <a:pPr marL="342900" indent="-342900" algn="just">
              <a:buFont typeface="Lucida Sans Unicode" pitchFamily="34" charset="0"/>
              <a:buNone/>
            </a:pPr>
            <a:endParaRPr lang="es-ES" sz="2000"/>
          </a:p>
          <a:p>
            <a:pPr marL="342900" indent="-342900" algn="just">
              <a:buFont typeface="Lucida Sans Unicode" pitchFamily="34" charset="0"/>
              <a:buNone/>
            </a:pPr>
            <a:r>
              <a:rPr lang="es-ES" sz="2000"/>
              <a:t>Renombrar Atributos suponiendo </a:t>
            </a:r>
            <a:r>
              <a:rPr lang="es-ES"/>
              <a:t>R (A, B, C) </a:t>
            </a:r>
            <a:endParaRPr lang="es-ES" sz="2000"/>
          </a:p>
          <a:p>
            <a:pPr marL="342900" indent="-342900" algn="just">
              <a:buFont typeface="Lucida Sans Unicode" pitchFamily="34" charset="0"/>
              <a:buNone/>
            </a:pPr>
            <a:r>
              <a:rPr lang="es-ES"/>
              <a:t>		</a:t>
            </a:r>
            <a:r>
              <a:rPr lang="es-ES_tradnl" sz="2400" b="1">
                <a:solidFill>
                  <a:schemeClr val="accent2"/>
                </a:solidFill>
                <a:sym typeface="Symbol" pitchFamily="18" charset="2"/>
              </a:rPr>
              <a:t></a:t>
            </a:r>
            <a:r>
              <a:rPr lang="es-ES"/>
              <a:t> R (A, X, C) (R)</a:t>
            </a:r>
          </a:p>
          <a:p>
            <a:pPr marL="342900" indent="-342900" algn="just">
              <a:buFont typeface="Lucida Sans Unicode" pitchFamily="34" charset="0"/>
              <a:buNone/>
            </a:pPr>
            <a:r>
              <a:rPr lang="es-ES"/>
              <a:t>		</a:t>
            </a:r>
            <a:r>
              <a:rPr lang="es-ES_tradnl" sz="2400" b="1">
                <a:solidFill>
                  <a:schemeClr val="accent2"/>
                </a:solidFill>
                <a:sym typeface="Symbol" pitchFamily="18" charset="2"/>
              </a:rPr>
              <a:t></a:t>
            </a:r>
            <a:r>
              <a:rPr lang="es-ES"/>
              <a:t> S (A, X, C) (R)</a:t>
            </a:r>
          </a:p>
          <a:p>
            <a:pPr marL="342900" indent="-342900" algn="just">
              <a:buFont typeface="Lucida Sans Unicode" pitchFamily="34" charset="0"/>
              <a:buNone/>
            </a:pPr>
            <a:r>
              <a:rPr lang="es-ES"/>
              <a:t>		</a:t>
            </a:r>
            <a:r>
              <a:rPr lang="es-ES_tradnl" sz="2400" b="1">
                <a:solidFill>
                  <a:schemeClr val="accent2"/>
                </a:solidFill>
                <a:sym typeface="Symbol" pitchFamily="18" charset="2"/>
              </a:rPr>
              <a:t></a:t>
            </a:r>
            <a:r>
              <a:rPr lang="es-ES"/>
              <a:t> A, B as X, C (R)</a:t>
            </a:r>
          </a:p>
          <a:p>
            <a:pPr marL="342900" indent="-342900" algn="just">
              <a:buFont typeface="Lucida Sans Unicode" pitchFamily="34" charset="0"/>
              <a:buNone/>
            </a:pPr>
            <a:r>
              <a:rPr lang="es-ES"/>
              <a:t>		</a:t>
            </a:r>
            <a:r>
              <a:rPr lang="es-ES_tradnl" sz="2400" b="1">
                <a:solidFill>
                  <a:schemeClr val="accent2"/>
                </a:solidFill>
                <a:sym typeface="Symbol" pitchFamily="18" charset="2"/>
              </a:rPr>
              <a:t> </a:t>
            </a:r>
            <a:r>
              <a:rPr lang="es-ES"/>
              <a:t>B as X (R)</a:t>
            </a:r>
            <a:endParaRPr lang="es-ES" sz="200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graphicFrame>
        <p:nvGraphicFramePr>
          <p:cNvPr id="247811" name="Group 3"/>
          <p:cNvGraphicFramePr>
            <a:graphicFrameLocks noGrp="1"/>
          </p:cNvGraphicFramePr>
          <p:nvPr/>
        </p:nvGraphicFramePr>
        <p:xfrm>
          <a:off x="1989138" y="2012950"/>
          <a:ext cx="5319712"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gridCol w="677862">
                  <a:extLst>
                    <a:ext uri="{9D8B030D-6E8A-4147-A177-3AD203B41FA5}">
                      <a16:colId xmlns:a16="http://schemas.microsoft.com/office/drawing/2014/main" val="20003"/>
                    </a:ext>
                  </a:extLst>
                </a:gridCol>
                <a:gridCol w="1279525">
                  <a:extLst>
                    <a:ext uri="{9D8B030D-6E8A-4147-A177-3AD203B41FA5}">
                      <a16:colId xmlns:a16="http://schemas.microsoft.com/office/drawing/2014/main" val="20004"/>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Año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Duración</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Tipo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Estudio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124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104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95</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Paramount</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17123" name="Rectangle 35"/>
          <p:cNvSpPr>
            <a:spLocks noChangeArrowheads="1"/>
          </p:cNvSpPr>
          <p:nvPr/>
        </p:nvSpPr>
        <p:spPr bwMode="auto">
          <a:xfrm>
            <a:off x="4121150" y="1693863"/>
            <a:ext cx="1074738" cy="366712"/>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Pel</a:t>
            </a:r>
            <a:r>
              <a:rPr lang="es-ES" b="1">
                <a:cs typeface="Tahoma" pitchFamily="34" charset="0"/>
              </a:rPr>
              <a:t>í</a:t>
            </a:r>
            <a:r>
              <a:rPr lang="es-ES" b="1">
                <a:latin typeface="Tahoma" pitchFamily="34" charset="0"/>
                <a:cs typeface="Tahoma" pitchFamily="34" charset="0"/>
              </a:rPr>
              <a:t>cula</a:t>
            </a:r>
            <a:endParaRPr lang="es-ES" b="1"/>
          </a:p>
        </p:txBody>
      </p:sp>
      <p:sp>
        <p:nvSpPr>
          <p:cNvPr id="217124" name="Rectangle 36"/>
          <p:cNvSpPr>
            <a:spLocks noChangeArrowheads="1"/>
          </p:cNvSpPr>
          <p:nvPr/>
        </p:nvSpPr>
        <p:spPr bwMode="auto">
          <a:xfrm>
            <a:off x="323850" y="3573463"/>
            <a:ext cx="4975225" cy="320675"/>
          </a:xfrm>
          <a:prstGeom prst="rect">
            <a:avLst/>
          </a:prstGeom>
          <a:noFill/>
          <a:ln w="9525">
            <a:noFill/>
            <a:miter lim="800000"/>
            <a:headEnd/>
            <a:tailEnd/>
          </a:ln>
        </p:spPr>
        <p:txBody>
          <a:bodyPr wrap="none" anchor="ctr">
            <a:spAutoFit/>
          </a:bodyPr>
          <a:lstStyle/>
          <a:p>
            <a:pPr eaLnBrk="0" hangingPunct="0"/>
            <a:r>
              <a:rPr lang="es-ES" sz="1500" b="1">
                <a:solidFill>
                  <a:schemeClr val="accent2"/>
                </a:solidFill>
                <a:latin typeface="Calibri" pitchFamily="34" charset="0"/>
              </a:rPr>
              <a:t>Ejemplo 1:</a:t>
            </a:r>
            <a:r>
              <a:rPr lang="es-ES" sz="1500">
                <a:latin typeface="Calibri" pitchFamily="34" charset="0"/>
              </a:rPr>
              <a:t> Renombrar la Relación Película como Filme.</a:t>
            </a:r>
          </a:p>
        </p:txBody>
      </p:sp>
      <p:sp>
        <p:nvSpPr>
          <p:cNvPr id="247845" name="Rectangle 37"/>
          <p:cNvSpPr>
            <a:spLocks noChangeArrowheads="1"/>
          </p:cNvSpPr>
          <p:nvPr/>
        </p:nvSpPr>
        <p:spPr bwMode="auto">
          <a:xfrm>
            <a:off x="900113" y="4062413"/>
            <a:ext cx="5381625" cy="457200"/>
          </a:xfrm>
          <a:prstGeom prst="rect">
            <a:avLst/>
          </a:prstGeom>
          <a:noFill/>
          <a:ln w="9525">
            <a:noFill/>
            <a:miter lim="800000"/>
            <a:headEnd/>
            <a:tailEnd/>
          </a:ln>
        </p:spPr>
        <p:txBody>
          <a:bodyPr>
            <a:spAutoFit/>
          </a:bodyPr>
          <a:lstStyle/>
          <a:p>
            <a:r>
              <a:rPr lang="es-ES_tradnl" sz="2400" b="1">
                <a:solidFill>
                  <a:schemeClr val="accent2"/>
                </a:solidFill>
                <a:sym typeface="Symbol" pitchFamily="18" charset="2"/>
              </a:rPr>
              <a:t></a:t>
            </a:r>
            <a:r>
              <a:rPr lang="es-ES" sz="1500">
                <a:latin typeface="Calibri" pitchFamily="34" charset="0"/>
              </a:rPr>
              <a:t>    Filme   (Película)</a:t>
            </a:r>
          </a:p>
        </p:txBody>
      </p:sp>
      <p:grpSp>
        <p:nvGrpSpPr>
          <p:cNvPr id="2" name="Group 38"/>
          <p:cNvGrpSpPr>
            <a:grpSpLocks/>
          </p:cNvGrpSpPr>
          <p:nvPr/>
        </p:nvGrpSpPr>
        <p:grpSpPr bwMode="auto">
          <a:xfrm>
            <a:off x="107950" y="4038600"/>
            <a:ext cx="1223963" cy="1584325"/>
            <a:chOff x="68" y="2614"/>
            <a:chExt cx="771" cy="998"/>
          </a:xfrm>
        </p:grpSpPr>
        <p:sp>
          <p:nvSpPr>
            <p:cNvPr id="217169" name="Oval 39"/>
            <p:cNvSpPr>
              <a:spLocks noChangeArrowheads="1"/>
            </p:cNvSpPr>
            <p:nvPr/>
          </p:nvSpPr>
          <p:spPr bwMode="auto">
            <a:xfrm>
              <a:off x="521" y="2614"/>
              <a:ext cx="318" cy="408"/>
            </a:xfrm>
            <a:prstGeom prst="ellipse">
              <a:avLst/>
            </a:prstGeom>
            <a:noFill/>
            <a:ln w="9525">
              <a:solidFill>
                <a:schemeClr val="tx1"/>
              </a:solidFill>
              <a:round/>
              <a:headEnd/>
              <a:tailEnd/>
            </a:ln>
          </p:spPr>
          <p:txBody>
            <a:bodyPr wrap="none" anchor="ctr"/>
            <a:lstStyle/>
            <a:p>
              <a:endParaRPr lang="es-ES"/>
            </a:p>
          </p:txBody>
        </p:sp>
        <p:sp>
          <p:nvSpPr>
            <p:cNvPr id="217170" name="Freeform 40"/>
            <p:cNvSpPr>
              <a:spLocks/>
            </p:cNvSpPr>
            <p:nvPr/>
          </p:nvSpPr>
          <p:spPr bwMode="auto">
            <a:xfrm rot="1813670">
              <a:off x="506" y="2902"/>
              <a:ext cx="184" cy="412"/>
            </a:xfrm>
            <a:custGeom>
              <a:avLst/>
              <a:gdLst>
                <a:gd name="T0" fmla="*/ 8 w 309"/>
                <a:gd name="T1" fmla="*/ 0 h 648"/>
                <a:gd name="T2" fmla="*/ 3 w 309"/>
                <a:gd name="T3" fmla="*/ 151 h 648"/>
                <a:gd name="T4" fmla="*/ 76 w 309"/>
                <a:gd name="T5" fmla="*/ 131 h 648"/>
                <a:gd name="T6" fmla="*/ 80 w 309"/>
                <a:gd name="T7" fmla="*/ 151 h 648"/>
                <a:gd name="T8" fmla="*/ 84 w 309"/>
                <a:gd name="T9" fmla="*/ 247 h 648"/>
                <a:gd name="T10" fmla="*/ 97 w 309"/>
                <a:gd name="T11" fmla="*/ 252 h 648"/>
                <a:gd name="T12" fmla="*/ 110 w 309"/>
                <a:gd name="T13" fmla="*/ 262 h 648"/>
                <a:gd name="T14" fmla="*/ 0 60000 65536"/>
                <a:gd name="T15" fmla="*/ 0 60000 65536"/>
                <a:gd name="T16" fmla="*/ 0 60000 65536"/>
                <a:gd name="T17" fmla="*/ 0 60000 65536"/>
                <a:gd name="T18" fmla="*/ 0 60000 65536"/>
                <a:gd name="T19" fmla="*/ 0 60000 65536"/>
                <a:gd name="T20" fmla="*/ 0 60000 65536"/>
                <a:gd name="T21" fmla="*/ 0 w 309"/>
                <a:gd name="T22" fmla="*/ 0 h 648"/>
                <a:gd name="T23" fmla="*/ 309 w 309"/>
                <a:gd name="T24" fmla="*/ 648 h 6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9" h="648">
                  <a:moveTo>
                    <a:pt x="21" y="0"/>
                  </a:moveTo>
                  <a:cubicBezTo>
                    <a:pt x="6" y="136"/>
                    <a:pt x="0" y="231"/>
                    <a:pt x="9" y="372"/>
                  </a:cubicBezTo>
                  <a:cubicBezTo>
                    <a:pt x="94" y="287"/>
                    <a:pt x="94" y="294"/>
                    <a:pt x="213" y="324"/>
                  </a:cubicBezTo>
                  <a:cubicBezTo>
                    <a:pt x="217" y="340"/>
                    <a:pt x="224" y="356"/>
                    <a:pt x="225" y="372"/>
                  </a:cubicBezTo>
                  <a:cubicBezTo>
                    <a:pt x="232" y="452"/>
                    <a:pt x="222" y="533"/>
                    <a:pt x="237" y="612"/>
                  </a:cubicBezTo>
                  <a:cubicBezTo>
                    <a:pt x="239" y="624"/>
                    <a:pt x="262" y="618"/>
                    <a:pt x="273" y="624"/>
                  </a:cubicBezTo>
                  <a:cubicBezTo>
                    <a:pt x="286" y="630"/>
                    <a:pt x="309" y="648"/>
                    <a:pt x="309" y="648"/>
                  </a:cubicBezTo>
                </a:path>
              </a:pathLst>
            </a:custGeom>
            <a:noFill/>
            <a:ln w="9525">
              <a:solidFill>
                <a:schemeClr val="tx1"/>
              </a:solidFill>
              <a:round/>
              <a:headEnd type="triangle" w="med" len="med"/>
              <a:tailEnd/>
            </a:ln>
          </p:spPr>
          <p:txBody>
            <a:bodyPr/>
            <a:lstStyle/>
            <a:p>
              <a:endParaRPr lang="es-ES"/>
            </a:p>
          </p:txBody>
        </p:sp>
        <p:sp>
          <p:nvSpPr>
            <p:cNvPr id="217171" name="Text Box 41"/>
            <p:cNvSpPr txBox="1">
              <a:spLocks noChangeArrowheads="1"/>
            </p:cNvSpPr>
            <p:nvPr/>
          </p:nvSpPr>
          <p:spPr bwMode="auto">
            <a:xfrm>
              <a:off x="68" y="3304"/>
              <a:ext cx="693" cy="308"/>
            </a:xfrm>
            <a:prstGeom prst="rect">
              <a:avLst/>
            </a:prstGeom>
            <a:noFill/>
            <a:ln w="9525">
              <a:noFill/>
              <a:miter lim="800000"/>
              <a:headEnd/>
              <a:tailEnd/>
            </a:ln>
          </p:spPr>
          <p:txBody>
            <a:bodyPr>
              <a:spAutoFit/>
            </a:bodyPr>
            <a:lstStyle/>
            <a:p>
              <a:pPr algn="ctr"/>
              <a:r>
                <a:rPr lang="es-ES" sz="1300"/>
                <a:t>Símbolo de Renombrar</a:t>
              </a:r>
            </a:p>
          </p:txBody>
        </p:sp>
      </p:grpSp>
      <p:grpSp>
        <p:nvGrpSpPr>
          <p:cNvPr id="3" name="Group 111"/>
          <p:cNvGrpSpPr>
            <a:grpSpLocks/>
          </p:cNvGrpSpPr>
          <p:nvPr/>
        </p:nvGrpSpPr>
        <p:grpSpPr bwMode="auto">
          <a:xfrm>
            <a:off x="1331913" y="3990975"/>
            <a:ext cx="1223962" cy="2228850"/>
            <a:chOff x="839" y="2514"/>
            <a:chExt cx="771" cy="1404"/>
          </a:xfrm>
        </p:grpSpPr>
        <p:sp>
          <p:nvSpPr>
            <p:cNvPr id="217166" name="Oval 43"/>
            <p:cNvSpPr>
              <a:spLocks noChangeArrowheads="1"/>
            </p:cNvSpPr>
            <p:nvPr/>
          </p:nvSpPr>
          <p:spPr bwMode="auto">
            <a:xfrm>
              <a:off x="839" y="2514"/>
              <a:ext cx="363" cy="408"/>
            </a:xfrm>
            <a:prstGeom prst="ellipse">
              <a:avLst/>
            </a:prstGeom>
            <a:noFill/>
            <a:ln w="9525">
              <a:solidFill>
                <a:schemeClr val="tx1"/>
              </a:solidFill>
              <a:round/>
              <a:headEnd/>
              <a:tailEnd/>
            </a:ln>
          </p:spPr>
          <p:txBody>
            <a:bodyPr wrap="none" anchor="ctr"/>
            <a:lstStyle/>
            <a:p>
              <a:endParaRPr lang="es-ES"/>
            </a:p>
          </p:txBody>
        </p:sp>
        <p:sp>
          <p:nvSpPr>
            <p:cNvPr id="217167" name="Freeform 44"/>
            <p:cNvSpPr>
              <a:spLocks/>
            </p:cNvSpPr>
            <p:nvPr/>
          </p:nvSpPr>
          <p:spPr bwMode="auto">
            <a:xfrm rot="1569113">
              <a:off x="839" y="2864"/>
              <a:ext cx="309" cy="648"/>
            </a:xfrm>
            <a:custGeom>
              <a:avLst/>
              <a:gdLst>
                <a:gd name="T0" fmla="*/ 21 w 309"/>
                <a:gd name="T1" fmla="*/ 0 h 648"/>
                <a:gd name="T2" fmla="*/ 9 w 309"/>
                <a:gd name="T3" fmla="*/ 372 h 648"/>
                <a:gd name="T4" fmla="*/ 213 w 309"/>
                <a:gd name="T5" fmla="*/ 324 h 648"/>
                <a:gd name="T6" fmla="*/ 225 w 309"/>
                <a:gd name="T7" fmla="*/ 372 h 648"/>
                <a:gd name="T8" fmla="*/ 237 w 309"/>
                <a:gd name="T9" fmla="*/ 612 h 648"/>
                <a:gd name="T10" fmla="*/ 273 w 309"/>
                <a:gd name="T11" fmla="*/ 624 h 648"/>
                <a:gd name="T12" fmla="*/ 309 w 309"/>
                <a:gd name="T13" fmla="*/ 648 h 648"/>
                <a:gd name="T14" fmla="*/ 0 60000 65536"/>
                <a:gd name="T15" fmla="*/ 0 60000 65536"/>
                <a:gd name="T16" fmla="*/ 0 60000 65536"/>
                <a:gd name="T17" fmla="*/ 0 60000 65536"/>
                <a:gd name="T18" fmla="*/ 0 60000 65536"/>
                <a:gd name="T19" fmla="*/ 0 60000 65536"/>
                <a:gd name="T20" fmla="*/ 0 60000 65536"/>
                <a:gd name="T21" fmla="*/ 0 w 309"/>
                <a:gd name="T22" fmla="*/ 0 h 648"/>
                <a:gd name="T23" fmla="*/ 309 w 309"/>
                <a:gd name="T24" fmla="*/ 648 h 6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9" h="648">
                  <a:moveTo>
                    <a:pt x="21" y="0"/>
                  </a:moveTo>
                  <a:cubicBezTo>
                    <a:pt x="6" y="136"/>
                    <a:pt x="0" y="231"/>
                    <a:pt x="9" y="372"/>
                  </a:cubicBezTo>
                  <a:cubicBezTo>
                    <a:pt x="94" y="287"/>
                    <a:pt x="94" y="294"/>
                    <a:pt x="213" y="324"/>
                  </a:cubicBezTo>
                  <a:cubicBezTo>
                    <a:pt x="217" y="340"/>
                    <a:pt x="224" y="356"/>
                    <a:pt x="225" y="372"/>
                  </a:cubicBezTo>
                  <a:cubicBezTo>
                    <a:pt x="232" y="452"/>
                    <a:pt x="222" y="533"/>
                    <a:pt x="237" y="612"/>
                  </a:cubicBezTo>
                  <a:cubicBezTo>
                    <a:pt x="239" y="624"/>
                    <a:pt x="262" y="618"/>
                    <a:pt x="273" y="624"/>
                  </a:cubicBezTo>
                  <a:cubicBezTo>
                    <a:pt x="286" y="630"/>
                    <a:pt x="309" y="648"/>
                    <a:pt x="309" y="648"/>
                  </a:cubicBezTo>
                </a:path>
              </a:pathLst>
            </a:custGeom>
            <a:noFill/>
            <a:ln w="9525">
              <a:solidFill>
                <a:schemeClr val="tx1"/>
              </a:solidFill>
              <a:round/>
              <a:headEnd type="triangle" w="med" len="med"/>
              <a:tailEnd/>
            </a:ln>
          </p:spPr>
          <p:txBody>
            <a:bodyPr/>
            <a:lstStyle/>
            <a:p>
              <a:endParaRPr lang="es-ES"/>
            </a:p>
          </p:txBody>
        </p:sp>
        <p:sp>
          <p:nvSpPr>
            <p:cNvPr id="217168" name="Text Box 45"/>
            <p:cNvSpPr txBox="1">
              <a:spLocks noChangeArrowheads="1"/>
            </p:cNvSpPr>
            <p:nvPr/>
          </p:nvSpPr>
          <p:spPr bwMode="auto">
            <a:xfrm>
              <a:off x="917" y="3485"/>
              <a:ext cx="693" cy="433"/>
            </a:xfrm>
            <a:prstGeom prst="rect">
              <a:avLst/>
            </a:prstGeom>
            <a:noFill/>
            <a:ln w="9525">
              <a:noFill/>
              <a:miter lim="800000"/>
              <a:headEnd/>
              <a:tailEnd/>
            </a:ln>
          </p:spPr>
          <p:txBody>
            <a:bodyPr>
              <a:spAutoFit/>
            </a:bodyPr>
            <a:lstStyle/>
            <a:p>
              <a:pPr algn="ctr"/>
              <a:r>
                <a:rPr lang="es-ES" sz="1300"/>
                <a:t>Nuevo nombre de la Relación</a:t>
              </a:r>
            </a:p>
          </p:txBody>
        </p:sp>
      </p:grpSp>
      <p:grpSp>
        <p:nvGrpSpPr>
          <p:cNvPr id="4" name="Group 110"/>
          <p:cNvGrpSpPr>
            <a:grpSpLocks/>
          </p:cNvGrpSpPr>
          <p:nvPr/>
        </p:nvGrpSpPr>
        <p:grpSpPr bwMode="auto">
          <a:xfrm>
            <a:off x="1785938" y="4029075"/>
            <a:ext cx="2930525" cy="950913"/>
            <a:chOff x="1125" y="2538"/>
            <a:chExt cx="1846" cy="599"/>
          </a:xfrm>
        </p:grpSpPr>
        <p:sp>
          <p:nvSpPr>
            <p:cNvPr id="217163" name="Oval 47"/>
            <p:cNvSpPr>
              <a:spLocks noChangeArrowheads="1"/>
            </p:cNvSpPr>
            <p:nvPr/>
          </p:nvSpPr>
          <p:spPr bwMode="auto">
            <a:xfrm>
              <a:off x="1125" y="2538"/>
              <a:ext cx="463" cy="408"/>
            </a:xfrm>
            <a:prstGeom prst="ellipse">
              <a:avLst/>
            </a:prstGeom>
            <a:noFill/>
            <a:ln w="9525">
              <a:solidFill>
                <a:schemeClr val="tx1"/>
              </a:solidFill>
              <a:round/>
              <a:headEnd/>
              <a:tailEnd/>
            </a:ln>
          </p:spPr>
          <p:txBody>
            <a:bodyPr wrap="none" anchor="ctr"/>
            <a:lstStyle/>
            <a:p>
              <a:endParaRPr lang="es-ES"/>
            </a:p>
          </p:txBody>
        </p:sp>
        <p:sp>
          <p:nvSpPr>
            <p:cNvPr id="217164" name="Freeform 48"/>
            <p:cNvSpPr>
              <a:spLocks/>
            </p:cNvSpPr>
            <p:nvPr/>
          </p:nvSpPr>
          <p:spPr bwMode="auto">
            <a:xfrm rot="-2216402">
              <a:off x="1683" y="2622"/>
              <a:ext cx="535" cy="484"/>
            </a:xfrm>
            <a:custGeom>
              <a:avLst/>
              <a:gdLst>
                <a:gd name="T0" fmla="*/ 62 w 309"/>
                <a:gd name="T1" fmla="*/ 0 h 648"/>
                <a:gd name="T2" fmla="*/ 28 w 309"/>
                <a:gd name="T3" fmla="*/ 208 h 648"/>
                <a:gd name="T4" fmla="*/ 639 w 309"/>
                <a:gd name="T5" fmla="*/ 181 h 648"/>
                <a:gd name="T6" fmla="*/ 675 w 309"/>
                <a:gd name="T7" fmla="*/ 208 h 648"/>
                <a:gd name="T8" fmla="*/ 710 w 309"/>
                <a:gd name="T9" fmla="*/ 341 h 648"/>
                <a:gd name="T10" fmla="*/ 819 w 309"/>
                <a:gd name="T11" fmla="*/ 348 h 648"/>
                <a:gd name="T12" fmla="*/ 926 w 309"/>
                <a:gd name="T13" fmla="*/ 362 h 648"/>
                <a:gd name="T14" fmla="*/ 0 60000 65536"/>
                <a:gd name="T15" fmla="*/ 0 60000 65536"/>
                <a:gd name="T16" fmla="*/ 0 60000 65536"/>
                <a:gd name="T17" fmla="*/ 0 60000 65536"/>
                <a:gd name="T18" fmla="*/ 0 60000 65536"/>
                <a:gd name="T19" fmla="*/ 0 60000 65536"/>
                <a:gd name="T20" fmla="*/ 0 60000 65536"/>
                <a:gd name="T21" fmla="*/ 0 w 309"/>
                <a:gd name="T22" fmla="*/ 0 h 648"/>
                <a:gd name="T23" fmla="*/ 309 w 309"/>
                <a:gd name="T24" fmla="*/ 648 h 6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9" h="648">
                  <a:moveTo>
                    <a:pt x="21" y="0"/>
                  </a:moveTo>
                  <a:cubicBezTo>
                    <a:pt x="6" y="136"/>
                    <a:pt x="0" y="231"/>
                    <a:pt x="9" y="372"/>
                  </a:cubicBezTo>
                  <a:cubicBezTo>
                    <a:pt x="94" y="287"/>
                    <a:pt x="94" y="294"/>
                    <a:pt x="213" y="324"/>
                  </a:cubicBezTo>
                  <a:cubicBezTo>
                    <a:pt x="217" y="340"/>
                    <a:pt x="224" y="356"/>
                    <a:pt x="225" y="372"/>
                  </a:cubicBezTo>
                  <a:cubicBezTo>
                    <a:pt x="232" y="452"/>
                    <a:pt x="222" y="533"/>
                    <a:pt x="237" y="612"/>
                  </a:cubicBezTo>
                  <a:cubicBezTo>
                    <a:pt x="239" y="624"/>
                    <a:pt x="262" y="618"/>
                    <a:pt x="273" y="624"/>
                  </a:cubicBezTo>
                  <a:cubicBezTo>
                    <a:pt x="286" y="630"/>
                    <a:pt x="309" y="648"/>
                    <a:pt x="309" y="648"/>
                  </a:cubicBezTo>
                </a:path>
              </a:pathLst>
            </a:custGeom>
            <a:noFill/>
            <a:ln w="9525">
              <a:solidFill>
                <a:schemeClr val="tx1"/>
              </a:solidFill>
              <a:round/>
              <a:headEnd type="triangle" w="med" len="med"/>
              <a:tailEnd/>
            </a:ln>
          </p:spPr>
          <p:txBody>
            <a:bodyPr/>
            <a:lstStyle/>
            <a:p>
              <a:endParaRPr lang="es-ES"/>
            </a:p>
          </p:txBody>
        </p:sp>
        <p:sp>
          <p:nvSpPr>
            <p:cNvPr id="217165" name="Text Box 49"/>
            <p:cNvSpPr txBox="1">
              <a:spLocks noChangeArrowheads="1"/>
            </p:cNvSpPr>
            <p:nvPr/>
          </p:nvSpPr>
          <p:spPr bwMode="auto">
            <a:xfrm>
              <a:off x="2200" y="2704"/>
              <a:ext cx="771" cy="433"/>
            </a:xfrm>
            <a:prstGeom prst="rect">
              <a:avLst/>
            </a:prstGeom>
            <a:noFill/>
            <a:ln w="9525">
              <a:noFill/>
              <a:miter lim="800000"/>
              <a:headEnd/>
              <a:tailEnd/>
            </a:ln>
          </p:spPr>
          <p:txBody>
            <a:bodyPr>
              <a:spAutoFit/>
            </a:bodyPr>
            <a:lstStyle/>
            <a:p>
              <a:pPr algn="ctr"/>
              <a:r>
                <a:rPr lang="es-ES" sz="1300"/>
                <a:t>Nombre de la Relación a Renombrar</a:t>
              </a:r>
            </a:p>
          </p:txBody>
        </p:sp>
      </p:grpSp>
      <p:sp>
        <p:nvSpPr>
          <p:cNvPr id="217129" name="1 Rectángulo"/>
          <p:cNvSpPr>
            <a:spLocks noChangeArrowheads="1"/>
          </p:cNvSpPr>
          <p:nvPr/>
        </p:nvSpPr>
        <p:spPr bwMode="auto">
          <a:xfrm>
            <a:off x="34925" y="1042988"/>
            <a:ext cx="9074150" cy="549275"/>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Renombrar </a:t>
            </a:r>
            <a:r>
              <a:rPr lang="es-ES_tradnl" sz="3000" b="1">
                <a:solidFill>
                  <a:schemeClr val="accent2"/>
                </a:solidFill>
                <a:sym typeface="Symbol" pitchFamily="18" charset="2"/>
              </a:rPr>
              <a:t> </a:t>
            </a:r>
            <a:r>
              <a:rPr lang="es-ES_tradnl" sz="2000" b="1">
                <a:sym typeface="Symbol" pitchFamily="18" charset="2"/>
              </a:rPr>
              <a:t>(ro)</a:t>
            </a:r>
          </a:p>
        </p:txBody>
      </p:sp>
      <p:graphicFrame>
        <p:nvGraphicFramePr>
          <p:cNvPr id="247917" name="Group 109"/>
          <p:cNvGraphicFramePr>
            <a:graphicFrameLocks noGrp="1"/>
          </p:cNvGraphicFramePr>
          <p:nvPr/>
        </p:nvGraphicFramePr>
        <p:xfrm>
          <a:off x="3716338" y="5445125"/>
          <a:ext cx="5319712"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gridCol w="677862">
                  <a:extLst>
                    <a:ext uri="{9D8B030D-6E8A-4147-A177-3AD203B41FA5}">
                      <a16:colId xmlns:a16="http://schemas.microsoft.com/office/drawing/2014/main" val="20003"/>
                    </a:ext>
                  </a:extLst>
                </a:gridCol>
                <a:gridCol w="1279525">
                  <a:extLst>
                    <a:ext uri="{9D8B030D-6E8A-4147-A177-3AD203B41FA5}">
                      <a16:colId xmlns:a16="http://schemas.microsoft.com/office/drawing/2014/main" val="20004"/>
                    </a:ext>
                  </a:extLst>
                </a:gridCol>
              </a:tblGrid>
              <a:tr h="30480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Año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Duración</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Tipo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Estudio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124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104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95</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Paramount</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47916" name="Rectangle 108"/>
          <p:cNvSpPr>
            <a:spLocks noChangeArrowheads="1"/>
          </p:cNvSpPr>
          <p:nvPr/>
        </p:nvSpPr>
        <p:spPr bwMode="auto">
          <a:xfrm>
            <a:off x="5983288" y="5084763"/>
            <a:ext cx="808037" cy="366712"/>
          </a:xfrm>
          <a:prstGeom prst="rect">
            <a:avLst/>
          </a:prstGeom>
          <a:noFill/>
          <a:ln w="9525">
            <a:noFill/>
            <a:miter lim="800000"/>
            <a:headEnd/>
            <a:tailEnd/>
          </a:ln>
        </p:spPr>
        <p:txBody>
          <a:bodyPr wrap="none" anchor="ctr">
            <a:spAutoFit/>
          </a:bodyPr>
          <a:lstStyle/>
          <a:p>
            <a:pPr algn="ctr" eaLnBrk="0" hangingPunct="0"/>
            <a:r>
              <a:rPr lang="es-ES" b="1">
                <a:solidFill>
                  <a:schemeClr val="accent2"/>
                </a:solidFill>
                <a:latin typeface="Tahoma" pitchFamily="34" charset="0"/>
                <a:cs typeface="Tahoma" pitchFamily="34" charset="0"/>
              </a:rPr>
              <a:t>Filme</a:t>
            </a:r>
            <a:endParaRPr lang="es-ES" b="1">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7845"/>
                                        </p:tgtEl>
                                        <p:attrNameLst>
                                          <p:attrName>style.visibility</p:attrName>
                                        </p:attrNameLst>
                                      </p:cBhvr>
                                      <p:to>
                                        <p:strVal val="visible"/>
                                      </p:to>
                                    </p:set>
                                    <p:animEffect transition="in" filter="fade">
                                      <p:cBhvr>
                                        <p:cTn id="7" dur="500"/>
                                        <p:tgtEl>
                                          <p:spTgt spid="2478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7916"/>
                                        </p:tgtEl>
                                        <p:attrNameLst>
                                          <p:attrName>style.visibility</p:attrName>
                                        </p:attrNameLst>
                                      </p:cBhvr>
                                      <p:to>
                                        <p:strVal val="visible"/>
                                      </p:to>
                                    </p:set>
                                    <p:animEffect transition="in" filter="fade">
                                      <p:cBhvr>
                                        <p:cTn id="27" dur="500"/>
                                        <p:tgtEl>
                                          <p:spTgt spid="247916"/>
                                        </p:tgtEl>
                                      </p:cBhvr>
                                    </p:animEffect>
                                  </p:childTnLst>
                                </p:cTn>
                              </p:par>
                              <p:par>
                                <p:cTn id="28" presetID="10" presetClass="entr" presetSubtype="0" fill="hold" nodeType="withEffect">
                                  <p:stCondLst>
                                    <p:cond delay="0"/>
                                  </p:stCondLst>
                                  <p:childTnLst>
                                    <p:set>
                                      <p:cBhvr>
                                        <p:cTn id="29" dur="1" fill="hold">
                                          <p:stCondLst>
                                            <p:cond delay="0"/>
                                          </p:stCondLst>
                                        </p:cTn>
                                        <p:tgtEl>
                                          <p:spTgt spid="247917"/>
                                        </p:tgtEl>
                                        <p:attrNameLst>
                                          <p:attrName>style.visibility</p:attrName>
                                        </p:attrNameLst>
                                      </p:cBhvr>
                                      <p:to>
                                        <p:strVal val="visible"/>
                                      </p:to>
                                    </p:set>
                                    <p:animEffect transition="in" filter="fade">
                                      <p:cBhvr>
                                        <p:cTn id="30" dur="500"/>
                                        <p:tgtEl>
                                          <p:spTgt spid="2479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45" grpId="0"/>
      <p:bldP spid="247916" grpId="0"/>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graphicFrame>
        <p:nvGraphicFramePr>
          <p:cNvPr id="249859" name="Group 3"/>
          <p:cNvGraphicFramePr>
            <a:graphicFrameLocks noGrp="1"/>
          </p:cNvGraphicFramePr>
          <p:nvPr/>
        </p:nvGraphicFramePr>
        <p:xfrm>
          <a:off x="1989138" y="2012950"/>
          <a:ext cx="5319712"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gridCol w="677862">
                  <a:extLst>
                    <a:ext uri="{9D8B030D-6E8A-4147-A177-3AD203B41FA5}">
                      <a16:colId xmlns:a16="http://schemas.microsoft.com/office/drawing/2014/main" val="20003"/>
                    </a:ext>
                  </a:extLst>
                </a:gridCol>
                <a:gridCol w="1279525">
                  <a:extLst>
                    <a:ext uri="{9D8B030D-6E8A-4147-A177-3AD203B41FA5}">
                      <a16:colId xmlns:a16="http://schemas.microsoft.com/office/drawing/2014/main" val="20004"/>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Año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Duración</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Tipo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Estudio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124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104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95</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Paramount</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18147" name="Rectangle 35"/>
          <p:cNvSpPr>
            <a:spLocks noChangeArrowheads="1"/>
          </p:cNvSpPr>
          <p:nvPr/>
        </p:nvSpPr>
        <p:spPr bwMode="auto">
          <a:xfrm>
            <a:off x="4121150" y="1693863"/>
            <a:ext cx="1074738" cy="366712"/>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Pel</a:t>
            </a:r>
            <a:r>
              <a:rPr lang="es-ES" b="1">
                <a:cs typeface="Tahoma" pitchFamily="34" charset="0"/>
              </a:rPr>
              <a:t>í</a:t>
            </a:r>
            <a:r>
              <a:rPr lang="es-ES" b="1">
                <a:latin typeface="Tahoma" pitchFamily="34" charset="0"/>
                <a:cs typeface="Tahoma" pitchFamily="34" charset="0"/>
              </a:rPr>
              <a:t>cula</a:t>
            </a:r>
            <a:endParaRPr lang="es-ES" b="1"/>
          </a:p>
        </p:txBody>
      </p:sp>
      <p:sp>
        <p:nvSpPr>
          <p:cNvPr id="218148" name="Rectangle 36"/>
          <p:cNvSpPr>
            <a:spLocks noChangeArrowheads="1"/>
          </p:cNvSpPr>
          <p:nvPr/>
        </p:nvSpPr>
        <p:spPr bwMode="auto">
          <a:xfrm>
            <a:off x="323850" y="3573463"/>
            <a:ext cx="5154613" cy="320675"/>
          </a:xfrm>
          <a:prstGeom prst="rect">
            <a:avLst/>
          </a:prstGeom>
          <a:noFill/>
          <a:ln w="9525">
            <a:noFill/>
            <a:miter lim="800000"/>
            <a:headEnd/>
            <a:tailEnd/>
          </a:ln>
        </p:spPr>
        <p:txBody>
          <a:bodyPr wrap="none" anchor="ctr">
            <a:spAutoFit/>
          </a:bodyPr>
          <a:lstStyle/>
          <a:p>
            <a:pPr eaLnBrk="0" hangingPunct="0"/>
            <a:r>
              <a:rPr lang="es-ES" sz="1500" b="1">
                <a:solidFill>
                  <a:schemeClr val="accent2"/>
                </a:solidFill>
                <a:latin typeface="Calibri" pitchFamily="34" charset="0"/>
              </a:rPr>
              <a:t>Ejemplo 2:</a:t>
            </a:r>
            <a:r>
              <a:rPr lang="es-ES" sz="1500">
                <a:latin typeface="Calibri" pitchFamily="34" charset="0"/>
              </a:rPr>
              <a:t> Renombrar el atributo Duración como Minutos.</a:t>
            </a:r>
          </a:p>
        </p:txBody>
      </p:sp>
      <p:sp>
        <p:nvSpPr>
          <p:cNvPr id="249893" name="Rectangle 37"/>
          <p:cNvSpPr>
            <a:spLocks noChangeArrowheads="1"/>
          </p:cNvSpPr>
          <p:nvPr/>
        </p:nvSpPr>
        <p:spPr bwMode="auto">
          <a:xfrm>
            <a:off x="900113" y="4062413"/>
            <a:ext cx="5381625" cy="457200"/>
          </a:xfrm>
          <a:prstGeom prst="rect">
            <a:avLst/>
          </a:prstGeom>
          <a:noFill/>
          <a:ln w="9525">
            <a:noFill/>
            <a:miter lim="800000"/>
            <a:headEnd/>
            <a:tailEnd/>
          </a:ln>
        </p:spPr>
        <p:txBody>
          <a:bodyPr>
            <a:spAutoFit/>
          </a:bodyPr>
          <a:lstStyle/>
          <a:p>
            <a:r>
              <a:rPr lang="es-ES_tradnl" sz="2400" b="1">
                <a:solidFill>
                  <a:schemeClr val="accent2"/>
                </a:solidFill>
                <a:sym typeface="Symbol" pitchFamily="18" charset="2"/>
              </a:rPr>
              <a:t></a:t>
            </a:r>
            <a:r>
              <a:rPr lang="es-ES" sz="1500">
                <a:latin typeface="Calibri" pitchFamily="34" charset="0"/>
              </a:rPr>
              <a:t>    Película (Título, Año, </a:t>
            </a:r>
            <a:r>
              <a:rPr lang="es-ES" sz="1500" b="1">
                <a:latin typeface="Calibri" pitchFamily="34" charset="0"/>
              </a:rPr>
              <a:t>Minutos</a:t>
            </a:r>
            <a:r>
              <a:rPr lang="es-ES" sz="1500">
                <a:latin typeface="Calibri" pitchFamily="34" charset="0"/>
              </a:rPr>
              <a:t>, Tipo, Estudio)  (Película)</a:t>
            </a:r>
          </a:p>
        </p:txBody>
      </p:sp>
      <p:sp>
        <p:nvSpPr>
          <p:cNvPr id="218150" name="1 Rectángulo"/>
          <p:cNvSpPr>
            <a:spLocks noChangeArrowheads="1"/>
          </p:cNvSpPr>
          <p:nvPr/>
        </p:nvSpPr>
        <p:spPr bwMode="auto">
          <a:xfrm>
            <a:off x="34925" y="1042988"/>
            <a:ext cx="9074150" cy="549275"/>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Renombrar </a:t>
            </a:r>
            <a:r>
              <a:rPr lang="es-ES_tradnl" sz="3000" b="1">
                <a:solidFill>
                  <a:schemeClr val="accent2"/>
                </a:solidFill>
                <a:sym typeface="Symbol" pitchFamily="18" charset="2"/>
              </a:rPr>
              <a:t> </a:t>
            </a:r>
            <a:r>
              <a:rPr lang="es-ES_tradnl" sz="2000" b="1">
                <a:sym typeface="Symbol" pitchFamily="18" charset="2"/>
              </a:rPr>
              <a:t>(ro)</a:t>
            </a:r>
          </a:p>
        </p:txBody>
      </p:sp>
      <p:graphicFrame>
        <p:nvGraphicFramePr>
          <p:cNvPr id="249941" name="Group 85"/>
          <p:cNvGraphicFramePr>
            <a:graphicFrameLocks noGrp="1"/>
          </p:cNvGraphicFramePr>
          <p:nvPr/>
        </p:nvGraphicFramePr>
        <p:xfrm>
          <a:off x="2124075" y="5032375"/>
          <a:ext cx="5319713"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1279525">
                  <a:extLst>
                    <a:ext uri="{9D8B030D-6E8A-4147-A177-3AD203B41FA5}">
                      <a16:colId xmlns:a16="http://schemas.microsoft.com/office/drawing/2014/main" val="20004"/>
                    </a:ext>
                  </a:extLst>
                </a:gridCol>
              </a:tblGrid>
              <a:tr h="2682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Año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bg1"/>
                          </a:solidFill>
                          <a:effectLst/>
                          <a:latin typeface="Calibri" pitchFamily="34" charset="0"/>
                          <a:cs typeface="Tahoma" pitchFamily="34" charset="0"/>
                        </a:rPr>
                        <a:t>Minutos</a:t>
                      </a:r>
                      <a:endParaRPr kumimoji="0" lang="es-ES" sz="1500" b="0" i="0" u="none" strike="noStrike" cap="none" normalizeH="0" baseline="0">
                        <a:ln>
                          <a:noFill/>
                        </a:ln>
                        <a:solidFill>
                          <a:schemeClr val="bg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Tipo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Estudio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124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104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95</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Paramount</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49940" name="Rectangle 84"/>
          <p:cNvSpPr>
            <a:spLocks noChangeArrowheads="1"/>
          </p:cNvSpPr>
          <p:nvPr/>
        </p:nvSpPr>
        <p:spPr bwMode="auto">
          <a:xfrm>
            <a:off x="4121150" y="4699000"/>
            <a:ext cx="1074738" cy="366713"/>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Pel</a:t>
            </a:r>
            <a:r>
              <a:rPr lang="es-ES" b="1">
                <a:cs typeface="Tahoma" pitchFamily="34" charset="0"/>
              </a:rPr>
              <a:t>í</a:t>
            </a:r>
            <a:r>
              <a:rPr lang="es-ES" b="1">
                <a:latin typeface="Tahoma" pitchFamily="34" charset="0"/>
                <a:cs typeface="Tahoma" pitchFamily="34" charset="0"/>
              </a:rPr>
              <a:t>cula</a:t>
            </a:r>
            <a:endParaRPr lang="es-E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9893"/>
                                        </p:tgtEl>
                                        <p:attrNameLst>
                                          <p:attrName>style.visibility</p:attrName>
                                        </p:attrNameLst>
                                      </p:cBhvr>
                                      <p:to>
                                        <p:strVal val="visible"/>
                                      </p:to>
                                    </p:set>
                                    <p:animEffect transition="in" filter="fade">
                                      <p:cBhvr>
                                        <p:cTn id="7" dur="500"/>
                                        <p:tgtEl>
                                          <p:spTgt spid="24989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9940"/>
                                        </p:tgtEl>
                                        <p:attrNameLst>
                                          <p:attrName>style.visibility</p:attrName>
                                        </p:attrNameLst>
                                      </p:cBhvr>
                                      <p:to>
                                        <p:strVal val="visible"/>
                                      </p:to>
                                    </p:set>
                                    <p:animEffect transition="in" filter="fade">
                                      <p:cBhvr>
                                        <p:cTn id="12" dur="500"/>
                                        <p:tgtEl>
                                          <p:spTgt spid="249940"/>
                                        </p:tgtEl>
                                      </p:cBhvr>
                                    </p:animEffect>
                                  </p:childTnLst>
                                </p:cTn>
                              </p:par>
                              <p:par>
                                <p:cTn id="13" presetID="10" presetClass="entr" presetSubtype="0" fill="hold" nodeType="withEffect">
                                  <p:stCondLst>
                                    <p:cond delay="0"/>
                                  </p:stCondLst>
                                  <p:childTnLst>
                                    <p:set>
                                      <p:cBhvr>
                                        <p:cTn id="14" dur="1" fill="hold">
                                          <p:stCondLst>
                                            <p:cond delay="0"/>
                                          </p:stCondLst>
                                        </p:cTn>
                                        <p:tgtEl>
                                          <p:spTgt spid="249941"/>
                                        </p:tgtEl>
                                        <p:attrNameLst>
                                          <p:attrName>style.visibility</p:attrName>
                                        </p:attrNameLst>
                                      </p:cBhvr>
                                      <p:to>
                                        <p:strVal val="visible"/>
                                      </p:to>
                                    </p:set>
                                    <p:animEffect transition="in" filter="fade">
                                      <p:cBhvr>
                                        <p:cTn id="15" dur="500"/>
                                        <p:tgtEl>
                                          <p:spTgt spid="249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93" grpId="0"/>
      <p:bldP spid="249940" grpId="0"/>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graphicFrame>
        <p:nvGraphicFramePr>
          <p:cNvPr id="251907" name="Group 3"/>
          <p:cNvGraphicFramePr>
            <a:graphicFrameLocks noGrp="1"/>
          </p:cNvGraphicFramePr>
          <p:nvPr/>
        </p:nvGraphicFramePr>
        <p:xfrm>
          <a:off x="1989138" y="2012950"/>
          <a:ext cx="5319712"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gridCol w="677862">
                  <a:extLst>
                    <a:ext uri="{9D8B030D-6E8A-4147-A177-3AD203B41FA5}">
                      <a16:colId xmlns:a16="http://schemas.microsoft.com/office/drawing/2014/main" val="20003"/>
                    </a:ext>
                  </a:extLst>
                </a:gridCol>
                <a:gridCol w="1279525">
                  <a:extLst>
                    <a:ext uri="{9D8B030D-6E8A-4147-A177-3AD203B41FA5}">
                      <a16:colId xmlns:a16="http://schemas.microsoft.com/office/drawing/2014/main" val="20004"/>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Año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Duración</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Tipo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Estudio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124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104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95</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Paramount</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19171" name="Rectangle 35"/>
          <p:cNvSpPr>
            <a:spLocks noChangeArrowheads="1"/>
          </p:cNvSpPr>
          <p:nvPr/>
        </p:nvSpPr>
        <p:spPr bwMode="auto">
          <a:xfrm>
            <a:off x="4121150" y="1693863"/>
            <a:ext cx="1074738" cy="366712"/>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Pel</a:t>
            </a:r>
            <a:r>
              <a:rPr lang="es-ES" b="1">
                <a:cs typeface="Tahoma" pitchFamily="34" charset="0"/>
              </a:rPr>
              <a:t>í</a:t>
            </a:r>
            <a:r>
              <a:rPr lang="es-ES" b="1">
                <a:latin typeface="Tahoma" pitchFamily="34" charset="0"/>
                <a:cs typeface="Tahoma" pitchFamily="34" charset="0"/>
              </a:rPr>
              <a:t>cula</a:t>
            </a:r>
            <a:endParaRPr lang="es-ES" b="1"/>
          </a:p>
        </p:txBody>
      </p:sp>
      <p:sp>
        <p:nvSpPr>
          <p:cNvPr id="219172" name="Rectangle 36"/>
          <p:cNvSpPr>
            <a:spLocks noChangeArrowheads="1"/>
          </p:cNvSpPr>
          <p:nvPr/>
        </p:nvSpPr>
        <p:spPr bwMode="auto">
          <a:xfrm>
            <a:off x="323850" y="3600450"/>
            <a:ext cx="8712200" cy="549275"/>
          </a:xfrm>
          <a:prstGeom prst="rect">
            <a:avLst/>
          </a:prstGeom>
          <a:noFill/>
          <a:ln w="9525">
            <a:noFill/>
            <a:miter lim="800000"/>
            <a:headEnd/>
            <a:tailEnd/>
          </a:ln>
        </p:spPr>
        <p:txBody>
          <a:bodyPr anchor="ctr">
            <a:spAutoFit/>
          </a:bodyPr>
          <a:lstStyle/>
          <a:p>
            <a:pPr eaLnBrk="0" hangingPunct="0"/>
            <a:r>
              <a:rPr lang="es-ES" sz="1500" b="1">
                <a:solidFill>
                  <a:schemeClr val="accent2"/>
                </a:solidFill>
                <a:latin typeface="Calibri" pitchFamily="34" charset="0"/>
              </a:rPr>
              <a:t>Ejemplo 3:</a:t>
            </a:r>
            <a:r>
              <a:rPr lang="es-ES" sz="1500">
                <a:latin typeface="Calibri" pitchFamily="34" charset="0"/>
              </a:rPr>
              <a:t> Renombrar la Relación Película como Filme y al mismo tiempo el atributo Duración como Minutos.</a:t>
            </a:r>
          </a:p>
        </p:txBody>
      </p:sp>
      <p:sp>
        <p:nvSpPr>
          <p:cNvPr id="251941" name="Rectangle 37"/>
          <p:cNvSpPr>
            <a:spLocks noChangeArrowheads="1"/>
          </p:cNvSpPr>
          <p:nvPr/>
        </p:nvSpPr>
        <p:spPr bwMode="auto">
          <a:xfrm>
            <a:off x="900113" y="4124325"/>
            <a:ext cx="5381625" cy="457200"/>
          </a:xfrm>
          <a:prstGeom prst="rect">
            <a:avLst/>
          </a:prstGeom>
          <a:noFill/>
          <a:ln w="9525">
            <a:noFill/>
            <a:miter lim="800000"/>
            <a:headEnd/>
            <a:tailEnd/>
          </a:ln>
        </p:spPr>
        <p:txBody>
          <a:bodyPr>
            <a:spAutoFit/>
          </a:bodyPr>
          <a:lstStyle/>
          <a:p>
            <a:r>
              <a:rPr lang="es-ES_tradnl" sz="2400" b="1">
                <a:solidFill>
                  <a:schemeClr val="accent2"/>
                </a:solidFill>
                <a:sym typeface="Symbol" pitchFamily="18" charset="2"/>
              </a:rPr>
              <a:t></a:t>
            </a:r>
            <a:r>
              <a:rPr lang="es-ES" sz="1500">
                <a:latin typeface="Calibri" pitchFamily="34" charset="0"/>
              </a:rPr>
              <a:t>    </a:t>
            </a:r>
            <a:r>
              <a:rPr lang="es-ES" sz="1500" b="1">
                <a:latin typeface="Calibri" pitchFamily="34" charset="0"/>
              </a:rPr>
              <a:t>Filme</a:t>
            </a:r>
            <a:r>
              <a:rPr lang="es-ES" sz="1500">
                <a:latin typeface="Calibri" pitchFamily="34" charset="0"/>
              </a:rPr>
              <a:t> (Título, Año, </a:t>
            </a:r>
            <a:r>
              <a:rPr lang="es-ES" sz="1500" b="1">
                <a:latin typeface="Calibri" pitchFamily="34" charset="0"/>
              </a:rPr>
              <a:t>Minutos</a:t>
            </a:r>
            <a:r>
              <a:rPr lang="es-ES" sz="1500">
                <a:latin typeface="Calibri" pitchFamily="34" charset="0"/>
              </a:rPr>
              <a:t>, Tipo, Estudio)  (Película)</a:t>
            </a:r>
          </a:p>
        </p:txBody>
      </p:sp>
      <p:sp>
        <p:nvSpPr>
          <p:cNvPr id="219174" name="1 Rectángulo"/>
          <p:cNvSpPr>
            <a:spLocks noChangeArrowheads="1"/>
          </p:cNvSpPr>
          <p:nvPr/>
        </p:nvSpPr>
        <p:spPr bwMode="auto">
          <a:xfrm>
            <a:off x="34925" y="1042988"/>
            <a:ext cx="9074150" cy="549275"/>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Renombrar </a:t>
            </a:r>
            <a:r>
              <a:rPr lang="es-ES_tradnl" sz="3000" b="1">
                <a:solidFill>
                  <a:schemeClr val="accent2"/>
                </a:solidFill>
                <a:sym typeface="Symbol" pitchFamily="18" charset="2"/>
              </a:rPr>
              <a:t> </a:t>
            </a:r>
            <a:r>
              <a:rPr lang="es-ES_tradnl" sz="2000" b="1">
                <a:sym typeface="Symbol" pitchFamily="18" charset="2"/>
              </a:rPr>
              <a:t>(ro)</a:t>
            </a:r>
          </a:p>
        </p:txBody>
      </p:sp>
      <p:graphicFrame>
        <p:nvGraphicFramePr>
          <p:cNvPr id="251943" name="Group 39"/>
          <p:cNvGraphicFramePr>
            <a:graphicFrameLocks noGrp="1"/>
          </p:cNvGraphicFramePr>
          <p:nvPr/>
        </p:nvGraphicFramePr>
        <p:xfrm>
          <a:off x="2124075" y="5032375"/>
          <a:ext cx="5319713"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1279525">
                  <a:extLst>
                    <a:ext uri="{9D8B030D-6E8A-4147-A177-3AD203B41FA5}">
                      <a16:colId xmlns:a16="http://schemas.microsoft.com/office/drawing/2014/main" val="20004"/>
                    </a:ext>
                  </a:extLst>
                </a:gridCol>
              </a:tblGrid>
              <a:tr h="2682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Año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bg1"/>
                          </a:solidFill>
                          <a:effectLst/>
                          <a:latin typeface="Calibri" pitchFamily="34" charset="0"/>
                          <a:cs typeface="Tahoma" pitchFamily="34" charset="0"/>
                        </a:rPr>
                        <a:t>Minutos</a:t>
                      </a:r>
                      <a:endParaRPr kumimoji="0" lang="es-ES" sz="1500" b="0" i="0" u="none" strike="noStrike" cap="none" normalizeH="0" baseline="0">
                        <a:ln>
                          <a:noFill/>
                        </a:ln>
                        <a:solidFill>
                          <a:schemeClr val="bg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Tipo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Estudio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124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104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95</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Paramount</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51975" name="Rectangle 71"/>
          <p:cNvSpPr>
            <a:spLocks noChangeArrowheads="1"/>
          </p:cNvSpPr>
          <p:nvPr/>
        </p:nvSpPr>
        <p:spPr bwMode="auto">
          <a:xfrm>
            <a:off x="4256088" y="4699000"/>
            <a:ext cx="808037" cy="366713"/>
          </a:xfrm>
          <a:prstGeom prst="rect">
            <a:avLst/>
          </a:prstGeom>
          <a:noFill/>
          <a:ln w="9525">
            <a:noFill/>
            <a:miter lim="800000"/>
            <a:headEnd/>
            <a:tailEnd/>
          </a:ln>
        </p:spPr>
        <p:txBody>
          <a:bodyPr wrap="none" anchor="ctr">
            <a:spAutoFit/>
          </a:bodyPr>
          <a:lstStyle/>
          <a:p>
            <a:pPr algn="ctr" eaLnBrk="0" hangingPunct="0"/>
            <a:r>
              <a:rPr lang="es-ES" b="1">
                <a:solidFill>
                  <a:schemeClr val="accent2"/>
                </a:solidFill>
                <a:latin typeface="Tahoma" pitchFamily="34" charset="0"/>
                <a:cs typeface="Tahoma" pitchFamily="34" charset="0"/>
              </a:rPr>
              <a:t>Filme</a:t>
            </a:r>
            <a:endParaRPr lang="es-ES" b="1">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1941"/>
                                        </p:tgtEl>
                                        <p:attrNameLst>
                                          <p:attrName>style.visibility</p:attrName>
                                        </p:attrNameLst>
                                      </p:cBhvr>
                                      <p:to>
                                        <p:strVal val="visible"/>
                                      </p:to>
                                    </p:set>
                                    <p:animEffect transition="in" filter="fade">
                                      <p:cBhvr>
                                        <p:cTn id="7" dur="500"/>
                                        <p:tgtEl>
                                          <p:spTgt spid="2519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1975"/>
                                        </p:tgtEl>
                                        <p:attrNameLst>
                                          <p:attrName>style.visibility</p:attrName>
                                        </p:attrNameLst>
                                      </p:cBhvr>
                                      <p:to>
                                        <p:strVal val="visible"/>
                                      </p:to>
                                    </p:set>
                                    <p:animEffect transition="in" filter="fade">
                                      <p:cBhvr>
                                        <p:cTn id="12" dur="500"/>
                                        <p:tgtEl>
                                          <p:spTgt spid="251975"/>
                                        </p:tgtEl>
                                      </p:cBhvr>
                                    </p:animEffect>
                                  </p:childTnLst>
                                </p:cTn>
                              </p:par>
                              <p:par>
                                <p:cTn id="13" presetID="10" presetClass="entr" presetSubtype="0" fill="hold" nodeType="withEffect">
                                  <p:stCondLst>
                                    <p:cond delay="0"/>
                                  </p:stCondLst>
                                  <p:childTnLst>
                                    <p:set>
                                      <p:cBhvr>
                                        <p:cTn id="14" dur="1" fill="hold">
                                          <p:stCondLst>
                                            <p:cond delay="0"/>
                                          </p:stCondLst>
                                        </p:cTn>
                                        <p:tgtEl>
                                          <p:spTgt spid="251943"/>
                                        </p:tgtEl>
                                        <p:attrNameLst>
                                          <p:attrName>style.visibility</p:attrName>
                                        </p:attrNameLst>
                                      </p:cBhvr>
                                      <p:to>
                                        <p:strVal val="visible"/>
                                      </p:to>
                                    </p:set>
                                    <p:animEffect transition="in" filter="fade">
                                      <p:cBhvr>
                                        <p:cTn id="15" dur="500"/>
                                        <p:tgtEl>
                                          <p:spTgt spid="251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41" grpId="0"/>
      <p:bldP spid="251975" grpId="0"/>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graphicFrame>
        <p:nvGraphicFramePr>
          <p:cNvPr id="253955" name="Group 3"/>
          <p:cNvGraphicFramePr>
            <a:graphicFrameLocks noGrp="1"/>
          </p:cNvGraphicFramePr>
          <p:nvPr/>
        </p:nvGraphicFramePr>
        <p:xfrm>
          <a:off x="1989138" y="2012950"/>
          <a:ext cx="5319712"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gridCol w="677862">
                  <a:extLst>
                    <a:ext uri="{9D8B030D-6E8A-4147-A177-3AD203B41FA5}">
                      <a16:colId xmlns:a16="http://schemas.microsoft.com/office/drawing/2014/main" val="20003"/>
                    </a:ext>
                  </a:extLst>
                </a:gridCol>
                <a:gridCol w="1279525">
                  <a:extLst>
                    <a:ext uri="{9D8B030D-6E8A-4147-A177-3AD203B41FA5}">
                      <a16:colId xmlns:a16="http://schemas.microsoft.com/office/drawing/2014/main" val="20004"/>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Título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Año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Duración</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Tipo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Estudio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124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104</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95</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Paramount</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20195" name="Rectangle 35"/>
          <p:cNvSpPr>
            <a:spLocks noChangeArrowheads="1"/>
          </p:cNvSpPr>
          <p:nvPr/>
        </p:nvSpPr>
        <p:spPr bwMode="auto">
          <a:xfrm>
            <a:off x="4121150" y="1693863"/>
            <a:ext cx="1074738" cy="366712"/>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Pel</a:t>
            </a:r>
            <a:r>
              <a:rPr lang="es-ES" b="1">
                <a:cs typeface="Tahoma" pitchFamily="34" charset="0"/>
              </a:rPr>
              <a:t>í</a:t>
            </a:r>
            <a:r>
              <a:rPr lang="es-ES" b="1">
                <a:latin typeface="Tahoma" pitchFamily="34" charset="0"/>
                <a:cs typeface="Tahoma" pitchFamily="34" charset="0"/>
              </a:rPr>
              <a:t>cula</a:t>
            </a:r>
            <a:endParaRPr lang="es-ES" b="1"/>
          </a:p>
        </p:txBody>
      </p:sp>
      <p:sp>
        <p:nvSpPr>
          <p:cNvPr id="220196" name="Rectangle 36"/>
          <p:cNvSpPr>
            <a:spLocks noChangeArrowheads="1"/>
          </p:cNvSpPr>
          <p:nvPr/>
        </p:nvSpPr>
        <p:spPr bwMode="auto">
          <a:xfrm>
            <a:off x="323850" y="3600450"/>
            <a:ext cx="8712200" cy="549275"/>
          </a:xfrm>
          <a:prstGeom prst="rect">
            <a:avLst/>
          </a:prstGeom>
          <a:noFill/>
          <a:ln w="9525">
            <a:noFill/>
            <a:miter lim="800000"/>
            <a:headEnd/>
            <a:tailEnd/>
          </a:ln>
        </p:spPr>
        <p:txBody>
          <a:bodyPr anchor="ctr">
            <a:spAutoFit/>
          </a:bodyPr>
          <a:lstStyle/>
          <a:p>
            <a:pPr eaLnBrk="0" hangingPunct="0"/>
            <a:r>
              <a:rPr lang="es-ES" sz="1500" b="1">
                <a:solidFill>
                  <a:schemeClr val="accent2"/>
                </a:solidFill>
                <a:latin typeface="Calibri" pitchFamily="34" charset="0"/>
              </a:rPr>
              <a:t>Ejemplo 4:</a:t>
            </a:r>
            <a:r>
              <a:rPr lang="es-ES" sz="1500">
                <a:latin typeface="Calibri" pitchFamily="34" charset="0"/>
              </a:rPr>
              <a:t> Utiliza la Proyección para Renombrar el atributo Año como Estreno mostrando solo el Título y Estreno.</a:t>
            </a:r>
          </a:p>
        </p:txBody>
      </p:sp>
      <p:sp>
        <p:nvSpPr>
          <p:cNvPr id="253989" name="Rectangle 37"/>
          <p:cNvSpPr>
            <a:spLocks noChangeArrowheads="1"/>
          </p:cNvSpPr>
          <p:nvPr/>
        </p:nvSpPr>
        <p:spPr bwMode="auto">
          <a:xfrm>
            <a:off x="900113" y="4124325"/>
            <a:ext cx="5381625" cy="457200"/>
          </a:xfrm>
          <a:prstGeom prst="rect">
            <a:avLst/>
          </a:prstGeom>
          <a:noFill/>
          <a:ln w="9525">
            <a:noFill/>
            <a:miter lim="800000"/>
            <a:headEnd/>
            <a:tailEnd/>
          </a:ln>
        </p:spPr>
        <p:txBody>
          <a:bodyPr>
            <a:spAutoFit/>
          </a:bodyPr>
          <a:lstStyle/>
          <a:p>
            <a:r>
              <a:rPr lang="es-ES_tradnl" sz="2400" b="1">
                <a:solidFill>
                  <a:schemeClr val="accent2"/>
                </a:solidFill>
                <a:sym typeface="Symbol" pitchFamily="18" charset="2"/>
              </a:rPr>
              <a:t></a:t>
            </a:r>
            <a:r>
              <a:rPr lang="es-ES" sz="1500">
                <a:latin typeface="Calibri" pitchFamily="34" charset="0"/>
              </a:rPr>
              <a:t>    Título, Año as Estreno  (Película)</a:t>
            </a:r>
          </a:p>
        </p:txBody>
      </p:sp>
      <p:sp>
        <p:nvSpPr>
          <p:cNvPr id="220198" name="1 Rectángulo"/>
          <p:cNvSpPr>
            <a:spLocks noChangeArrowheads="1"/>
          </p:cNvSpPr>
          <p:nvPr/>
        </p:nvSpPr>
        <p:spPr bwMode="auto">
          <a:xfrm>
            <a:off x="34925" y="1042988"/>
            <a:ext cx="9074150" cy="549275"/>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Renombrar </a:t>
            </a:r>
            <a:r>
              <a:rPr lang="es-ES_tradnl" sz="3000" b="1">
                <a:solidFill>
                  <a:schemeClr val="accent2"/>
                </a:solidFill>
                <a:sym typeface="Symbol" pitchFamily="18" charset="2"/>
              </a:rPr>
              <a:t> </a:t>
            </a:r>
            <a:r>
              <a:rPr lang="es-ES_tradnl" sz="2000" b="1">
                <a:sym typeface="Symbol" pitchFamily="18" charset="2"/>
              </a:rPr>
              <a:t>(ro)</a:t>
            </a:r>
          </a:p>
        </p:txBody>
      </p:sp>
      <p:graphicFrame>
        <p:nvGraphicFramePr>
          <p:cNvPr id="254027" name="Group 75"/>
          <p:cNvGraphicFramePr>
            <a:graphicFrameLocks noGrp="1"/>
          </p:cNvGraphicFramePr>
          <p:nvPr/>
        </p:nvGraphicFramePr>
        <p:xfrm>
          <a:off x="3419475" y="5032375"/>
          <a:ext cx="2305050"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841375">
                  <a:extLst>
                    <a:ext uri="{9D8B030D-6E8A-4147-A177-3AD203B41FA5}">
                      <a16:colId xmlns:a16="http://schemas.microsoft.com/office/drawing/2014/main" val="20001"/>
                    </a:ext>
                  </a:extLst>
                </a:gridCol>
              </a:tblGrid>
              <a:tr h="2682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Estreno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54023" name="Rectangle 71"/>
          <p:cNvSpPr>
            <a:spLocks noChangeArrowheads="1"/>
          </p:cNvSpPr>
          <p:nvPr/>
        </p:nvSpPr>
        <p:spPr bwMode="auto">
          <a:xfrm>
            <a:off x="4124325" y="4699000"/>
            <a:ext cx="1074738" cy="366713"/>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Pel</a:t>
            </a:r>
            <a:r>
              <a:rPr lang="es-ES" b="1">
                <a:cs typeface="Tahoma" pitchFamily="34" charset="0"/>
              </a:rPr>
              <a:t>í</a:t>
            </a:r>
            <a:r>
              <a:rPr lang="es-ES" b="1">
                <a:latin typeface="Tahoma" pitchFamily="34" charset="0"/>
                <a:cs typeface="Tahoma" pitchFamily="34" charset="0"/>
              </a:rPr>
              <a:t>cula</a:t>
            </a:r>
            <a:endParaRPr lang="es-E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539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54023"/>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499"/>
                                          </p:stCondLst>
                                        </p:cTn>
                                        <p:tgtEl>
                                          <p:spTgt spid="254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89" grpId="0" autoUpdateAnimBg="0"/>
      <p:bldP spid="254023" grpId="0" autoUpdateAnimBg="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21187" name="1 Rectángulo"/>
          <p:cNvSpPr>
            <a:spLocks noChangeArrowheads="1"/>
          </p:cNvSpPr>
          <p:nvPr/>
        </p:nvSpPr>
        <p:spPr bwMode="auto">
          <a:xfrm>
            <a:off x="34925" y="1042988"/>
            <a:ext cx="9074150" cy="549275"/>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Asignación </a:t>
            </a:r>
            <a:r>
              <a:rPr lang="es-ES_tradnl" sz="3000" b="1">
                <a:solidFill>
                  <a:schemeClr val="accent2"/>
                </a:solidFill>
                <a:sym typeface="Wingdings" pitchFamily="2" charset="2"/>
              </a:rPr>
              <a:t></a:t>
            </a:r>
            <a:endParaRPr lang="es-ES_tradnl" sz="2000" b="1">
              <a:sym typeface="Symbol" pitchFamily="18" charset="2"/>
            </a:endParaRPr>
          </a:p>
        </p:txBody>
      </p:sp>
      <p:sp>
        <p:nvSpPr>
          <p:cNvPr id="221188" name="9 Rectángulo"/>
          <p:cNvSpPr>
            <a:spLocks noChangeArrowheads="1"/>
          </p:cNvSpPr>
          <p:nvPr/>
        </p:nvSpPr>
        <p:spPr bwMode="auto">
          <a:xfrm>
            <a:off x="1500188" y="2071688"/>
            <a:ext cx="5857875" cy="830262"/>
          </a:xfrm>
          <a:prstGeom prst="rect">
            <a:avLst/>
          </a:prstGeom>
          <a:noFill/>
          <a:ln w="9525">
            <a:noFill/>
            <a:miter lim="800000"/>
            <a:headEnd/>
            <a:tailEnd/>
          </a:ln>
        </p:spPr>
        <p:txBody>
          <a:bodyPr>
            <a:spAutoFit/>
          </a:bodyPr>
          <a:lstStyle/>
          <a:p>
            <a:pPr algn="just"/>
            <a:r>
              <a:rPr lang="es-ES" sz="2400">
                <a:latin typeface="Calibri" pitchFamily="34" charset="0"/>
              </a:rPr>
              <a:t>Almacena temporalmente el resultado de una operación en un relación dada </a:t>
            </a:r>
          </a:p>
        </p:txBody>
      </p:sp>
      <p:sp>
        <p:nvSpPr>
          <p:cNvPr id="11" name="Rectangle 37"/>
          <p:cNvSpPr>
            <a:spLocks noChangeArrowheads="1"/>
          </p:cNvSpPr>
          <p:nvPr/>
        </p:nvSpPr>
        <p:spPr bwMode="auto">
          <a:xfrm>
            <a:off x="1214438" y="3690938"/>
            <a:ext cx="2143125" cy="523875"/>
          </a:xfrm>
          <a:prstGeom prst="rect">
            <a:avLst/>
          </a:prstGeom>
          <a:noFill/>
          <a:ln w="9525">
            <a:noFill/>
            <a:miter lim="800000"/>
            <a:headEnd/>
            <a:tailEnd/>
          </a:ln>
        </p:spPr>
        <p:txBody>
          <a:bodyPr>
            <a:spAutoFit/>
          </a:bodyPr>
          <a:lstStyle/>
          <a:p>
            <a:r>
              <a:rPr lang="es-ES_tradnl" sz="2000">
                <a:sym typeface="Wingdings" pitchFamily="2" charset="2"/>
              </a:rPr>
              <a:t>ESTRENOS </a:t>
            </a:r>
            <a:r>
              <a:rPr lang="es-ES_tradnl" sz="2800" b="1">
                <a:solidFill>
                  <a:schemeClr val="accent2"/>
                </a:solidFill>
                <a:sym typeface="Wingdings" pitchFamily="2" charset="2"/>
              </a:rPr>
              <a:t></a:t>
            </a:r>
            <a:endParaRPr lang="es-ES" sz="2400">
              <a:latin typeface="Calibri" pitchFamily="34" charset="0"/>
            </a:endParaRPr>
          </a:p>
        </p:txBody>
      </p:sp>
      <p:sp>
        <p:nvSpPr>
          <p:cNvPr id="12" name="Rectangle 37"/>
          <p:cNvSpPr>
            <a:spLocks noChangeArrowheads="1"/>
          </p:cNvSpPr>
          <p:nvPr/>
        </p:nvSpPr>
        <p:spPr bwMode="auto">
          <a:xfrm>
            <a:off x="3429000" y="3500438"/>
            <a:ext cx="4857750" cy="708025"/>
          </a:xfrm>
          <a:prstGeom prst="rect">
            <a:avLst/>
          </a:prstGeom>
          <a:noFill/>
          <a:ln w="9525">
            <a:noFill/>
            <a:miter lim="800000"/>
            <a:headEnd/>
            <a:tailEnd/>
          </a:ln>
        </p:spPr>
        <p:txBody>
          <a:bodyPr>
            <a:spAutoFit/>
          </a:bodyPr>
          <a:lstStyle/>
          <a:p>
            <a:r>
              <a:rPr lang="es-ES_tradnl" sz="4000" b="1">
                <a:solidFill>
                  <a:schemeClr val="accent2"/>
                </a:solidFill>
                <a:sym typeface="Symbol" pitchFamily="18" charset="2"/>
              </a:rPr>
              <a:t></a:t>
            </a:r>
            <a:r>
              <a:rPr lang="es-ES" sz="2400">
                <a:latin typeface="Calibri" pitchFamily="34" charset="0"/>
              </a:rPr>
              <a:t>    Título, Año as Estreno  (Película)</a:t>
            </a:r>
          </a:p>
        </p:txBody>
      </p:sp>
      <p:graphicFrame>
        <p:nvGraphicFramePr>
          <p:cNvPr id="13" name="Group 75"/>
          <p:cNvGraphicFramePr>
            <a:graphicFrameLocks noGrp="1"/>
          </p:cNvGraphicFramePr>
          <p:nvPr/>
        </p:nvGraphicFramePr>
        <p:xfrm>
          <a:off x="3419475" y="5032375"/>
          <a:ext cx="2305050"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841375">
                  <a:extLst>
                    <a:ext uri="{9D8B030D-6E8A-4147-A177-3AD203B41FA5}">
                      <a16:colId xmlns:a16="http://schemas.microsoft.com/office/drawing/2014/main" val="20001"/>
                    </a:ext>
                  </a:extLst>
                </a:gridCol>
              </a:tblGrid>
              <a:tr h="2682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Título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Estreno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1992</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4" name="Rectangle 71"/>
          <p:cNvSpPr>
            <a:spLocks noChangeArrowheads="1"/>
          </p:cNvSpPr>
          <p:nvPr/>
        </p:nvSpPr>
        <p:spPr bwMode="auto">
          <a:xfrm>
            <a:off x="3948113" y="4697413"/>
            <a:ext cx="1427162" cy="369887"/>
          </a:xfrm>
          <a:prstGeom prst="rect">
            <a:avLst/>
          </a:prstGeom>
          <a:noFill/>
          <a:ln w="9525">
            <a:noFill/>
            <a:miter lim="800000"/>
            <a:headEnd/>
            <a:tailEnd/>
          </a:ln>
        </p:spPr>
        <p:txBody>
          <a:bodyPr wrap="none" anchor="ctr">
            <a:spAutoFit/>
          </a:bodyPr>
          <a:lstStyle/>
          <a:p>
            <a:pPr algn="ctr" eaLnBrk="0" hangingPunct="0"/>
            <a:r>
              <a:rPr lang="es-MX" b="1">
                <a:latin typeface="Tahoma" pitchFamily="34" charset="0"/>
                <a:cs typeface="Tahoma" pitchFamily="34" charset="0"/>
              </a:rPr>
              <a:t>ESTRENOS</a:t>
            </a:r>
            <a:endParaRPr lang="es-E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P spid="12" grpId="0" autoUpdateAnimBg="0"/>
      <p:bldP spid="14" grpId="0" autoUpdateAnimBg="0"/>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22211" name="1 Rectángulo"/>
          <p:cNvSpPr>
            <a:spLocks noChangeArrowheads="1"/>
          </p:cNvSpPr>
          <p:nvPr/>
        </p:nvSpPr>
        <p:spPr bwMode="auto">
          <a:xfrm>
            <a:off x="34925" y="1042988"/>
            <a:ext cx="9074150" cy="400050"/>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Teoría de Conjuntos</a:t>
            </a:r>
            <a:endParaRPr lang="es-ES_tradnl" sz="2000" b="1">
              <a:sym typeface="Symbol" pitchFamily="18" charset="2"/>
            </a:endParaRPr>
          </a:p>
        </p:txBody>
      </p:sp>
      <p:sp>
        <p:nvSpPr>
          <p:cNvPr id="222212" name="9 Rectángulo"/>
          <p:cNvSpPr>
            <a:spLocks noChangeArrowheads="1"/>
          </p:cNvSpPr>
          <p:nvPr/>
        </p:nvSpPr>
        <p:spPr bwMode="auto">
          <a:xfrm>
            <a:off x="1214438" y="3081338"/>
            <a:ext cx="6786562" cy="2062162"/>
          </a:xfrm>
          <a:prstGeom prst="rect">
            <a:avLst/>
          </a:prstGeom>
          <a:noFill/>
          <a:ln w="9525">
            <a:noFill/>
            <a:miter lim="800000"/>
            <a:headEnd/>
            <a:tailEnd/>
          </a:ln>
        </p:spPr>
        <p:txBody>
          <a:bodyPr>
            <a:spAutoFit/>
          </a:bodyPr>
          <a:lstStyle/>
          <a:p>
            <a:r>
              <a:rPr lang="es-ES" sz="2400" b="1"/>
              <a:t>Características:</a:t>
            </a:r>
          </a:p>
          <a:p>
            <a:endParaRPr lang="es-ES" sz="2400"/>
          </a:p>
          <a:p>
            <a:pPr marL="914400" lvl="1" indent="-457200">
              <a:buFont typeface="Lucida Sans Unicode" pitchFamily="34" charset="0"/>
              <a:buAutoNum type="arabicPeriod"/>
            </a:pPr>
            <a:r>
              <a:rPr lang="es-ES" sz="2000"/>
              <a:t>Son operaciones binarias.</a:t>
            </a:r>
          </a:p>
          <a:p>
            <a:pPr marL="914400" lvl="1" indent="-457200">
              <a:buFont typeface="Lucida Sans Unicode" pitchFamily="34" charset="0"/>
              <a:buAutoNum type="arabicPeriod"/>
            </a:pPr>
            <a:r>
              <a:rPr lang="es-ES" sz="2000"/>
              <a:t>Su resultado es otra relación.</a:t>
            </a:r>
          </a:p>
          <a:p>
            <a:pPr marL="914400" lvl="1" indent="-457200">
              <a:buFont typeface="Lucida Sans Unicode" pitchFamily="34" charset="0"/>
              <a:buAutoNum type="arabicPeriod"/>
            </a:pPr>
            <a:r>
              <a:rPr lang="es-ES" sz="2000"/>
              <a:t>R y S deben tener esquemas idénticos. </a:t>
            </a:r>
          </a:p>
          <a:p>
            <a:pPr marL="914400" lvl="1" indent="-457200">
              <a:buFont typeface="Lucida Sans Unicode" pitchFamily="34" charset="0"/>
              <a:buAutoNum type="arabicPeriod"/>
            </a:pPr>
            <a:r>
              <a:rPr lang="es-ES" sz="2000"/>
              <a:t>El orden de las columnas debe ser el mismo.</a:t>
            </a:r>
            <a:endParaRPr lang="es-ES" sz="2400">
              <a:latin typeface="Calibri" pitchFamily="34" charset="0"/>
            </a:endParaRPr>
          </a:p>
        </p:txBody>
      </p:sp>
      <p:sp>
        <p:nvSpPr>
          <p:cNvPr id="222213" name="4 CuadroTexto"/>
          <p:cNvSpPr txBox="1">
            <a:spLocks noChangeArrowheads="1"/>
          </p:cNvSpPr>
          <p:nvPr/>
        </p:nvSpPr>
        <p:spPr bwMode="auto">
          <a:xfrm>
            <a:off x="1846263" y="1928813"/>
            <a:ext cx="4868862" cy="461962"/>
          </a:xfrm>
          <a:prstGeom prst="rect">
            <a:avLst/>
          </a:prstGeom>
          <a:noFill/>
          <a:ln w="9525">
            <a:noFill/>
            <a:miter lim="800000"/>
            <a:headEnd/>
            <a:tailEnd/>
          </a:ln>
        </p:spPr>
        <p:txBody>
          <a:bodyPr wrap="none">
            <a:spAutoFit/>
          </a:bodyPr>
          <a:lstStyle/>
          <a:p>
            <a:r>
              <a:rPr lang="es-MX" sz="2400" b="1"/>
              <a:t>Unión, Intersección y Diferencia</a:t>
            </a:r>
            <a:endParaRPr lang="es-ES" sz="2400" b="1"/>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23235" name="1 Rectángulo"/>
          <p:cNvSpPr>
            <a:spLocks noChangeArrowheads="1"/>
          </p:cNvSpPr>
          <p:nvPr/>
        </p:nvSpPr>
        <p:spPr bwMode="auto">
          <a:xfrm>
            <a:off x="34925" y="1042988"/>
            <a:ext cx="9074150" cy="554037"/>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Unión </a:t>
            </a:r>
            <a:r>
              <a:rPr lang="es-ES_tradnl" sz="3000" b="1">
                <a:solidFill>
                  <a:schemeClr val="accent2"/>
                </a:solidFill>
                <a:sym typeface="Symbol" pitchFamily="18" charset="2"/>
              </a:rPr>
              <a:t></a:t>
            </a:r>
            <a:endParaRPr lang="es-ES_tradnl" sz="2000" b="1">
              <a:sym typeface="Symbol" pitchFamily="18" charset="2"/>
            </a:endParaRPr>
          </a:p>
        </p:txBody>
      </p:sp>
      <p:sp>
        <p:nvSpPr>
          <p:cNvPr id="223236" name="9 Rectángulo"/>
          <p:cNvSpPr>
            <a:spLocks noChangeArrowheads="1"/>
          </p:cNvSpPr>
          <p:nvPr/>
        </p:nvSpPr>
        <p:spPr bwMode="auto">
          <a:xfrm>
            <a:off x="642938" y="1857375"/>
            <a:ext cx="7786687" cy="708025"/>
          </a:xfrm>
          <a:prstGeom prst="rect">
            <a:avLst/>
          </a:prstGeom>
          <a:noFill/>
          <a:ln w="9525">
            <a:noFill/>
            <a:miter lim="800000"/>
            <a:headEnd/>
            <a:tailEnd/>
          </a:ln>
        </p:spPr>
        <p:txBody>
          <a:bodyPr>
            <a:spAutoFit/>
          </a:bodyPr>
          <a:lstStyle/>
          <a:p>
            <a:pPr algn="just"/>
            <a:r>
              <a:rPr lang="es-ES" sz="2000" b="1"/>
              <a:t>R </a:t>
            </a:r>
            <a:r>
              <a:rPr lang="es-ES_tradnl" sz="2000" b="1">
                <a:solidFill>
                  <a:schemeClr val="accent2"/>
                </a:solidFill>
                <a:sym typeface="Symbol" pitchFamily="18" charset="2"/>
              </a:rPr>
              <a:t> </a:t>
            </a:r>
            <a:r>
              <a:rPr lang="es-ES" sz="2000" b="1"/>
              <a:t>S</a:t>
            </a:r>
            <a:r>
              <a:rPr lang="es-ES" sz="2000"/>
              <a:t>: La Unión entre dos relaciones R y S nos da todas las tuplas tanto de R como de S, eliminando las que están repetidas.</a:t>
            </a:r>
          </a:p>
        </p:txBody>
      </p:sp>
      <p:graphicFrame>
        <p:nvGraphicFramePr>
          <p:cNvPr id="9" name="Group 75"/>
          <p:cNvGraphicFramePr>
            <a:graphicFrameLocks noGrp="1"/>
          </p:cNvGraphicFramePr>
          <p:nvPr/>
        </p:nvGraphicFramePr>
        <p:xfrm>
          <a:off x="5986463" y="4286250"/>
          <a:ext cx="1043034" cy="1828800"/>
        </p:xfrm>
        <a:graphic>
          <a:graphicData uri="http://schemas.openxmlformats.org/drawingml/2006/table">
            <a:tbl>
              <a:tblPr/>
              <a:tblGrid>
                <a:gridCol w="1043034">
                  <a:extLst>
                    <a:ext uri="{9D8B030D-6E8A-4147-A177-3AD203B41FA5}">
                      <a16:colId xmlns:a16="http://schemas.microsoft.com/office/drawing/2014/main" val="20000"/>
                    </a:ext>
                  </a:extLst>
                </a:gridCol>
              </a:tblGrid>
              <a:tr h="2682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bg1"/>
                          </a:solidFill>
                          <a:effectLst/>
                          <a:latin typeface="Calibri" pitchFamily="34" charset="0"/>
                          <a:cs typeface="Tahoma" pitchFamily="34" charset="0"/>
                        </a:rPr>
                        <a:t>Año</a:t>
                      </a:r>
                      <a:endParaRPr kumimoji="0" lang="es-ES" sz="1800" b="0" i="0" u="none" strike="noStrike" cap="none" normalizeH="0" baseline="0" dirty="0">
                        <a:ln>
                          <a:noFill/>
                        </a:ln>
                        <a:solidFill>
                          <a:schemeClr val="bg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1977</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1945</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1991</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800" b="0" i="0" u="none" strike="noStrike" cap="none" normalizeH="0" baseline="0" dirty="0">
                          <a:ln>
                            <a:noFill/>
                          </a:ln>
                          <a:solidFill>
                            <a:schemeClr val="tx1"/>
                          </a:solidFill>
                          <a:effectLst/>
                          <a:latin typeface="Calibri" pitchFamily="34" charset="0"/>
                        </a:rPr>
                        <a:t>1979</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5" name="Rectangle 71"/>
          <p:cNvSpPr>
            <a:spLocks noChangeArrowheads="1"/>
          </p:cNvSpPr>
          <p:nvPr/>
        </p:nvSpPr>
        <p:spPr bwMode="auto">
          <a:xfrm>
            <a:off x="6353175" y="3916363"/>
            <a:ext cx="333375" cy="338137"/>
          </a:xfrm>
          <a:prstGeom prst="rect">
            <a:avLst/>
          </a:prstGeom>
          <a:noFill/>
          <a:ln w="9525">
            <a:noFill/>
            <a:miter lim="800000"/>
            <a:headEnd/>
            <a:tailEnd/>
          </a:ln>
        </p:spPr>
        <p:txBody>
          <a:bodyPr wrap="none" anchor="ctr">
            <a:spAutoFit/>
          </a:bodyPr>
          <a:lstStyle/>
          <a:p>
            <a:pPr algn="ctr" eaLnBrk="0" hangingPunct="0"/>
            <a:r>
              <a:rPr lang="es-MX" sz="1600" b="1">
                <a:latin typeface="Tahoma" pitchFamily="34" charset="0"/>
                <a:cs typeface="Tahoma" pitchFamily="34" charset="0"/>
              </a:rPr>
              <a:t>R</a:t>
            </a:r>
            <a:endParaRPr lang="es-ES" sz="1600" b="1"/>
          </a:p>
        </p:txBody>
      </p:sp>
      <p:graphicFrame>
        <p:nvGraphicFramePr>
          <p:cNvPr id="16" name="Group 75"/>
          <p:cNvGraphicFramePr>
            <a:graphicFrameLocks noGrp="1"/>
          </p:cNvGraphicFramePr>
          <p:nvPr/>
        </p:nvGraphicFramePr>
        <p:xfrm>
          <a:off x="7815263" y="4286250"/>
          <a:ext cx="1043034" cy="1463040"/>
        </p:xfrm>
        <a:graphic>
          <a:graphicData uri="http://schemas.openxmlformats.org/drawingml/2006/table">
            <a:tbl>
              <a:tblPr/>
              <a:tblGrid>
                <a:gridCol w="1043034">
                  <a:extLst>
                    <a:ext uri="{9D8B030D-6E8A-4147-A177-3AD203B41FA5}">
                      <a16:colId xmlns:a16="http://schemas.microsoft.com/office/drawing/2014/main" val="20000"/>
                    </a:ext>
                  </a:extLst>
                </a:gridCol>
              </a:tblGrid>
              <a:tr h="2682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bg1"/>
                          </a:solidFill>
                          <a:effectLst/>
                          <a:latin typeface="Calibri" pitchFamily="34" charset="0"/>
                          <a:cs typeface="Tahoma" pitchFamily="34" charset="0"/>
                        </a:rPr>
                        <a:t>Año</a:t>
                      </a:r>
                      <a:endParaRPr kumimoji="0" lang="es-ES" sz="1800" b="0" i="0" u="none" strike="noStrike" cap="none" normalizeH="0" baseline="0" dirty="0">
                        <a:ln>
                          <a:noFill/>
                        </a:ln>
                        <a:solidFill>
                          <a:schemeClr val="bg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1942</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a:ln>
                            <a:noFill/>
                          </a:ln>
                          <a:solidFill>
                            <a:schemeClr val="tx1"/>
                          </a:solidFill>
                          <a:effectLst/>
                          <a:latin typeface="Calibri" pitchFamily="34" charset="0"/>
                          <a:cs typeface="Tahoma" pitchFamily="34" charset="0"/>
                        </a:rPr>
                        <a:t>1991</a:t>
                      </a:r>
                      <a:endParaRPr kumimoji="0" lang="es-ES" sz="18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1978</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7" name="Rectangle 71"/>
          <p:cNvSpPr>
            <a:spLocks noChangeArrowheads="1"/>
          </p:cNvSpPr>
          <p:nvPr/>
        </p:nvSpPr>
        <p:spPr bwMode="auto">
          <a:xfrm>
            <a:off x="8191500" y="3916363"/>
            <a:ext cx="314325" cy="338137"/>
          </a:xfrm>
          <a:prstGeom prst="rect">
            <a:avLst/>
          </a:prstGeom>
          <a:noFill/>
          <a:ln w="9525">
            <a:noFill/>
            <a:miter lim="800000"/>
            <a:headEnd/>
            <a:tailEnd/>
          </a:ln>
        </p:spPr>
        <p:txBody>
          <a:bodyPr wrap="none" anchor="ctr">
            <a:spAutoFit/>
          </a:bodyPr>
          <a:lstStyle/>
          <a:p>
            <a:pPr algn="ctr" eaLnBrk="0" hangingPunct="0"/>
            <a:r>
              <a:rPr lang="es-MX" sz="1600" b="1">
                <a:latin typeface="Tahoma" pitchFamily="34" charset="0"/>
                <a:cs typeface="Tahoma" pitchFamily="34" charset="0"/>
              </a:rPr>
              <a:t>S</a:t>
            </a:r>
            <a:endParaRPr lang="es-ES" sz="1600" b="1"/>
          </a:p>
        </p:txBody>
      </p:sp>
      <p:sp>
        <p:nvSpPr>
          <p:cNvPr id="18" name="1 Rectángulo"/>
          <p:cNvSpPr>
            <a:spLocks noChangeArrowheads="1"/>
          </p:cNvSpPr>
          <p:nvPr/>
        </p:nvSpPr>
        <p:spPr bwMode="auto">
          <a:xfrm>
            <a:off x="6672263" y="4829175"/>
            <a:ext cx="1214437" cy="769938"/>
          </a:xfrm>
          <a:prstGeom prst="rect">
            <a:avLst/>
          </a:prstGeom>
          <a:noFill/>
          <a:ln w="9525">
            <a:noFill/>
            <a:miter lim="800000"/>
            <a:headEnd/>
            <a:tailEnd/>
          </a:ln>
        </p:spPr>
        <p:txBody>
          <a:bodyPr>
            <a:spAutoFit/>
          </a:bodyPr>
          <a:lstStyle/>
          <a:p>
            <a:pPr marL="800100" lvl="1" indent="-342900">
              <a:buFont typeface="Arial" charset="0"/>
              <a:buNone/>
            </a:pPr>
            <a:r>
              <a:rPr lang="es-ES_tradnl" sz="4400" b="1">
                <a:solidFill>
                  <a:schemeClr val="accent2"/>
                </a:solidFill>
                <a:sym typeface="Symbol" pitchFamily="18" charset="2"/>
              </a:rPr>
              <a:t></a:t>
            </a:r>
            <a:endParaRPr lang="es-ES_tradnl" sz="3600" b="1">
              <a:sym typeface="Symbol" pitchFamily="18" charset="2"/>
            </a:endParaRPr>
          </a:p>
        </p:txBody>
      </p:sp>
      <p:sp>
        <p:nvSpPr>
          <p:cNvPr id="19" name="Rectangle 37"/>
          <p:cNvSpPr>
            <a:spLocks noChangeArrowheads="1"/>
          </p:cNvSpPr>
          <p:nvPr/>
        </p:nvSpPr>
        <p:spPr bwMode="auto">
          <a:xfrm>
            <a:off x="5129213" y="5173663"/>
            <a:ext cx="642937" cy="584200"/>
          </a:xfrm>
          <a:prstGeom prst="rect">
            <a:avLst/>
          </a:prstGeom>
          <a:noFill/>
          <a:ln w="9525">
            <a:noFill/>
            <a:miter lim="800000"/>
            <a:headEnd/>
            <a:tailEnd/>
          </a:ln>
        </p:spPr>
        <p:txBody>
          <a:bodyPr>
            <a:spAutoFit/>
          </a:bodyPr>
          <a:lstStyle/>
          <a:p>
            <a:r>
              <a:rPr lang="es-ES_tradnl" sz="3200" b="1">
                <a:solidFill>
                  <a:schemeClr val="accent2"/>
                </a:solidFill>
                <a:sym typeface="Wingdings" pitchFamily="2" charset="2"/>
              </a:rPr>
              <a:t></a:t>
            </a:r>
            <a:endParaRPr lang="es-ES" sz="2800">
              <a:latin typeface="Calibri" pitchFamily="34" charset="0"/>
            </a:endParaRPr>
          </a:p>
        </p:txBody>
      </p:sp>
      <p:graphicFrame>
        <p:nvGraphicFramePr>
          <p:cNvPr id="21" name="Group 75"/>
          <p:cNvGraphicFramePr>
            <a:graphicFrameLocks noGrp="1"/>
          </p:cNvGraphicFramePr>
          <p:nvPr/>
        </p:nvGraphicFramePr>
        <p:xfrm>
          <a:off x="4011613" y="4011613"/>
          <a:ext cx="1043034" cy="2560320"/>
        </p:xfrm>
        <a:graphic>
          <a:graphicData uri="http://schemas.openxmlformats.org/drawingml/2006/table">
            <a:tbl>
              <a:tblPr/>
              <a:tblGrid>
                <a:gridCol w="1043034">
                  <a:extLst>
                    <a:ext uri="{9D8B030D-6E8A-4147-A177-3AD203B41FA5}">
                      <a16:colId xmlns:a16="http://schemas.microsoft.com/office/drawing/2014/main" val="20000"/>
                    </a:ext>
                  </a:extLst>
                </a:gridCol>
              </a:tblGrid>
              <a:tr h="2000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bg1"/>
                          </a:solidFill>
                          <a:effectLst/>
                          <a:latin typeface="Calibri" pitchFamily="34" charset="0"/>
                          <a:cs typeface="Tahoma" pitchFamily="34" charset="0"/>
                        </a:rPr>
                        <a:t>Año</a:t>
                      </a:r>
                      <a:endParaRPr kumimoji="0" lang="es-ES" sz="1800" b="0" i="0" u="none" strike="noStrike" cap="none" normalizeH="0" baseline="0" dirty="0">
                        <a:ln>
                          <a:noFill/>
                        </a:ln>
                        <a:solidFill>
                          <a:schemeClr val="bg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000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1977</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00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1942</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00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1945</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00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800" b="0" i="0" u="none" strike="noStrike" cap="none" normalizeH="0" baseline="0" dirty="0">
                          <a:ln>
                            <a:noFill/>
                          </a:ln>
                          <a:solidFill>
                            <a:schemeClr val="tx1"/>
                          </a:solidFill>
                          <a:effectLst/>
                          <a:latin typeface="Calibri" pitchFamily="34" charset="0"/>
                        </a:rPr>
                        <a:t>1991</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00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800" b="0" i="0" u="none" strike="noStrike" cap="none" normalizeH="0" baseline="0" dirty="0">
                          <a:ln>
                            <a:noFill/>
                          </a:ln>
                          <a:solidFill>
                            <a:schemeClr val="tx1"/>
                          </a:solidFill>
                          <a:effectLst/>
                          <a:latin typeface="Calibri" pitchFamily="34" charset="0"/>
                        </a:rPr>
                        <a:t>1978</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000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800" b="0" i="0" u="none" strike="noStrike" cap="none" normalizeH="0" baseline="0" dirty="0">
                          <a:ln>
                            <a:noFill/>
                          </a:ln>
                          <a:solidFill>
                            <a:schemeClr val="tx1"/>
                          </a:solidFill>
                          <a:effectLst/>
                          <a:latin typeface="Calibri" pitchFamily="34" charset="0"/>
                        </a:rPr>
                        <a:t>1979</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2" name="Rectangle 71"/>
          <p:cNvSpPr>
            <a:spLocks noChangeArrowheads="1"/>
          </p:cNvSpPr>
          <p:nvPr/>
        </p:nvSpPr>
        <p:spPr bwMode="auto">
          <a:xfrm>
            <a:off x="3825875" y="3641725"/>
            <a:ext cx="1439863" cy="338138"/>
          </a:xfrm>
          <a:prstGeom prst="rect">
            <a:avLst/>
          </a:prstGeom>
          <a:noFill/>
          <a:ln w="9525">
            <a:noFill/>
            <a:miter lim="800000"/>
            <a:headEnd/>
            <a:tailEnd/>
          </a:ln>
        </p:spPr>
        <p:txBody>
          <a:bodyPr wrap="none" anchor="ctr">
            <a:spAutoFit/>
          </a:bodyPr>
          <a:lstStyle/>
          <a:p>
            <a:pPr algn="ctr" eaLnBrk="0" hangingPunct="0"/>
            <a:r>
              <a:rPr lang="es-MX" sz="1600" b="1">
                <a:latin typeface="Tahoma" pitchFamily="34" charset="0"/>
                <a:cs typeface="Tahoma" pitchFamily="34" charset="0"/>
              </a:rPr>
              <a:t>RESULTADO</a:t>
            </a:r>
            <a:endParaRPr lang="es-ES" sz="1600" b="1"/>
          </a:p>
        </p:txBody>
      </p:sp>
      <p:sp>
        <p:nvSpPr>
          <p:cNvPr id="23" name="22 Rectángulo"/>
          <p:cNvSpPr>
            <a:spLocks noChangeArrowheads="1"/>
          </p:cNvSpPr>
          <p:nvPr/>
        </p:nvSpPr>
        <p:spPr bwMode="auto">
          <a:xfrm>
            <a:off x="581025" y="3273425"/>
            <a:ext cx="2919413" cy="369888"/>
          </a:xfrm>
          <a:prstGeom prst="rect">
            <a:avLst/>
          </a:prstGeom>
          <a:noFill/>
          <a:ln w="9525">
            <a:noFill/>
            <a:miter lim="800000"/>
            <a:headEnd/>
            <a:tailEnd/>
          </a:ln>
        </p:spPr>
        <p:txBody>
          <a:bodyPr>
            <a:spAutoFit/>
          </a:bodyPr>
          <a:lstStyle/>
          <a:p>
            <a:pPr algn="just"/>
            <a:r>
              <a:rPr lang="es-ES" b="1"/>
              <a:t>RESULTADO </a:t>
            </a:r>
            <a:r>
              <a:rPr lang="es-ES" b="1">
                <a:solidFill>
                  <a:schemeClr val="accent2"/>
                </a:solidFill>
                <a:sym typeface="Wingdings" pitchFamily="2" charset="2"/>
              </a:rPr>
              <a:t></a:t>
            </a:r>
            <a:r>
              <a:rPr lang="es-ES" b="1">
                <a:sym typeface="Wingdings" pitchFamily="2" charset="2"/>
              </a:rPr>
              <a:t> </a:t>
            </a:r>
            <a:r>
              <a:rPr lang="es-ES" b="1"/>
              <a:t>R </a:t>
            </a:r>
            <a:r>
              <a:rPr lang="es-ES_tradnl" b="1">
                <a:solidFill>
                  <a:schemeClr val="accent2"/>
                </a:solidFill>
                <a:sym typeface="Symbol" pitchFamily="18" charset="2"/>
              </a:rPr>
              <a:t> </a:t>
            </a:r>
            <a:r>
              <a:rPr lang="es-ES" b="1"/>
              <a:t>S</a:t>
            </a:r>
            <a:endParaRPr lang="es-ES"/>
          </a:p>
        </p:txBody>
      </p:sp>
      <p:sp>
        <p:nvSpPr>
          <p:cNvPr id="24" name="23 Elipse"/>
          <p:cNvSpPr/>
          <p:nvPr/>
        </p:nvSpPr>
        <p:spPr>
          <a:xfrm>
            <a:off x="5905500" y="5373688"/>
            <a:ext cx="1214438" cy="3571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25" name="24 Elipse"/>
          <p:cNvSpPr/>
          <p:nvPr/>
        </p:nvSpPr>
        <p:spPr>
          <a:xfrm>
            <a:off x="7715250" y="5008563"/>
            <a:ext cx="1214438" cy="3571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00"/>
                                        <p:tgtEl>
                                          <p:spTgt spid="2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500"/>
                                        <p:tgtEl>
                                          <p:spTgt spid="2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8" grpId="0"/>
      <p:bldP spid="19" grpId="0"/>
      <p:bldP spid="22" grpId="0"/>
      <p:bldP spid="23" grpId="0"/>
      <p:bldP spid="24" grpId="0" animBg="1"/>
      <p:bldP spid="25" grpId="0" animBg="1"/>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24259" name="1 Rectángulo"/>
          <p:cNvSpPr>
            <a:spLocks noChangeArrowheads="1"/>
          </p:cNvSpPr>
          <p:nvPr/>
        </p:nvSpPr>
        <p:spPr bwMode="auto">
          <a:xfrm>
            <a:off x="34925" y="1042988"/>
            <a:ext cx="9074150" cy="554037"/>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Intersección </a:t>
            </a:r>
            <a:r>
              <a:rPr lang="es-ES_tradnl" sz="3000" b="1">
                <a:solidFill>
                  <a:schemeClr val="accent2"/>
                </a:solidFill>
                <a:sym typeface="Symbol" pitchFamily="18" charset="2"/>
              </a:rPr>
              <a:t></a:t>
            </a:r>
            <a:endParaRPr lang="es-ES_tradnl" sz="2000" b="1">
              <a:sym typeface="Symbol" pitchFamily="18" charset="2"/>
            </a:endParaRPr>
          </a:p>
        </p:txBody>
      </p:sp>
      <p:sp>
        <p:nvSpPr>
          <p:cNvPr id="224260" name="9 Rectángulo"/>
          <p:cNvSpPr>
            <a:spLocks noChangeArrowheads="1"/>
          </p:cNvSpPr>
          <p:nvPr/>
        </p:nvSpPr>
        <p:spPr bwMode="auto">
          <a:xfrm>
            <a:off x="642938" y="1857375"/>
            <a:ext cx="7786687" cy="708025"/>
          </a:xfrm>
          <a:prstGeom prst="rect">
            <a:avLst/>
          </a:prstGeom>
          <a:noFill/>
          <a:ln w="9525">
            <a:noFill/>
            <a:miter lim="800000"/>
            <a:headEnd/>
            <a:tailEnd/>
          </a:ln>
        </p:spPr>
        <p:txBody>
          <a:bodyPr>
            <a:spAutoFit/>
          </a:bodyPr>
          <a:lstStyle/>
          <a:p>
            <a:pPr algn="just"/>
            <a:r>
              <a:rPr lang="es-ES" sz="2000" b="1"/>
              <a:t>R </a:t>
            </a:r>
            <a:r>
              <a:rPr lang="es-ES_tradnl" sz="2000" b="1">
                <a:solidFill>
                  <a:schemeClr val="accent2"/>
                </a:solidFill>
                <a:sym typeface="Symbol" pitchFamily="18" charset="2"/>
              </a:rPr>
              <a:t> </a:t>
            </a:r>
            <a:r>
              <a:rPr lang="es-ES" sz="2000" b="1"/>
              <a:t>S</a:t>
            </a:r>
            <a:r>
              <a:rPr lang="es-ES" sz="2000"/>
              <a:t>: La Intersección entre dos relaciones R y S nos da todas las tuplas comunes a R y S, eliminando las que están repetidas.</a:t>
            </a:r>
          </a:p>
        </p:txBody>
      </p:sp>
      <p:graphicFrame>
        <p:nvGraphicFramePr>
          <p:cNvPr id="9" name="Group 75"/>
          <p:cNvGraphicFramePr>
            <a:graphicFrameLocks noGrp="1"/>
          </p:cNvGraphicFramePr>
          <p:nvPr/>
        </p:nvGraphicFramePr>
        <p:xfrm>
          <a:off x="5354638" y="4013200"/>
          <a:ext cx="1043034" cy="1828800"/>
        </p:xfrm>
        <a:graphic>
          <a:graphicData uri="http://schemas.openxmlformats.org/drawingml/2006/table">
            <a:tbl>
              <a:tblPr/>
              <a:tblGrid>
                <a:gridCol w="1043034">
                  <a:extLst>
                    <a:ext uri="{9D8B030D-6E8A-4147-A177-3AD203B41FA5}">
                      <a16:colId xmlns:a16="http://schemas.microsoft.com/office/drawing/2014/main" val="20000"/>
                    </a:ext>
                  </a:extLst>
                </a:gridCol>
              </a:tblGrid>
              <a:tr h="2682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bg1"/>
                          </a:solidFill>
                          <a:effectLst/>
                          <a:latin typeface="Calibri" pitchFamily="34" charset="0"/>
                          <a:cs typeface="Tahoma" pitchFamily="34" charset="0"/>
                        </a:rPr>
                        <a:t>Año</a:t>
                      </a:r>
                      <a:endParaRPr kumimoji="0" lang="es-ES" sz="1800" b="0" i="0" u="none" strike="noStrike" cap="none" normalizeH="0" baseline="0" dirty="0">
                        <a:ln>
                          <a:noFill/>
                        </a:ln>
                        <a:solidFill>
                          <a:schemeClr val="bg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1977</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1945</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1991</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800" b="0" i="0" u="none" strike="noStrike" cap="none" normalizeH="0" baseline="0" dirty="0">
                          <a:ln>
                            <a:noFill/>
                          </a:ln>
                          <a:solidFill>
                            <a:schemeClr val="tx1"/>
                          </a:solidFill>
                          <a:effectLst/>
                          <a:latin typeface="Calibri" pitchFamily="34" charset="0"/>
                        </a:rPr>
                        <a:t>1979</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5" name="Rectangle 71"/>
          <p:cNvSpPr>
            <a:spLocks noChangeArrowheads="1"/>
          </p:cNvSpPr>
          <p:nvPr/>
        </p:nvSpPr>
        <p:spPr bwMode="auto">
          <a:xfrm>
            <a:off x="5721350" y="3643313"/>
            <a:ext cx="333375" cy="338137"/>
          </a:xfrm>
          <a:prstGeom prst="rect">
            <a:avLst/>
          </a:prstGeom>
          <a:noFill/>
          <a:ln w="9525">
            <a:noFill/>
            <a:miter lim="800000"/>
            <a:headEnd/>
            <a:tailEnd/>
          </a:ln>
        </p:spPr>
        <p:txBody>
          <a:bodyPr wrap="none" anchor="ctr">
            <a:spAutoFit/>
          </a:bodyPr>
          <a:lstStyle/>
          <a:p>
            <a:pPr algn="ctr" eaLnBrk="0" hangingPunct="0"/>
            <a:r>
              <a:rPr lang="es-MX" sz="1600" b="1">
                <a:latin typeface="Tahoma" pitchFamily="34" charset="0"/>
                <a:cs typeface="Tahoma" pitchFamily="34" charset="0"/>
              </a:rPr>
              <a:t>R</a:t>
            </a:r>
            <a:endParaRPr lang="es-ES" sz="1600" b="1"/>
          </a:p>
        </p:txBody>
      </p:sp>
      <p:graphicFrame>
        <p:nvGraphicFramePr>
          <p:cNvPr id="16" name="Group 75"/>
          <p:cNvGraphicFramePr>
            <a:graphicFrameLocks noGrp="1"/>
          </p:cNvGraphicFramePr>
          <p:nvPr/>
        </p:nvGraphicFramePr>
        <p:xfrm>
          <a:off x="7183438" y="4013200"/>
          <a:ext cx="1043034" cy="1463040"/>
        </p:xfrm>
        <a:graphic>
          <a:graphicData uri="http://schemas.openxmlformats.org/drawingml/2006/table">
            <a:tbl>
              <a:tblPr/>
              <a:tblGrid>
                <a:gridCol w="1043034">
                  <a:extLst>
                    <a:ext uri="{9D8B030D-6E8A-4147-A177-3AD203B41FA5}">
                      <a16:colId xmlns:a16="http://schemas.microsoft.com/office/drawing/2014/main" val="20000"/>
                    </a:ext>
                  </a:extLst>
                </a:gridCol>
              </a:tblGrid>
              <a:tr h="2682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bg1"/>
                          </a:solidFill>
                          <a:effectLst/>
                          <a:latin typeface="Calibri" pitchFamily="34" charset="0"/>
                          <a:cs typeface="Tahoma" pitchFamily="34" charset="0"/>
                        </a:rPr>
                        <a:t>Año</a:t>
                      </a:r>
                      <a:endParaRPr kumimoji="0" lang="es-ES" sz="1800" b="0" i="0" u="none" strike="noStrike" cap="none" normalizeH="0" baseline="0" dirty="0">
                        <a:ln>
                          <a:noFill/>
                        </a:ln>
                        <a:solidFill>
                          <a:schemeClr val="bg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1942</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a:ln>
                            <a:noFill/>
                          </a:ln>
                          <a:solidFill>
                            <a:schemeClr val="tx1"/>
                          </a:solidFill>
                          <a:effectLst/>
                          <a:latin typeface="Calibri" pitchFamily="34" charset="0"/>
                          <a:cs typeface="Tahoma" pitchFamily="34" charset="0"/>
                        </a:rPr>
                        <a:t>1991</a:t>
                      </a:r>
                      <a:endParaRPr kumimoji="0" lang="es-ES" sz="18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1978</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7" name="Rectangle 71"/>
          <p:cNvSpPr>
            <a:spLocks noChangeArrowheads="1"/>
          </p:cNvSpPr>
          <p:nvPr/>
        </p:nvSpPr>
        <p:spPr bwMode="auto">
          <a:xfrm>
            <a:off x="7559675" y="3643313"/>
            <a:ext cx="314325" cy="338137"/>
          </a:xfrm>
          <a:prstGeom prst="rect">
            <a:avLst/>
          </a:prstGeom>
          <a:noFill/>
          <a:ln w="9525">
            <a:noFill/>
            <a:miter lim="800000"/>
            <a:headEnd/>
            <a:tailEnd/>
          </a:ln>
        </p:spPr>
        <p:txBody>
          <a:bodyPr wrap="none" anchor="ctr">
            <a:spAutoFit/>
          </a:bodyPr>
          <a:lstStyle/>
          <a:p>
            <a:pPr algn="ctr" eaLnBrk="0" hangingPunct="0"/>
            <a:r>
              <a:rPr lang="es-MX" sz="1600" b="1">
                <a:latin typeface="Tahoma" pitchFamily="34" charset="0"/>
                <a:cs typeface="Tahoma" pitchFamily="34" charset="0"/>
              </a:rPr>
              <a:t>S</a:t>
            </a:r>
            <a:endParaRPr lang="es-ES" sz="1600" b="1"/>
          </a:p>
        </p:txBody>
      </p:sp>
      <p:sp>
        <p:nvSpPr>
          <p:cNvPr id="18" name="1 Rectángulo"/>
          <p:cNvSpPr>
            <a:spLocks noChangeArrowheads="1"/>
          </p:cNvSpPr>
          <p:nvPr/>
        </p:nvSpPr>
        <p:spPr bwMode="auto">
          <a:xfrm>
            <a:off x="6040438" y="4556125"/>
            <a:ext cx="1214437" cy="769938"/>
          </a:xfrm>
          <a:prstGeom prst="rect">
            <a:avLst/>
          </a:prstGeom>
          <a:noFill/>
          <a:ln w="9525">
            <a:noFill/>
            <a:miter lim="800000"/>
            <a:headEnd/>
            <a:tailEnd/>
          </a:ln>
        </p:spPr>
        <p:txBody>
          <a:bodyPr>
            <a:spAutoFit/>
          </a:bodyPr>
          <a:lstStyle/>
          <a:p>
            <a:pPr marL="800100" lvl="1" indent="-342900">
              <a:buFont typeface="Arial" charset="0"/>
              <a:buNone/>
            </a:pPr>
            <a:r>
              <a:rPr lang="es-ES_tradnl" sz="4400" b="1">
                <a:solidFill>
                  <a:schemeClr val="accent2"/>
                </a:solidFill>
                <a:sym typeface="Symbol" pitchFamily="18" charset="2"/>
              </a:rPr>
              <a:t></a:t>
            </a:r>
            <a:endParaRPr lang="es-ES_tradnl" sz="3600" b="1">
              <a:sym typeface="Symbol" pitchFamily="18" charset="2"/>
            </a:endParaRPr>
          </a:p>
        </p:txBody>
      </p:sp>
      <p:sp>
        <p:nvSpPr>
          <p:cNvPr id="19" name="Rectangle 37"/>
          <p:cNvSpPr>
            <a:spLocks noChangeArrowheads="1"/>
          </p:cNvSpPr>
          <p:nvPr/>
        </p:nvSpPr>
        <p:spPr bwMode="auto">
          <a:xfrm>
            <a:off x="4497388" y="4900613"/>
            <a:ext cx="642937" cy="584200"/>
          </a:xfrm>
          <a:prstGeom prst="rect">
            <a:avLst/>
          </a:prstGeom>
          <a:noFill/>
          <a:ln w="9525">
            <a:noFill/>
            <a:miter lim="800000"/>
            <a:headEnd/>
            <a:tailEnd/>
          </a:ln>
        </p:spPr>
        <p:txBody>
          <a:bodyPr>
            <a:spAutoFit/>
          </a:bodyPr>
          <a:lstStyle/>
          <a:p>
            <a:r>
              <a:rPr lang="es-ES_tradnl" sz="3200" b="1">
                <a:solidFill>
                  <a:schemeClr val="accent2"/>
                </a:solidFill>
                <a:sym typeface="Wingdings" pitchFamily="2" charset="2"/>
              </a:rPr>
              <a:t></a:t>
            </a:r>
            <a:endParaRPr lang="es-ES" sz="2800">
              <a:latin typeface="Calibri" pitchFamily="34" charset="0"/>
            </a:endParaRPr>
          </a:p>
        </p:txBody>
      </p:sp>
      <p:graphicFrame>
        <p:nvGraphicFramePr>
          <p:cNvPr id="21" name="Group 75"/>
          <p:cNvGraphicFramePr>
            <a:graphicFrameLocks noGrp="1"/>
          </p:cNvGraphicFramePr>
          <p:nvPr/>
        </p:nvGraphicFramePr>
        <p:xfrm>
          <a:off x="3400425" y="4783138"/>
          <a:ext cx="1043034" cy="731520"/>
        </p:xfrm>
        <a:graphic>
          <a:graphicData uri="http://schemas.openxmlformats.org/drawingml/2006/table">
            <a:tbl>
              <a:tblPr/>
              <a:tblGrid>
                <a:gridCol w="1043034">
                  <a:extLst>
                    <a:ext uri="{9D8B030D-6E8A-4147-A177-3AD203B41FA5}">
                      <a16:colId xmlns:a16="http://schemas.microsoft.com/office/drawing/2014/main" val="20000"/>
                    </a:ext>
                  </a:extLst>
                </a:gridCol>
              </a:tblGrid>
              <a:tr h="2000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bg1"/>
                          </a:solidFill>
                          <a:effectLst/>
                          <a:latin typeface="Calibri" pitchFamily="34" charset="0"/>
                          <a:cs typeface="Tahoma" pitchFamily="34" charset="0"/>
                        </a:rPr>
                        <a:t>Año</a:t>
                      </a:r>
                      <a:endParaRPr kumimoji="0" lang="es-ES" sz="1800" b="0" i="0" u="none" strike="noStrike" cap="none" normalizeH="0" baseline="0" dirty="0">
                        <a:ln>
                          <a:noFill/>
                        </a:ln>
                        <a:solidFill>
                          <a:schemeClr val="bg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000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1991</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2" name="Rectangle 71"/>
          <p:cNvSpPr>
            <a:spLocks noChangeArrowheads="1"/>
          </p:cNvSpPr>
          <p:nvPr/>
        </p:nvSpPr>
        <p:spPr bwMode="auto">
          <a:xfrm>
            <a:off x="3214688" y="4411663"/>
            <a:ext cx="1439862" cy="338137"/>
          </a:xfrm>
          <a:prstGeom prst="rect">
            <a:avLst/>
          </a:prstGeom>
          <a:noFill/>
          <a:ln w="9525">
            <a:noFill/>
            <a:miter lim="800000"/>
            <a:headEnd/>
            <a:tailEnd/>
          </a:ln>
        </p:spPr>
        <p:txBody>
          <a:bodyPr wrap="none" anchor="ctr">
            <a:spAutoFit/>
          </a:bodyPr>
          <a:lstStyle/>
          <a:p>
            <a:pPr algn="ctr" eaLnBrk="0" hangingPunct="0"/>
            <a:r>
              <a:rPr lang="es-MX" sz="1600" b="1">
                <a:latin typeface="Tahoma" pitchFamily="34" charset="0"/>
                <a:cs typeface="Tahoma" pitchFamily="34" charset="0"/>
              </a:rPr>
              <a:t>RESULTADO</a:t>
            </a:r>
            <a:endParaRPr lang="es-ES" sz="1600" b="1"/>
          </a:p>
        </p:txBody>
      </p:sp>
      <p:sp>
        <p:nvSpPr>
          <p:cNvPr id="23" name="22 Rectángulo"/>
          <p:cNvSpPr>
            <a:spLocks noChangeArrowheads="1"/>
          </p:cNvSpPr>
          <p:nvPr/>
        </p:nvSpPr>
        <p:spPr bwMode="auto">
          <a:xfrm>
            <a:off x="581025" y="3273425"/>
            <a:ext cx="2919413" cy="369888"/>
          </a:xfrm>
          <a:prstGeom prst="rect">
            <a:avLst/>
          </a:prstGeom>
          <a:noFill/>
          <a:ln w="9525">
            <a:noFill/>
            <a:miter lim="800000"/>
            <a:headEnd/>
            <a:tailEnd/>
          </a:ln>
        </p:spPr>
        <p:txBody>
          <a:bodyPr>
            <a:spAutoFit/>
          </a:bodyPr>
          <a:lstStyle/>
          <a:p>
            <a:pPr algn="just"/>
            <a:r>
              <a:rPr lang="es-ES" b="1"/>
              <a:t>RESULTADO </a:t>
            </a:r>
            <a:r>
              <a:rPr lang="es-ES" b="1">
                <a:solidFill>
                  <a:schemeClr val="accent2"/>
                </a:solidFill>
                <a:sym typeface="Wingdings" pitchFamily="2" charset="2"/>
              </a:rPr>
              <a:t></a:t>
            </a:r>
            <a:r>
              <a:rPr lang="es-ES" b="1">
                <a:sym typeface="Wingdings" pitchFamily="2" charset="2"/>
              </a:rPr>
              <a:t> </a:t>
            </a:r>
            <a:r>
              <a:rPr lang="es-ES" b="1"/>
              <a:t>R </a:t>
            </a:r>
            <a:r>
              <a:rPr lang="es-ES_tradnl" b="1">
                <a:solidFill>
                  <a:schemeClr val="accent2"/>
                </a:solidFill>
                <a:sym typeface="Symbol" pitchFamily="18" charset="2"/>
              </a:rPr>
              <a:t> </a:t>
            </a:r>
            <a:r>
              <a:rPr lang="es-ES" b="1"/>
              <a:t>S</a:t>
            </a:r>
            <a:endParaRPr lang="es-ES"/>
          </a:p>
        </p:txBody>
      </p:sp>
      <p:sp>
        <p:nvSpPr>
          <p:cNvPr id="24" name="23 Elipse"/>
          <p:cNvSpPr/>
          <p:nvPr/>
        </p:nvSpPr>
        <p:spPr>
          <a:xfrm>
            <a:off x="5273675" y="5100638"/>
            <a:ext cx="1214438" cy="3571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25" name="24 Elipse"/>
          <p:cNvSpPr/>
          <p:nvPr/>
        </p:nvSpPr>
        <p:spPr>
          <a:xfrm>
            <a:off x="7083425" y="4735513"/>
            <a:ext cx="1214438" cy="3571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8" grpId="0"/>
      <p:bldP spid="19" grpId="0"/>
      <p:bldP spid="22" grpId="0"/>
      <p:bldP spid="23" grpId="0"/>
      <p:bldP spid="24" grpId="0" animBg="1"/>
      <p:bldP spid="25" grpId="0" animBg="1"/>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25283" name="1 Rectángulo"/>
          <p:cNvSpPr>
            <a:spLocks noChangeArrowheads="1"/>
          </p:cNvSpPr>
          <p:nvPr/>
        </p:nvSpPr>
        <p:spPr bwMode="auto">
          <a:xfrm>
            <a:off x="34925" y="1042988"/>
            <a:ext cx="9074150" cy="554037"/>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Diferencia </a:t>
            </a:r>
            <a:r>
              <a:rPr lang="es-ES_tradnl" sz="3000" b="1">
                <a:solidFill>
                  <a:schemeClr val="accent2"/>
                </a:solidFill>
                <a:sym typeface="Symbol" pitchFamily="18" charset="2"/>
              </a:rPr>
              <a:t>-</a:t>
            </a:r>
            <a:endParaRPr lang="es-ES_tradnl" sz="2000" b="1">
              <a:sym typeface="Symbol" pitchFamily="18" charset="2"/>
            </a:endParaRPr>
          </a:p>
        </p:txBody>
      </p:sp>
      <p:sp>
        <p:nvSpPr>
          <p:cNvPr id="225284" name="9 Rectángulo"/>
          <p:cNvSpPr>
            <a:spLocks noChangeArrowheads="1"/>
          </p:cNvSpPr>
          <p:nvPr/>
        </p:nvSpPr>
        <p:spPr bwMode="auto">
          <a:xfrm>
            <a:off x="642938" y="1857375"/>
            <a:ext cx="7786687" cy="708025"/>
          </a:xfrm>
          <a:prstGeom prst="rect">
            <a:avLst/>
          </a:prstGeom>
          <a:noFill/>
          <a:ln w="9525">
            <a:noFill/>
            <a:miter lim="800000"/>
            <a:headEnd/>
            <a:tailEnd/>
          </a:ln>
        </p:spPr>
        <p:txBody>
          <a:bodyPr>
            <a:spAutoFit/>
          </a:bodyPr>
          <a:lstStyle/>
          <a:p>
            <a:pPr algn="just"/>
            <a:r>
              <a:rPr lang="es-ES" sz="2000" b="1"/>
              <a:t>R </a:t>
            </a:r>
            <a:r>
              <a:rPr lang="es-ES_tradnl" sz="2000" b="1">
                <a:solidFill>
                  <a:schemeClr val="accent2"/>
                </a:solidFill>
                <a:sym typeface="Symbol" pitchFamily="18" charset="2"/>
              </a:rPr>
              <a:t>- </a:t>
            </a:r>
            <a:r>
              <a:rPr lang="es-ES" sz="2000" b="1"/>
              <a:t>S</a:t>
            </a:r>
            <a:r>
              <a:rPr lang="es-ES" sz="2000"/>
              <a:t>: La Diferencia entre dos relaciones R y S nos da todas las tuplas de R que no están en S.</a:t>
            </a:r>
          </a:p>
        </p:txBody>
      </p:sp>
      <p:graphicFrame>
        <p:nvGraphicFramePr>
          <p:cNvPr id="9" name="Group 75"/>
          <p:cNvGraphicFramePr>
            <a:graphicFrameLocks noGrp="1"/>
          </p:cNvGraphicFramePr>
          <p:nvPr/>
        </p:nvGraphicFramePr>
        <p:xfrm>
          <a:off x="5354638" y="4013200"/>
          <a:ext cx="1043034" cy="1828800"/>
        </p:xfrm>
        <a:graphic>
          <a:graphicData uri="http://schemas.openxmlformats.org/drawingml/2006/table">
            <a:tbl>
              <a:tblPr/>
              <a:tblGrid>
                <a:gridCol w="1043034">
                  <a:extLst>
                    <a:ext uri="{9D8B030D-6E8A-4147-A177-3AD203B41FA5}">
                      <a16:colId xmlns:a16="http://schemas.microsoft.com/office/drawing/2014/main" val="20000"/>
                    </a:ext>
                  </a:extLst>
                </a:gridCol>
              </a:tblGrid>
              <a:tr h="2682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bg1"/>
                          </a:solidFill>
                          <a:effectLst/>
                          <a:latin typeface="Calibri" pitchFamily="34" charset="0"/>
                          <a:cs typeface="Tahoma" pitchFamily="34" charset="0"/>
                        </a:rPr>
                        <a:t>Año</a:t>
                      </a:r>
                      <a:endParaRPr kumimoji="0" lang="es-ES" sz="1800" b="0" i="0" u="none" strike="noStrike" cap="none" normalizeH="0" baseline="0" dirty="0">
                        <a:ln>
                          <a:noFill/>
                        </a:ln>
                        <a:solidFill>
                          <a:schemeClr val="bg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1977</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1945</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1991</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800" b="0" i="0" u="none" strike="noStrike" cap="none" normalizeH="0" baseline="0" dirty="0">
                          <a:ln>
                            <a:noFill/>
                          </a:ln>
                          <a:solidFill>
                            <a:schemeClr val="tx1"/>
                          </a:solidFill>
                          <a:effectLst/>
                          <a:latin typeface="Calibri" pitchFamily="34" charset="0"/>
                        </a:rPr>
                        <a:t>1979</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5" name="Rectangle 71"/>
          <p:cNvSpPr>
            <a:spLocks noChangeArrowheads="1"/>
          </p:cNvSpPr>
          <p:nvPr/>
        </p:nvSpPr>
        <p:spPr bwMode="auto">
          <a:xfrm>
            <a:off x="5721350" y="3643313"/>
            <a:ext cx="333375" cy="338137"/>
          </a:xfrm>
          <a:prstGeom prst="rect">
            <a:avLst/>
          </a:prstGeom>
          <a:noFill/>
          <a:ln w="9525">
            <a:noFill/>
            <a:miter lim="800000"/>
            <a:headEnd/>
            <a:tailEnd/>
          </a:ln>
        </p:spPr>
        <p:txBody>
          <a:bodyPr wrap="none" anchor="ctr">
            <a:spAutoFit/>
          </a:bodyPr>
          <a:lstStyle/>
          <a:p>
            <a:pPr algn="ctr" eaLnBrk="0" hangingPunct="0"/>
            <a:r>
              <a:rPr lang="es-MX" sz="1600" b="1">
                <a:latin typeface="Tahoma" pitchFamily="34" charset="0"/>
                <a:cs typeface="Tahoma" pitchFamily="34" charset="0"/>
              </a:rPr>
              <a:t>R</a:t>
            </a:r>
            <a:endParaRPr lang="es-ES" sz="1600" b="1"/>
          </a:p>
        </p:txBody>
      </p:sp>
      <p:graphicFrame>
        <p:nvGraphicFramePr>
          <p:cNvPr id="16" name="Group 75"/>
          <p:cNvGraphicFramePr>
            <a:graphicFrameLocks noGrp="1"/>
          </p:cNvGraphicFramePr>
          <p:nvPr/>
        </p:nvGraphicFramePr>
        <p:xfrm>
          <a:off x="7183438" y="4013200"/>
          <a:ext cx="1043034" cy="1463040"/>
        </p:xfrm>
        <a:graphic>
          <a:graphicData uri="http://schemas.openxmlformats.org/drawingml/2006/table">
            <a:tbl>
              <a:tblPr/>
              <a:tblGrid>
                <a:gridCol w="1043034">
                  <a:extLst>
                    <a:ext uri="{9D8B030D-6E8A-4147-A177-3AD203B41FA5}">
                      <a16:colId xmlns:a16="http://schemas.microsoft.com/office/drawing/2014/main" val="20000"/>
                    </a:ext>
                  </a:extLst>
                </a:gridCol>
              </a:tblGrid>
              <a:tr h="26828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bg1"/>
                          </a:solidFill>
                          <a:effectLst/>
                          <a:latin typeface="Calibri" pitchFamily="34" charset="0"/>
                          <a:cs typeface="Tahoma" pitchFamily="34" charset="0"/>
                        </a:rPr>
                        <a:t>Año</a:t>
                      </a:r>
                      <a:endParaRPr kumimoji="0" lang="es-ES" sz="1800" b="0" i="0" u="none" strike="noStrike" cap="none" normalizeH="0" baseline="0" dirty="0">
                        <a:ln>
                          <a:noFill/>
                        </a:ln>
                        <a:solidFill>
                          <a:schemeClr val="bg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1942</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a:ln>
                            <a:noFill/>
                          </a:ln>
                          <a:solidFill>
                            <a:schemeClr val="tx1"/>
                          </a:solidFill>
                          <a:effectLst/>
                          <a:latin typeface="Calibri" pitchFamily="34" charset="0"/>
                          <a:cs typeface="Tahoma" pitchFamily="34" charset="0"/>
                        </a:rPr>
                        <a:t>1991</a:t>
                      </a:r>
                      <a:endParaRPr kumimoji="0" lang="es-ES" sz="18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1978</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7" name="Rectangle 71"/>
          <p:cNvSpPr>
            <a:spLocks noChangeArrowheads="1"/>
          </p:cNvSpPr>
          <p:nvPr/>
        </p:nvSpPr>
        <p:spPr bwMode="auto">
          <a:xfrm>
            <a:off x="7559675" y="3643313"/>
            <a:ext cx="314325" cy="338137"/>
          </a:xfrm>
          <a:prstGeom prst="rect">
            <a:avLst/>
          </a:prstGeom>
          <a:noFill/>
          <a:ln w="9525">
            <a:noFill/>
            <a:miter lim="800000"/>
            <a:headEnd/>
            <a:tailEnd/>
          </a:ln>
        </p:spPr>
        <p:txBody>
          <a:bodyPr wrap="none" anchor="ctr">
            <a:spAutoFit/>
          </a:bodyPr>
          <a:lstStyle/>
          <a:p>
            <a:pPr algn="ctr" eaLnBrk="0" hangingPunct="0"/>
            <a:r>
              <a:rPr lang="es-MX" sz="1600" b="1">
                <a:latin typeface="Tahoma" pitchFamily="34" charset="0"/>
                <a:cs typeface="Tahoma" pitchFamily="34" charset="0"/>
              </a:rPr>
              <a:t>S</a:t>
            </a:r>
            <a:endParaRPr lang="es-ES" sz="1600" b="1"/>
          </a:p>
        </p:txBody>
      </p:sp>
      <p:sp>
        <p:nvSpPr>
          <p:cNvPr id="18" name="1 Rectángulo"/>
          <p:cNvSpPr>
            <a:spLocks noChangeArrowheads="1"/>
          </p:cNvSpPr>
          <p:nvPr/>
        </p:nvSpPr>
        <p:spPr bwMode="auto">
          <a:xfrm>
            <a:off x="6088063" y="4556125"/>
            <a:ext cx="1214437" cy="769938"/>
          </a:xfrm>
          <a:prstGeom prst="rect">
            <a:avLst/>
          </a:prstGeom>
          <a:noFill/>
          <a:ln w="9525">
            <a:noFill/>
            <a:miter lim="800000"/>
            <a:headEnd/>
            <a:tailEnd/>
          </a:ln>
        </p:spPr>
        <p:txBody>
          <a:bodyPr>
            <a:spAutoFit/>
          </a:bodyPr>
          <a:lstStyle/>
          <a:p>
            <a:pPr marL="800100" lvl="1" indent="-342900">
              <a:buFont typeface="Arial" charset="0"/>
              <a:buNone/>
            </a:pPr>
            <a:r>
              <a:rPr lang="es-ES_tradnl" sz="4400" b="1">
                <a:solidFill>
                  <a:schemeClr val="accent2"/>
                </a:solidFill>
                <a:sym typeface="Symbol" pitchFamily="18" charset="2"/>
              </a:rPr>
              <a:t>-</a:t>
            </a:r>
            <a:endParaRPr lang="es-ES_tradnl" sz="3600" b="1">
              <a:sym typeface="Symbol" pitchFamily="18" charset="2"/>
            </a:endParaRPr>
          </a:p>
        </p:txBody>
      </p:sp>
      <p:sp>
        <p:nvSpPr>
          <p:cNvPr id="19" name="Rectangle 37"/>
          <p:cNvSpPr>
            <a:spLocks noChangeArrowheads="1"/>
          </p:cNvSpPr>
          <p:nvPr/>
        </p:nvSpPr>
        <p:spPr bwMode="auto">
          <a:xfrm>
            <a:off x="4497388" y="4900613"/>
            <a:ext cx="642937" cy="584200"/>
          </a:xfrm>
          <a:prstGeom prst="rect">
            <a:avLst/>
          </a:prstGeom>
          <a:noFill/>
          <a:ln w="9525">
            <a:noFill/>
            <a:miter lim="800000"/>
            <a:headEnd/>
            <a:tailEnd/>
          </a:ln>
        </p:spPr>
        <p:txBody>
          <a:bodyPr>
            <a:spAutoFit/>
          </a:bodyPr>
          <a:lstStyle/>
          <a:p>
            <a:r>
              <a:rPr lang="es-ES_tradnl" sz="3200" b="1">
                <a:solidFill>
                  <a:schemeClr val="accent2"/>
                </a:solidFill>
                <a:sym typeface="Wingdings" pitchFamily="2" charset="2"/>
              </a:rPr>
              <a:t></a:t>
            </a:r>
            <a:endParaRPr lang="es-ES" sz="2800">
              <a:latin typeface="Calibri" pitchFamily="34" charset="0"/>
            </a:endParaRPr>
          </a:p>
        </p:txBody>
      </p:sp>
      <p:graphicFrame>
        <p:nvGraphicFramePr>
          <p:cNvPr id="21" name="Group 75"/>
          <p:cNvGraphicFramePr>
            <a:graphicFrameLocks noGrp="1"/>
          </p:cNvGraphicFramePr>
          <p:nvPr/>
        </p:nvGraphicFramePr>
        <p:xfrm>
          <a:off x="3328988" y="4465638"/>
          <a:ext cx="1043034" cy="1463040"/>
        </p:xfrm>
        <a:graphic>
          <a:graphicData uri="http://schemas.openxmlformats.org/drawingml/2006/table">
            <a:tbl>
              <a:tblPr/>
              <a:tblGrid>
                <a:gridCol w="1043034">
                  <a:extLst>
                    <a:ext uri="{9D8B030D-6E8A-4147-A177-3AD203B41FA5}">
                      <a16:colId xmlns:a16="http://schemas.microsoft.com/office/drawing/2014/main" val="20000"/>
                    </a:ext>
                  </a:extLst>
                </a:gridCol>
              </a:tblGrid>
              <a:tr h="2000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bg1"/>
                          </a:solidFill>
                          <a:effectLst/>
                          <a:latin typeface="Calibri" pitchFamily="34" charset="0"/>
                          <a:cs typeface="Tahoma" pitchFamily="34" charset="0"/>
                        </a:rPr>
                        <a:t>Año</a:t>
                      </a:r>
                      <a:endParaRPr kumimoji="0" lang="es-ES" sz="1800" b="0" i="0" u="none" strike="noStrike" cap="none" normalizeH="0" baseline="0" dirty="0">
                        <a:ln>
                          <a:noFill/>
                        </a:ln>
                        <a:solidFill>
                          <a:schemeClr val="bg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000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800" b="0" i="0" u="none" strike="noStrike" cap="none" normalizeH="0" baseline="0" dirty="0">
                          <a:ln>
                            <a:noFill/>
                          </a:ln>
                          <a:solidFill>
                            <a:schemeClr val="tx1"/>
                          </a:solidFill>
                          <a:effectLst/>
                          <a:latin typeface="Calibri" pitchFamily="34" charset="0"/>
                          <a:cs typeface="Tahoma" pitchFamily="34" charset="0"/>
                        </a:rPr>
                        <a:t>1977</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00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800" b="0" i="0" u="none" strike="noStrike" cap="none" normalizeH="0" baseline="0" dirty="0">
                          <a:ln>
                            <a:noFill/>
                          </a:ln>
                          <a:solidFill>
                            <a:schemeClr val="tx1"/>
                          </a:solidFill>
                          <a:effectLst/>
                          <a:latin typeface="Calibri" pitchFamily="34" charset="0"/>
                        </a:rPr>
                        <a:t>1945</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00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800" b="0" i="0" u="none" strike="noStrike" cap="none" normalizeH="0" baseline="0" dirty="0">
                          <a:ln>
                            <a:noFill/>
                          </a:ln>
                          <a:solidFill>
                            <a:schemeClr val="tx1"/>
                          </a:solidFill>
                          <a:effectLst/>
                          <a:latin typeface="Calibri" pitchFamily="34" charset="0"/>
                        </a:rPr>
                        <a:t>1979</a:t>
                      </a:r>
                      <a:endParaRPr kumimoji="0" lang="es-ES" sz="18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2" name="Rectangle 71"/>
          <p:cNvSpPr>
            <a:spLocks noChangeArrowheads="1"/>
          </p:cNvSpPr>
          <p:nvPr/>
        </p:nvSpPr>
        <p:spPr bwMode="auto">
          <a:xfrm>
            <a:off x="3143250" y="4095750"/>
            <a:ext cx="1439863" cy="338138"/>
          </a:xfrm>
          <a:prstGeom prst="rect">
            <a:avLst/>
          </a:prstGeom>
          <a:noFill/>
          <a:ln w="9525">
            <a:noFill/>
            <a:miter lim="800000"/>
            <a:headEnd/>
            <a:tailEnd/>
          </a:ln>
        </p:spPr>
        <p:txBody>
          <a:bodyPr wrap="none" anchor="ctr">
            <a:spAutoFit/>
          </a:bodyPr>
          <a:lstStyle/>
          <a:p>
            <a:pPr algn="ctr" eaLnBrk="0" hangingPunct="0"/>
            <a:r>
              <a:rPr lang="es-MX" sz="1600" b="1">
                <a:latin typeface="Tahoma" pitchFamily="34" charset="0"/>
                <a:cs typeface="Tahoma" pitchFamily="34" charset="0"/>
              </a:rPr>
              <a:t>RESULTADO</a:t>
            </a:r>
            <a:endParaRPr lang="es-ES" sz="1600" b="1"/>
          </a:p>
        </p:txBody>
      </p:sp>
      <p:sp>
        <p:nvSpPr>
          <p:cNvPr id="23" name="22 Rectángulo"/>
          <p:cNvSpPr>
            <a:spLocks noChangeArrowheads="1"/>
          </p:cNvSpPr>
          <p:nvPr/>
        </p:nvSpPr>
        <p:spPr bwMode="auto">
          <a:xfrm>
            <a:off x="581025" y="3273425"/>
            <a:ext cx="2919413" cy="369888"/>
          </a:xfrm>
          <a:prstGeom prst="rect">
            <a:avLst/>
          </a:prstGeom>
          <a:noFill/>
          <a:ln w="9525">
            <a:noFill/>
            <a:miter lim="800000"/>
            <a:headEnd/>
            <a:tailEnd/>
          </a:ln>
        </p:spPr>
        <p:txBody>
          <a:bodyPr>
            <a:spAutoFit/>
          </a:bodyPr>
          <a:lstStyle/>
          <a:p>
            <a:pPr algn="just"/>
            <a:r>
              <a:rPr lang="es-ES" b="1"/>
              <a:t>RESULTADO </a:t>
            </a:r>
            <a:r>
              <a:rPr lang="es-ES" b="1">
                <a:solidFill>
                  <a:schemeClr val="accent2"/>
                </a:solidFill>
                <a:sym typeface="Wingdings" pitchFamily="2" charset="2"/>
              </a:rPr>
              <a:t></a:t>
            </a:r>
            <a:r>
              <a:rPr lang="es-ES" b="1">
                <a:sym typeface="Wingdings" pitchFamily="2" charset="2"/>
              </a:rPr>
              <a:t> </a:t>
            </a:r>
            <a:r>
              <a:rPr lang="es-ES" b="1"/>
              <a:t>R </a:t>
            </a:r>
            <a:r>
              <a:rPr lang="es-ES_tradnl" b="1">
                <a:solidFill>
                  <a:schemeClr val="accent2"/>
                </a:solidFill>
                <a:sym typeface="Symbol" pitchFamily="18" charset="2"/>
              </a:rPr>
              <a:t>- </a:t>
            </a:r>
            <a:r>
              <a:rPr lang="es-ES" b="1"/>
              <a:t>S</a:t>
            </a:r>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8" grpId="0"/>
      <p:bldP spid="19" grpId="0"/>
      <p:bldP spid="22" grpId="0"/>
      <p:bldP spid="23" grpId="0"/>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26307" name="1 Rectángulo"/>
          <p:cNvSpPr>
            <a:spLocks noChangeArrowheads="1"/>
          </p:cNvSpPr>
          <p:nvPr/>
        </p:nvSpPr>
        <p:spPr bwMode="auto">
          <a:xfrm>
            <a:off x="34925" y="1042988"/>
            <a:ext cx="9074150" cy="400050"/>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Teoría de Conjuntos</a:t>
            </a:r>
            <a:endParaRPr lang="es-ES_tradnl" sz="2000" b="1">
              <a:sym typeface="Symbol" pitchFamily="18" charset="2"/>
            </a:endParaRPr>
          </a:p>
        </p:txBody>
      </p:sp>
      <p:sp>
        <p:nvSpPr>
          <p:cNvPr id="226308" name="9 Rectángulo"/>
          <p:cNvSpPr>
            <a:spLocks noChangeArrowheads="1"/>
          </p:cNvSpPr>
          <p:nvPr/>
        </p:nvSpPr>
        <p:spPr bwMode="auto">
          <a:xfrm>
            <a:off x="1214438" y="3081338"/>
            <a:ext cx="6786562" cy="1754187"/>
          </a:xfrm>
          <a:prstGeom prst="rect">
            <a:avLst/>
          </a:prstGeom>
          <a:noFill/>
          <a:ln w="9525">
            <a:noFill/>
            <a:miter lim="800000"/>
            <a:headEnd/>
            <a:tailEnd/>
          </a:ln>
        </p:spPr>
        <p:txBody>
          <a:bodyPr>
            <a:spAutoFit/>
          </a:bodyPr>
          <a:lstStyle/>
          <a:p>
            <a:pPr algn="just"/>
            <a:r>
              <a:rPr lang="es-ES" sz="2400" b="1"/>
              <a:t>Características:</a:t>
            </a:r>
          </a:p>
          <a:p>
            <a:pPr algn="just"/>
            <a:endParaRPr lang="es-ES" sz="2400"/>
          </a:p>
          <a:p>
            <a:pPr algn="just">
              <a:buFont typeface="Arial" charset="0"/>
              <a:buChar char="•"/>
            </a:pPr>
            <a:r>
              <a:rPr lang="es-ES" sz="2000"/>
              <a:t>Intervienen dos relaciones.</a:t>
            </a:r>
          </a:p>
          <a:p>
            <a:pPr algn="just">
              <a:buFont typeface="Arial" charset="0"/>
              <a:buChar char="•"/>
            </a:pPr>
            <a:r>
              <a:rPr lang="es-ES" sz="2000"/>
              <a:t>Esas relaciones no tienen por qué ser compatibles con la unión.</a:t>
            </a:r>
          </a:p>
        </p:txBody>
      </p:sp>
      <p:sp>
        <p:nvSpPr>
          <p:cNvPr id="226309" name="4 CuadroTexto"/>
          <p:cNvSpPr txBox="1">
            <a:spLocks noChangeArrowheads="1"/>
          </p:cNvSpPr>
          <p:nvPr/>
        </p:nvSpPr>
        <p:spPr bwMode="auto">
          <a:xfrm>
            <a:off x="1643063" y="1928813"/>
            <a:ext cx="6321425" cy="461962"/>
          </a:xfrm>
          <a:prstGeom prst="rect">
            <a:avLst/>
          </a:prstGeom>
          <a:noFill/>
          <a:ln w="9525">
            <a:noFill/>
            <a:miter lim="800000"/>
            <a:headEnd/>
            <a:tailEnd/>
          </a:ln>
        </p:spPr>
        <p:txBody>
          <a:bodyPr wrap="none">
            <a:spAutoFit/>
          </a:bodyPr>
          <a:lstStyle/>
          <a:p>
            <a:r>
              <a:rPr lang="es-MX" sz="2400" b="1"/>
              <a:t>Producto Cruzado (Cartesiano, Crossjoin)</a:t>
            </a:r>
            <a:endParaRPr lang="es-ES" sz="2400" b="1"/>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27331" name="1 Rectángulo"/>
          <p:cNvSpPr>
            <a:spLocks noChangeArrowheads="1"/>
          </p:cNvSpPr>
          <p:nvPr/>
        </p:nvSpPr>
        <p:spPr bwMode="auto">
          <a:xfrm>
            <a:off x="34925" y="785813"/>
            <a:ext cx="9074150" cy="554037"/>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Producto Cartesiano </a:t>
            </a:r>
            <a:r>
              <a:rPr lang="es-ES_tradnl" sz="3000" b="1">
                <a:solidFill>
                  <a:schemeClr val="accent2"/>
                </a:solidFill>
                <a:sym typeface="Symbol" pitchFamily="18" charset="2"/>
              </a:rPr>
              <a:t></a:t>
            </a:r>
            <a:endParaRPr lang="es-ES_tradnl" sz="2000" b="1">
              <a:sym typeface="Symbol" pitchFamily="18" charset="2"/>
            </a:endParaRPr>
          </a:p>
        </p:txBody>
      </p:sp>
      <p:sp>
        <p:nvSpPr>
          <p:cNvPr id="227332" name="6 Rectángulo"/>
          <p:cNvSpPr>
            <a:spLocks noChangeArrowheads="1"/>
          </p:cNvSpPr>
          <p:nvPr/>
        </p:nvSpPr>
        <p:spPr bwMode="auto">
          <a:xfrm>
            <a:off x="428625" y="1603375"/>
            <a:ext cx="8286750" cy="1754188"/>
          </a:xfrm>
          <a:prstGeom prst="rect">
            <a:avLst/>
          </a:prstGeom>
          <a:noFill/>
          <a:ln w="9525">
            <a:noFill/>
            <a:miter lim="800000"/>
            <a:headEnd/>
            <a:tailEnd/>
          </a:ln>
        </p:spPr>
        <p:txBody>
          <a:bodyPr>
            <a:spAutoFit/>
          </a:bodyPr>
          <a:lstStyle/>
          <a:p>
            <a:pPr algn="just"/>
            <a:r>
              <a:rPr lang="es-ES" b="1"/>
              <a:t>R </a:t>
            </a:r>
            <a:r>
              <a:rPr lang="es-ES_tradnl" b="1">
                <a:solidFill>
                  <a:schemeClr val="accent2"/>
                </a:solidFill>
                <a:sym typeface="Symbol" pitchFamily="18" charset="2"/>
              </a:rPr>
              <a:t> </a:t>
            </a:r>
            <a:r>
              <a:rPr lang="es-ES" b="1"/>
              <a:t>S</a:t>
            </a:r>
            <a:r>
              <a:rPr lang="es-ES"/>
              <a:t>: El resultado del producto cartesiano consta de todas las combinaciones posibles de cada tupla de R seguida de otra de S. Es decir:</a:t>
            </a:r>
          </a:p>
          <a:p>
            <a:pPr algn="just"/>
            <a:endParaRPr lang="es-ES" b="1"/>
          </a:p>
          <a:p>
            <a:pPr lvl="1" algn="just">
              <a:buFont typeface="Arial" charset="0"/>
              <a:buChar char="•"/>
            </a:pPr>
            <a:r>
              <a:rPr lang="es-ES"/>
              <a:t>Tiene todos los atributos de R y S; primero los de R y seguidos los de S.</a:t>
            </a:r>
          </a:p>
          <a:p>
            <a:pPr lvl="1" algn="just">
              <a:buFont typeface="Arial" charset="0"/>
              <a:buChar char="•"/>
            </a:pPr>
            <a:r>
              <a:rPr lang="es-ES"/>
              <a:t>Tiene n*m tuplas; siendo n el número de tuplas de R y m el número de tuplas de S.</a:t>
            </a:r>
          </a:p>
        </p:txBody>
      </p:sp>
      <p:graphicFrame>
        <p:nvGraphicFramePr>
          <p:cNvPr id="8" name="7 Tabla"/>
          <p:cNvGraphicFramePr>
            <a:graphicFrameLocks noGrp="1"/>
          </p:cNvGraphicFramePr>
          <p:nvPr/>
        </p:nvGraphicFramePr>
        <p:xfrm>
          <a:off x="571500" y="4008438"/>
          <a:ext cx="1214446" cy="1097280"/>
        </p:xfrm>
        <a:graphic>
          <a:graphicData uri="http://schemas.openxmlformats.org/drawingml/2006/table">
            <a:tbl>
              <a:tblPr>
                <a:tableStyleId>{BC89EF96-8CEA-46FF-86C4-4CE0E7609802}</a:tableStyleId>
              </a:tblPr>
              <a:tblGrid>
                <a:gridCol w="607223">
                  <a:extLst>
                    <a:ext uri="{9D8B030D-6E8A-4147-A177-3AD203B41FA5}">
                      <a16:colId xmlns:a16="http://schemas.microsoft.com/office/drawing/2014/main" val="20000"/>
                    </a:ext>
                  </a:extLst>
                </a:gridCol>
                <a:gridCol w="607223">
                  <a:extLst>
                    <a:ext uri="{9D8B030D-6E8A-4147-A177-3AD203B41FA5}">
                      <a16:colId xmlns:a16="http://schemas.microsoft.com/office/drawing/2014/main" val="20001"/>
                    </a:ext>
                  </a:extLst>
                </a:gridCol>
              </a:tblGrid>
              <a:tr h="0">
                <a:tc>
                  <a:txBody>
                    <a:bodyPr/>
                    <a:lstStyle/>
                    <a:p>
                      <a:pPr algn="ctr"/>
                      <a:r>
                        <a:rPr lang="es-ES" dirty="0">
                          <a:solidFill>
                            <a:schemeClr val="bg1"/>
                          </a:solidFill>
                        </a:rPr>
                        <a:t>A</a:t>
                      </a:r>
                    </a:p>
                  </a:txBody>
                  <a:tcPr anchor="ctr">
                    <a:solidFill>
                      <a:schemeClr val="accent1"/>
                    </a:solidFill>
                  </a:tcPr>
                </a:tc>
                <a:tc>
                  <a:txBody>
                    <a:bodyPr/>
                    <a:lstStyle/>
                    <a:p>
                      <a:pPr algn="ctr"/>
                      <a:r>
                        <a:rPr lang="es-ES" dirty="0">
                          <a:solidFill>
                            <a:schemeClr val="bg1"/>
                          </a:solidFill>
                        </a:rPr>
                        <a:t>B</a:t>
                      </a:r>
                    </a:p>
                  </a:txBody>
                  <a:tcPr anchor="ctr">
                    <a:solidFill>
                      <a:schemeClr val="accent1"/>
                    </a:solidFill>
                  </a:tcPr>
                </a:tc>
                <a:extLst>
                  <a:ext uri="{0D108BD9-81ED-4DB2-BD59-A6C34878D82A}">
                    <a16:rowId xmlns:a16="http://schemas.microsoft.com/office/drawing/2014/main" val="10000"/>
                  </a:ext>
                </a:extLst>
              </a:tr>
              <a:tr h="0">
                <a:tc>
                  <a:txBody>
                    <a:bodyPr/>
                    <a:lstStyle/>
                    <a:p>
                      <a:pPr algn="ctr"/>
                      <a:r>
                        <a:rPr lang="es-ES"/>
                        <a:t>1</a:t>
                      </a:r>
                    </a:p>
                  </a:txBody>
                  <a:tcPr anchor="ctr"/>
                </a:tc>
                <a:tc>
                  <a:txBody>
                    <a:bodyPr/>
                    <a:lstStyle/>
                    <a:p>
                      <a:pPr algn="ctr"/>
                      <a:r>
                        <a:rPr lang="es-ES" dirty="0"/>
                        <a:t>2</a:t>
                      </a:r>
                    </a:p>
                  </a:txBody>
                  <a:tcPr anchor="ctr"/>
                </a:tc>
                <a:extLst>
                  <a:ext uri="{0D108BD9-81ED-4DB2-BD59-A6C34878D82A}">
                    <a16:rowId xmlns:a16="http://schemas.microsoft.com/office/drawing/2014/main" val="10001"/>
                  </a:ext>
                </a:extLst>
              </a:tr>
              <a:tr h="0">
                <a:tc>
                  <a:txBody>
                    <a:bodyPr/>
                    <a:lstStyle/>
                    <a:p>
                      <a:pPr algn="ctr"/>
                      <a:r>
                        <a:rPr lang="es-ES"/>
                        <a:t>3</a:t>
                      </a:r>
                    </a:p>
                  </a:txBody>
                  <a:tcPr anchor="ctr"/>
                </a:tc>
                <a:tc>
                  <a:txBody>
                    <a:bodyPr/>
                    <a:lstStyle/>
                    <a:p>
                      <a:pPr algn="ctr"/>
                      <a:r>
                        <a:rPr lang="es-ES" dirty="0"/>
                        <a:t>4</a:t>
                      </a:r>
                    </a:p>
                  </a:txBody>
                  <a:tcPr anchor="ctr"/>
                </a:tc>
                <a:extLst>
                  <a:ext uri="{0D108BD9-81ED-4DB2-BD59-A6C34878D82A}">
                    <a16:rowId xmlns:a16="http://schemas.microsoft.com/office/drawing/2014/main" val="10002"/>
                  </a:ext>
                </a:extLst>
              </a:tr>
            </a:tbl>
          </a:graphicData>
        </a:graphic>
      </p:graphicFrame>
      <p:graphicFrame>
        <p:nvGraphicFramePr>
          <p:cNvPr id="11" name="10 Tabla"/>
          <p:cNvGraphicFramePr>
            <a:graphicFrameLocks noGrp="1"/>
          </p:cNvGraphicFramePr>
          <p:nvPr/>
        </p:nvGraphicFramePr>
        <p:xfrm>
          <a:off x="2357438" y="4008438"/>
          <a:ext cx="1928826" cy="1463040"/>
        </p:xfrm>
        <a:graphic>
          <a:graphicData uri="http://schemas.openxmlformats.org/drawingml/2006/table">
            <a:tbl>
              <a:tblPr>
                <a:tableStyleId>{BC89EF96-8CEA-46FF-86C4-4CE0E7609802}</a:tableStyleId>
              </a:tblPr>
              <a:tblGrid>
                <a:gridCol w="642942">
                  <a:extLst>
                    <a:ext uri="{9D8B030D-6E8A-4147-A177-3AD203B41FA5}">
                      <a16:colId xmlns:a16="http://schemas.microsoft.com/office/drawing/2014/main" val="20000"/>
                    </a:ext>
                  </a:extLst>
                </a:gridCol>
                <a:gridCol w="642942">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tblGrid>
              <a:tr h="0">
                <a:tc>
                  <a:txBody>
                    <a:bodyPr/>
                    <a:lstStyle/>
                    <a:p>
                      <a:pPr algn="ctr"/>
                      <a:r>
                        <a:rPr lang="es-ES" dirty="0">
                          <a:solidFill>
                            <a:schemeClr val="bg1"/>
                          </a:solidFill>
                        </a:rPr>
                        <a:t>B</a:t>
                      </a:r>
                    </a:p>
                  </a:txBody>
                  <a:tcPr anchor="ctr">
                    <a:solidFill>
                      <a:schemeClr val="accent1"/>
                    </a:solidFill>
                  </a:tcPr>
                </a:tc>
                <a:tc>
                  <a:txBody>
                    <a:bodyPr/>
                    <a:lstStyle/>
                    <a:p>
                      <a:pPr algn="ctr"/>
                      <a:r>
                        <a:rPr lang="es-ES" dirty="0">
                          <a:solidFill>
                            <a:schemeClr val="bg1"/>
                          </a:solidFill>
                        </a:rPr>
                        <a:t>C</a:t>
                      </a:r>
                    </a:p>
                  </a:txBody>
                  <a:tcPr anchor="ctr">
                    <a:solidFill>
                      <a:schemeClr val="accent1"/>
                    </a:solidFill>
                  </a:tcPr>
                </a:tc>
                <a:tc>
                  <a:txBody>
                    <a:bodyPr/>
                    <a:lstStyle/>
                    <a:p>
                      <a:pPr algn="ctr"/>
                      <a:r>
                        <a:rPr lang="es-ES" dirty="0">
                          <a:solidFill>
                            <a:schemeClr val="bg1"/>
                          </a:solidFill>
                        </a:rPr>
                        <a:t>D</a:t>
                      </a:r>
                    </a:p>
                  </a:txBody>
                  <a:tcPr anchor="ctr">
                    <a:solidFill>
                      <a:schemeClr val="accent1"/>
                    </a:solidFill>
                  </a:tcPr>
                </a:tc>
                <a:extLst>
                  <a:ext uri="{0D108BD9-81ED-4DB2-BD59-A6C34878D82A}">
                    <a16:rowId xmlns:a16="http://schemas.microsoft.com/office/drawing/2014/main" val="10000"/>
                  </a:ext>
                </a:extLst>
              </a:tr>
              <a:tr h="0">
                <a:tc>
                  <a:txBody>
                    <a:bodyPr/>
                    <a:lstStyle/>
                    <a:p>
                      <a:pPr algn="ctr"/>
                      <a:r>
                        <a:rPr lang="es-ES"/>
                        <a:t>2</a:t>
                      </a:r>
                    </a:p>
                  </a:txBody>
                  <a:tcPr anchor="ctr"/>
                </a:tc>
                <a:tc>
                  <a:txBody>
                    <a:bodyPr/>
                    <a:lstStyle/>
                    <a:p>
                      <a:pPr algn="ctr"/>
                      <a:r>
                        <a:rPr lang="es-ES"/>
                        <a:t>5</a:t>
                      </a:r>
                    </a:p>
                  </a:txBody>
                  <a:tcPr anchor="ctr"/>
                </a:tc>
                <a:tc>
                  <a:txBody>
                    <a:bodyPr/>
                    <a:lstStyle/>
                    <a:p>
                      <a:pPr algn="ctr"/>
                      <a:r>
                        <a:rPr lang="es-ES"/>
                        <a:t>6</a:t>
                      </a:r>
                    </a:p>
                  </a:txBody>
                  <a:tcPr anchor="ctr"/>
                </a:tc>
                <a:extLst>
                  <a:ext uri="{0D108BD9-81ED-4DB2-BD59-A6C34878D82A}">
                    <a16:rowId xmlns:a16="http://schemas.microsoft.com/office/drawing/2014/main" val="10001"/>
                  </a:ext>
                </a:extLst>
              </a:tr>
              <a:tr h="0">
                <a:tc>
                  <a:txBody>
                    <a:bodyPr/>
                    <a:lstStyle/>
                    <a:p>
                      <a:pPr algn="ctr"/>
                      <a:r>
                        <a:rPr lang="es-ES"/>
                        <a:t>4</a:t>
                      </a:r>
                    </a:p>
                  </a:txBody>
                  <a:tcPr anchor="ctr"/>
                </a:tc>
                <a:tc>
                  <a:txBody>
                    <a:bodyPr/>
                    <a:lstStyle/>
                    <a:p>
                      <a:pPr algn="ctr"/>
                      <a:r>
                        <a:rPr lang="es-ES"/>
                        <a:t>7</a:t>
                      </a:r>
                    </a:p>
                  </a:txBody>
                  <a:tcPr anchor="ctr"/>
                </a:tc>
                <a:tc>
                  <a:txBody>
                    <a:bodyPr/>
                    <a:lstStyle/>
                    <a:p>
                      <a:pPr algn="ctr"/>
                      <a:r>
                        <a:rPr lang="es-ES"/>
                        <a:t>8</a:t>
                      </a:r>
                    </a:p>
                  </a:txBody>
                  <a:tcPr anchor="ctr"/>
                </a:tc>
                <a:extLst>
                  <a:ext uri="{0D108BD9-81ED-4DB2-BD59-A6C34878D82A}">
                    <a16:rowId xmlns:a16="http://schemas.microsoft.com/office/drawing/2014/main" val="10002"/>
                  </a:ext>
                </a:extLst>
              </a:tr>
              <a:tr h="0">
                <a:tc>
                  <a:txBody>
                    <a:bodyPr/>
                    <a:lstStyle/>
                    <a:p>
                      <a:pPr algn="ctr"/>
                      <a:r>
                        <a:rPr lang="es-ES"/>
                        <a:t>9</a:t>
                      </a:r>
                    </a:p>
                  </a:txBody>
                  <a:tcPr anchor="ctr"/>
                </a:tc>
                <a:tc>
                  <a:txBody>
                    <a:bodyPr/>
                    <a:lstStyle/>
                    <a:p>
                      <a:pPr algn="ctr"/>
                      <a:r>
                        <a:rPr lang="es-ES"/>
                        <a:t>10</a:t>
                      </a:r>
                    </a:p>
                  </a:txBody>
                  <a:tcPr anchor="ctr"/>
                </a:tc>
                <a:tc>
                  <a:txBody>
                    <a:bodyPr/>
                    <a:lstStyle/>
                    <a:p>
                      <a:pPr algn="ctr"/>
                      <a:r>
                        <a:rPr lang="es-ES" dirty="0"/>
                        <a:t>11</a:t>
                      </a:r>
                    </a:p>
                  </a:txBody>
                  <a:tcPr anchor="ctr"/>
                </a:tc>
                <a:extLst>
                  <a:ext uri="{0D108BD9-81ED-4DB2-BD59-A6C34878D82A}">
                    <a16:rowId xmlns:a16="http://schemas.microsoft.com/office/drawing/2014/main" val="10003"/>
                  </a:ext>
                </a:extLst>
              </a:tr>
            </a:tbl>
          </a:graphicData>
        </a:graphic>
      </p:graphicFrame>
      <p:sp>
        <p:nvSpPr>
          <p:cNvPr id="12" name="Rectangle 71"/>
          <p:cNvSpPr>
            <a:spLocks noChangeArrowheads="1"/>
          </p:cNvSpPr>
          <p:nvPr/>
        </p:nvSpPr>
        <p:spPr bwMode="auto">
          <a:xfrm>
            <a:off x="1000125" y="3579813"/>
            <a:ext cx="333375" cy="339725"/>
          </a:xfrm>
          <a:prstGeom prst="rect">
            <a:avLst/>
          </a:prstGeom>
          <a:noFill/>
          <a:ln w="9525">
            <a:noFill/>
            <a:miter lim="800000"/>
            <a:headEnd/>
            <a:tailEnd/>
          </a:ln>
        </p:spPr>
        <p:txBody>
          <a:bodyPr wrap="none" anchor="ctr">
            <a:spAutoFit/>
          </a:bodyPr>
          <a:lstStyle/>
          <a:p>
            <a:pPr algn="ctr" eaLnBrk="0" hangingPunct="0"/>
            <a:r>
              <a:rPr lang="es-MX" sz="1600" b="1">
                <a:latin typeface="Tahoma" pitchFamily="34" charset="0"/>
                <a:cs typeface="Tahoma" pitchFamily="34" charset="0"/>
              </a:rPr>
              <a:t>R</a:t>
            </a:r>
            <a:endParaRPr lang="es-ES" sz="1600" b="1"/>
          </a:p>
        </p:txBody>
      </p:sp>
      <p:sp>
        <p:nvSpPr>
          <p:cNvPr id="13" name="Rectangle 71"/>
          <p:cNvSpPr>
            <a:spLocks noChangeArrowheads="1"/>
          </p:cNvSpPr>
          <p:nvPr/>
        </p:nvSpPr>
        <p:spPr bwMode="auto">
          <a:xfrm>
            <a:off x="3186113" y="3579813"/>
            <a:ext cx="314325" cy="339725"/>
          </a:xfrm>
          <a:prstGeom prst="rect">
            <a:avLst/>
          </a:prstGeom>
          <a:noFill/>
          <a:ln w="9525">
            <a:noFill/>
            <a:miter lim="800000"/>
            <a:headEnd/>
            <a:tailEnd/>
          </a:ln>
        </p:spPr>
        <p:txBody>
          <a:bodyPr wrap="none" anchor="ctr">
            <a:spAutoFit/>
          </a:bodyPr>
          <a:lstStyle/>
          <a:p>
            <a:pPr algn="ctr" eaLnBrk="0" hangingPunct="0"/>
            <a:r>
              <a:rPr lang="es-MX" sz="1600" b="1">
                <a:latin typeface="Tahoma" pitchFamily="34" charset="0"/>
                <a:cs typeface="Tahoma" pitchFamily="34" charset="0"/>
              </a:rPr>
              <a:t>S</a:t>
            </a:r>
            <a:endParaRPr lang="es-ES" sz="1600" b="1"/>
          </a:p>
        </p:txBody>
      </p:sp>
      <p:sp>
        <p:nvSpPr>
          <p:cNvPr id="14" name="1 Rectángulo"/>
          <p:cNvSpPr>
            <a:spLocks noChangeArrowheads="1"/>
          </p:cNvSpPr>
          <p:nvPr/>
        </p:nvSpPr>
        <p:spPr bwMode="auto">
          <a:xfrm>
            <a:off x="1428750" y="4294188"/>
            <a:ext cx="1214438" cy="523875"/>
          </a:xfrm>
          <a:prstGeom prst="rect">
            <a:avLst/>
          </a:prstGeom>
          <a:noFill/>
          <a:ln w="9525">
            <a:noFill/>
            <a:miter lim="800000"/>
            <a:headEnd/>
            <a:tailEnd/>
          </a:ln>
        </p:spPr>
        <p:txBody>
          <a:bodyPr>
            <a:spAutoFit/>
          </a:bodyPr>
          <a:lstStyle/>
          <a:p>
            <a:pPr marL="800100" lvl="1" indent="-342900">
              <a:buFont typeface="Arial" charset="0"/>
              <a:buNone/>
            </a:pPr>
            <a:r>
              <a:rPr lang="es-ES_tradnl" sz="2800" b="1">
                <a:solidFill>
                  <a:schemeClr val="accent2"/>
                </a:solidFill>
                <a:sym typeface="Symbol" pitchFamily="18" charset="2"/>
              </a:rPr>
              <a:t></a:t>
            </a:r>
            <a:endParaRPr lang="es-ES_tradnl" sz="2000" b="1">
              <a:sym typeface="Symbol" pitchFamily="18" charset="2"/>
            </a:endParaRPr>
          </a:p>
        </p:txBody>
      </p:sp>
      <p:graphicFrame>
        <p:nvGraphicFramePr>
          <p:cNvPr id="15" name="14 Tabla"/>
          <p:cNvGraphicFramePr>
            <a:graphicFrameLocks noGrp="1"/>
          </p:cNvGraphicFramePr>
          <p:nvPr/>
        </p:nvGraphicFramePr>
        <p:xfrm>
          <a:off x="5214938" y="4008438"/>
          <a:ext cx="3500430" cy="2205994"/>
        </p:xfrm>
        <a:graphic>
          <a:graphicData uri="http://schemas.openxmlformats.org/drawingml/2006/table">
            <a:tbl>
              <a:tblPr>
                <a:tableStyleId>{BC89EF96-8CEA-46FF-86C4-4CE0E7609802}</a:tableStyleId>
              </a:tblPr>
              <a:tblGrid>
                <a:gridCol w="700086">
                  <a:extLst>
                    <a:ext uri="{9D8B030D-6E8A-4147-A177-3AD203B41FA5}">
                      <a16:colId xmlns:a16="http://schemas.microsoft.com/office/drawing/2014/main" val="20000"/>
                    </a:ext>
                  </a:extLst>
                </a:gridCol>
                <a:gridCol w="700086">
                  <a:extLst>
                    <a:ext uri="{9D8B030D-6E8A-4147-A177-3AD203B41FA5}">
                      <a16:colId xmlns:a16="http://schemas.microsoft.com/office/drawing/2014/main" val="20001"/>
                    </a:ext>
                  </a:extLst>
                </a:gridCol>
                <a:gridCol w="700086">
                  <a:extLst>
                    <a:ext uri="{9D8B030D-6E8A-4147-A177-3AD203B41FA5}">
                      <a16:colId xmlns:a16="http://schemas.microsoft.com/office/drawing/2014/main" val="20002"/>
                    </a:ext>
                  </a:extLst>
                </a:gridCol>
                <a:gridCol w="700086">
                  <a:extLst>
                    <a:ext uri="{9D8B030D-6E8A-4147-A177-3AD203B41FA5}">
                      <a16:colId xmlns:a16="http://schemas.microsoft.com/office/drawing/2014/main" val="20003"/>
                    </a:ext>
                  </a:extLst>
                </a:gridCol>
                <a:gridCol w="700086">
                  <a:extLst>
                    <a:ext uri="{9D8B030D-6E8A-4147-A177-3AD203B41FA5}">
                      <a16:colId xmlns:a16="http://schemas.microsoft.com/office/drawing/2014/main" val="20004"/>
                    </a:ext>
                  </a:extLst>
                </a:gridCol>
              </a:tblGrid>
              <a:tr h="315142">
                <a:tc>
                  <a:txBody>
                    <a:bodyPr/>
                    <a:lstStyle/>
                    <a:p>
                      <a:pPr algn="ctr"/>
                      <a:r>
                        <a:rPr lang="es-ES" dirty="0">
                          <a:solidFill>
                            <a:schemeClr val="bg1"/>
                          </a:solidFill>
                        </a:rPr>
                        <a:t>A</a:t>
                      </a:r>
                    </a:p>
                  </a:txBody>
                  <a:tcPr marL="0" marR="0" marT="0" marB="0" anchor="ctr">
                    <a:solidFill>
                      <a:schemeClr val="accent1"/>
                    </a:solidFill>
                  </a:tcPr>
                </a:tc>
                <a:tc>
                  <a:txBody>
                    <a:bodyPr/>
                    <a:lstStyle/>
                    <a:p>
                      <a:pPr algn="ctr"/>
                      <a:r>
                        <a:rPr lang="es-ES" dirty="0">
                          <a:solidFill>
                            <a:schemeClr val="bg1"/>
                          </a:solidFill>
                        </a:rPr>
                        <a:t>R.B</a:t>
                      </a:r>
                    </a:p>
                  </a:txBody>
                  <a:tcPr marL="0" marR="0" marT="0" marB="0" anchor="ctr">
                    <a:solidFill>
                      <a:schemeClr val="accent1"/>
                    </a:solidFill>
                  </a:tcPr>
                </a:tc>
                <a:tc>
                  <a:txBody>
                    <a:bodyPr/>
                    <a:lstStyle/>
                    <a:p>
                      <a:pPr algn="ctr"/>
                      <a:r>
                        <a:rPr lang="es-ES" dirty="0">
                          <a:solidFill>
                            <a:schemeClr val="bg1"/>
                          </a:solidFill>
                        </a:rPr>
                        <a:t>S.B</a:t>
                      </a:r>
                    </a:p>
                  </a:txBody>
                  <a:tcPr marL="0" marR="0" marT="0" marB="0" anchor="ctr">
                    <a:solidFill>
                      <a:schemeClr val="accent1"/>
                    </a:solidFill>
                  </a:tcPr>
                </a:tc>
                <a:tc>
                  <a:txBody>
                    <a:bodyPr/>
                    <a:lstStyle/>
                    <a:p>
                      <a:pPr algn="ctr"/>
                      <a:r>
                        <a:rPr lang="es-ES" dirty="0">
                          <a:solidFill>
                            <a:schemeClr val="bg1"/>
                          </a:solidFill>
                        </a:rPr>
                        <a:t>C</a:t>
                      </a:r>
                    </a:p>
                  </a:txBody>
                  <a:tcPr marL="0" marR="0" marT="0" marB="0" anchor="ctr">
                    <a:solidFill>
                      <a:schemeClr val="accent1"/>
                    </a:solidFill>
                  </a:tcPr>
                </a:tc>
                <a:tc>
                  <a:txBody>
                    <a:bodyPr/>
                    <a:lstStyle/>
                    <a:p>
                      <a:pPr algn="ctr"/>
                      <a:r>
                        <a:rPr lang="es-ES" dirty="0">
                          <a:solidFill>
                            <a:schemeClr val="bg1"/>
                          </a:solidFill>
                        </a:rPr>
                        <a:t>D</a:t>
                      </a:r>
                    </a:p>
                  </a:txBody>
                  <a:tcPr marL="0" marR="0" marT="0" marB="0" anchor="ctr">
                    <a:solidFill>
                      <a:schemeClr val="accent1"/>
                    </a:solidFill>
                  </a:tcPr>
                </a:tc>
                <a:extLst>
                  <a:ext uri="{0D108BD9-81ED-4DB2-BD59-A6C34878D82A}">
                    <a16:rowId xmlns:a16="http://schemas.microsoft.com/office/drawing/2014/main" val="10000"/>
                  </a:ext>
                </a:extLst>
              </a:tr>
              <a:tr h="315142">
                <a:tc>
                  <a:txBody>
                    <a:bodyPr/>
                    <a:lstStyle/>
                    <a:p>
                      <a:pPr algn="ctr"/>
                      <a:r>
                        <a:rPr lang="es-ES"/>
                        <a:t>1</a:t>
                      </a:r>
                    </a:p>
                  </a:txBody>
                  <a:tcPr marL="0" marR="0" marT="0" marB="0" anchor="ctr"/>
                </a:tc>
                <a:tc>
                  <a:txBody>
                    <a:bodyPr/>
                    <a:lstStyle/>
                    <a:p>
                      <a:pPr algn="ctr"/>
                      <a:r>
                        <a:rPr lang="es-ES"/>
                        <a:t>2</a:t>
                      </a:r>
                    </a:p>
                  </a:txBody>
                  <a:tcPr marL="0" marR="0" marT="0" marB="0" anchor="ctr"/>
                </a:tc>
                <a:tc>
                  <a:txBody>
                    <a:bodyPr/>
                    <a:lstStyle/>
                    <a:p>
                      <a:pPr algn="ctr"/>
                      <a:r>
                        <a:rPr lang="es-ES"/>
                        <a:t>2</a:t>
                      </a:r>
                    </a:p>
                  </a:txBody>
                  <a:tcPr marL="0" marR="0" marT="0" marB="0" anchor="ctr"/>
                </a:tc>
                <a:tc>
                  <a:txBody>
                    <a:bodyPr/>
                    <a:lstStyle/>
                    <a:p>
                      <a:pPr algn="ctr"/>
                      <a:r>
                        <a:rPr lang="es-ES"/>
                        <a:t>5</a:t>
                      </a:r>
                    </a:p>
                  </a:txBody>
                  <a:tcPr marL="0" marR="0" marT="0" marB="0" anchor="ctr"/>
                </a:tc>
                <a:tc>
                  <a:txBody>
                    <a:bodyPr/>
                    <a:lstStyle/>
                    <a:p>
                      <a:pPr algn="ctr"/>
                      <a:r>
                        <a:rPr lang="es-ES"/>
                        <a:t>6</a:t>
                      </a:r>
                    </a:p>
                  </a:txBody>
                  <a:tcPr marL="0" marR="0" marT="0" marB="0" anchor="ctr"/>
                </a:tc>
                <a:extLst>
                  <a:ext uri="{0D108BD9-81ED-4DB2-BD59-A6C34878D82A}">
                    <a16:rowId xmlns:a16="http://schemas.microsoft.com/office/drawing/2014/main" val="10001"/>
                  </a:ext>
                </a:extLst>
              </a:tr>
              <a:tr h="315142">
                <a:tc>
                  <a:txBody>
                    <a:bodyPr/>
                    <a:lstStyle/>
                    <a:p>
                      <a:pPr algn="ctr"/>
                      <a:r>
                        <a:rPr lang="es-ES"/>
                        <a:t>1</a:t>
                      </a:r>
                    </a:p>
                  </a:txBody>
                  <a:tcPr marL="0" marR="0" marT="0" marB="0" anchor="ctr"/>
                </a:tc>
                <a:tc>
                  <a:txBody>
                    <a:bodyPr/>
                    <a:lstStyle/>
                    <a:p>
                      <a:pPr algn="ctr"/>
                      <a:r>
                        <a:rPr lang="es-ES"/>
                        <a:t>2</a:t>
                      </a:r>
                    </a:p>
                  </a:txBody>
                  <a:tcPr marL="0" marR="0" marT="0" marB="0" anchor="ctr"/>
                </a:tc>
                <a:tc>
                  <a:txBody>
                    <a:bodyPr/>
                    <a:lstStyle/>
                    <a:p>
                      <a:pPr algn="ctr"/>
                      <a:r>
                        <a:rPr lang="es-ES"/>
                        <a:t>4</a:t>
                      </a:r>
                    </a:p>
                  </a:txBody>
                  <a:tcPr marL="0" marR="0" marT="0" marB="0" anchor="ctr"/>
                </a:tc>
                <a:tc>
                  <a:txBody>
                    <a:bodyPr/>
                    <a:lstStyle/>
                    <a:p>
                      <a:pPr algn="ctr"/>
                      <a:r>
                        <a:rPr lang="es-ES"/>
                        <a:t>7</a:t>
                      </a:r>
                    </a:p>
                  </a:txBody>
                  <a:tcPr marL="0" marR="0" marT="0" marB="0" anchor="ctr"/>
                </a:tc>
                <a:tc>
                  <a:txBody>
                    <a:bodyPr/>
                    <a:lstStyle/>
                    <a:p>
                      <a:pPr algn="ctr"/>
                      <a:r>
                        <a:rPr lang="es-ES"/>
                        <a:t>8</a:t>
                      </a:r>
                    </a:p>
                  </a:txBody>
                  <a:tcPr marL="0" marR="0" marT="0" marB="0" anchor="ctr"/>
                </a:tc>
                <a:extLst>
                  <a:ext uri="{0D108BD9-81ED-4DB2-BD59-A6C34878D82A}">
                    <a16:rowId xmlns:a16="http://schemas.microsoft.com/office/drawing/2014/main" val="10002"/>
                  </a:ext>
                </a:extLst>
              </a:tr>
              <a:tr h="315142">
                <a:tc>
                  <a:txBody>
                    <a:bodyPr/>
                    <a:lstStyle/>
                    <a:p>
                      <a:pPr algn="ctr"/>
                      <a:r>
                        <a:rPr lang="es-ES"/>
                        <a:t>1</a:t>
                      </a:r>
                    </a:p>
                  </a:txBody>
                  <a:tcPr marL="0" marR="0" marT="0" marB="0" anchor="ctr"/>
                </a:tc>
                <a:tc>
                  <a:txBody>
                    <a:bodyPr/>
                    <a:lstStyle/>
                    <a:p>
                      <a:pPr algn="ctr"/>
                      <a:r>
                        <a:rPr lang="es-ES"/>
                        <a:t>2</a:t>
                      </a:r>
                    </a:p>
                  </a:txBody>
                  <a:tcPr marL="0" marR="0" marT="0" marB="0" anchor="ctr"/>
                </a:tc>
                <a:tc>
                  <a:txBody>
                    <a:bodyPr/>
                    <a:lstStyle/>
                    <a:p>
                      <a:pPr algn="ctr"/>
                      <a:r>
                        <a:rPr lang="es-ES"/>
                        <a:t>9</a:t>
                      </a:r>
                    </a:p>
                  </a:txBody>
                  <a:tcPr marL="0" marR="0" marT="0" marB="0" anchor="ctr"/>
                </a:tc>
                <a:tc>
                  <a:txBody>
                    <a:bodyPr/>
                    <a:lstStyle/>
                    <a:p>
                      <a:pPr algn="ctr"/>
                      <a:r>
                        <a:rPr lang="es-ES"/>
                        <a:t>10</a:t>
                      </a:r>
                    </a:p>
                  </a:txBody>
                  <a:tcPr marL="0" marR="0" marT="0" marB="0" anchor="ctr"/>
                </a:tc>
                <a:tc>
                  <a:txBody>
                    <a:bodyPr/>
                    <a:lstStyle/>
                    <a:p>
                      <a:pPr algn="ctr"/>
                      <a:r>
                        <a:rPr lang="es-ES"/>
                        <a:t>11</a:t>
                      </a:r>
                    </a:p>
                  </a:txBody>
                  <a:tcPr marL="0" marR="0" marT="0" marB="0" anchor="ctr"/>
                </a:tc>
                <a:extLst>
                  <a:ext uri="{0D108BD9-81ED-4DB2-BD59-A6C34878D82A}">
                    <a16:rowId xmlns:a16="http://schemas.microsoft.com/office/drawing/2014/main" val="10003"/>
                  </a:ext>
                </a:extLst>
              </a:tr>
              <a:tr h="315142">
                <a:tc>
                  <a:txBody>
                    <a:bodyPr/>
                    <a:lstStyle/>
                    <a:p>
                      <a:pPr algn="ctr"/>
                      <a:r>
                        <a:rPr lang="es-ES"/>
                        <a:t>3</a:t>
                      </a:r>
                    </a:p>
                  </a:txBody>
                  <a:tcPr marL="0" marR="0" marT="0" marB="0" anchor="ctr"/>
                </a:tc>
                <a:tc>
                  <a:txBody>
                    <a:bodyPr/>
                    <a:lstStyle/>
                    <a:p>
                      <a:pPr algn="ctr"/>
                      <a:r>
                        <a:rPr lang="es-ES"/>
                        <a:t>4</a:t>
                      </a:r>
                    </a:p>
                  </a:txBody>
                  <a:tcPr marL="0" marR="0" marT="0" marB="0" anchor="ctr"/>
                </a:tc>
                <a:tc>
                  <a:txBody>
                    <a:bodyPr/>
                    <a:lstStyle/>
                    <a:p>
                      <a:pPr algn="ctr"/>
                      <a:r>
                        <a:rPr lang="es-ES"/>
                        <a:t>2</a:t>
                      </a:r>
                    </a:p>
                  </a:txBody>
                  <a:tcPr marL="0" marR="0" marT="0" marB="0" anchor="ctr"/>
                </a:tc>
                <a:tc>
                  <a:txBody>
                    <a:bodyPr/>
                    <a:lstStyle/>
                    <a:p>
                      <a:pPr algn="ctr"/>
                      <a:r>
                        <a:rPr lang="es-ES"/>
                        <a:t>5</a:t>
                      </a:r>
                    </a:p>
                  </a:txBody>
                  <a:tcPr marL="0" marR="0" marT="0" marB="0" anchor="ctr"/>
                </a:tc>
                <a:tc>
                  <a:txBody>
                    <a:bodyPr/>
                    <a:lstStyle/>
                    <a:p>
                      <a:pPr algn="ctr"/>
                      <a:r>
                        <a:rPr lang="es-ES"/>
                        <a:t>6</a:t>
                      </a:r>
                    </a:p>
                  </a:txBody>
                  <a:tcPr marL="0" marR="0" marT="0" marB="0" anchor="ctr"/>
                </a:tc>
                <a:extLst>
                  <a:ext uri="{0D108BD9-81ED-4DB2-BD59-A6C34878D82A}">
                    <a16:rowId xmlns:a16="http://schemas.microsoft.com/office/drawing/2014/main" val="10004"/>
                  </a:ext>
                </a:extLst>
              </a:tr>
              <a:tr h="315142">
                <a:tc>
                  <a:txBody>
                    <a:bodyPr/>
                    <a:lstStyle/>
                    <a:p>
                      <a:pPr algn="ctr"/>
                      <a:r>
                        <a:rPr lang="es-ES"/>
                        <a:t>3</a:t>
                      </a:r>
                    </a:p>
                  </a:txBody>
                  <a:tcPr marL="0" marR="0" marT="0" marB="0" anchor="ctr"/>
                </a:tc>
                <a:tc>
                  <a:txBody>
                    <a:bodyPr/>
                    <a:lstStyle/>
                    <a:p>
                      <a:pPr algn="ctr"/>
                      <a:r>
                        <a:rPr lang="es-ES"/>
                        <a:t>4</a:t>
                      </a:r>
                    </a:p>
                  </a:txBody>
                  <a:tcPr marL="0" marR="0" marT="0" marB="0" anchor="ctr"/>
                </a:tc>
                <a:tc>
                  <a:txBody>
                    <a:bodyPr/>
                    <a:lstStyle/>
                    <a:p>
                      <a:pPr algn="ctr"/>
                      <a:r>
                        <a:rPr lang="es-ES"/>
                        <a:t>4</a:t>
                      </a:r>
                    </a:p>
                  </a:txBody>
                  <a:tcPr marL="0" marR="0" marT="0" marB="0" anchor="ctr"/>
                </a:tc>
                <a:tc>
                  <a:txBody>
                    <a:bodyPr/>
                    <a:lstStyle/>
                    <a:p>
                      <a:pPr algn="ctr"/>
                      <a:r>
                        <a:rPr lang="es-ES"/>
                        <a:t>7</a:t>
                      </a:r>
                    </a:p>
                  </a:txBody>
                  <a:tcPr marL="0" marR="0" marT="0" marB="0" anchor="ctr"/>
                </a:tc>
                <a:tc>
                  <a:txBody>
                    <a:bodyPr/>
                    <a:lstStyle/>
                    <a:p>
                      <a:pPr algn="ctr"/>
                      <a:r>
                        <a:rPr lang="es-ES"/>
                        <a:t>8</a:t>
                      </a:r>
                    </a:p>
                  </a:txBody>
                  <a:tcPr marL="0" marR="0" marT="0" marB="0" anchor="ctr"/>
                </a:tc>
                <a:extLst>
                  <a:ext uri="{0D108BD9-81ED-4DB2-BD59-A6C34878D82A}">
                    <a16:rowId xmlns:a16="http://schemas.microsoft.com/office/drawing/2014/main" val="10005"/>
                  </a:ext>
                </a:extLst>
              </a:tr>
              <a:tr h="315142">
                <a:tc>
                  <a:txBody>
                    <a:bodyPr/>
                    <a:lstStyle/>
                    <a:p>
                      <a:pPr algn="ctr"/>
                      <a:r>
                        <a:rPr lang="es-ES"/>
                        <a:t>3</a:t>
                      </a:r>
                    </a:p>
                  </a:txBody>
                  <a:tcPr marL="0" marR="0" marT="0" marB="0" anchor="ctr"/>
                </a:tc>
                <a:tc>
                  <a:txBody>
                    <a:bodyPr/>
                    <a:lstStyle/>
                    <a:p>
                      <a:pPr algn="ctr"/>
                      <a:r>
                        <a:rPr lang="es-ES"/>
                        <a:t>4</a:t>
                      </a:r>
                    </a:p>
                  </a:txBody>
                  <a:tcPr marL="0" marR="0" marT="0" marB="0" anchor="ctr"/>
                </a:tc>
                <a:tc>
                  <a:txBody>
                    <a:bodyPr/>
                    <a:lstStyle/>
                    <a:p>
                      <a:pPr algn="ctr"/>
                      <a:r>
                        <a:rPr lang="es-ES" dirty="0"/>
                        <a:t>9</a:t>
                      </a:r>
                    </a:p>
                  </a:txBody>
                  <a:tcPr marL="0" marR="0" marT="0" marB="0" anchor="ctr"/>
                </a:tc>
                <a:tc>
                  <a:txBody>
                    <a:bodyPr/>
                    <a:lstStyle/>
                    <a:p>
                      <a:pPr algn="ctr"/>
                      <a:r>
                        <a:rPr lang="es-ES"/>
                        <a:t>10</a:t>
                      </a:r>
                    </a:p>
                  </a:txBody>
                  <a:tcPr marL="0" marR="0" marT="0" marB="0" anchor="ctr"/>
                </a:tc>
                <a:tc>
                  <a:txBody>
                    <a:bodyPr/>
                    <a:lstStyle/>
                    <a:p>
                      <a:pPr algn="ctr"/>
                      <a:r>
                        <a:rPr lang="es-ES" dirty="0"/>
                        <a:t>11</a:t>
                      </a:r>
                    </a:p>
                  </a:txBody>
                  <a:tcPr marL="0" marR="0" marT="0" marB="0" anchor="ctr"/>
                </a:tc>
                <a:extLst>
                  <a:ext uri="{0D108BD9-81ED-4DB2-BD59-A6C34878D82A}">
                    <a16:rowId xmlns:a16="http://schemas.microsoft.com/office/drawing/2014/main" val="10006"/>
                  </a:ext>
                </a:extLst>
              </a:tr>
            </a:tbl>
          </a:graphicData>
        </a:graphic>
      </p:graphicFrame>
      <p:sp>
        <p:nvSpPr>
          <p:cNvPr id="16" name="15 Rectángulo"/>
          <p:cNvSpPr>
            <a:spLocks noChangeArrowheads="1"/>
          </p:cNvSpPr>
          <p:nvPr/>
        </p:nvSpPr>
        <p:spPr bwMode="auto">
          <a:xfrm>
            <a:off x="6526213" y="3609975"/>
            <a:ext cx="760412" cy="369888"/>
          </a:xfrm>
          <a:prstGeom prst="rect">
            <a:avLst/>
          </a:prstGeom>
          <a:noFill/>
          <a:ln w="9525">
            <a:noFill/>
            <a:miter lim="800000"/>
            <a:headEnd/>
            <a:tailEnd/>
          </a:ln>
        </p:spPr>
        <p:txBody>
          <a:bodyPr wrap="none">
            <a:spAutoFit/>
          </a:bodyPr>
          <a:lstStyle/>
          <a:p>
            <a:r>
              <a:rPr lang="es-ES" b="1"/>
              <a:t>R </a:t>
            </a:r>
            <a:r>
              <a:rPr lang="es-ES_tradnl" b="1">
                <a:solidFill>
                  <a:schemeClr val="accent2"/>
                </a:solidFill>
                <a:sym typeface="Symbol" pitchFamily="18" charset="2"/>
              </a:rPr>
              <a:t> </a:t>
            </a:r>
            <a:r>
              <a:rPr lang="es-ES" b="1"/>
              <a:t>S</a:t>
            </a:r>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10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6" grpId="0"/>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28355" name="1 Rectángulo"/>
          <p:cNvSpPr>
            <a:spLocks noChangeArrowheads="1"/>
          </p:cNvSpPr>
          <p:nvPr/>
        </p:nvSpPr>
        <p:spPr bwMode="auto">
          <a:xfrm>
            <a:off x="34925" y="785813"/>
            <a:ext cx="9074150" cy="400050"/>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Ejercicios</a:t>
            </a:r>
            <a:endParaRPr lang="es-ES_tradnl" sz="2000" b="1">
              <a:sym typeface="Symbol" pitchFamily="18" charset="2"/>
            </a:endParaRPr>
          </a:p>
        </p:txBody>
      </p:sp>
      <p:pic>
        <p:nvPicPr>
          <p:cNvPr id="228356" name="Picture 4"/>
          <p:cNvPicPr>
            <a:picLocks noChangeAspect="1" noChangeArrowheads="1"/>
          </p:cNvPicPr>
          <p:nvPr/>
        </p:nvPicPr>
        <p:blipFill>
          <a:blip r:embed="rId3" cstate="print"/>
          <a:srcRect/>
          <a:stretch>
            <a:fillRect/>
          </a:stretch>
        </p:blipFill>
        <p:spPr bwMode="auto">
          <a:xfrm>
            <a:off x="571500" y="2357438"/>
            <a:ext cx="4678363" cy="2643187"/>
          </a:xfrm>
          <a:prstGeom prst="rect">
            <a:avLst/>
          </a:prstGeom>
          <a:noFill/>
          <a:ln w="9525">
            <a:noFill/>
            <a:miter lim="800000"/>
            <a:headEnd/>
            <a:tailEnd/>
          </a:ln>
        </p:spPr>
      </p:pic>
      <p:sp>
        <p:nvSpPr>
          <p:cNvPr id="228357" name="17 CuadroTexto"/>
          <p:cNvSpPr txBox="1">
            <a:spLocks noChangeArrowheads="1"/>
          </p:cNvSpPr>
          <p:nvPr/>
        </p:nvSpPr>
        <p:spPr bwMode="auto">
          <a:xfrm>
            <a:off x="714375" y="1857375"/>
            <a:ext cx="3749675" cy="369888"/>
          </a:xfrm>
          <a:prstGeom prst="rect">
            <a:avLst/>
          </a:prstGeom>
          <a:noFill/>
          <a:ln w="9525">
            <a:noFill/>
            <a:miter lim="800000"/>
            <a:headEnd/>
            <a:tailEnd/>
          </a:ln>
        </p:spPr>
        <p:txBody>
          <a:bodyPr wrap="none">
            <a:spAutoFit/>
          </a:bodyPr>
          <a:lstStyle/>
          <a:p>
            <a:r>
              <a:rPr lang="es-MX" b="1"/>
              <a:t>Dadas las siguientes relaciones:</a:t>
            </a:r>
            <a:endParaRPr lang="es-ES" b="1"/>
          </a:p>
        </p:txBody>
      </p:sp>
      <p:sp>
        <p:nvSpPr>
          <p:cNvPr id="19" name="18 CuadroTexto"/>
          <p:cNvSpPr txBox="1"/>
          <p:nvPr/>
        </p:nvSpPr>
        <p:spPr>
          <a:xfrm>
            <a:off x="5786438" y="1889125"/>
            <a:ext cx="3119437" cy="1754188"/>
          </a:xfrm>
          <a:prstGeom prst="rect">
            <a:avLst/>
          </a:prstGeom>
          <a:noFill/>
        </p:spPr>
        <p:txBody>
          <a:bodyPr wrap="none">
            <a:spAutoFit/>
          </a:bodyPr>
          <a:lstStyle/>
          <a:p>
            <a:pPr>
              <a:defRPr/>
            </a:pPr>
            <a:r>
              <a:rPr lang="es-MX" b="1" dirty="0"/>
              <a:t>Obtener:</a:t>
            </a:r>
          </a:p>
          <a:p>
            <a:pPr>
              <a:defRPr/>
            </a:pPr>
            <a:endParaRPr lang="es-MX" dirty="0"/>
          </a:p>
          <a:p>
            <a:pPr marL="342900" indent="-342900">
              <a:buFont typeface="+mj-lt"/>
              <a:buAutoNum type="alphaLcParenR"/>
              <a:defRPr/>
            </a:pPr>
            <a:r>
              <a:rPr lang="es-MX" dirty="0"/>
              <a:t>ALUMNO </a:t>
            </a:r>
            <a:r>
              <a:rPr lang="es-MX" dirty="0">
                <a:sym typeface="Symbol"/>
              </a:rPr>
              <a:t> </a:t>
            </a:r>
            <a:r>
              <a:rPr lang="es-MX" dirty="0"/>
              <a:t>PROFESOR</a:t>
            </a:r>
          </a:p>
          <a:p>
            <a:pPr marL="342900" indent="-342900">
              <a:buFont typeface="+mj-lt"/>
              <a:buAutoNum type="alphaLcParenR"/>
              <a:defRPr/>
            </a:pPr>
            <a:r>
              <a:rPr lang="es-MX" dirty="0"/>
              <a:t>ALUMNO </a:t>
            </a:r>
            <a:r>
              <a:rPr lang="es-MX" dirty="0">
                <a:sym typeface="Symbol"/>
              </a:rPr>
              <a:t> </a:t>
            </a:r>
            <a:r>
              <a:rPr lang="es-MX" dirty="0"/>
              <a:t>PROFESOR</a:t>
            </a:r>
          </a:p>
          <a:p>
            <a:pPr marL="342900" indent="-342900">
              <a:buFont typeface="+mj-lt"/>
              <a:buAutoNum type="alphaLcParenR"/>
              <a:defRPr/>
            </a:pPr>
            <a:r>
              <a:rPr lang="es-MX" dirty="0"/>
              <a:t>ALUMNO - PROFESOR</a:t>
            </a:r>
          </a:p>
          <a:p>
            <a:pPr marL="342900" indent="-342900">
              <a:buFont typeface="+mj-lt"/>
              <a:buAutoNum type="alphaLcParenR"/>
              <a:defRPr/>
            </a:pPr>
            <a:r>
              <a:rPr lang="es-MX" dirty="0"/>
              <a:t>PROFESOR - ALUMNO</a:t>
            </a:r>
            <a:endParaRPr lang="es-ES"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29379" name="1 Rectángulo"/>
          <p:cNvSpPr>
            <a:spLocks noChangeArrowheads="1"/>
          </p:cNvSpPr>
          <p:nvPr/>
        </p:nvSpPr>
        <p:spPr bwMode="auto">
          <a:xfrm>
            <a:off x="34925" y="785813"/>
            <a:ext cx="9074150" cy="400050"/>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Ejercicios</a:t>
            </a:r>
            <a:endParaRPr lang="es-ES_tradnl" sz="2000" b="1">
              <a:sym typeface="Symbol" pitchFamily="18" charset="2"/>
            </a:endParaRPr>
          </a:p>
        </p:txBody>
      </p:sp>
      <p:sp>
        <p:nvSpPr>
          <p:cNvPr id="227332" name="6 CuadroTexto"/>
          <p:cNvSpPr txBox="1">
            <a:spLocks noChangeArrowheads="1"/>
          </p:cNvSpPr>
          <p:nvPr/>
        </p:nvSpPr>
        <p:spPr bwMode="auto">
          <a:xfrm>
            <a:off x="357188" y="1571625"/>
            <a:ext cx="3119437" cy="369888"/>
          </a:xfrm>
          <a:prstGeom prst="rect">
            <a:avLst/>
          </a:prstGeom>
          <a:noFill/>
          <a:ln w="9525">
            <a:noFill/>
            <a:miter lim="800000"/>
            <a:headEnd/>
            <a:tailEnd/>
          </a:ln>
        </p:spPr>
        <p:txBody>
          <a:bodyPr wrap="none">
            <a:spAutoFit/>
          </a:bodyPr>
          <a:lstStyle/>
          <a:p>
            <a:pPr marL="342900" indent="-342900">
              <a:buFont typeface="Lucida Sans Unicode" pitchFamily="34" charset="0"/>
              <a:buAutoNum type="alphaLcParenR"/>
            </a:pPr>
            <a:r>
              <a:rPr lang="es-MX"/>
              <a:t>ALUMNO </a:t>
            </a:r>
            <a:r>
              <a:rPr lang="es-MX">
                <a:sym typeface="Symbol" pitchFamily="18" charset="2"/>
              </a:rPr>
              <a:t> </a:t>
            </a:r>
            <a:r>
              <a:rPr lang="es-MX"/>
              <a:t>PROFESOR</a:t>
            </a:r>
            <a:endParaRPr lang="es-ES"/>
          </a:p>
        </p:txBody>
      </p:sp>
      <p:sp>
        <p:nvSpPr>
          <p:cNvPr id="227333" name="7 CuadroTexto"/>
          <p:cNvSpPr txBox="1">
            <a:spLocks noChangeArrowheads="1"/>
          </p:cNvSpPr>
          <p:nvPr/>
        </p:nvSpPr>
        <p:spPr bwMode="auto">
          <a:xfrm>
            <a:off x="428625" y="4897438"/>
            <a:ext cx="3119438" cy="369887"/>
          </a:xfrm>
          <a:prstGeom prst="rect">
            <a:avLst/>
          </a:prstGeom>
          <a:noFill/>
          <a:ln w="9525">
            <a:noFill/>
            <a:miter lim="800000"/>
            <a:headEnd/>
            <a:tailEnd/>
          </a:ln>
        </p:spPr>
        <p:txBody>
          <a:bodyPr wrap="none">
            <a:spAutoFit/>
          </a:bodyPr>
          <a:lstStyle/>
          <a:p>
            <a:pPr marL="342900" indent="-342900">
              <a:buFont typeface="Lucida Sans Unicode" pitchFamily="34" charset="0"/>
              <a:buAutoNum type="alphaLcParenR" startAt="2"/>
            </a:pPr>
            <a:r>
              <a:rPr lang="es-MX"/>
              <a:t>ALUMNO </a:t>
            </a:r>
            <a:r>
              <a:rPr lang="es-MX">
                <a:sym typeface="Symbol" pitchFamily="18" charset="2"/>
              </a:rPr>
              <a:t> </a:t>
            </a:r>
            <a:r>
              <a:rPr lang="es-MX"/>
              <a:t>PROFESOR</a:t>
            </a:r>
          </a:p>
        </p:txBody>
      </p:sp>
      <p:sp>
        <p:nvSpPr>
          <p:cNvPr id="227334" name="9 CuadroTexto"/>
          <p:cNvSpPr txBox="1">
            <a:spLocks noChangeArrowheads="1"/>
          </p:cNvSpPr>
          <p:nvPr/>
        </p:nvSpPr>
        <p:spPr bwMode="auto">
          <a:xfrm>
            <a:off x="5286375" y="4071938"/>
            <a:ext cx="3019425" cy="369887"/>
          </a:xfrm>
          <a:prstGeom prst="rect">
            <a:avLst/>
          </a:prstGeom>
          <a:noFill/>
          <a:ln w="9525">
            <a:noFill/>
            <a:miter lim="800000"/>
            <a:headEnd/>
            <a:tailEnd/>
          </a:ln>
        </p:spPr>
        <p:txBody>
          <a:bodyPr wrap="none">
            <a:spAutoFit/>
          </a:bodyPr>
          <a:lstStyle/>
          <a:p>
            <a:pPr marL="342900" indent="-342900">
              <a:buFont typeface="Lucida Sans Unicode" pitchFamily="34" charset="0"/>
              <a:buAutoNum type="alphaLcParenR" startAt="3"/>
            </a:pPr>
            <a:r>
              <a:rPr lang="es-MX"/>
              <a:t>ALUMNO - PROFESOR</a:t>
            </a:r>
          </a:p>
        </p:txBody>
      </p:sp>
      <p:sp>
        <p:nvSpPr>
          <p:cNvPr id="227335" name="10 CuadroTexto"/>
          <p:cNvSpPr txBox="1">
            <a:spLocks noChangeArrowheads="1"/>
          </p:cNvSpPr>
          <p:nvPr/>
        </p:nvSpPr>
        <p:spPr bwMode="auto">
          <a:xfrm>
            <a:off x="5494338" y="1643063"/>
            <a:ext cx="3006725" cy="369887"/>
          </a:xfrm>
          <a:prstGeom prst="rect">
            <a:avLst/>
          </a:prstGeom>
          <a:noFill/>
          <a:ln w="9525">
            <a:noFill/>
            <a:miter lim="800000"/>
            <a:headEnd/>
            <a:tailEnd/>
          </a:ln>
        </p:spPr>
        <p:txBody>
          <a:bodyPr wrap="none">
            <a:spAutoFit/>
          </a:bodyPr>
          <a:lstStyle/>
          <a:p>
            <a:pPr marL="342900" indent="-342900">
              <a:buFont typeface="Lucida Sans Unicode" pitchFamily="34" charset="0"/>
              <a:buAutoNum type="alphaLcParenR" startAt="4"/>
            </a:pPr>
            <a:r>
              <a:rPr lang="es-MX"/>
              <a:t>PROFESOR - ALUMNO</a:t>
            </a:r>
            <a:endParaRPr lang="es-ES"/>
          </a:p>
        </p:txBody>
      </p:sp>
      <p:pic>
        <p:nvPicPr>
          <p:cNvPr id="227336" name="Picture 2"/>
          <p:cNvPicPr>
            <a:picLocks noChangeAspect="1" noChangeArrowheads="1"/>
          </p:cNvPicPr>
          <p:nvPr/>
        </p:nvPicPr>
        <p:blipFill>
          <a:blip r:embed="rId3" cstate="print"/>
          <a:srcRect/>
          <a:stretch>
            <a:fillRect/>
          </a:stretch>
        </p:blipFill>
        <p:spPr bwMode="auto">
          <a:xfrm>
            <a:off x="1000125" y="2000250"/>
            <a:ext cx="2143125" cy="2698750"/>
          </a:xfrm>
          <a:prstGeom prst="rect">
            <a:avLst/>
          </a:prstGeom>
          <a:noFill/>
          <a:ln w="9525">
            <a:noFill/>
            <a:miter lim="800000"/>
            <a:headEnd/>
            <a:tailEnd/>
          </a:ln>
        </p:spPr>
      </p:pic>
      <p:pic>
        <p:nvPicPr>
          <p:cNvPr id="227337" name="Picture 3"/>
          <p:cNvPicPr>
            <a:picLocks noChangeAspect="1" noChangeArrowheads="1"/>
          </p:cNvPicPr>
          <p:nvPr/>
        </p:nvPicPr>
        <p:blipFill>
          <a:blip r:embed="rId4" cstate="print"/>
          <a:srcRect/>
          <a:stretch>
            <a:fillRect/>
          </a:stretch>
        </p:blipFill>
        <p:spPr bwMode="auto">
          <a:xfrm>
            <a:off x="1285875" y="5267325"/>
            <a:ext cx="2190750" cy="876300"/>
          </a:xfrm>
          <a:prstGeom prst="rect">
            <a:avLst/>
          </a:prstGeom>
          <a:noFill/>
          <a:ln w="9525">
            <a:noFill/>
            <a:miter lim="800000"/>
            <a:headEnd/>
            <a:tailEnd/>
          </a:ln>
        </p:spPr>
      </p:pic>
      <p:pic>
        <p:nvPicPr>
          <p:cNvPr id="227338" name="Picture 4"/>
          <p:cNvPicPr>
            <a:picLocks noChangeAspect="1" noChangeArrowheads="1"/>
          </p:cNvPicPr>
          <p:nvPr/>
        </p:nvPicPr>
        <p:blipFill>
          <a:blip r:embed="rId5" cstate="print"/>
          <a:srcRect/>
          <a:stretch>
            <a:fillRect/>
          </a:stretch>
        </p:blipFill>
        <p:spPr bwMode="auto">
          <a:xfrm>
            <a:off x="5929313" y="4429125"/>
            <a:ext cx="2214562" cy="1595438"/>
          </a:xfrm>
          <a:prstGeom prst="rect">
            <a:avLst/>
          </a:prstGeom>
          <a:noFill/>
          <a:ln w="9525">
            <a:noFill/>
            <a:miter lim="800000"/>
            <a:headEnd/>
            <a:tailEnd/>
          </a:ln>
        </p:spPr>
      </p:pic>
      <p:pic>
        <p:nvPicPr>
          <p:cNvPr id="227339" name="Picture 5"/>
          <p:cNvPicPr>
            <a:picLocks noChangeAspect="1" noChangeArrowheads="1"/>
          </p:cNvPicPr>
          <p:nvPr/>
        </p:nvPicPr>
        <p:blipFill>
          <a:blip r:embed="rId6" cstate="print"/>
          <a:srcRect/>
          <a:stretch>
            <a:fillRect/>
          </a:stretch>
        </p:blipFill>
        <p:spPr bwMode="auto">
          <a:xfrm>
            <a:off x="6000750" y="2000250"/>
            <a:ext cx="2032000" cy="10287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7332"/>
                                        </p:tgtEl>
                                        <p:attrNameLst>
                                          <p:attrName>style.visibility</p:attrName>
                                        </p:attrNameLst>
                                      </p:cBhvr>
                                      <p:to>
                                        <p:strVal val="visible"/>
                                      </p:to>
                                    </p:set>
                                    <p:animEffect transition="in" filter="fade">
                                      <p:cBhvr>
                                        <p:cTn id="7" dur="500"/>
                                        <p:tgtEl>
                                          <p:spTgt spid="22733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7333"/>
                                        </p:tgtEl>
                                        <p:attrNameLst>
                                          <p:attrName>style.visibility</p:attrName>
                                        </p:attrNameLst>
                                      </p:cBhvr>
                                      <p:to>
                                        <p:strVal val="visible"/>
                                      </p:to>
                                    </p:set>
                                    <p:animEffect transition="in" filter="fade">
                                      <p:cBhvr>
                                        <p:cTn id="10" dur="500"/>
                                        <p:tgtEl>
                                          <p:spTgt spid="22733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7334"/>
                                        </p:tgtEl>
                                        <p:attrNameLst>
                                          <p:attrName>style.visibility</p:attrName>
                                        </p:attrNameLst>
                                      </p:cBhvr>
                                      <p:to>
                                        <p:strVal val="visible"/>
                                      </p:to>
                                    </p:set>
                                    <p:animEffect transition="in" filter="fade">
                                      <p:cBhvr>
                                        <p:cTn id="13" dur="500"/>
                                        <p:tgtEl>
                                          <p:spTgt spid="22733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7335"/>
                                        </p:tgtEl>
                                        <p:attrNameLst>
                                          <p:attrName>style.visibility</p:attrName>
                                        </p:attrNameLst>
                                      </p:cBhvr>
                                      <p:to>
                                        <p:strVal val="visible"/>
                                      </p:to>
                                    </p:set>
                                    <p:animEffect transition="in" filter="fade">
                                      <p:cBhvr>
                                        <p:cTn id="16" dur="500"/>
                                        <p:tgtEl>
                                          <p:spTgt spid="22733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27336"/>
                                        </p:tgtEl>
                                        <p:attrNameLst>
                                          <p:attrName>style.visibility</p:attrName>
                                        </p:attrNameLst>
                                      </p:cBhvr>
                                      <p:to>
                                        <p:strVal val="visible"/>
                                      </p:to>
                                    </p:set>
                                    <p:animEffect transition="in" filter="fade">
                                      <p:cBhvr>
                                        <p:cTn id="21" dur="500"/>
                                        <p:tgtEl>
                                          <p:spTgt spid="22733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27337"/>
                                        </p:tgtEl>
                                        <p:attrNameLst>
                                          <p:attrName>style.visibility</p:attrName>
                                        </p:attrNameLst>
                                      </p:cBhvr>
                                      <p:to>
                                        <p:strVal val="visible"/>
                                      </p:to>
                                    </p:set>
                                    <p:animEffect transition="in" filter="fade">
                                      <p:cBhvr>
                                        <p:cTn id="26" dur="500"/>
                                        <p:tgtEl>
                                          <p:spTgt spid="22733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27339"/>
                                        </p:tgtEl>
                                        <p:attrNameLst>
                                          <p:attrName>style.visibility</p:attrName>
                                        </p:attrNameLst>
                                      </p:cBhvr>
                                      <p:to>
                                        <p:strVal val="visible"/>
                                      </p:to>
                                    </p:set>
                                    <p:animEffect transition="in" filter="fade">
                                      <p:cBhvr>
                                        <p:cTn id="31" dur="500"/>
                                        <p:tgtEl>
                                          <p:spTgt spid="22733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27338"/>
                                        </p:tgtEl>
                                        <p:attrNameLst>
                                          <p:attrName>style.visibility</p:attrName>
                                        </p:attrNameLst>
                                      </p:cBhvr>
                                      <p:to>
                                        <p:strVal val="visible"/>
                                      </p:to>
                                    </p:set>
                                    <p:animEffect transition="in" filter="fade">
                                      <p:cBhvr>
                                        <p:cTn id="36" dur="500"/>
                                        <p:tgtEl>
                                          <p:spTgt spid="227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2" grpId="0"/>
      <p:bldP spid="227333" grpId="0"/>
      <p:bldP spid="227334" grpId="0"/>
      <p:bldP spid="227335" grpId="0"/>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30403" name="1 Rectángulo"/>
          <p:cNvSpPr>
            <a:spLocks noChangeArrowheads="1"/>
          </p:cNvSpPr>
          <p:nvPr/>
        </p:nvSpPr>
        <p:spPr bwMode="auto">
          <a:xfrm>
            <a:off x="34925" y="785813"/>
            <a:ext cx="9074150" cy="400050"/>
          </a:xfrm>
          <a:prstGeom prst="rect">
            <a:avLst/>
          </a:prstGeom>
          <a:noFill/>
          <a:ln w="9525">
            <a:noFill/>
            <a:miter lim="800000"/>
            <a:headEnd/>
            <a:tailEnd/>
          </a:ln>
        </p:spPr>
        <p:txBody>
          <a:bodyPr>
            <a:spAutoFit/>
          </a:bodyPr>
          <a:lstStyle/>
          <a:p>
            <a:pPr marL="800100" lvl="1" indent="-342900">
              <a:buFont typeface="Arial" charset="0"/>
              <a:buNone/>
            </a:pPr>
            <a:r>
              <a:rPr lang="es-ES_tradnl" sz="2000" b="1"/>
              <a:t>Operaciones del Algebra Relacional – Ejercicios</a:t>
            </a:r>
            <a:endParaRPr lang="es-ES_tradnl" sz="2000" b="1">
              <a:sym typeface="Symbol" pitchFamily="18" charset="2"/>
            </a:endParaRPr>
          </a:p>
        </p:txBody>
      </p:sp>
      <p:pic>
        <p:nvPicPr>
          <p:cNvPr id="269316" name="Picture 4"/>
          <p:cNvPicPr>
            <a:picLocks noChangeAspect="1" noChangeArrowheads="1"/>
          </p:cNvPicPr>
          <p:nvPr/>
        </p:nvPicPr>
        <p:blipFill>
          <a:blip r:embed="rId3" cstate="print"/>
          <a:srcRect/>
          <a:stretch>
            <a:fillRect/>
          </a:stretch>
        </p:blipFill>
        <p:spPr bwMode="auto">
          <a:xfrm>
            <a:off x="69850" y="1425575"/>
            <a:ext cx="5502275" cy="1249363"/>
          </a:xfrm>
          <a:prstGeom prst="rect">
            <a:avLst/>
          </a:prstGeom>
          <a:noFill/>
          <a:ln w="9525">
            <a:noFill/>
            <a:miter lim="800000"/>
            <a:headEnd/>
            <a:tailEnd/>
          </a:ln>
        </p:spPr>
      </p:pic>
      <p:pic>
        <p:nvPicPr>
          <p:cNvPr id="269317" name="Picture 5"/>
          <p:cNvPicPr>
            <a:picLocks noChangeAspect="1" noChangeArrowheads="1"/>
          </p:cNvPicPr>
          <p:nvPr/>
        </p:nvPicPr>
        <p:blipFill>
          <a:blip r:embed="rId4" cstate="print"/>
          <a:srcRect/>
          <a:stretch>
            <a:fillRect/>
          </a:stretch>
        </p:blipFill>
        <p:spPr bwMode="auto">
          <a:xfrm>
            <a:off x="5643563" y="1395413"/>
            <a:ext cx="3500437" cy="1219200"/>
          </a:xfrm>
          <a:prstGeom prst="rect">
            <a:avLst/>
          </a:prstGeom>
          <a:noFill/>
          <a:ln w="9525">
            <a:noFill/>
            <a:miter lim="800000"/>
            <a:headEnd/>
            <a:tailEnd/>
          </a:ln>
        </p:spPr>
      </p:pic>
      <p:sp>
        <p:nvSpPr>
          <p:cNvPr id="16" name="15 Rectángulo"/>
          <p:cNvSpPr>
            <a:spLocks noChangeArrowheads="1"/>
          </p:cNvSpPr>
          <p:nvPr/>
        </p:nvSpPr>
        <p:spPr bwMode="auto">
          <a:xfrm>
            <a:off x="1785938" y="2828925"/>
            <a:ext cx="6500812" cy="3386138"/>
          </a:xfrm>
          <a:prstGeom prst="rect">
            <a:avLst/>
          </a:prstGeom>
          <a:noFill/>
          <a:ln w="9525">
            <a:noFill/>
            <a:miter lim="800000"/>
            <a:headEnd/>
            <a:tailEnd/>
          </a:ln>
        </p:spPr>
        <p:txBody>
          <a:bodyPr>
            <a:spAutoFit/>
          </a:bodyPr>
          <a:lstStyle/>
          <a:p>
            <a:r>
              <a:rPr lang="es-ES" sz="1600" b="1" i="1"/>
              <a:t>Película×Estudio =</a:t>
            </a:r>
          </a:p>
          <a:p>
            <a:r>
              <a:rPr lang="es-ES" sz="1600"/>
              <a:t>{</a:t>
            </a:r>
          </a:p>
          <a:p>
            <a:r>
              <a:rPr lang="es-ES" sz="1600"/>
              <a:t>&lt;1,La guerra de las galaxias,1977,3,1,Ghibli&gt;,</a:t>
            </a:r>
          </a:p>
          <a:p>
            <a:r>
              <a:rPr lang="es-ES" sz="1600"/>
              <a:t>&lt;1,La guerra de las galaxias,1977,3,2,New Line Cinema&gt;,</a:t>
            </a:r>
          </a:p>
          <a:p>
            <a:r>
              <a:rPr lang="es-ES" sz="1600"/>
              <a:t>&lt;1,La guerra de las galaxias,1977,3,3,Lucasfilms&gt;,</a:t>
            </a:r>
          </a:p>
          <a:p>
            <a:r>
              <a:rPr lang="es-ES" sz="1600"/>
              <a:t>&lt;1,La guerra de las galaxias,1977,3,4,Sogecine&gt;,</a:t>
            </a:r>
          </a:p>
          <a:p>
            <a:r>
              <a:rPr lang="es-ES" sz="1600"/>
              <a:t>&lt;2,La comunidad del anillo,2001,2,1,Ghibli&gt;,</a:t>
            </a:r>
          </a:p>
          <a:p>
            <a:r>
              <a:rPr lang="es-ES" sz="1600"/>
              <a:t>&lt;2,La comunidad del anillo,2001,2,2,New Line Cinema&gt;,</a:t>
            </a:r>
          </a:p>
          <a:p>
            <a:r>
              <a:rPr lang="es-ES" sz="1600"/>
              <a:t>&lt;2,La comunidad del anillo,2001,2,3,Lucasfilms&gt;,</a:t>
            </a:r>
          </a:p>
          <a:p>
            <a:r>
              <a:rPr lang="es-ES" sz="1600"/>
              <a:t>&lt;2,La comunidad del anillo,2001,2,4,Sogecine&gt;,</a:t>
            </a:r>
          </a:p>
          <a:p>
            <a:r>
              <a:rPr lang="es-ES" sz="1600"/>
              <a:t>&lt;3,Mar adentro,2004,4,1,Ghibli&gt;,</a:t>
            </a:r>
          </a:p>
          <a:p>
            <a:r>
              <a:rPr lang="es-ES" sz="1600"/>
              <a:t>&lt;3,Mar adentro,2004,4,2,New Line Cinema&gt;,</a:t>
            </a:r>
          </a:p>
          <a:p>
            <a:r>
              <a:rPr lang="es-ES" sz="160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9316"/>
                                        </p:tgtEl>
                                        <p:attrNameLst>
                                          <p:attrName>style.visibility</p:attrName>
                                        </p:attrNameLst>
                                      </p:cBhvr>
                                      <p:to>
                                        <p:strVal val="visible"/>
                                      </p:to>
                                    </p:set>
                                    <p:animEffect transition="in" filter="fade">
                                      <p:cBhvr>
                                        <p:cTn id="7" dur="500"/>
                                        <p:tgtEl>
                                          <p:spTgt spid="26931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69317"/>
                                        </p:tgtEl>
                                        <p:attrNameLst>
                                          <p:attrName>style.visibility</p:attrName>
                                        </p:attrNameLst>
                                      </p:cBhvr>
                                      <p:to>
                                        <p:strVal val="visible"/>
                                      </p:to>
                                    </p:set>
                                    <p:animEffect transition="in" filter="fade">
                                      <p:cBhvr>
                                        <p:cTn id="11" dur="500"/>
                                        <p:tgtEl>
                                          <p:spTgt spid="26931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31427" name="9 Rectángulo"/>
          <p:cNvSpPr>
            <a:spLocks noChangeArrowheads="1"/>
          </p:cNvSpPr>
          <p:nvPr/>
        </p:nvSpPr>
        <p:spPr bwMode="auto">
          <a:xfrm>
            <a:off x="928688" y="2143125"/>
            <a:ext cx="7286625" cy="1938338"/>
          </a:xfrm>
          <a:prstGeom prst="rect">
            <a:avLst/>
          </a:prstGeom>
          <a:noFill/>
          <a:ln w="9525">
            <a:noFill/>
            <a:miter lim="800000"/>
            <a:headEnd/>
            <a:tailEnd/>
          </a:ln>
        </p:spPr>
        <p:txBody>
          <a:bodyPr>
            <a:spAutoFit/>
          </a:bodyPr>
          <a:lstStyle/>
          <a:p>
            <a:pPr algn="just"/>
            <a:r>
              <a:rPr lang="es-ES" sz="2000" b="1">
                <a:cs typeface="Arial" charset="0"/>
              </a:rPr>
              <a:t>R </a:t>
            </a:r>
            <a:r>
              <a:rPr lang="es-ES_tradnl" sz="2000" b="1">
                <a:solidFill>
                  <a:schemeClr val="accent2"/>
                </a:solidFill>
                <a:sym typeface="Symbol" pitchFamily="18" charset="2"/>
              </a:rPr>
              <a:t>||</a:t>
            </a:r>
            <a:r>
              <a:rPr lang="es-ES" sz="2000" b="1" baseline="-25000">
                <a:solidFill>
                  <a:schemeClr val="accent2"/>
                </a:solidFill>
              </a:rPr>
              <a:t> &lt;condición de reunión&gt;</a:t>
            </a:r>
            <a:r>
              <a:rPr lang="es-ES_tradnl" sz="2000" b="1">
                <a:solidFill>
                  <a:schemeClr val="accent2"/>
                </a:solidFill>
                <a:sym typeface="Symbol" pitchFamily="18" charset="2"/>
              </a:rPr>
              <a:t> </a:t>
            </a:r>
            <a:r>
              <a:rPr lang="es-ES" sz="2000" b="1">
                <a:cs typeface="Arial" charset="0"/>
              </a:rPr>
              <a:t>S</a:t>
            </a:r>
            <a:r>
              <a:rPr lang="es-ES" sz="2000">
                <a:cs typeface="Arial" charset="0"/>
              </a:rPr>
              <a:t>: El resultado de la Reunión consta de todas las combinaciones de cada tupla de </a:t>
            </a:r>
            <a:r>
              <a:rPr lang="es-ES" sz="2000" b="1">
                <a:cs typeface="Arial" charset="0"/>
              </a:rPr>
              <a:t>R</a:t>
            </a:r>
            <a:r>
              <a:rPr lang="es-ES" sz="2000">
                <a:cs typeface="Arial" charset="0"/>
              </a:rPr>
              <a:t> seguida de otra de </a:t>
            </a:r>
            <a:r>
              <a:rPr lang="es-ES" sz="2000" b="1">
                <a:cs typeface="Arial" charset="0"/>
              </a:rPr>
              <a:t>S</a:t>
            </a:r>
            <a:r>
              <a:rPr lang="es-ES" sz="2000">
                <a:cs typeface="Arial" charset="0"/>
              </a:rPr>
              <a:t>, </a:t>
            </a:r>
            <a:r>
              <a:rPr lang="es-ES" sz="2000" b="1">
                <a:solidFill>
                  <a:schemeClr val="accent2"/>
                </a:solidFill>
                <a:cs typeface="Arial" charset="0"/>
              </a:rPr>
              <a:t>que satisfagan la condición de reunión</a:t>
            </a:r>
            <a:r>
              <a:rPr lang="es-ES" sz="2000">
                <a:cs typeface="Arial" charset="0"/>
              </a:rPr>
              <a:t>. </a:t>
            </a:r>
          </a:p>
          <a:p>
            <a:pPr algn="just"/>
            <a:endParaRPr lang="es-ES" sz="2000">
              <a:cs typeface="Arial" charset="0"/>
            </a:endParaRPr>
          </a:p>
          <a:p>
            <a:pPr algn="just"/>
            <a:r>
              <a:rPr lang="es-ES" sz="2000">
                <a:cs typeface="Arial" charset="0"/>
              </a:rPr>
              <a:t>Es equivalente a un producto cartesiano seguido de una selección.</a:t>
            </a:r>
          </a:p>
        </p:txBody>
      </p:sp>
      <p:sp>
        <p:nvSpPr>
          <p:cNvPr id="231428" name="1 Rectángulo"/>
          <p:cNvSpPr>
            <a:spLocks noChangeArrowheads="1"/>
          </p:cNvSpPr>
          <p:nvPr/>
        </p:nvSpPr>
        <p:spPr bwMode="auto">
          <a:xfrm>
            <a:off x="34925" y="1042988"/>
            <a:ext cx="9074150" cy="523875"/>
          </a:xfrm>
          <a:prstGeom prst="rect">
            <a:avLst/>
          </a:prstGeom>
          <a:noFill/>
          <a:ln w="9525">
            <a:noFill/>
            <a:miter lim="800000"/>
            <a:headEnd/>
            <a:tailEnd/>
          </a:ln>
        </p:spPr>
        <p:txBody>
          <a:bodyPr>
            <a:spAutoFit/>
          </a:bodyPr>
          <a:lstStyle/>
          <a:p>
            <a:pPr marL="800100" lvl="1" indent="-342900">
              <a:buFont typeface="Arial" charset="0"/>
              <a:buNone/>
            </a:pPr>
            <a:r>
              <a:rPr lang="es-ES_tradnl" b="1"/>
              <a:t>Operaciones del Algebra Relacional – Reunión </a:t>
            </a:r>
            <a:r>
              <a:rPr lang="es-ES_tradnl" sz="2800" b="1">
                <a:solidFill>
                  <a:schemeClr val="accent2"/>
                </a:solidFill>
                <a:sym typeface="Symbol" pitchFamily="18" charset="2"/>
              </a:rPr>
              <a:t>||</a:t>
            </a:r>
            <a:r>
              <a:rPr lang="es-ES" sz="2400" b="1" baseline="-25000">
                <a:solidFill>
                  <a:schemeClr val="accent2"/>
                </a:solidFill>
              </a:rPr>
              <a:t>&lt;condición de reunión&gt;</a:t>
            </a:r>
            <a:endParaRPr lang="es-ES_tradnl" sz="2400" b="1" baseline="-25000">
              <a:sym typeface="Symbol" pitchFamily="18" charset="2"/>
            </a:endParaRPr>
          </a:p>
        </p:txBody>
      </p:sp>
      <p:sp>
        <p:nvSpPr>
          <p:cNvPr id="27" name="26 Rectángulo"/>
          <p:cNvSpPr/>
          <p:nvPr/>
        </p:nvSpPr>
        <p:spPr>
          <a:xfrm>
            <a:off x="1243013" y="4391025"/>
            <a:ext cx="3971925" cy="1447800"/>
          </a:xfrm>
          <a:prstGeom prst="rect">
            <a:avLst/>
          </a:prstGeom>
        </p:spPr>
        <p:txBody>
          <a:bodyPr wrap="none">
            <a:spAutoFit/>
          </a:bodyPr>
          <a:lstStyle/>
          <a:p>
            <a:pPr marL="342900" indent="-342900" algn="just">
              <a:buFont typeface="Lucida Sans Unicode" pitchFamily="34" charset="0"/>
              <a:buNone/>
              <a:defRPr/>
            </a:pPr>
            <a:r>
              <a:rPr lang="es-ES" sz="2000" b="1" dirty="0"/>
              <a:t>Sintaxis</a:t>
            </a:r>
          </a:p>
          <a:p>
            <a:pPr marL="342900" indent="-342900" algn="just">
              <a:buFont typeface="Lucida Sans Unicode" pitchFamily="34" charset="0"/>
              <a:buNone/>
              <a:defRPr/>
            </a:pPr>
            <a:endParaRPr lang="es-ES" sz="2000" b="1" dirty="0"/>
          </a:p>
          <a:p>
            <a:pPr>
              <a:defRPr/>
            </a:pPr>
            <a:endParaRPr lang="es-ES" sz="2000" b="1" dirty="0"/>
          </a:p>
          <a:p>
            <a:pPr>
              <a:defRPr/>
            </a:pPr>
            <a:r>
              <a:rPr lang="es-ES" sz="2800" b="1" dirty="0"/>
              <a:t>R </a:t>
            </a:r>
            <a:r>
              <a:rPr lang="es-ES_tradnl" sz="2800" b="1" dirty="0">
                <a:solidFill>
                  <a:schemeClr val="accent2"/>
                </a:solidFill>
                <a:sym typeface="Symbol"/>
              </a:rPr>
              <a:t>|| </a:t>
            </a:r>
            <a:r>
              <a:rPr lang="es-ES" sz="2800" b="1" baseline="-25000" dirty="0">
                <a:solidFill>
                  <a:schemeClr val="accent2"/>
                </a:solidFill>
              </a:rPr>
              <a:t>&lt;condición de reunión&gt;</a:t>
            </a:r>
            <a:r>
              <a:rPr lang="es-ES" sz="2800" b="1" dirty="0"/>
              <a:t>S</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graphicFrame>
        <p:nvGraphicFramePr>
          <p:cNvPr id="239620" name="Group 4"/>
          <p:cNvGraphicFramePr>
            <a:graphicFrameLocks noGrp="1"/>
          </p:cNvGraphicFramePr>
          <p:nvPr/>
        </p:nvGraphicFramePr>
        <p:xfrm>
          <a:off x="285750" y="2155825"/>
          <a:ext cx="4497641" cy="1280160"/>
        </p:xfrm>
        <a:graphic>
          <a:graphicData uri="http://schemas.openxmlformats.org/drawingml/2006/table">
            <a:tbl>
              <a:tblPr/>
              <a:tblGrid>
                <a:gridCol w="119570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921893">
                  <a:extLst>
                    <a:ext uri="{9D8B030D-6E8A-4147-A177-3AD203B41FA5}">
                      <a16:colId xmlns:a16="http://schemas.microsoft.com/office/drawing/2014/main" val="20002"/>
                    </a:ext>
                  </a:extLst>
                </a:gridCol>
                <a:gridCol w="616267">
                  <a:extLst>
                    <a:ext uri="{9D8B030D-6E8A-4147-A177-3AD203B41FA5}">
                      <a16:colId xmlns:a16="http://schemas.microsoft.com/office/drawing/2014/main" val="20003"/>
                    </a:ext>
                  </a:extLst>
                </a:gridCol>
                <a:gridCol w="1077976">
                  <a:extLst>
                    <a:ext uri="{9D8B030D-6E8A-4147-A177-3AD203B41FA5}">
                      <a16:colId xmlns:a16="http://schemas.microsoft.com/office/drawing/2014/main" val="20004"/>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Título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Año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Dir</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Tipo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Estudio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3</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color</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Paramount</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32483" name="Rectangle 36"/>
          <p:cNvSpPr>
            <a:spLocks noChangeArrowheads="1"/>
          </p:cNvSpPr>
          <p:nvPr/>
        </p:nvSpPr>
        <p:spPr bwMode="auto">
          <a:xfrm>
            <a:off x="2000250" y="1776413"/>
            <a:ext cx="1074738" cy="366712"/>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Pel</a:t>
            </a:r>
            <a:r>
              <a:rPr lang="es-ES" b="1">
                <a:cs typeface="Tahoma" pitchFamily="34" charset="0"/>
              </a:rPr>
              <a:t>í</a:t>
            </a:r>
            <a:r>
              <a:rPr lang="es-ES" b="1">
                <a:latin typeface="Tahoma" pitchFamily="34" charset="0"/>
                <a:cs typeface="Tahoma" pitchFamily="34" charset="0"/>
              </a:rPr>
              <a:t>cula</a:t>
            </a:r>
            <a:endParaRPr lang="es-ES" b="1"/>
          </a:p>
        </p:txBody>
      </p:sp>
      <p:sp>
        <p:nvSpPr>
          <p:cNvPr id="232484" name="Rectangle 37"/>
          <p:cNvSpPr>
            <a:spLocks noChangeArrowheads="1"/>
          </p:cNvSpPr>
          <p:nvPr/>
        </p:nvSpPr>
        <p:spPr bwMode="auto">
          <a:xfrm>
            <a:off x="323850" y="3730625"/>
            <a:ext cx="8391525" cy="323850"/>
          </a:xfrm>
          <a:prstGeom prst="rect">
            <a:avLst/>
          </a:prstGeom>
          <a:noFill/>
          <a:ln w="9525">
            <a:noFill/>
            <a:miter lim="800000"/>
            <a:headEnd/>
            <a:tailEnd/>
          </a:ln>
        </p:spPr>
        <p:txBody>
          <a:bodyPr anchor="ctr">
            <a:spAutoFit/>
          </a:bodyPr>
          <a:lstStyle/>
          <a:p>
            <a:r>
              <a:rPr lang="es-ES" sz="1500" b="1">
                <a:solidFill>
                  <a:schemeClr val="accent2"/>
                </a:solidFill>
                <a:latin typeface="Calibri" pitchFamily="34" charset="0"/>
              </a:rPr>
              <a:t>Ejemplo 1:</a:t>
            </a:r>
            <a:r>
              <a:rPr lang="es-ES" sz="1500">
                <a:latin typeface="Calibri" pitchFamily="34" charset="0"/>
              </a:rPr>
              <a:t> Obtener el nombre de la Película, el nombre del Estudio y el nombre del Director.</a:t>
            </a:r>
          </a:p>
        </p:txBody>
      </p:sp>
      <p:sp>
        <p:nvSpPr>
          <p:cNvPr id="239654" name="Rectangle 38"/>
          <p:cNvSpPr>
            <a:spLocks noChangeArrowheads="1"/>
          </p:cNvSpPr>
          <p:nvPr/>
        </p:nvSpPr>
        <p:spPr bwMode="auto">
          <a:xfrm>
            <a:off x="900113" y="4237038"/>
            <a:ext cx="5381625" cy="461962"/>
          </a:xfrm>
          <a:prstGeom prst="rect">
            <a:avLst/>
          </a:prstGeom>
          <a:noFill/>
          <a:ln w="9525">
            <a:noFill/>
            <a:miter lim="800000"/>
            <a:headEnd/>
            <a:tailEnd/>
          </a:ln>
        </p:spPr>
        <p:txBody>
          <a:bodyPr>
            <a:spAutoFit/>
          </a:bodyPr>
          <a:lstStyle/>
          <a:p>
            <a:r>
              <a:rPr lang="es-ES_tradnl" sz="2000">
                <a:latin typeface="Calibri" pitchFamily="34" charset="0"/>
                <a:sym typeface="Symbol" pitchFamily="18" charset="2"/>
              </a:rPr>
              <a:t>Película </a:t>
            </a:r>
            <a:r>
              <a:rPr lang="es-ES_tradnl" sz="2400" b="1">
                <a:solidFill>
                  <a:schemeClr val="accent2"/>
                </a:solidFill>
                <a:sym typeface="Symbol" pitchFamily="18" charset="2"/>
              </a:rPr>
              <a:t>||</a:t>
            </a:r>
            <a:r>
              <a:rPr lang="es-ES" sz="1500">
                <a:latin typeface="Calibri" pitchFamily="34" charset="0"/>
              </a:rPr>
              <a:t> </a:t>
            </a:r>
            <a:r>
              <a:rPr lang="es-ES" sz="2000" baseline="-25000">
                <a:latin typeface="Calibri" pitchFamily="34" charset="0"/>
              </a:rPr>
              <a:t>Dir=Cve_Director </a:t>
            </a:r>
            <a:r>
              <a:rPr lang="es-ES" sz="2000">
                <a:latin typeface="Calibri" pitchFamily="34" charset="0"/>
              </a:rPr>
              <a:t>Director</a:t>
            </a:r>
          </a:p>
        </p:txBody>
      </p:sp>
      <p:grpSp>
        <p:nvGrpSpPr>
          <p:cNvPr id="2" name="Group 65"/>
          <p:cNvGrpSpPr>
            <a:grpSpLocks/>
          </p:cNvGrpSpPr>
          <p:nvPr/>
        </p:nvGrpSpPr>
        <p:grpSpPr bwMode="auto">
          <a:xfrm>
            <a:off x="1698625" y="4143375"/>
            <a:ext cx="1100138" cy="1409700"/>
            <a:chOff x="488" y="2614"/>
            <a:chExt cx="693" cy="888"/>
          </a:xfrm>
        </p:grpSpPr>
        <p:sp>
          <p:nvSpPr>
            <p:cNvPr id="232517" name="Oval 66"/>
            <p:cNvSpPr>
              <a:spLocks noChangeArrowheads="1"/>
            </p:cNvSpPr>
            <p:nvPr/>
          </p:nvSpPr>
          <p:spPr bwMode="auto">
            <a:xfrm>
              <a:off x="521" y="2614"/>
              <a:ext cx="318" cy="408"/>
            </a:xfrm>
            <a:prstGeom prst="ellipse">
              <a:avLst/>
            </a:prstGeom>
            <a:noFill/>
            <a:ln w="9525">
              <a:solidFill>
                <a:schemeClr val="tx1"/>
              </a:solidFill>
              <a:round/>
              <a:headEnd/>
              <a:tailEnd/>
            </a:ln>
          </p:spPr>
          <p:txBody>
            <a:bodyPr wrap="none" anchor="ctr"/>
            <a:lstStyle/>
            <a:p>
              <a:endParaRPr lang="es-ES"/>
            </a:p>
          </p:txBody>
        </p:sp>
        <p:sp>
          <p:nvSpPr>
            <p:cNvPr id="232518" name="Freeform 67"/>
            <p:cNvSpPr>
              <a:spLocks/>
            </p:cNvSpPr>
            <p:nvPr/>
          </p:nvSpPr>
          <p:spPr bwMode="auto">
            <a:xfrm rot="1813670">
              <a:off x="499" y="2947"/>
              <a:ext cx="184" cy="412"/>
            </a:xfrm>
            <a:custGeom>
              <a:avLst/>
              <a:gdLst>
                <a:gd name="T0" fmla="*/ 8 w 309"/>
                <a:gd name="T1" fmla="*/ 0 h 648"/>
                <a:gd name="T2" fmla="*/ 3 w 309"/>
                <a:gd name="T3" fmla="*/ 151 h 648"/>
                <a:gd name="T4" fmla="*/ 76 w 309"/>
                <a:gd name="T5" fmla="*/ 131 h 648"/>
                <a:gd name="T6" fmla="*/ 80 w 309"/>
                <a:gd name="T7" fmla="*/ 151 h 648"/>
                <a:gd name="T8" fmla="*/ 84 w 309"/>
                <a:gd name="T9" fmla="*/ 247 h 648"/>
                <a:gd name="T10" fmla="*/ 97 w 309"/>
                <a:gd name="T11" fmla="*/ 252 h 648"/>
                <a:gd name="T12" fmla="*/ 110 w 309"/>
                <a:gd name="T13" fmla="*/ 262 h 648"/>
                <a:gd name="T14" fmla="*/ 0 60000 65536"/>
                <a:gd name="T15" fmla="*/ 0 60000 65536"/>
                <a:gd name="T16" fmla="*/ 0 60000 65536"/>
                <a:gd name="T17" fmla="*/ 0 60000 65536"/>
                <a:gd name="T18" fmla="*/ 0 60000 65536"/>
                <a:gd name="T19" fmla="*/ 0 60000 65536"/>
                <a:gd name="T20" fmla="*/ 0 60000 65536"/>
                <a:gd name="T21" fmla="*/ 0 w 309"/>
                <a:gd name="T22" fmla="*/ 0 h 648"/>
                <a:gd name="T23" fmla="*/ 309 w 309"/>
                <a:gd name="T24" fmla="*/ 648 h 6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9" h="648">
                  <a:moveTo>
                    <a:pt x="21" y="0"/>
                  </a:moveTo>
                  <a:cubicBezTo>
                    <a:pt x="6" y="136"/>
                    <a:pt x="0" y="231"/>
                    <a:pt x="9" y="372"/>
                  </a:cubicBezTo>
                  <a:cubicBezTo>
                    <a:pt x="94" y="287"/>
                    <a:pt x="94" y="294"/>
                    <a:pt x="213" y="324"/>
                  </a:cubicBezTo>
                  <a:cubicBezTo>
                    <a:pt x="217" y="340"/>
                    <a:pt x="224" y="356"/>
                    <a:pt x="225" y="372"/>
                  </a:cubicBezTo>
                  <a:cubicBezTo>
                    <a:pt x="232" y="452"/>
                    <a:pt x="222" y="533"/>
                    <a:pt x="237" y="612"/>
                  </a:cubicBezTo>
                  <a:cubicBezTo>
                    <a:pt x="239" y="624"/>
                    <a:pt x="262" y="618"/>
                    <a:pt x="273" y="624"/>
                  </a:cubicBezTo>
                  <a:cubicBezTo>
                    <a:pt x="286" y="630"/>
                    <a:pt x="309" y="648"/>
                    <a:pt x="309" y="648"/>
                  </a:cubicBezTo>
                </a:path>
              </a:pathLst>
            </a:custGeom>
            <a:noFill/>
            <a:ln w="9525">
              <a:solidFill>
                <a:schemeClr val="tx1"/>
              </a:solidFill>
              <a:round/>
              <a:headEnd type="triangle" w="med" len="med"/>
              <a:tailEnd/>
            </a:ln>
          </p:spPr>
          <p:txBody>
            <a:bodyPr/>
            <a:lstStyle/>
            <a:p>
              <a:endParaRPr lang="es-ES"/>
            </a:p>
          </p:txBody>
        </p:sp>
        <p:sp>
          <p:nvSpPr>
            <p:cNvPr id="232519" name="Text Box 68"/>
            <p:cNvSpPr txBox="1">
              <a:spLocks noChangeArrowheads="1"/>
            </p:cNvSpPr>
            <p:nvPr/>
          </p:nvSpPr>
          <p:spPr bwMode="auto">
            <a:xfrm>
              <a:off x="488" y="3194"/>
              <a:ext cx="693" cy="308"/>
            </a:xfrm>
            <a:prstGeom prst="rect">
              <a:avLst/>
            </a:prstGeom>
            <a:noFill/>
            <a:ln w="9525">
              <a:noFill/>
              <a:miter lim="800000"/>
              <a:headEnd/>
              <a:tailEnd/>
            </a:ln>
          </p:spPr>
          <p:txBody>
            <a:bodyPr>
              <a:spAutoFit/>
            </a:bodyPr>
            <a:lstStyle/>
            <a:p>
              <a:pPr algn="ctr"/>
              <a:r>
                <a:rPr lang="es-ES" sz="1300"/>
                <a:t>Símbolo de Reunión</a:t>
              </a:r>
            </a:p>
          </p:txBody>
        </p:sp>
      </p:grpSp>
      <p:graphicFrame>
        <p:nvGraphicFramePr>
          <p:cNvPr id="239731" name="Group 115"/>
          <p:cNvGraphicFramePr>
            <a:graphicFrameLocks noGrp="1"/>
          </p:cNvGraphicFramePr>
          <p:nvPr/>
        </p:nvGraphicFramePr>
        <p:xfrm>
          <a:off x="5072063" y="2143125"/>
          <a:ext cx="2320036"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856361">
                  <a:extLst>
                    <a:ext uri="{9D8B030D-6E8A-4147-A177-3AD203B41FA5}">
                      <a16:colId xmlns:a16="http://schemas.microsoft.com/office/drawing/2014/main" val="20001"/>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Cve_Director</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Director</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Smith</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2</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Charlie</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3</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Beny</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32504" name="Rectangle 36"/>
          <p:cNvSpPr>
            <a:spLocks noChangeArrowheads="1"/>
          </p:cNvSpPr>
          <p:nvPr/>
        </p:nvSpPr>
        <p:spPr bwMode="auto">
          <a:xfrm>
            <a:off x="5686425" y="1784350"/>
            <a:ext cx="1125538" cy="369888"/>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Director</a:t>
            </a:r>
            <a:endParaRPr lang="es-ES" b="1"/>
          </a:p>
        </p:txBody>
      </p:sp>
      <p:sp>
        <p:nvSpPr>
          <p:cNvPr id="22" name="21 Rectángulo"/>
          <p:cNvSpPr>
            <a:spLocks noChangeArrowheads="1"/>
          </p:cNvSpPr>
          <p:nvPr/>
        </p:nvSpPr>
        <p:spPr bwMode="auto">
          <a:xfrm>
            <a:off x="4786313" y="4857750"/>
            <a:ext cx="3714750" cy="646113"/>
          </a:xfrm>
          <a:prstGeom prst="rect">
            <a:avLst/>
          </a:prstGeom>
          <a:noFill/>
          <a:ln w="9525">
            <a:noFill/>
            <a:miter lim="800000"/>
            <a:headEnd/>
            <a:tailEnd/>
          </a:ln>
        </p:spPr>
        <p:txBody>
          <a:bodyPr>
            <a:spAutoFit/>
          </a:bodyPr>
          <a:lstStyle/>
          <a:p>
            <a:pPr algn="ctr"/>
            <a:r>
              <a:rPr lang="es-ES" b="1">
                <a:solidFill>
                  <a:schemeClr val="accent2"/>
                </a:solidFill>
              </a:rPr>
              <a:t>Se lee: </a:t>
            </a:r>
            <a:r>
              <a:rPr lang="es-ES">
                <a:solidFill>
                  <a:schemeClr val="accent2"/>
                </a:solidFill>
              </a:rPr>
              <a:t>Reunión entre Película y Director con Dir= Cve_director</a:t>
            </a:r>
          </a:p>
        </p:txBody>
      </p:sp>
      <p:grpSp>
        <p:nvGrpSpPr>
          <p:cNvPr id="3" name="24 Grupo"/>
          <p:cNvGrpSpPr>
            <a:grpSpLocks/>
          </p:cNvGrpSpPr>
          <p:nvPr/>
        </p:nvGrpSpPr>
        <p:grpSpPr bwMode="auto">
          <a:xfrm>
            <a:off x="325438" y="4132263"/>
            <a:ext cx="4097337" cy="2376487"/>
            <a:chOff x="325088" y="4132542"/>
            <a:chExt cx="4097892" cy="2375421"/>
          </a:xfrm>
        </p:grpSpPr>
        <p:sp>
          <p:nvSpPr>
            <p:cNvPr id="232512" name="Oval 70"/>
            <p:cNvSpPr>
              <a:spLocks noChangeArrowheads="1"/>
            </p:cNvSpPr>
            <p:nvPr/>
          </p:nvSpPr>
          <p:spPr bwMode="auto">
            <a:xfrm>
              <a:off x="762628" y="4143380"/>
              <a:ext cx="1025520" cy="647700"/>
            </a:xfrm>
            <a:prstGeom prst="ellipse">
              <a:avLst/>
            </a:prstGeom>
            <a:noFill/>
            <a:ln w="9525">
              <a:solidFill>
                <a:schemeClr val="tx1"/>
              </a:solidFill>
              <a:round/>
              <a:headEnd/>
              <a:tailEnd/>
            </a:ln>
          </p:spPr>
          <p:txBody>
            <a:bodyPr wrap="none" anchor="ctr"/>
            <a:lstStyle/>
            <a:p>
              <a:endParaRPr lang="es-ES"/>
            </a:p>
          </p:txBody>
        </p:sp>
        <p:sp>
          <p:nvSpPr>
            <p:cNvPr id="232513" name="Freeform 71"/>
            <p:cNvSpPr>
              <a:spLocks/>
            </p:cNvSpPr>
            <p:nvPr/>
          </p:nvSpPr>
          <p:spPr bwMode="auto">
            <a:xfrm rot="2500703">
              <a:off x="325088" y="5099623"/>
              <a:ext cx="2375421" cy="378000"/>
            </a:xfrm>
            <a:custGeom>
              <a:avLst/>
              <a:gdLst>
                <a:gd name="T0" fmla="*/ 161436 w 309"/>
                <a:gd name="T1" fmla="*/ 0 h 648"/>
                <a:gd name="T2" fmla="*/ 69187 w 309"/>
                <a:gd name="T3" fmla="*/ 217000 h 648"/>
                <a:gd name="T4" fmla="*/ 1637426 w 309"/>
                <a:gd name="T5" fmla="*/ 189000 h 648"/>
                <a:gd name="T6" fmla="*/ 1729675 w 309"/>
                <a:gd name="T7" fmla="*/ 217000 h 648"/>
                <a:gd name="T8" fmla="*/ 1821925 w 309"/>
                <a:gd name="T9" fmla="*/ 357000 h 648"/>
                <a:gd name="T10" fmla="*/ 2098673 w 309"/>
                <a:gd name="T11" fmla="*/ 364000 h 648"/>
                <a:gd name="T12" fmla="*/ 2375421 w 309"/>
                <a:gd name="T13" fmla="*/ 378000 h 648"/>
                <a:gd name="T14" fmla="*/ 0 60000 65536"/>
                <a:gd name="T15" fmla="*/ 0 60000 65536"/>
                <a:gd name="T16" fmla="*/ 0 60000 65536"/>
                <a:gd name="T17" fmla="*/ 0 60000 65536"/>
                <a:gd name="T18" fmla="*/ 0 60000 65536"/>
                <a:gd name="T19" fmla="*/ 0 60000 65536"/>
                <a:gd name="T20" fmla="*/ 0 60000 65536"/>
                <a:gd name="T21" fmla="*/ 0 w 309"/>
                <a:gd name="T22" fmla="*/ 0 h 648"/>
                <a:gd name="T23" fmla="*/ 309 w 309"/>
                <a:gd name="T24" fmla="*/ 648 h 6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9" h="648">
                  <a:moveTo>
                    <a:pt x="21" y="0"/>
                  </a:moveTo>
                  <a:cubicBezTo>
                    <a:pt x="6" y="136"/>
                    <a:pt x="0" y="231"/>
                    <a:pt x="9" y="372"/>
                  </a:cubicBezTo>
                  <a:cubicBezTo>
                    <a:pt x="94" y="287"/>
                    <a:pt x="94" y="294"/>
                    <a:pt x="213" y="324"/>
                  </a:cubicBezTo>
                  <a:cubicBezTo>
                    <a:pt x="217" y="340"/>
                    <a:pt x="224" y="356"/>
                    <a:pt x="225" y="372"/>
                  </a:cubicBezTo>
                  <a:cubicBezTo>
                    <a:pt x="232" y="452"/>
                    <a:pt x="222" y="533"/>
                    <a:pt x="237" y="612"/>
                  </a:cubicBezTo>
                  <a:cubicBezTo>
                    <a:pt x="239" y="624"/>
                    <a:pt x="262" y="618"/>
                    <a:pt x="273" y="624"/>
                  </a:cubicBezTo>
                  <a:cubicBezTo>
                    <a:pt x="286" y="630"/>
                    <a:pt x="309" y="648"/>
                    <a:pt x="309" y="648"/>
                  </a:cubicBezTo>
                </a:path>
              </a:pathLst>
            </a:custGeom>
            <a:noFill/>
            <a:ln w="9525">
              <a:solidFill>
                <a:schemeClr val="tx1"/>
              </a:solidFill>
              <a:round/>
              <a:headEnd type="triangle" w="med" len="med"/>
              <a:tailEnd/>
            </a:ln>
          </p:spPr>
          <p:txBody>
            <a:bodyPr/>
            <a:lstStyle/>
            <a:p>
              <a:endParaRPr lang="es-ES"/>
            </a:p>
          </p:txBody>
        </p:sp>
        <p:sp>
          <p:nvSpPr>
            <p:cNvPr id="232514" name="Text Box 72"/>
            <p:cNvSpPr txBox="1">
              <a:spLocks noChangeArrowheads="1"/>
            </p:cNvSpPr>
            <p:nvPr/>
          </p:nvSpPr>
          <p:spPr bwMode="auto">
            <a:xfrm>
              <a:off x="2246078" y="5929330"/>
              <a:ext cx="1064178" cy="492443"/>
            </a:xfrm>
            <a:prstGeom prst="rect">
              <a:avLst/>
            </a:prstGeom>
            <a:noFill/>
            <a:ln w="9525">
              <a:noFill/>
              <a:miter lim="800000"/>
              <a:headEnd/>
              <a:tailEnd/>
            </a:ln>
          </p:spPr>
          <p:txBody>
            <a:bodyPr>
              <a:spAutoFit/>
            </a:bodyPr>
            <a:lstStyle/>
            <a:p>
              <a:pPr algn="ctr"/>
              <a:r>
                <a:rPr lang="es-ES" sz="1300"/>
                <a:t>Relaciones a Reunir</a:t>
              </a:r>
            </a:p>
          </p:txBody>
        </p:sp>
        <p:sp>
          <p:nvSpPr>
            <p:cNvPr id="232515" name="Oval 70"/>
            <p:cNvSpPr>
              <a:spLocks noChangeArrowheads="1"/>
            </p:cNvSpPr>
            <p:nvPr/>
          </p:nvSpPr>
          <p:spPr bwMode="auto">
            <a:xfrm>
              <a:off x="3397460" y="4143380"/>
              <a:ext cx="1025520" cy="647700"/>
            </a:xfrm>
            <a:prstGeom prst="ellipse">
              <a:avLst/>
            </a:prstGeom>
            <a:noFill/>
            <a:ln w="9525">
              <a:solidFill>
                <a:schemeClr val="tx1"/>
              </a:solidFill>
              <a:round/>
              <a:headEnd/>
              <a:tailEnd/>
            </a:ln>
          </p:spPr>
          <p:txBody>
            <a:bodyPr wrap="none" anchor="ctr"/>
            <a:lstStyle/>
            <a:p>
              <a:endParaRPr lang="es-ES"/>
            </a:p>
          </p:txBody>
        </p:sp>
        <p:sp>
          <p:nvSpPr>
            <p:cNvPr id="232516" name="Freeform 71"/>
            <p:cNvSpPr>
              <a:spLocks/>
            </p:cNvSpPr>
            <p:nvPr/>
          </p:nvSpPr>
          <p:spPr bwMode="auto">
            <a:xfrm rot="7724155" flipV="1">
              <a:off x="2689899" y="5148393"/>
              <a:ext cx="2375421" cy="343720"/>
            </a:xfrm>
            <a:custGeom>
              <a:avLst/>
              <a:gdLst>
                <a:gd name="T0" fmla="*/ 161436 w 309"/>
                <a:gd name="T1" fmla="*/ 0 h 648"/>
                <a:gd name="T2" fmla="*/ 69187 w 309"/>
                <a:gd name="T3" fmla="*/ 197321 h 648"/>
                <a:gd name="T4" fmla="*/ 1637426 w 309"/>
                <a:gd name="T5" fmla="*/ 171860 h 648"/>
                <a:gd name="T6" fmla="*/ 1729675 w 309"/>
                <a:gd name="T7" fmla="*/ 197321 h 648"/>
                <a:gd name="T8" fmla="*/ 1821925 w 309"/>
                <a:gd name="T9" fmla="*/ 324624 h 648"/>
                <a:gd name="T10" fmla="*/ 2098673 w 309"/>
                <a:gd name="T11" fmla="*/ 330990 h 648"/>
                <a:gd name="T12" fmla="*/ 2375421 w 309"/>
                <a:gd name="T13" fmla="*/ 343720 h 648"/>
                <a:gd name="T14" fmla="*/ 0 60000 65536"/>
                <a:gd name="T15" fmla="*/ 0 60000 65536"/>
                <a:gd name="T16" fmla="*/ 0 60000 65536"/>
                <a:gd name="T17" fmla="*/ 0 60000 65536"/>
                <a:gd name="T18" fmla="*/ 0 60000 65536"/>
                <a:gd name="T19" fmla="*/ 0 60000 65536"/>
                <a:gd name="T20" fmla="*/ 0 60000 65536"/>
                <a:gd name="T21" fmla="*/ 0 w 309"/>
                <a:gd name="T22" fmla="*/ 0 h 648"/>
                <a:gd name="T23" fmla="*/ 309 w 309"/>
                <a:gd name="T24" fmla="*/ 648 h 6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9" h="648">
                  <a:moveTo>
                    <a:pt x="21" y="0"/>
                  </a:moveTo>
                  <a:cubicBezTo>
                    <a:pt x="6" y="136"/>
                    <a:pt x="0" y="231"/>
                    <a:pt x="9" y="372"/>
                  </a:cubicBezTo>
                  <a:cubicBezTo>
                    <a:pt x="94" y="287"/>
                    <a:pt x="94" y="294"/>
                    <a:pt x="213" y="324"/>
                  </a:cubicBezTo>
                  <a:cubicBezTo>
                    <a:pt x="217" y="340"/>
                    <a:pt x="224" y="356"/>
                    <a:pt x="225" y="372"/>
                  </a:cubicBezTo>
                  <a:cubicBezTo>
                    <a:pt x="232" y="452"/>
                    <a:pt x="222" y="533"/>
                    <a:pt x="237" y="612"/>
                  </a:cubicBezTo>
                  <a:cubicBezTo>
                    <a:pt x="239" y="624"/>
                    <a:pt x="262" y="618"/>
                    <a:pt x="273" y="624"/>
                  </a:cubicBezTo>
                  <a:cubicBezTo>
                    <a:pt x="286" y="630"/>
                    <a:pt x="309" y="648"/>
                    <a:pt x="309" y="648"/>
                  </a:cubicBezTo>
                </a:path>
              </a:pathLst>
            </a:custGeom>
            <a:noFill/>
            <a:ln w="9525">
              <a:solidFill>
                <a:schemeClr val="tx1"/>
              </a:solidFill>
              <a:round/>
              <a:headEnd type="triangle" w="med" len="med"/>
              <a:tailEnd/>
            </a:ln>
          </p:spPr>
          <p:txBody>
            <a:bodyPr/>
            <a:lstStyle/>
            <a:p>
              <a:endParaRPr lang="es-ES"/>
            </a:p>
          </p:txBody>
        </p:sp>
      </p:grpSp>
      <p:grpSp>
        <p:nvGrpSpPr>
          <p:cNvPr id="4" name="Group 65"/>
          <p:cNvGrpSpPr>
            <a:grpSpLocks/>
          </p:cNvGrpSpPr>
          <p:nvPr/>
        </p:nvGrpSpPr>
        <p:grpSpPr bwMode="auto">
          <a:xfrm>
            <a:off x="2238375" y="4214813"/>
            <a:ext cx="1433513" cy="1563687"/>
            <a:chOff x="521" y="2614"/>
            <a:chExt cx="903" cy="985"/>
          </a:xfrm>
        </p:grpSpPr>
        <p:sp>
          <p:nvSpPr>
            <p:cNvPr id="232509" name="Oval 66"/>
            <p:cNvSpPr>
              <a:spLocks noChangeArrowheads="1"/>
            </p:cNvSpPr>
            <p:nvPr/>
          </p:nvSpPr>
          <p:spPr bwMode="auto">
            <a:xfrm>
              <a:off x="521" y="2614"/>
              <a:ext cx="750" cy="408"/>
            </a:xfrm>
            <a:prstGeom prst="ellipse">
              <a:avLst/>
            </a:prstGeom>
            <a:noFill/>
            <a:ln w="9525">
              <a:solidFill>
                <a:schemeClr val="tx1"/>
              </a:solidFill>
              <a:round/>
              <a:headEnd/>
              <a:tailEnd/>
            </a:ln>
          </p:spPr>
          <p:txBody>
            <a:bodyPr wrap="none" anchor="ctr"/>
            <a:lstStyle/>
            <a:p>
              <a:endParaRPr lang="es-ES"/>
            </a:p>
          </p:txBody>
        </p:sp>
        <p:sp>
          <p:nvSpPr>
            <p:cNvPr id="232510" name="Freeform 67"/>
            <p:cNvSpPr>
              <a:spLocks/>
            </p:cNvSpPr>
            <p:nvPr/>
          </p:nvSpPr>
          <p:spPr bwMode="auto">
            <a:xfrm rot="1813670">
              <a:off x="777" y="2947"/>
              <a:ext cx="184" cy="412"/>
            </a:xfrm>
            <a:custGeom>
              <a:avLst/>
              <a:gdLst>
                <a:gd name="T0" fmla="*/ 8 w 309"/>
                <a:gd name="T1" fmla="*/ 0 h 648"/>
                <a:gd name="T2" fmla="*/ 3 w 309"/>
                <a:gd name="T3" fmla="*/ 151 h 648"/>
                <a:gd name="T4" fmla="*/ 76 w 309"/>
                <a:gd name="T5" fmla="*/ 131 h 648"/>
                <a:gd name="T6" fmla="*/ 80 w 309"/>
                <a:gd name="T7" fmla="*/ 151 h 648"/>
                <a:gd name="T8" fmla="*/ 84 w 309"/>
                <a:gd name="T9" fmla="*/ 247 h 648"/>
                <a:gd name="T10" fmla="*/ 97 w 309"/>
                <a:gd name="T11" fmla="*/ 252 h 648"/>
                <a:gd name="T12" fmla="*/ 110 w 309"/>
                <a:gd name="T13" fmla="*/ 262 h 648"/>
                <a:gd name="T14" fmla="*/ 0 60000 65536"/>
                <a:gd name="T15" fmla="*/ 0 60000 65536"/>
                <a:gd name="T16" fmla="*/ 0 60000 65536"/>
                <a:gd name="T17" fmla="*/ 0 60000 65536"/>
                <a:gd name="T18" fmla="*/ 0 60000 65536"/>
                <a:gd name="T19" fmla="*/ 0 60000 65536"/>
                <a:gd name="T20" fmla="*/ 0 60000 65536"/>
                <a:gd name="T21" fmla="*/ 0 w 309"/>
                <a:gd name="T22" fmla="*/ 0 h 648"/>
                <a:gd name="T23" fmla="*/ 309 w 309"/>
                <a:gd name="T24" fmla="*/ 648 h 6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9" h="648">
                  <a:moveTo>
                    <a:pt x="21" y="0"/>
                  </a:moveTo>
                  <a:cubicBezTo>
                    <a:pt x="6" y="136"/>
                    <a:pt x="0" y="231"/>
                    <a:pt x="9" y="372"/>
                  </a:cubicBezTo>
                  <a:cubicBezTo>
                    <a:pt x="94" y="287"/>
                    <a:pt x="94" y="294"/>
                    <a:pt x="213" y="324"/>
                  </a:cubicBezTo>
                  <a:cubicBezTo>
                    <a:pt x="217" y="340"/>
                    <a:pt x="224" y="356"/>
                    <a:pt x="225" y="372"/>
                  </a:cubicBezTo>
                  <a:cubicBezTo>
                    <a:pt x="232" y="452"/>
                    <a:pt x="222" y="533"/>
                    <a:pt x="237" y="612"/>
                  </a:cubicBezTo>
                  <a:cubicBezTo>
                    <a:pt x="239" y="624"/>
                    <a:pt x="262" y="618"/>
                    <a:pt x="273" y="624"/>
                  </a:cubicBezTo>
                  <a:cubicBezTo>
                    <a:pt x="286" y="630"/>
                    <a:pt x="309" y="648"/>
                    <a:pt x="309" y="648"/>
                  </a:cubicBezTo>
                </a:path>
              </a:pathLst>
            </a:custGeom>
            <a:noFill/>
            <a:ln w="9525">
              <a:solidFill>
                <a:schemeClr val="tx1"/>
              </a:solidFill>
              <a:round/>
              <a:headEnd type="triangle" w="med" len="med"/>
              <a:tailEnd/>
            </a:ln>
          </p:spPr>
          <p:txBody>
            <a:bodyPr/>
            <a:lstStyle/>
            <a:p>
              <a:endParaRPr lang="es-ES"/>
            </a:p>
          </p:txBody>
        </p:sp>
        <p:sp>
          <p:nvSpPr>
            <p:cNvPr id="232511" name="Text Box 68"/>
            <p:cNvSpPr txBox="1">
              <a:spLocks noChangeArrowheads="1"/>
            </p:cNvSpPr>
            <p:nvPr/>
          </p:nvSpPr>
          <p:spPr bwMode="auto">
            <a:xfrm>
              <a:off x="731" y="3289"/>
              <a:ext cx="693" cy="310"/>
            </a:xfrm>
            <a:prstGeom prst="rect">
              <a:avLst/>
            </a:prstGeom>
            <a:noFill/>
            <a:ln w="9525">
              <a:noFill/>
              <a:miter lim="800000"/>
              <a:headEnd/>
              <a:tailEnd/>
            </a:ln>
          </p:spPr>
          <p:txBody>
            <a:bodyPr>
              <a:spAutoFit/>
            </a:bodyPr>
            <a:lstStyle/>
            <a:p>
              <a:pPr algn="ctr"/>
              <a:r>
                <a:rPr lang="es-ES" sz="1300"/>
                <a:t>Condición de Reunión</a:t>
              </a:r>
            </a:p>
          </p:txBody>
        </p:sp>
      </p:grpSp>
      <p:sp>
        <p:nvSpPr>
          <p:cNvPr id="232508" name="1 Rectángulo"/>
          <p:cNvSpPr>
            <a:spLocks noChangeArrowheads="1"/>
          </p:cNvSpPr>
          <p:nvPr/>
        </p:nvSpPr>
        <p:spPr bwMode="auto">
          <a:xfrm>
            <a:off x="34925" y="1042988"/>
            <a:ext cx="9074150" cy="523875"/>
          </a:xfrm>
          <a:prstGeom prst="rect">
            <a:avLst/>
          </a:prstGeom>
          <a:noFill/>
          <a:ln w="9525">
            <a:noFill/>
            <a:miter lim="800000"/>
            <a:headEnd/>
            <a:tailEnd/>
          </a:ln>
        </p:spPr>
        <p:txBody>
          <a:bodyPr>
            <a:spAutoFit/>
          </a:bodyPr>
          <a:lstStyle/>
          <a:p>
            <a:pPr marL="800100" lvl="1" indent="-342900">
              <a:buFont typeface="Arial" charset="0"/>
              <a:buNone/>
            </a:pPr>
            <a:r>
              <a:rPr lang="es-ES_tradnl" b="1"/>
              <a:t>Operaciones del Algebra Relacional – Reunión </a:t>
            </a:r>
            <a:r>
              <a:rPr lang="es-ES_tradnl" sz="2800" b="1">
                <a:solidFill>
                  <a:schemeClr val="accent2"/>
                </a:solidFill>
                <a:sym typeface="Symbol" pitchFamily="18" charset="2"/>
              </a:rPr>
              <a:t>||</a:t>
            </a:r>
            <a:r>
              <a:rPr lang="es-ES" sz="2400" b="1" baseline="-25000">
                <a:solidFill>
                  <a:schemeClr val="accent2"/>
                </a:solidFill>
              </a:rPr>
              <a:t>&lt;condición de reunión&gt;</a:t>
            </a:r>
            <a:endParaRPr lang="es-ES_tradnl" sz="2400" b="1" baseline="-25000">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9654"/>
                                        </p:tgtEl>
                                        <p:attrNameLst>
                                          <p:attrName>style.visibility</p:attrName>
                                        </p:attrNameLst>
                                      </p:cBhvr>
                                      <p:to>
                                        <p:strVal val="visible"/>
                                      </p:to>
                                    </p:set>
                                    <p:animEffect transition="in" filter="fade">
                                      <p:cBhvr>
                                        <p:cTn id="7" dur="500"/>
                                        <p:tgtEl>
                                          <p:spTgt spid="23965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54" grpId="0"/>
      <p:bldP spid="22" grpId="0"/>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graphicFrame>
        <p:nvGraphicFramePr>
          <p:cNvPr id="239620" name="Group 4"/>
          <p:cNvGraphicFramePr>
            <a:graphicFrameLocks noGrp="1"/>
          </p:cNvGraphicFramePr>
          <p:nvPr/>
        </p:nvGraphicFramePr>
        <p:xfrm>
          <a:off x="285750" y="2155825"/>
          <a:ext cx="4497641" cy="1280160"/>
        </p:xfrm>
        <a:graphic>
          <a:graphicData uri="http://schemas.openxmlformats.org/drawingml/2006/table">
            <a:tbl>
              <a:tblPr/>
              <a:tblGrid>
                <a:gridCol w="1195705">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921893">
                  <a:extLst>
                    <a:ext uri="{9D8B030D-6E8A-4147-A177-3AD203B41FA5}">
                      <a16:colId xmlns:a16="http://schemas.microsoft.com/office/drawing/2014/main" val="20002"/>
                    </a:ext>
                  </a:extLst>
                </a:gridCol>
                <a:gridCol w="616267">
                  <a:extLst>
                    <a:ext uri="{9D8B030D-6E8A-4147-A177-3AD203B41FA5}">
                      <a16:colId xmlns:a16="http://schemas.microsoft.com/office/drawing/2014/main" val="20003"/>
                    </a:ext>
                  </a:extLst>
                </a:gridCol>
                <a:gridCol w="1077976">
                  <a:extLst>
                    <a:ext uri="{9D8B030D-6E8A-4147-A177-3AD203B41FA5}">
                      <a16:colId xmlns:a16="http://schemas.microsoft.com/office/drawing/2014/main" val="20004"/>
                    </a:ext>
                  </a:extLst>
                </a:gridCol>
              </a:tblGrid>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Título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Año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Dir</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Tipo</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Estudio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3</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color</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Paramount</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33507" name="Rectangle 36"/>
          <p:cNvSpPr>
            <a:spLocks noChangeArrowheads="1"/>
          </p:cNvSpPr>
          <p:nvPr/>
        </p:nvSpPr>
        <p:spPr bwMode="auto">
          <a:xfrm>
            <a:off x="2000250" y="1776413"/>
            <a:ext cx="1074738" cy="366712"/>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Pel</a:t>
            </a:r>
            <a:r>
              <a:rPr lang="es-ES" b="1">
                <a:cs typeface="Tahoma" pitchFamily="34" charset="0"/>
              </a:rPr>
              <a:t>í</a:t>
            </a:r>
            <a:r>
              <a:rPr lang="es-ES" b="1">
                <a:latin typeface="Tahoma" pitchFamily="34" charset="0"/>
                <a:cs typeface="Tahoma" pitchFamily="34" charset="0"/>
              </a:rPr>
              <a:t>cula</a:t>
            </a:r>
            <a:endParaRPr lang="es-ES" b="1"/>
          </a:p>
        </p:txBody>
      </p:sp>
      <p:sp>
        <p:nvSpPr>
          <p:cNvPr id="233508" name="Rectangle 37"/>
          <p:cNvSpPr>
            <a:spLocks noChangeArrowheads="1"/>
          </p:cNvSpPr>
          <p:nvPr/>
        </p:nvSpPr>
        <p:spPr bwMode="auto">
          <a:xfrm>
            <a:off x="323850" y="3730625"/>
            <a:ext cx="8391525" cy="323850"/>
          </a:xfrm>
          <a:prstGeom prst="rect">
            <a:avLst/>
          </a:prstGeom>
          <a:noFill/>
          <a:ln w="9525">
            <a:noFill/>
            <a:miter lim="800000"/>
            <a:headEnd/>
            <a:tailEnd/>
          </a:ln>
        </p:spPr>
        <p:txBody>
          <a:bodyPr anchor="ctr">
            <a:spAutoFit/>
          </a:bodyPr>
          <a:lstStyle/>
          <a:p>
            <a:r>
              <a:rPr lang="es-ES" sz="1500" b="1">
                <a:solidFill>
                  <a:schemeClr val="accent2"/>
                </a:solidFill>
                <a:latin typeface="Calibri" pitchFamily="34" charset="0"/>
              </a:rPr>
              <a:t>Ejemplo 1:</a:t>
            </a:r>
            <a:r>
              <a:rPr lang="es-ES" sz="1500">
                <a:latin typeface="Calibri" pitchFamily="34" charset="0"/>
              </a:rPr>
              <a:t> Obtener el nombre de la Película, el nombre del Estudio y el nombre del Director.</a:t>
            </a:r>
          </a:p>
        </p:txBody>
      </p:sp>
      <p:graphicFrame>
        <p:nvGraphicFramePr>
          <p:cNvPr id="239731" name="Group 115"/>
          <p:cNvGraphicFramePr>
            <a:graphicFrameLocks noGrp="1"/>
          </p:cNvGraphicFramePr>
          <p:nvPr/>
        </p:nvGraphicFramePr>
        <p:xfrm>
          <a:off x="5072063" y="2143125"/>
          <a:ext cx="2320036" cy="1280160"/>
        </p:xfrm>
        <a:graphic>
          <a:graphicData uri="http://schemas.openxmlformats.org/drawingml/2006/table">
            <a:tbl>
              <a:tblPr/>
              <a:tblGrid>
                <a:gridCol w="1463675">
                  <a:extLst>
                    <a:ext uri="{9D8B030D-6E8A-4147-A177-3AD203B41FA5}">
                      <a16:colId xmlns:a16="http://schemas.microsoft.com/office/drawing/2014/main" val="20000"/>
                    </a:ext>
                  </a:extLst>
                </a:gridCol>
                <a:gridCol w="856361">
                  <a:extLst>
                    <a:ext uri="{9D8B030D-6E8A-4147-A177-3AD203B41FA5}">
                      <a16:colId xmlns:a16="http://schemas.microsoft.com/office/drawing/2014/main" val="20001"/>
                    </a:ext>
                  </a:extLst>
                </a:gridCol>
              </a:tblGrid>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Cve_Director</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Director</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Smith</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2</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Charlie</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3</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Beny</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33526" name="Rectangle 36"/>
          <p:cNvSpPr>
            <a:spLocks noChangeArrowheads="1"/>
          </p:cNvSpPr>
          <p:nvPr/>
        </p:nvSpPr>
        <p:spPr bwMode="auto">
          <a:xfrm>
            <a:off x="5686425" y="1784350"/>
            <a:ext cx="1125538" cy="369888"/>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Director</a:t>
            </a:r>
            <a:endParaRPr lang="es-ES" b="1"/>
          </a:p>
        </p:txBody>
      </p:sp>
      <p:graphicFrame>
        <p:nvGraphicFramePr>
          <p:cNvPr id="25" name="Group 4"/>
          <p:cNvGraphicFramePr>
            <a:graphicFrameLocks noGrp="1"/>
          </p:cNvGraphicFramePr>
          <p:nvPr/>
        </p:nvGraphicFramePr>
        <p:xfrm>
          <a:off x="2843213" y="5221288"/>
          <a:ext cx="6228674" cy="1280160"/>
        </p:xfrm>
        <a:graphic>
          <a:graphicData uri="http://schemas.openxmlformats.org/drawingml/2006/table">
            <a:tbl>
              <a:tblPr/>
              <a:tblGrid>
                <a:gridCol w="1232448">
                  <a:extLst>
                    <a:ext uri="{9D8B030D-6E8A-4147-A177-3AD203B41FA5}">
                      <a16:colId xmlns:a16="http://schemas.microsoft.com/office/drawing/2014/main" val="20000"/>
                    </a:ext>
                  </a:extLst>
                </a:gridCol>
                <a:gridCol w="706873">
                  <a:extLst>
                    <a:ext uri="{9D8B030D-6E8A-4147-A177-3AD203B41FA5}">
                      <a16:colId xmlns:a16="http://schemas.microsoft.com/office/drawing/2014/main" val="20001"/>
                    </a:ext>
                  </a:extLst>
                </a:gridCol>
                <a:gridCol w="454343">
                  <a:extLst>
                    <a:ext uri="{9D8B030D-6E8A-4147-A177-3AD203B41FA5}">
                      <a16:colId xmlns:a16="http://schemas.microsoft.com/office/drawing/2014/main" val="20002"/>
                    </a:ext>
                  </a:extLst>
                </a:gridCol>
                <a:gridCol w="635204">
                  <a:extLst>
                    <a:ext uri="{9D8B030D-6E8A-4147-A177-3AD203B41FA5}">
                      <a16:colId xmlns:a16="http://schemas.microsoft.com/office/drawing/2014/main" val="20003"/>
                    </a:ext>
                  </a:extLst>
                </a:gridCol>
                <a:gridCol w="1111100">
                  <a:extLst>
                    <a:ext uri="{9D8B030D-6E8A-4147-A177-3AD203B41FA5}">
                      <a16:colId xmlns:a16="http://schemas.microsoft.com/office/drawing/2014/main" val="20004"/>
                    </a:ext>
                  </a:extLst>
                </a:gridCol>
                <a:gridCol w="1232345">
                  <a:extLst>
                    <a:ext uri="{9D8B030D-6E8A-4147-A177-3AD203B41FA5}">
                      <a16:colId xmlns:a16="http://schemas.microsoft.com/office/drawing/2014/main" val="20005"/>
                    </a:ext>
                  </a:extLst>
                </a:gridCol>
                <a:gridCol w="856361">
                  <a:extLst>
                    <a:ext uri="{9D8B030D-6E8A-4147-A177-3AD203B41FA5}">
                      <a16:colId xmlns:a16="http://schemas.microsoft.com/office/drawing/2014/main" val="20006"/>
                    </a:ext>
                  </a:extLst>
                </a:gridCol>
              </a:tblGrid>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Título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Año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Dir</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Tipo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Estudio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Cve_Director</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Director</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Smith</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Smith</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3</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color</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Paramount</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3</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Beny</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33569" name="Rectangle 38"/>
          <p:cNvSpPr>
            <a:spLocks noChangeArrowheads="1"/>
          </p:cNvSpPr>
          <p:nvPr/>
        </p:nvSpPr>
        <p:spPr bwMode="auto">
          <a:xfrm>
            <a:off x="2262188" y="4237038"/>
            <a:ext cx="5381625" cy="461962"/>
          </a:xfrm>
          <a:prstGeom prst="rect">
            <a:avLst/>
          </a:prstGeom>
          <a:noFill/>
          <a:ln w="9525">
            <a:noFill/>
            <a:miter lim="800000"/>
            <a:headEnd/>
            <a:tailEnd/>
          </a:ln>
        </p:spPr>
        <p:txBody>
          <a:bodyPr>
            <a:spAutoFit/>
          </a:bodyPr>
          <a:lstStyle/>
          <a:p>
            <a:r>
              <a:rPr lang="es-ES_tradnl" sz="2000">
                <a:latin typeface="Calibri" pitchFamily="34" charset="0"/>
                <a:sym typeface="Symbol" pitchFamily="18" charset="2"/>
              </a:rPr>
              <a:t>Película </a:t>
            </a:r>
            <a:r>
              <a:rPr lang="es-ES_tradnl" sz="2400" b="1">
                <a:solidFill>
                  <a:schemeClr val="accent2"/>
                </a:solidFill>
                <a:sym typeface="Symbol" pitchFamily="18" charset="2"/>
              </a:rPr>
              <a:t>||</a:t>
            </a:r>
            <a:r>
              <a:rPr lang="es-ES" sz="1500">
                <a:latin typeface="Calibri" pitchFamily="34" charset="0"/>
              </a:rPr>
              <a:t> </a:t>
            </a:r>
            <a:r>
              <a:rPr lang="es-ES" sz="2000" baseline="-25000">
                <a:latin typeface="Calibri" pitchFamily="34" charset="0"/>
              </a:rPr>
              <a:t>Dir=Cve_Director </a:t>
            </a:r>
            <a:r>
              <a:rPr lang="es-ES" sz="2000">
                <a:latin typeface="Calibri" pitchFamily="34" charset="0"/>
              </a:rPr>
              <a:t>Director</a:t>
            </a:r>
          </a:p>
        </p:txBody>
      </p:sp>
      <p:sp>
        <p:nvSpPr>
          <p:cNvPr id="30" name="29 Rectángulo"/>
          <p:cNvSpPr>
            <a:spLocks noChangeArrowheads="1"/>
          </p:cNvSpPr>
          <p:nvPr/>
        </p:nvSpPr>
        <p:spPr bwMode="auto">
          <a:xfrm>
            <a:off x="665163" y="4333875"/>
            <a:ext cx="1646237" cy="338138"/>
          </a:xfrm>
          <a:prstGeom prst="rect">
            <a:avLst/>
          </a:prstGeom>
          <a:noFill/>
          <a:ln w="9525">
            <a:noFill/>
            <a:miter lim="800000"/>
            <a:headEnd/>
            <a:tailEnd/>
          </a:ln>
        </p:spPr>
        <p:txBody>
          <a:bodyPr wrap="none">
            <a:spAutoFit/>
          </a:bodyPr>
          <a:lstStyle/>
          <a:p>
            <a:r>
              <a:rPr lang="es-ES" sz="1600" b="1">
                <a:sym typeface="Wingdings" pitchFamily="2" charset="2"/>
              </a:rPr>
              <a:t>TEMPORAL </a:t>
            </a:r>
            <a:r>
              <a:rPr lang="es-ES" sz="1600" b="1">
                <a:solidFill>
                  <a:schemeClr val="accent2"/>
                </a:solidFill>
                <a:sym typeface="Wingdings" pitchFamily="2" charset="2"/>
              </a:rPr>
              <a:t></a:t>
            </a:r>
            <a:r>
              <a:rPr lang="es-ES" sz="1600" b="1">
                <a:sym typeface="Wingdings" pitchFamily="2" charset="2"/>
              </a:rPr>
              <a:t> </a:t>
            </a:r>
            <a:endParaRPr lang="es-ES" sz="1600" b="1"/>
          </a:p>
        </p:txBody>
      </p:sp>
      <p:sp>
        <p:nvSpPr>
          <p:cNvPr id="31" name="30 Rectángulo"/>
          <p:cNvSpPr>
            <a:spLocks noChangeArrowheads="1"/>
          </p:cNvSpPr>
          <p:nvPr/>
        </p:nvSpPr>
        <p:spPr bwMode="auto">
          <a:xfrm>
            <a:off x="5143500" y="4876800"/>
            <a:ext cx="1333500" cy="338138"/>
          </a:xfrm>
          <a:prstGeom prst="rect">
            <a:avLst/>
          </a:prstGeom>
          <a:noFill/>
          <a:ln w="9525">
            <a:noFill/>
            <a:miter lim="800000"/>
            <a:headEnd/>
            <a:tailEnd/>
          </a:ln>
        </p:spPr>
        <p:txBody>
          <a:bodyPr wrap="none">
            <a:spAutoFit/>
          </a:bodyPr>
          <a:lstStyle/>
          <a:p>
            <a:r>
              <a:rPr lang="es-ES" sz="1600" b="1"/>
              <a:t>TEMPORAL</a:t>
            </a:r>
          </a:p>
        </p:txBody>
      </p:sp>
      <p:sp>
        <p:nvSpPr>
          <p:cNvPr id="233572" name="1 Rectángulo"/>
          <p:cNvSpPr>
            <a:spLocks noChangeArrowheads="1"/>
          </p:cNvSpPr>
          <p:nvPr/>
        </p:nvSpPr>
        <p:spPr bwMode="auto">
          <a:xfrm>
            <a:off x="34925" y="1042988"/>
            <a:ext cx="9074150" cy="523875"/>
          </a:xfrm>
          <a:prstGeom prst="rect">
            <a:avLst/>
          </a:prstGeom>
          <a:noFill/>
          <a:ln w="9525">
            <a:noFill/>
            <a:miter lim="800000"/>
            <a:headEnd/>
            <a:tailEnd/>
          </a:ln>
        </p:spPr>
        <p:txBody>
          <a:bodyPr>
            <a:spAutoFit/>
          </a:bodyPr>
          <a:lstStyle/>
          <a:p>
            <a:pPr marL="800100" lvl="1" indent="-342900">
              <a:buFont typeface="Arial" charset="0"/>
              <a:buNone/>
            </a:pPr>
            <a:r>
              <a:rPr lang="es-ES_tradnl" b="1"/>
              <a:t>Operaciones del Algebra Relacional – Reunión </a:t>
            </a:r>
            <a:r>
              <a:rPr lang="es-ES_tradnl" sz="2800" b="1">
                <a:solidFill>
                  <a:schemeClr val="accent2"/>
                </a:solidFill>
                <a:sym typeface="Symbol" pitchFamily="18" charset="2"/>
              </a:rPr>
              <a:t>||</a:t>
            </a:r>
            <a:r>
              <a:rPr lang="es-ES" sz="2400" b="1" baseline="-25000">
                <a:solidFill>
                  <a:schemeClr val="accent2"/>
                </a:solidFill>
              </a:rPr>
              <a:t>&lt;condición de reunión&gt;</a:t>
            </a:r>
            <a:endParaRPr lang="es-ES_tradnl" sz="2400" b="1" baseline="-25000">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right)">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34499" name="Rectangle 37"/>
          <p:cNvSpPr>
            <a:spLocks noChangeArrowheads="1"/>
          </p:cNvSpPr>
          <p:nvPr/>
        </p:nvSpPr>
        <p:spPr bwMode="auto">
          <a:xfrm>
            <a:off x="323850" y="3730625"/>
            <a:ext cx="8391525" cy="323850"/>
          </a:xfrm>
          <a:prstGeom prst="rect">
            <a:avLst/>
          </a:prstGeom>
          <a:noFill/>
          <a:ln w="9525">
            <a:noFill/>
            <a:miter lim="800000"/>
            <a:headEnd/>
            <a:tailEnd/>
          </a:ln>
        </p:spPr>
        <p:txBody>
          <a:bodyPr anchor="ctr">
            <a:spAutoFit/>
          </a:bodyPr>
          <a:lstStyle/>
          <a:p>
            <a:r>
              <a:rPr lang="es-ES" sz="1500" b="1">
                <a:solidFill>
                  <a:schemeClr val="accent2"/>
                </a:solidFill>
                <a:latin typeface="Calibri" pitchFamily="34" charset="0"/>
              </a:rPr>
              <a:t>Ejemplo 1:</a:t>
            </a:r>
            <a:r>
              <a:rPr lang="es-ES" sz="1500">
                <a:latin typeface="Calibri" pitchFamily="34" charset="0"/>
              </a:rPr>
              <a:t> Obtener el nombre de la Película, el nombre del Estudio y el nombre del Director.</a:t>
            </a:r>
          </a:p>
        </p:txBody>
      </p:sp>
      <p:graphicFrame>
        <p:nvGraphicFramePr>
          <p:cNvPr id="25" name="Group 4"/>
          <p:cNvGraphicFramePr>
            <a:graphicFrameLocks noGrp="1"/>
          </p:cNvGraphicFramePr>
          <p:nvPr/>
        </p:nvGraphicFramePr>
        <p:xfrm>
          <a:off x="1643063" y="2058988"/>
          <a:ext cx="6228674" cy="1280160"/>
        </p:xfrm>
        <a:graphic>
          <a:graphicData uri="http://schemas.openxmlformats.org/drawingml/2006/table">
            <a:tbl>
              <a:tblPr/>
              <a:tblGrid>
                <a:gridCol w="1232448">
                  <a:extLst>
                    <a:ext uri="{9D8B030D-6E8A-4147-A177-3AD203B41FA5}">
                      <a16:colId xmlns:a16="http://schemas.microsoft.com/office/drawing/2014/main" val="20000"/>
                    </a:ext>
                  </a:extLst>
                </a:gridCol>
                <a:gridCol w="706873">
                  <a:extLst>
                    <a:ext uri="{9D8B030D-6E8A-4147-A177-3AD203B41FA5}">
                      <a16:colId xmlns:a16="http://schemas.microsoft.com/office/drawing/2014/main" val="20001"/>
                    </a:ext>
                  </a:extLst>
                </a:gridCol>
                <a:gridCol w="454343">
                  <a:extLst>
                    <a:ext uri="{9D8B030D-6E8A-4147-A177-3AD203B41FA5}">
                      <a16:colId xmlns:a16="http://schemas.microsoft.com/office/drawing/2014/main" val="20002"/>
                    </a:ext>
                  </a:extLst>
                </a:gridCol>
                <a:gridCol w="635204">
                  <a:extLst>
                    <a:ext uri="{9D8B030D-6E8A-4147-A177-3AD203B41FA5}">
                      <a16:colId xmlns:a16="http://schemas.microsoft.com/office/drawing/2014/main" val="20003"/>
                    </a:ext>
                  </a:extLst>
                </a:gridCol>
                <a:gridCol w="1111100">
                  <a:extLst>
                    <a:ext uri="{9D8B030D-6E8A-4147-A177-3AD203B41FA5}">
                      <a16:colId xmlns:a16="http://schemas.microsoft.com/office/drawing/2014/main" val="20004"/>
                    </a:ext>
                  </a:extLst>
                </a:gridCol>
                <a:gridCol w="1232345">
                  <a:extLst>
                    <a:ext uri="{9D8B030D-6E8A-4147-A177-3AD203B41FA5}">
                      <a16:colId xmlns:a16="http://schemas.microsoft.com/office/drawing/2014/main" val="20005"/>
                    </a:ext>
                  </a:extLst>
                </a:gridCol>
                <a:gridCol w="856361">
                  <a:extLst>
                    <a:ext uri="{9D8B030D-6E8A-4147-A177-3AD203B41FA5}">
                      <a16:colId xmlns:a16="http://schemas.microsoft.com/office/drawing/2014/main" val="20006"/>
                    </a:ext>
                  </a:extLst>
                </a:gridCol>
              </a:tblGrid>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Título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Año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Dir</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Tipo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Estudio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Cve_Director</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Director</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1977</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Smith</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1991</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color</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Smith</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Bajo la lluvia</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1992</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3</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color</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Paramount</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3</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Beny</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34542" name="Rectangle 38"/>
          <p:cNvSpPr>
            <a:spLocks noChangeArrowheads="1"/>
          </p:cNvSpPr>
          <p:nvPr/>
        </p:nvSpPr>
        <p:spPr bwMode="auto">
          <a:xfrm>
            <a:off x="1762125" y="4071938"/>
            <a:ext cx="5381625" cy="461962"/>
          </a:xfrm>
          <a:prstGeom prst="rect">
            <a:avLst/>
          </a:prstGeom>
          <a:noFill/>
          <a:ln w="9525">
            <a:noFill/>
            <a:miter lim="800000"/>
            <a:headEnd/>
            <a:tailEnd/>
          </a:ln>
        </p:spPr>
        <p:txBody>
          <a:bodyPr>
            <a:spAutoFit/>
          </a:bodyPr>
          <a:lstStyle/>
          <a:p>
            <a:r>
              <a:rPr lang="es-ES_tradnl" sz="2000">
                <a:latin typeface="Calibri" pitchFamily="34" charset="0"/>
                <a:sym typeface="Symbol" pitchFamily="18" charset="2"/>
              </a:rPr>
              <a:t>Película </a:t>
            </a:r>
            <a:r>
              <a:rPr lang="es-ES_tradnl" sz="2400" b="1">
                <a:solidFill>
                  <a:schemeClr val="accent2"/>
                </a:solidFill>
                <a:sym typeface="Symbol" pitchFamily="18" charset="2"/>
              </a:rPr>
              <a:t>||</a:t>
            </a:r>
            <a:r>
              <a:rPr lang="es-ES" sz="1500">
                <a:latin typeface="Calibri" pitchFamily="34" charset="0"/>
              </a:rPr>
              <a:t> </a:t>
            </a:r>
            <a:r>
              <a:rPr lang="es-ES" sz="2000" baseline="-25000">
                <a:latin typeface="Calibri" pitchFamily="34" charset="0"/>
              </a:rPr>
              <a:t>Dir=Cve_Director </a:t>
            </a:r>
            <a:r>
              <a:rPr lang="es-ES" sz="2000">
                <a:latin typeface="Calibri" pitchFamily="34" charset="0"/>
              </a:rPr>
              <a:t>Director</a:t>
            </a:r>
          </a:p>
        </p:txBody>
      </p:sp>
      <p:sp>
        <p:nvSpPr>
          <p:cNvPr id="234543" name="29 Rectángulo"/>
          <p:cNvSpPr>
            <a:spLocks noChangeArrowheads="1"/>
          </p:cNvSpPr>
          <p:nvPr/>
        </p:nvSpPr>
        <p:spPr bwMode="auto">
          <a:xfrm>
            <a:off x="165100" y="4168775"/>
            <a:ext cx="1646238" cy="338138"/>
          </a:xfrm>
          <a:prstGeom prst="rect">
            <a:avLst/>
          </a:prstGeom>
          <a:noFill/>
          <a:ln w="9525">
            <a:noFill/>
            <a:miter lim="800000"/>
            <a:headEnd/>
            <a:tailEnd/>
          </a:ln>
        </p:spPr>
        <p:txBody>
          <a:bodyPr wrap="none">
            <a:spAutoFit/>
          </a:bodyPr>
          <a:lstStyle/>
          <a:p>
            <a:r>
              <a:rPr lang="es-ES" sz="1600" b="1">
                <a:sym typeface="Wingdings" pitchFamily="2" charset="2"/>
              </a:rPr>
              <a:t>TEMPORAL </a:t>
            </a:r>
            <a:r>
              <a:rPr lang="es-ES" sz="1600" b="1">
                <a:solidFill>
                  <a:schemeClr val="accent2"/>
                </a:solidFill>
                <a:sym typeface="Wingdings" pitchFamily="2" charset="2"/>
              </a:rPr>
              <a:t></a:t>
            </a:r>
            <a:r>
              <a:rPr lang="es-ES" sz="1600" b="1">
                <a:sym typeface="Wingdings" pitchFamily="2" charset="2"/>
              </a:rPr>
              <a:t> </a:t>
            </a:r>
            <a:endParaRPr lang="es-ES" sz="1600" b="1"/>
          </a:p>
        </p:txBody>
      </p:sp>
      <p:sp>
        <p:nvSpPr>
          <p:cNvPr id="234544" name="30 Rectángulo"/>
          <p:cNvSpPr>
            <a:spLocks noChangeArrowheads="1"/>
          </p:cNvSpPr>
          <p:nvPr/>
        </p:nvSpPr>
        <p:spPr bwMode="auto">
          <a:xfrm>
            <a:off x="3943350" y="1714500"/>
            <a:ext cx="1333500" cy="338138"/>
          </a:xfrm>
          <a:prstGeom prst="rect">
            <a:avLst/>
          </a:prstGeom>
          <a:noFill/>
          <a:ln w="9525">
            <a:noFill/>
            <a:miter lim="800000"/>
            <a:headEnd/>
            <a:tailEnd/>
          </a:ln>
        </p:spPr>
        <p:txBody>
          <a:bodyPr wrap="none">
            <a:spAutoFit/>
          </a:bodyPr>
          <a:lstStyle/>
          <a:p>
            <a:r>
              <a:rPr lang="es-ES" sz="1600" b="1"/>
              <a:t>TEMPORAL</a:t>
            </a:r>
          </a:p>
        </p:txBody>
      </p:sp>
      <p:sp>
        <p:nvSpPr>
          <p:cNvPr id="13" name="Rectangle 37"/>
          <p:cNvSpPr>
            <a:spLocks noChangeArrowheads="1"/>
          </p:cNvSpPr>
          <p:nvPr/>
        </p:nvSpPr>
        <p:spPr bwMode="auto">
          <a:xfrm>
            <a:off x="1762125" y="4357688"/>
            <a:ext cx="5381625" cy="584200"/>
          </a:xfrm>
          <a:prstGeom prst="rect">
            <a:avLst/>
          </a:prstGeom>
          <a:noFill/>
          <a:ln w="9525">
            <a:noFill/>
            <a:miter lim="800000"/>
            <a:headEnd/>
            <a:tailEnd/>
          </a:ln>
        </p:spPr>
        <p:txBody>
          <a:bodyPr>
            <a:spAutoFit/>
          </a:bodyPr>
          <a:lstStyle/>
          <a:p>
            <a:r>
              <a:rPr lang="es-ES_tradnl" sz="3200" b="1">
                <a:solidFill>
                  <a:schemeClr val="accent2"/>
                </a:solidFill>
                <a:latin typeface="Calibri" pitchFamily="34" charset="0"/>
                <a:sym typeface="Symbol" pitchFamily="18" charset="2"/>
              </a:rPr>
              <a:t></a:t>
            </a:r>
            <a:r>
              <a:rPr lang="es-ES">
                <a:latin typeface="Calibri" pitchFamily="34" charset="0"/>
              </a:rPr>
              <a:t>    Título, Estudio, Director (</a:t>
            </a:r>
            <a:r>
              <a:rPr lang="es-ES" b="1">
                <a:latin typeface="Calibri" pitchFamily="34" charset="0"/>
              </a:rPr>
              <a:t>TEMPORAL</a:t>
            </a:r>
            <a:r>
              <a:rPr lang="es-ES">
                <a:latin typeface="Calibri" pitchFamily="34" charset="0"/>
              </a:rPr>
              <a:t>)</a:t>
            </a:r>
          </a:p>
        </p:txBody>
      </p:sp>
      <p:sp>
        <p:nvSpPr>
          <p:cNvPr id="14" name="13 Rectángulo"/>
          <p:cNvSpPr>
            <a:spLocks noChangeArrowheads="1"/>
          </p:cNvSpPr>
          <p:nvPr/>
        </p:nvSpPr>
        <p:spPr bwMode="auto">
          <a:xfrm>
            <a:off x="71438" y="4519613"/>
            <a:ext cx="1743075" cy="338137"/>
          </a:xfrm>
          <a:prstGeom prst="rect">
            <a:avLst/>
          </a:prstGeom>
          <a:noFill/>
          <a:ln w="9525">
            <a:noFill/>
            <a:miter lim="800000"/>
            <a:headEnd/>
            <a:tailEnd/>
          </a:ln>
        </p:spPr>
        <p:txBody>
          <a:bodyPr wrap="none">
            <a:spAutoFit/>
          </a:bodyPr>
          <a:lstStyle/>
          <a:p>
            <a:r>
              <a:rPr lang="es-ES" sz="1600" b="1">
                <a:sym typeface="Wingdings" pitchFamily="2" charset="2"/>
              </a:rPr>
              <a:t>RESULTADO </a:t>
            </a:r>
            <a:r>
              <a:rPr lang="es-ES" sz="1600" b="1">
                <a:solidFill>
                  <a:schemeClr val="accent2"/>
                </a:solidFill>
                <a:sym typeface="Wingdings" pitchFamily="2" charset="2"/>
              </a:rPr>
              <a:t></a:t>
            </a:r>
            <a:r>
              <a:rPr lang="es-ES" sz="1600" b="1">
                <a:sym typeface="Wingdings" pitchFamily="2" charset="2"/>
              </a:rPr>
              <a:t> </a:t>
            </a:r>
            <a:endParaRPr lang="es-ES" sz="1600" b="1"/>
          </a:p>
        </p:txBody>
      </p:sp>
      <p:graphicFrame>
        <p:nvGraphicFramePr>
          <p:cNvPr id="15" name="Group 4"/>
          <p:cNvGraphicFramePr>
            <a:graphicFrameLocks noGrp="1"/>
          </p:cNvGraphicFramePr>
          <p:nvPr/>
        </p:nvGraphicFramePr>
        <p:xfrm>
          <a:off x="5443538" y="5292725"/>
          <a:ext cx="3199909" cy="1280160"/>
        </p:xfrm>
        <a:graphic>
          <a:graphicData uri="http://schemas.openxmlformats.org/drawingml/2006/table">
            <a:tbl>
              <a:tblPr/>
              <a:tblGrid>
                <a:gridCol w="1232448">
                  <a:extLst>
                    <a:ext uri="{9D8B030D-6E8A-4147-A177-3AD203B41FA5}">
                      <a16:colId xmlns:a16="http://schemas.microsoft.com/office/drawing/2014/main" val="20000"/>
                    </a:ext>
                  </a:extLst>
                </a:gridCol>
                <a:gridCol w="1111100">
                  <a:extLst>
                    <a:ext uri="{9D8B030D-6E8A-4147-A177-3AD203B41FA5}">
                      <a16:colId xmlns:a16="http://schemas.microsoft.com/office/drawing/2014/main" val="20001"/>
                    </a:ext>
                  </a:extLst>
                </a:gridCol>
                <a:gridCol w="856361">
                  <a:extLst>
                    <a:ext uri="{9D8B030D-6E8A-4147-A177-3AD203B41FA5}">
                      <a16:colId xmlns:a16="http://schemas.microsoft.com/office/drawing/2014/main" val="20002"/>
                    </a:ext>
                  </a:extLst>
                </a:gridCol>
              </a:tblGrid>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Título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Estudio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Director</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Star Wars</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Fox</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Smith</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Cacería </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a:ln>
                            <a:noFill/>
                          </a:ln>
                          <a:solidFill>
                            <a:schemeClr val="tx1"/>
                          </a:solidFill>
                          <a:effectLst/>
                          <a:latin typeface="Calibri" pitchFamily="34" charset="0"/>
                          <a:cs typeface="Tahoma" pitchFamily="34" charset="0"/>
                        </a:rPr>
                        <a:t>Disney</a:t>
                      </a:r>
                      <a:endParaRPr kumimoji="0" lang="es-ES" sz="1500" b="0" i="0" u="none" strike="noStrike" cap="none" normalizeH="0" baseline="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Smith</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3277">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Bajo la lluvia</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Paramount</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Beny</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6" name="15 Rectángulo"/>
          <p:cNvSpPr>
            <a:spLocks noChangeArrowheads="1"/>
          </p:cNvSpPr>
          <p:nvPr/>
        </p:nvSpPr>
        <p:spPr bwMode="auto">
          <a:xfrm>
            <a:off x="6391275" y="4954588"/>
            <a:ext cx="1427163" cy="339725"/>
          </a:xfrm>
          <a:prstGeom prst="rect">
            <a:avLst/>
          </a:prstGeom>
          <a:noFill/>
          <a:ln w="9525">
            <a:noFill/>
            <a:miter lim="800000"/>
            <a:headEnd/>
            <a:tailEnd/>
          </a:ln>
        </p:spPr>
        <p:txBody>
          <a:bodyPr wrap="none">
            <a:spAutoFit/>
          </a:bodyPr>
          <a:lstStyle/>
          <a:p>
            <a:r>
              <a:rPr lang="es-ES" sz="1600" b="1">
                <a:sym typeface="Wingdings" pitchFamily="2" charset="2"/>
              </a:rPr>
              <a:t>RESULTADO</a:t>
            </a:r>
            <a:endParaRPr lang="es-ES" sz="1600" b="1"/>
          </a:p>
        </p:txBody>
      </p:sp>
      <p:sp>
        <p:nvSpPr>
          <p:cNvPr id="234570" name="1 Rectángulo"/>
          <p:cNvSpPr>
            <a:spLocks noChangeArrowheads="1"/>
          </p:cNvSpPr>
          <p:nvPr/>
        </p:nvSpPr>
        <p:spPr bwMode="auto">
          <a:xfrm>
            <a:off x="34925" y="1042988"/>
            <a:ext cx="9074150" cy="523875"/>
          </a:xfrm>
          <a:prstGeom prst="rect">
            <a:avLst/>
          </a:prstGeom>
          <a:noFill/>
          <a:ln w="9525">
            <a:noFill/>
            <a:miter lim="800000"/>
            <a:headEnd/>
            <a:tailEnd/>
          </a:ln>
        </p:spPr>
        <p:txBody>
          <a:bodyPr>
            <a:spAutoFit/>
          </a:bodyPr>
          <a:lstStyle/>
          <a:p>
            <a:pPr marL="800100" lvl="1" indent="-342900">
              <a:buFont typeface="Arial" charset="0"/>
              <a:buNone/>
            </a:pPr>
            <a:r>
              <a:rPr lang="es-ES_tradnl" b="1"/>
              <a:t>Operaciones del Algebra Relacional – Reunión </a:t>
            </a:r>
            <a:r>
              <a:rPr lang="es-ES_tradnl" sz="2800" b="1">
                <a:solidFill>
                  <a:schemeClr val="accent2"/>
                </a:solidFill>
                <a:sym typeface="Symbol" pitchFamily="18" charset="2"/>
              </a:rPr>
              <a:t>||</a:t>
            </a:r>
            <a:r>
              <a:rPr lang="es-ES" sz="2400" b="1" baseline="-25000">
                <a:solidFill>
                  <a:schemeClr val="accent2"/>
                </a:solidFill>
              </a:rPr>
              <a:t>&lt;condición de reunión&gt;</a:t>
            </a:r>
            <a:endParaRPr lang="es-ES_tradnl" sz="2400" b="1" baseline="-25000">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righ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right)">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p:bld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graphicFrame>
        <p:nvGraphicFramePr>
          <p:cNvPr id="239620" name="Group 4"/>
          <p:cNvGraphicFramePr>
            <a:graphicFrameLocks noGrp="1"/>
          </p:cNvGraphicFramePr>
          <p:nvPr/>
        </p:nvGraphicFramePr>
        <p:xfrm>
          <a:off x="285750" y="2079625"/>
          <a:ext cx="3546474" cy="1920240"/>
        </p:xfrm>
        <a:graphic>
          <a:graphicData uri="http://schemas.openxmlformats.org/drawingml/2006/table">
            <a:tbl>
              <a:tblPr/>
              <a:tblGrid>
                <a:gridCol w="1433385">
                  <a:extLst>
                    <a:ext uri="{9D8B030D-6E8A-4147-A177-3AD203B41FA5}">
                      <a16:colId xmlns:a16="http://schemas.microsoft.com/office/drawing/2014/main" val="20000"/>
                    </a:ext>
                  </a:extLst>
                </a:gridCol>
                <a:gridCol w="948499">
                  <a:extLst>
                    <a:ext uri="{9D8B030D-6E8A-4147-A177-3AD203B41FA5}">
                      <a16:colId xmlns:a16="http://schemas.microsoft.com/office/drawing/2014/main" val="20001"/>
                    </a:ext>
                  </a:extLst>
                </a:gridCol>
                <a:gridCol w="1164590">
                  <a:extLst>
                    <a:ext uri="{9D8B030D-6E8A-4147-A177-3AD203B41FA5}">
                      <a16:colId xmlns:a16="http://schemas.microsoft.com/office/drawing/2014/main" val="20002"/>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Proyecto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err="1">
                          <a:ln>
                            <a:noFill/>
                          </a:ln>
                          <a:solidFill>
                            <a:schemeClr val="tx1"/>
                          </a:solidFill>
                          <a:effectLst/>
                          <a:latin typeface="Calibri" pitchFamily="34" charset="0"/>
                        </a:rPr>
                        <a:t>cve_proy</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rPr>
                        <a:t>responsable</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Capacitación</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2</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rPr>
                        <a:t>Automatización</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rPr>
                        <a:t>2</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Finanzas</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rPr>
                        <a:t>3</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rPr>
                        <a:t>Expo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rPr>
                        <a:t>4</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rPr>
                        <a:t>3</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err="1">
                          <a:ln>
                            <a:noFill/>
                          </a:ln>
                          <a:solidFill>
                            <a:schemeClr val="tx1"/>
                          </a:solidFill>
                          <a:effectLst/>
                          <a:latin typeface="Calibri" pitchFamily="34" charset="0"/>
                        </a:rPr>
                        <a:t>Vinculacion</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rPr>
                        <a:t>5</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rPr>
                        <a:t>2</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35553" name="Rectangle 36"/>
          <p:cNvSpPr>
            <a:spLocks noChangeArrowheads="1"/>
          </p:cNvSpPr>
          <p:nvPr/>
        </p:nvSpPr>
        <p:spPr bwMode="auto">
          <a:xfrm>
            <a:off x="1500188" y="1700213"/>
            <a:ext cx="1328737" cy="368300"/>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Proyectos</a:t>
            </a:r>
            <a:endParaRPr lang="es-ES" b="1"/>
          </a:p>
        </p:txBody>
      </p:sp>
      <p:sp>
        <p:nvSpPr>
          <p:cNvPr id="235554" name="Rectangle 37"/>
          <p:cNvSpPr>
            <a:spLocks noChangeArrowheads="1"/>
          </p:cNvSpPr>
          <p:nvPr/>
        </p:nvSpPr>
        <p:spPr bwMode="auto">
          <a:xfrm>
            <a:off x="323850" y="4224338"/>
            <a:ext cx="8391525" cy="322262"/>
          </a:xfrm>
          <a:prstGeom prst="rect">
            <a:avLst/>
          </a:prstGeom>
          <a:noFill/>
          <a:ln w="9525">
            <a:noFill/>
            <a:miter lim="800000"/>
            <a:headEnd/>
            <a:tailEnd/>
          </a:ln>
        </p:spPr>
        <p:txBody>
          <a:bodyPr anchor="ctr">
            <a:spAutoFit/>
          </a:bodyPr>
          <a:lstStyle/>
          <a:p>
            <a:r>
              <a:rPr lang="es-ES" sz="1500" b="1">
                <a:solidFill>
                  <a:schemeClr val="accent2"/>
                </a:solidFill>
                <a:latin typeface="Calibri" pitchFamily="34" charset="0"/>
              </a:rPr>
              <a:t>Ejemplo 2:</a:t>
            </a:r>
            <a:r>
              <a:rPr lang="es-ES" sz="1500">
                <a:latin typeface="Calibri" pitchFamily="34" charset="0"/>
              </a:rPr>
              <a:t> Obtener el nombre del Proyecto, el nombre del Responsable y el nombre del Departamento.</a:t>
            </a:r>
          </a:p>
        </p:txBody>
      </p:sp>
      <p:sp>
        <p:nvSpPr>
          <p:cNvPr id="239654" name="Rectangle 38"/>
          <p:cNvSpPr>
            <a:spLocks noChangeArrowheads="1"/>
          </p:cNvSpPr>
          <p:nvPr/>
        </p:nvSpPr>
        <p:spPr bwMode="auto">
          <a:xfrm>
            <a:off x="3738563" y="4625975"/>
            <a:ext cx="4667250" cy="461963"/>
          </a:xfrm>
          <a:prstGeom prst="rect">
            <a:avLst/>
          </a:prstGeom>
          <a:noFill/>
          <a:ln w="9525">
            <a:noFill/>
            <a:miter lim="800000"/>
            <a:headEnd/>
            <a:tailEnd/>
          </a:ln>
        </p:spPr>
        <p:txBody>
          <a:bodyPr>
            <a:spAutoFit/>
          </a:bodyPr>
          <a:lstStyle/>
          <a:p>
            <a:r>
              <a:rPr lang="es-ES_tradnl" sz="2000">
                <a:latin typeface="Calibri" pitchFamily="34" charset="0"/>
                <a:sym typeface="Symbol" pitchFamily="18" charset="2"/>
              </a:rPr>
              <a:t>Proyectos</a:t>
            </a:r>
            <a:r>
              <a:rPr lang="es-ES_tradnl" sz="2400" b="1">
                <a:solidFill>
                  <a:schemeClr val="accent2"/>
                </a:solidFill>
                <a:sym typeface="Symbol" pitchFamily="18" charset="2"/>
              </a:rPr>
              <a:t>||</a:t>
            </a:r>
            <a:r>
              <a:rPr lang="es-ES" sz="1500">
                <a:latin typeface="Calibri" pitchFamily="34" charset="0"/>
              </a:rPr>
              <a:t> </a:t>
            </a:r>
            <a:r>
              <a:rPr lang="es-ES" sz="2000" baseline="-25000">
                <a:latin typeface="Calibri" pitchFamily="34" charset="0"/>
              </a:rPr>
              <a:t>responsable=Cve_resp </a:t>
            </a:r>
            <a:r>
              <a:rPr lang="es-ES" sz="2000">
                <a:latin typeface="Calibri" pitchFamily="34" charset="0"/>
              </a:rPr>
              <a:t>Responsables</a:t>
            </a:r>
          </a:p>
        </p:txBody>
      </p:sp>
      <p:graphicFrame>
        <p:nvGraphicFramePr>
          <p:cNvPr id="239731" name="Group 115"/>
          <p:cNvGraphicFramePr>
            <a:graphicFrameLocks noGrp="1"/>
          </p:cNvGraphicFramePr>
          <p:nvPr/>
        </p:nvGraphicFramePr>
        <p:xfrm>
          <a:off x="4148138" y="2079625"/>
          <a:ext cx="2494851" cy="1280160"/>
        </p:xfrm>
        <a:graphic>
          <a:graphicData uri="http://schemas.openxmlformats.org/drawingml/2006/table">
            <a:tbl>
              <a:tblPr/>
              <a:tblGrid>
                <a:gridCol w="935736">
                  <a:extLst>
                    <a:ext uri="{9D8B030D-6E8A-4147-A177-3AD203B41FA5}">
                      <a16:colId xmlns:a16="http://schemas.microsoft.com/office/drawing/2014/main" val="20000"/>
                    </a:ext>
                  </a:extLst>
                </a:gridCol>
                <a:gridCol w="859790">
                  <a:extLst>
                    <a:ext uri="{9D8B030D-6E8A-4147-A177-3AD203B41FA5}">
                      <a16:colId xmlns:a16="http://schemas.microsoft.com/office/drawing/2014/main" val="20001"/>
                    </a:ext>
                  </a:extLst>
                </a:gridCol>
                <a:gridCol w="699325">
                  <a:extLst>
                    <a:ext uri="{9D8B030D-6E8A-4147-A177-3AD203B41FA5}">
                      <a16:colId xmlns:a16="http://schemas.microsoft.com/office/drawing/2014/main" val="20002"/>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Cve_resp</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Nombre</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err="1">
                          <a:ln>
                            <a:noFill/>
                          </a:ln>
                          <a:solidFill>
                            <a:schemeClr val="tx1"/>
                          </a:solidFill>
                          <a:effectLst/>
                          <a:latin typeface="Calibri" pitchFamily="34" charset="0"/>
                        </a:rPr>
                        <a:t>Depto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Carlos</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2</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cs typeface="Tahoma" pitchFamily="34" charset="0"/>
                        </a:rPr>
                        <a:t>Mario</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rPr>
                        <a:t>5</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3</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Sonia</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rPr>
                        <a:t>2</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35578" name="Rectangle 36"/>
          <p:cNvSpPr>
            <a:spLocks noChangeArrowheads="1"/>
          </p:cNvSpPr>
          <p:nvPr/>
        </p:nvSpPr>
        <p:spPr bwMode="auto">
          <a:xfrm>
            <a:off x="4608513" y="1720850"/>
            <a:ext cx="1655762" cy="369888"/>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Reponsables</a:t>
            </a:r>
            <a:endParaRPr lang="es-ES" b="1"/>
          </a:p>
        </p:txBody>
      </p:sp>
      <p:graphicFrame>
        <p:nvGraphicFramePr>
          <p:cNvPr id="26" name="Group 115"/>
          <p:cNvGraphicFramePr>
            <a:graphicFrameLocks noGrp="1"/>
          </p:cNvGraphicFramePr>
          <p:nvPr/>
        </p:nvGraphicFramePr>
        <p:xfrm>
          <a:off x="6919913" y="2073275"/>
          <a:ext cx="1926653" cy="1920240"/>
        </p:xfrm>
        <a:graphic>
          <a:graphicData uri="http://schemas.openxmlformats.org/drawingml/2006/table">
            <a:tbl>
              <a:tblPr/>
              <a:tblGrid>
                <a:gridCol w="935736">
                  <a:extLst>
                    <a:ext uri="{9D8B030D-6E8A-4147-A177-3AD203B41FA5}">
                      <a16:colId xmlns:a16="http://schemas.microsoft.com/office/drawing/2014/main" val="20000"/>
                    </a:ext>
                  </a:extLst>
                </a:gridCol>
                <a:gridCol w="990917">
                  <a:extLst>
                    <a:ext uri="{9D8B030D-6E8A-4147-A177-3AD203B41FA5}">
                      <a16:colId xmlns:a16="http://schemas.microsoft.com/office/drawing/2014/main" val="20001"/>
                    </a:ext>
                  </a:extLst>
                </a:gridCol>
              </a:tblGrid>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err="1">
                          <a:ln>
                            <a:noFill/>
                          </a:ln>
                          <a:solidFill>
                            <a:schemeClr val="tx1"/>
                          </a:solidFill>
                          <a:effectLst/>
                          <a:latin typeface="Calibri" pitchFamily="34" charset="0"/>
                          <a:cs typeface="Tahoma" pitchFamily="34" charset="0"/>
                        </a:rPr>
                        <a:t>Cve_dep</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err="1">
                          <a:ln>
                            <a:noFill/>
                          </a:ln>
                          <a:solidFill>
                            <a:schemeClr val="tx1"/>
                          </a:solidFill>
                          <a:effectLst/>
                          <a:latin typeface="Calibri" pitchFamily="34" charset="0"/>
                          <a:cs typeface="Tahoma" pitchFamily="34" charset="0"/>
                        </a:rPr>
                        <a:t>Nom_dep</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1</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err="1">
                          <a:ln>
                            <a:noFill/>
                          </a:ln>
                          <a:solidFill>
                            <a:schemeClr val="tx1"/>
                          </a:solidFill>
                          <a:effectLst/>
                          <a:latin typeface="Calibri" pitchFamily="34" charset="0"/>
                          <a:cs typeface="Tahoma" pitchFamily="34" charset="0"/>
                        </a:rPr>
                        <a:t>Admin</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25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2</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err="1">
                          <a:ln>
                            <a:noFill/>
                          </a:ln>
                          <a:solidFill>
                            <a:schemeClr val="tx1"/>
                          </a:solidFill>
                          <a:effectLst/>
                          <a:latin typeface="Calibri" pitchFamily="34" charset="0"/>
                          <a:cs typeface="Tahoma" pitchFamily="34" charset="0"/>
                        </a:rPr>
                        <a:t>Vinc</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sz="1500" b="0" i="0" u="none" strike="noStrike" cap="none" normalizeH="0" baseline="0" dirty="0">
                          <a:ln>
                            <a:noFill/>
                          </a:ln>
                          <a:solidFill>
                            <a:schemeClr val="tx1"/>
                          </a:solidFill>
                          <a:effectLst/>
                          <a:latin typeface="Calibri" pitchFamily="34" charset="0"/>
                          <a:cs typeface="Tahoma" pitchFamily="34" charset="0"/>
                        </a:rPr>
                        <a:t>3</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err="1">
                          <a:ln>
                            <a:noFill/>
                          </a:ln>
                          <a:solidFill>
                            <a:schemeClr val="tx1"/>
                          </a:solidFill>
                          <a:effectLst/>
                          <a:latin typeface="Calibri" pitchFamily="34" charset="0"/>
                          <a:cs typeface="Tahoma" pitchFamily="34" charset="0"/>
                        </a:rPr>
                        <a:t>Extension</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rPr>
                        <a:t>4</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rPr>
                        <a:t>RH</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41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rPr>
                        <a:t>5</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sz="1500" b="0" i="0" u="none" strike="noStrike" cap="none" normalizeH="0" baseline="0" dirty="0">
                          <a:ln>
                            <a:noFill/>
                          </a:ln>
                          <a:solidFill>
                            <a:schemeClr val="tx1"/>
                          </a:solidFill>
                          <a:effectLst/>
                          <a:latin typeface="Calibri" pitchFamily="34" charset="0"/>
                        </a:rPr>
                        <a:t>Sistemas</a:t>
                      </a:r>
                      <a:endParaRPr kumimoji="0" lang="es-ES" sz="1500" b="0" i="0" u="none" strike="noStrike" cap="none" normalizeH="0" baseline="0" dirty="0">
                        <a:ln>
                          <a:noFill/>
                        </a:ln>
                        <a:solidFill>
                          <a:schemeClr val="tx1"/>
                        </a:solidFill>
                        <a:effectLst/>
                        <a:latin typeface="Calibri"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35602" name="Rectangle 36"/>
          <p:cNvSpPr>
            <a:spLocks noChangeArrowheads="1"/>
          </p:cNvSpPr>
          <p:nvPr/>
        </p:nvSpPr>
        <p:spPr bwMode="auto">
          <a:xfrm>
            <a:off x="6877050" y="1714500"/>
            <a:ext cx="1976438" cy="369888"/>
          </a:xfrm>
          <a:prstGeom prst="rect">
            <a:avLst/>
          </a:prstGeom>
          <a:noFill/>
          <a:ln w="9525">
            <a:noFill/>
            <a:miter lim="800000"/>
            <a:headEnd/>
            <a:tailEnd/>
          </a:ln>
        </p:spPr>
        <p:txBody>
          <a:bodyPr wrap="none" anchor="ctr">
            <a:spAutoFit/>
          </a:bodyPr>
          <a:lstStyle/>
          <a:p>
            <a:pPr algn="ctr" eaLnBrk="0" hangingPunct="0"/>
            <a:r>
              <a:rPr lang="es-ES" b="1">
                <a:latin typeface="Tahoma" pitchFamily="34" charset="0"/>
                <a:cs typeface="Tahoma" pitchFamily="34" charset="0"/>
              </a:rPr>
              <a:t>Departamentos</a:t>
            </a:r>
            <a:endParaRPr lang="es-ES" b="1"/>
          </a:p>
        </p:txBody>
      </p:sp>
      <p:sp>
        <p:nvSpPr>
          <p:cNvPr id="31" name="30 Rectángulo"/>
          <p:cNvSpPr>
            <a:spLocks noChangeArrowheads="1"/>
          </p:cNvSpPr>
          <p:nvPr/>
        </p:nvSpPr>
        <p:spPr bwMode="auto">
          <a:xfrm>
            <a:off x="1951038" y="4702175"/>
            <a:ext cx="1817687" cy="338138"/>
          </a:xfrm>
          <a:prstGeom prst="rect">
            <a:avLst/>
          </a:prstGeom>
          <a:noFill/>
          <a:ln w="9525">
            <a:noFill/>
            <a:miter lim="800000"/>
            <a:headEnd/>
            <a:tailEnd/>
          </a:ln>
        </p:spPr>
        <p:txBody>
          <a:bodyPr wrap="none">
            <a:spAutoFit/>
          </a:bodyPr>
          <a:lstStyle/>
          <a:p>
            <a:r>
              <a:rPr lang="es-ES" sz="1600" b="1">
                <a:sym typeface="Wingdings" pitchFamily="2" charset="2"/>
              </a:rPr>
              <a:t>TEMPORAL 1 </a:t>
            </a:r>
            <a:r>
              <a:rPr lang="es-ES" sz="1600" b="1">
                <a:solidFill>
                  <a:schemeClr val="accent2"/>
                </a:solidFill>
                <a:sym typeface="Wingdings" pitchFamily="2" charset="2"/>
              </a:rPr>
              <a:t></a:t>
            </a:r>
            <a:r>
              <a:rPr lang="es-ES" sz="1600" b="1">
                <a:sym typeface="Wingdings" pitchFamily="2" charset="2"/>
              </a:rPr>
              <a:t> </a:t>
            </a:r>
            <a:endParaRPr lang="es-ES" sz="1600" b="1"/>
          </a:p>
        </p:txBody>
      </p:sp>
      <p:sp>
        <p:nvSpPr>
          <p:cNvPr id="32" name="Rectangle 38"/>
          <p:cNvSpPr>
            <a:spLocks noChangeArrowheads="1"/>
          </p:cNvSpPr>
          <p:nvPr/>
        </p:nvSpPr>
        <p:spPr bwMode="auto">
          <a:xfrm>
            <a:off x="3732213" y="5038725"/>
            <a:ext cx="5054600" cy="461963"/>
          </a:xfrm>
          <a:prstGeom prst="rect">
            <a:avLst/>
          </a:prstGeom>
          <a:noFill/>
          <a:ln w="9525">
            <a:noFill/>
            <a:miter lim="800000"/>
            <a:headEnd/>
            <a:tailEnd/>
          </a:ln>
        </p:spPr>
        <p:txBody>
          <a:bodyPr>
            <a:spAutoFit/>
          </a:bodyPr>
          <a:lstStyle/>
          <a:p>
            <a:r>
              <a:rPr lang="es-ES_tradnl" sz="2000">
                <a:latin typeface="Calibri" pitchFamily="34" charset="0"/>
                <a:sym typeface="Symbol" pitchFamily="18" charset="2"/>
              </a:rPr>
              <a:t>TEMPORAL 1</a:t>
            </a:r>
            <a:r>
              <a:rPr lang="es-ES_tradnl" sz="2400" b="1">
                <a:solidFill>
                  <a:schemeClr val="accent2"/>
                </a:solidFill>
                <a:sym typeface="Symbol" pitchFamily="18" charset="2"/>
              </a:rPr>
              <a:t>||</a:t>
            </a:r>
            <a:r>
              <a:rPr lang="es-ES" sz="1500">
                <a:latin typeface="Calibri" pitchFamily="34" charset="0"/>
              </a:rPr>
              <a:t> </a:t>
            </a:r>
            <a:r>
              <a:rPr lang="es-ES" sz="2000" baseline="-25000">
                <a:latin typeface="Calibri" pitchFamily="34" charset="0"/>
              </a:rPr>
              <a:t>Depto=Cve_dep </a:t>
            </a:r>
            <a:r>
              <a:rPr lang="es-ES" sz="2000">
                <a:latin typeface="Calibri" pitchFamily="34" charset="0"/>
              </a:rPr>
              <a:t>Departamentos</a:t>
            </a:r>
          </a:p>
        </p:txBody>
      </p:sp>
      <p:sp>
        <p:nvSpPr>
          <p:cNvPr id="33" name="32 Rectángulo"/>
          <p:cNvSpPr>
            <a:spLocks noChangeArrowheads="1"/>
          </p:cNvSpPr>
          <p:nvPr/>
        </p:nvSpPr>
        <p:spPr bwMode="auto">
          <a:xfrm>
            <a:off x="1944688" y="5114925"/>
            <a:ext cx="1817687" cy="338138"/>
          </a:xfrm>
          <a:prstGeom prst="rect">
            <a:avLst/>
          </a:prstGeom>
          <a:noFill/>
          <a:ln w="9525">
            <a:noFill/>
            <a:miter lim="800000"/>
            <a:headEnd/>
            <a:tailEnd/>
          </a:ln>
        </p:spPr>
        <p:txBody>
          <a:bodyPr wrap="none">
            <a:spAutoFit/>
          </a:bodyPr>
          <a:lstStyle/>
          <a:p>
            <a:r>
              <a:rPr lang="es-ES" sz="1600" b="1">
                <a:sym typeface="Wingdings" pitchFamily="2" charset="2"/>
              </a:rPr>
              <a:t>TEMPORAL 2 </a:t>
            </a:r>
            <a:r>
              <a:rPr lang="es-ES" sz="1600" b="1">
                <a:solidFill>
                  <a:schemeClr val="accent2"/>
                </a:solidFill>
                <a:sym typeface="Wingdings" pitchFamily="2" charset="2"/>
              </a:rPr>
              <a:t></a:t>
            </a:r>
            <a:r>
              <a:rPr lang="es-ES" sz="1600" b="1">
                <a:sym typeface="Wingdings" pitchFamily="2" charset="2"/>
              </a:rPr>
              <a:t> </a:t>
            </a:r>
            <a:endParaRPr lang="es-ES" sz="1600" b="1"/>
          </a:p>
        </p:txBody>
      </p:sp>
      <p:sp>
        <p:nvSpPr>
          <p:cNvPr id="34" name="Rectangle 37"/>
          <p:cNvSpPr>
            <a:spLocks noChangeArrowheads="1"/>
          </p:cNvSpPr>
          <p:nvPr/>
        </p:nvSpPr>
        <p:spPr bwMode="auto">
          <a:xfrm>
            <a:off x="3627438" y="5345113"/>
            <a:ext cx="5381625" cy="584200"/>
          </a:xfrm>
          <a:prstGeom prst="rect">
            <a:avLst/>
          </a:prstGeom>
          <a:noFill/>
          <a:ln w="9525">
            <a:noFill/>
            <a:miter lim="800000"/>
            <a:headEnd/>
            <a:tailEnd/>
          </a:ln>
        </p:spPr>
        <p:txBody>
          <a:bodyPr>
            <a:spAutoFit/>
          </a:bodyPr>
          <a:lstStyle/>
          <a:p>
            <a:r>
              <a:rPr lang="es-ES_tradnl" sz="3200" b="1">
                <a:solidFill>
                  <a:schemeClr val="accent2"/>
                </a:solidFill>
                <a:latin typeface="Calibri" pitchFamily="34" charset="0"/>
                <a:sym typeface="Symbol" pitchFamily="18" charset="2"/>
              </a:rPr>
              <a:t></a:t>
            </a:r>
            <a:r>
              <a:rPr lang="es-ES">
                <a:latin typeface="Calibri" pitchFamily="34" charset="0"/>
              </a:rPr>
              <a:t>    Proyecto, Nombre, Nom_dep (</a:t>
            </a:r>
            <a:r>
              <a:rPr lang="es-ES" b="1">
                <a:latin typeface="Calibri" pitchFamily="34" charset="0"/>
              </a:rPr>
              <a:t>TEMPORAL 2</a:t>
            </a:r>
            <a:r>
              <a:rPr lang="es-ES">
                <a:latin typeface="Calibri" pitchFamily="34" charset="0"/>
              </a:rPr>
              <a:t>)</a:t>
            </a:r>
          </a:p>
        </p:txBody>
      </p:sp>
      <p:sp>
        <p:nvSpPr>
          <p:cNvPr id="35" name="34 Rectángulo"/>
          <p:cNvSpPr>
            <a:spLocks noChangeArrowheads="1"/>
          </p:cNvSpPr>
          <p:nvPr/>
        </p:nvSpPr>
        <p:spPr bwMode="auto">
          <a:xfrm>
            <a:off x="1936750" y="5505450"/>
            <a:ext cx="1743075" cy="339725"/>
          </a:xfrm>
          <a:prstGeom prst="rect">
            <a:avLst/>
          </a:prstGeom>
          <a:noFill/>
          <a:ln w="9525">
            <a:noFill/>
            <a:miter lim="800000"/>
            <a:headEnd/>
            <a:tailEnd/>
          </a:ln>
        </p:spPr>
        <p:txBody>
          <a:bodyPr wrap="none">
            <a:spAutoFit/>
          </a:bodyPr>
          <a:lstStyle/>
          <a:p>
            <a:r>
              <a:rPr lang="es-ES" sz="1600" b="1">
                <a:sym typeface="Wingdings" pitchFamily="2" charset="2"/>
              </a:rPr>
              <a:t>RESULTADO </a:t>
            </a:r>
            <a:r>
              <a:rPr lang="es-ES" sz="1600" b="1">
                <a:solidFill>
                  <a:schemeClr val="accent2"/>
                </a:solidFill>
                <a:sym typeface="Wingdings" pitchFamily="2" charset="2"/>
              </a:rPr>
              <a:t></a:t>
            </a:r>
            <a:r>
              <a:rPr lang="es-ES" sz="1600" b="1">
                <a:sym typeface="Wingdings" pitchFamily="2" charset="2"/>
              </a:rPr>
              <a:t> </a:t>
            </a:r>
            <a:endParaRPr lang="es-ES" sz="1600" b="1"/>
          </a:p>
        </p:txBody>
      </p:sp>
      <p:sp>
        <p:nvSpPr>
          <p:cNvPr id="235608" name="1 Rectángulo"/>
          <p:cNvSpPr>
            <a:spLocks noChangeArrowheads="1"/>
          </p:cNvSpPr>
          <p:nvPr/>
        </p:nvSpPr>
        <p:spPr bwMode="auto">
          <a:xfrm>
            <a:off x="34925" y="1042988"/>
            <a:ext cx="9074150" cy="523875"/>
          </a:xfrm>
          <a:prstGeom prst="rect">
            <a:avLst/>
          </a:prstGeom>
          <a:noFill/>
          <a:ln w="9525">
            <a:noFill/>
            <a:miter lim="800000"/>
            <a:headEnd/>
            <a:tailEnd/>
          </a:ln>
        </p:spPr>
        <p:txBody>
          <a:bodyPr>
            <a:spAutoFit/>
          </a:bodyPr>
          <a:lstStyle/>
          <a:p>
            <a:pPr marL="800100" lvl="1" indent="-342900">
              <a:buFont typeface="Arial" charset="0"/>
              <a:buNone/>
            </a:pPr>
            <a:r>
              <a:rPr lang="es-ES_tradnl" b="1"/>
              <a:t>Operaciones del Algebra Relacional – Reunión </a:t>
            </a:r>
            <a:r>
              <a:rPr lang="es-ES_tradnl" sz="2800" b="1">
                <a:solidFill>
                  <a:schemeClr val="accent2"/>
                </a:solidFill>
                <a:sym typeface="Symbol" pitchFamily="18" charset="2"/>
              </a:rPr>
              <a:t>||</a:t>
            </a:r>
            <a:r>
              <a:rPr lang="es-ES" sz="2400" b="1" baseline="-25000">
                <a:solidFill>
                  <a:schemeClr val="accent2"/>
                </a:solidFill>
              </a:rPr>
              <a:t>&lt;condición de reunión&gt;</a:t>
            </a:r>
            <a:endParaRPr lang="es-ES_tradnl" sz="2400" b="1" baseline="-25000">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9654"/>
                                        </p:tgtEl>
                                        <p:attrNameLst>
                                          <p:attrName>style.visibility</p:attrName>
                                        </p:attrNameLst>
                                      </p:cBhvr>
                                      <p:to>
                                        <p:strVal val="visible"/>
                                      </p:to>
                                    </p:set>
                                    <p:animEffect transition="in" filter="fade">
                                      <p:cBhvr>
                                        <p:cTn id="7" dur="500"/>
                                        <p:tgtEl>
                                          <p:spTgt spid="2396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right)">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right)">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wipe(right)">
                                      <p:cBhvr>
                                        <p:cTn id="3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54" grpId="0"/>
      <p:bldP spid="31" grpId="0"/>
      <p:bldP spid="32" grpId="0"/>
      <p:bldP spid="33" grpId="0"/>
      <p:bldP spid="34" grpId="0"/>
      <p:bldP spid="35" grpId="0"/>
    </p:bld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36547" name="1 Rectángulo"/>
          <p:cNvSpPr>
            <a:spLocks noChangeArrowheads="1"/>
          </p:cNvSpPr>
          <p:nvPr/>
        </p:nvSpPr>
        <p:spPr bwMode="auto">
          <a:xfrm>
            <a:off x="34925" y="1042988"/>
            <a:ext cx="9074150" cy="523875"/>
          </a:xfrm>
          <a:prstGeom prst="rect">
            <a:avLst/>
          </a:prstGeom>
          <a:noFill/>
          <a:ln w="9525">
            <a:noFill/>
            <a:miter lim="800000"/>
            <a:headEnd/>
            <a:tailEnd/>
          </a:ln>
        </p:spPr>
        <p:txBody>
          <a:bodyPr>
            <a:spAutoFit/>
          </a:bodyPr>
          <a:lstStyle/>
          <a:p>
            <a:pPr marL="800100" lvl="1" indent="-342900">
              <a:buFont typeface="Arial" charset="0"/>
              <a:buNone/>
            </a:pPr>
            <a:r>
              <a:rPr lang="es-ES_tradnl" b="1"/>
              <a:t>Operaciones del Algebra Relacional – Reunión Natural </a:t>
            </a:r>
            <a:r>
              <a:rPr lang="es-ES_tradnl" sz="2800" b="1">
                <a:solidFill>
                  <a:schemeClr val="accent2"/>
                </a:solidFill>
                <a:sym typeface="Symbol" pitchFamily="18" charset="2"/>
              </a:rPr>
              <a:t>||</a:t>
            </a:r>
            <a:endParaRPr lang="es-ES_tradnl" sz="1400" b="1" baseline="-25000">
              <a:sym typeface="Symbol" pitchFamily="18" charset="2"/>
            </a:endParaRPr>
          </a:p>
        </p:txBody>
      </p:sp>
      <p:sp>
        <p:nvSpPr>
          <p:cNvPr id="221188" name="9 Rectángulo"/>
          <p:cNvSpPr>
            <a:spLocks noChangeArrowheads="1"/>
          </p:cNvSpPr>
          <p:nvPr/>
        </p:nvSpPr>
        <p:spPr bwMode="auto">
          <a:xfrm>
            <a:off x="928688" y="1928813"/>
            <a:ext cx="7286625" cy="3292475"/>
          </a:xfrm>
          <a:prstGeom prst="rect">
            <a:avLst/>
          </a:prstGeom>
          <a:noFill/>
          <a:ln w="9525">
            <a:noFill/>
            <a:miter lim="800000"/>
            <a:headEnd/>
            <a:tailEnd/>
          </a:ln>
        </p:spPr>
        <p:txBody>
          <a:bodyPr>
            <a:spAutoFit/>
          </a:bodyPr>
          <a:lstStyle/>
          <a:p>
            <a:pPr algn="just">
              <a:defRPr/>
            </a:pPr>
            <a:r>
              <a:rPr lang="es-ES" sz="2000" b="1" dirty="0">
                <a:latin typeface="Arial" pitchFamily="34" charset="0"/>
                <a:cs typeface="Arial" pitchFamily="34" charset="0"/>
              </a:rPr>
              <a:t>R </a:t>
            </a:r>
            <a:r>
              <a:rPr lang="es-ES_tradnl" sz="2000" b="1" dirty="0">
                <a:solidFill>
                  <a:schemeClr val="accent2"/>
                </a:solidFill>
                <a:sym typeface="Symbol"/>
              </a:rPr>
              <a:t>|| </a:t>
            </a:r>
            <a:r>
              <a:rPr lang="es-ES" sz="2000" b="1" dirty="0">
                <a:latin typeface="Arial" pitchFamily="34" charset="0"/>
                <a:cs typeface="Arial" pitchFamily="34" charset="0"/>
              </a:rPr>
              <a:t>S</a:t>
            </a:r>
            <a:r>
              <a:rPr lang="es-ES" sz="2000" dirty="0">
                <a:latin typeface="Arial" pitchFamily="34" charset="0"/>
                <a:cs typeface="Arial" pitchFamily="34" charset="0"/>
              </a:rPr>
              <a:t>: </a:t>
            </a:r>
            <a:r>
              <a:rPr lang="es-ES" sz="2000" dirty="0"/>
              <a:t>es un tipo de Reunión en la que la </a:t>
            </a:r>
            <a:r>
              <a:rPr lang="es-ES" sz="2000" b="1" dirty="0"/>
              <a:t>condición de reunión </a:t>
            </a:r>
            <a:r>
              <a:rPr lang="es-ES" sz="2000" dirty="0"/>
              <a:t>está formada por tantas condiciones de igualdad unidas mediante el operador lógico </a:t>
            </a:r>
            <a:r>
              <a:rPr lang="es-ES" sz="2000" b="1" dirty="0"/>
              <a:t>Y </a:t>
            </a:r>
            <a:r>
              <a:rPr lang="es-ES" sz="2000" dirty="0"/>
              <a:t>como pares de atributos tengan el mismo nombre en R y S. Se calcula del siguiente modo:</a:t>
            </a:r>
          </a:p>
          <a:p>
            <a:pPr algn="just">
              <a:defRPr/>
            </a:pPr>
            <a:endParaRPr lang="es-MX" sz="2000" dirty="0"/>
          </a:p>
          <a:p>
            <a:pPr lvl="1" indent="-457200" algn="just">
              <a:buFont typeface="+mj-lt"/>
              <a:buAutoNum type="arabicPeriod"/>
              <a:defRPr/>
            </a:pPr>
            <a:r>
              <a:rPr lang="es-MX" sz="2000" dirty="0"/>
              <a:t>Calcular el Producto Cartesiano R </a:t>
            </a:r>
            <a:r>
              <a:rPr lang="es-ES_tradnl" sz="2800" b="1" dirty="0">
                <a:solidFill>
                  <a:schemeClr val="accent2"/>
                </a:solidFill>
                <a:sym typeface="Symbol" pitchFamily="18" charset="2"/>
              </a:rPr>
              <a:t></a:t>
            </a:r>
            <a:r>
              <a:rPr lang="es-MX" sz="2000" dirty="0"/>
              <a:t> S.</a:t>
            </a:r>
          </a:p>
          <a:p>
            <a:pPr marL="457200" indent="-457200" algn="just">
              <a:buFont typeface="+mj-lt"/>
              <a:buAutoNum type="arabicPeriod"/>
              <a:defRPr/>
            </a:pPr>
            <a:r>
              <a:rPr lang="es-MX" sz="2000" dirty="0"/>
              <a:t>Para cada atributo </a:t>
            </a:r>
            <a:r>
              <a:rPr lang="es-MX" sz="2000" dirty="0" err="1"/>
              <a:t>Ai</a:t>
            </a:r>
            <a:r>
              <a:rPr lang="es-MX" sz="2000" dirty="0"/>
              <a:t> común, se seleccionan las filas en las que el valor </a:t>
            </a:r>
            <a:r>
              <a:rPr lang="es-MX" sz="2000" dirty="0" err="1"/>
              <a:t>R.Ai</a:t>
            </a:r>
            <a:r>
              <a:rPr lang="es-MX" sz="2000" dirty="0"/>
              <a:t> coinciden con el valor </a:t>
            </a:r>
            <a:r>
              <a:rPr lang="es-MX" sz="2000" dirty="0" err="1"/>
              <a:t>S.Ai</a:t>
            </a:r>
            <a:r>
              <a:rPr lang="es-MX" sz="2000" dirty="0"/>
              <a:t>.</a:t>
            </a:r>
          </a:p>
          <a:p>
            <a:pPr marL="457200" indent="-457200" algn="just">
              <a:buFont typeface="+mj-lt"/>
              <a:buAutoNum type="arabicPeriod"/>
              <a:defRPr/>
            </a:pPr>
            <a:r>
              <a:rPr lang="es-MX" sz="2000" dirty="0"/>
              <a:t>Realizada la selección, eliminar la columna </a:t>
            </a:r>
            <a:r>
              <a:rPr lang="es-MX" sz="2000" dirty="0" err="1"/>
              <a:t>S.Ai</a:t>
            </a:r>
            <a:endParaRPr lang="es-ES" sz="2000" dirty="0"/>
          </a:p>
        </p:txBody>
      </p:sp>
      <p:sp>
        <p:nvSpPr>
          <p:cNvPr id="20" name="19 Rectángulo"/>
          <p:cNvSpPr/>
          <p:nvPr/>
        </p:nvSpPr>
        <p:spPr>
          <a:xfrm>
            <a:off x="4786313" y="5248275"/>
            <a:ext cx="1166812" cy="1323975"/>
          </a:xfrm>
          <a:prstGeom prst="rect">
            <a:avLst/>
          </a:prstGeom>
        </p:spPr>
        <p:txBody>
          <a:bodyPr wrap="none">
            <a:spAutoFit/>
          </a:bodyPr>
          <a:lstStyle/>
          <a:p>
            <a:pPr marL="342900" indent="-342900" algn="just">
              <a:buFont typeface="Lucida Sans Unicode" pitchFamily="34" charset="0"/>
              <a:buNone/>
              <a:defRPr/>
            </a:pPr>
            <a:r>
              <a:rPr lang="es-ES" sz="2000" b="1" dirty="0"/>
              <a:t>Sintaxis</a:t>
            </a:r>
          </a:p>
          <a:p>
            <a:pPr marL="342900" indent="-342900" algn="just">
              <a:buFont typeface="Lucida Sans Unicode" pitchFamily="34" charset="0"/>
              <a:buNone/>
              <a:defRPr/>
            </a:pPr>
            <a:endParaRPr lang="es-ES" sz="2000" b="1" dirty="0"/>
          </a:p>
          <a:p>
            <a:pPr>
              <a:defRPr/>
            </a:pPr>
            <a:endParaRPr lang="es-ES" sz="2000" b="1" dirty="0"/>
          </a:p>
          <a:p>
            <a:pPr>
              <a:defRPr/>
            </a:pPr>
            <a:r>
              <a:rPr lang="es-ES" sz="2000" b="1" dirty="0"/>
              <a:t>R </a:t>
            </a:r>
            <a:r>
              <a:rPr lang="es-ES_tradnl" sz="2000" b="1" dirty="0">
                <a:solidFill>
                  <a:schemeClr val="accent2"/>
                </a:solidFill>
                <a:sym typeface="Symbol"/>
              </a:rPr>
              <a:t>||</a:t>
            </a:r>
            <a:r>
              <a:rPr lang="es-ES_tradnl" sz="2000" b="1" dirty="0">
                <a:sym typeface="Symbol"/>
              </a:rPr>
              <a:t>S</a:t>
            </a:r>
            <a:endParaRPr lang="es-ES" sz="2000" b="1"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37571" name="1 Rectángulo"/>
          <p:cNvSpPr>
            <a:spLocks noChangeArrowheads="1"/>
          </p:cNvSpPr>
          <p:nvPr/>
        </p:nvSpPr>
        <p:spPr bwMode="auto">
          <a:xfrm>
            <a:off x="34925" y="1042988"/>
            <a:ext cx="9074150" cy="523875"/>
          </a:xfrm>
          <a:prstGeom prst="rect">
            <a:avLst/>
          </a:prstGeom>
          <a:noFill/>
          <a:ln w="9525">
            <a:noFill/>
            <a:miter lim="800000"/>
            <a:headEnd/>
            <a:tailEnd/>
          </a:ln>
        </p:spPr>
        <p:txBody>
          <a:bodyPr>
            <a:spAutoFit/>
          </a:bodyPr>
          <a:lstStyle/>
          <a:p>
            <a:pPr marL="800100" lvl="1" indent="-342900">
              <a:buFont typeface="Arial" charset="0"/>
              <a:buNone/>
            </a:pPr>
            <a:r>
              <a:rPr lang="es-ES_tradnl" b="1"/>
              <a:t>Operaciones del Algebra Relacional – Reunión Natural </a:t>
            </a:r>
            <a:r>
              <a:rPr lang="es-ES_tradnl" sz="2800" b="1">
                <a:solidFill>
                  <a:schemeClr val="accent2"/>
                </a:solidFill>
                <a:sym typeface="Symbol" pitchFamily="18" charset="2"/>
              </a:rPr>
              <a:t>||</a:t>
            </a:r>
            <a:endParaRPr lang="es-ES_tradnl" sz="1400" b="1" baseline="-25000">
              <a:sym typeface="Symbol" pitchFamily="18" charset="2"/>
            </a:endParaRPr>
          </a:p>
        </p:txBody>
      </p:sp>
      <p:graphicFrame>
        <p:nvGraphicFramePr>
          <p:cNvPr id="26" name="25 Tabla"/>
          <p:cNvGraphicFramePr>
            <a:graphicFrameLocks noGrp="1"/>
          </p:cNvGraphicFramePr>
          <p:nvPr/>
        </p:nvGraphicFramePr>
        <p:xfrm>
          <a:off x="571500" y="2687638"/>
          <a:ext cx="711835" cy="1219200"/>
        </p:xfrm>
        <a:graphic>
          <a:graphicData uri="http://schemas.openxmlformats.org/drawingml/2006/table">
            <a:tbl>
              <a:tblPr>
                <a:tableStyleId>{BC89EF96-8CEA-46FF-86C4-4CE0E7609802}</a:tableStyleId>
              </a:tblPr>
              <a:tblGrid>
                <a:gridCol w="360680">
                  <a:extLst>
                    <a:ext uri="{9D8B030D-6E8A-4147-A177-3AD203B41FA5}">
                      <a16:colId xmlns:a16="http://schemas.microsoft.com/office/drawing/2014/main" val="20000"/>
                    </a:ext>
                  </a:extLst>
                </a:gridCol>
                <a:gridCol w="351155">
                  <a:extLst>
                    <a:ext uri="{9D8B030D-6E8A-4147-A177-3AD203B41FA5}">
                      <a16:colId xmlns:a16="http://schemas.microsoft.com/office/drawing/2014/main" val="20001"/>
                    </a:ext>
                  </a:extLst>
                </a:gridCol>
              </a:tblGrid>
              <a:tr h="0">
                <a:tc>
                  <a:txBody>
                    <a:bodyPr/>
                    <a:lstStyle/>
                    <a:p>
                      <a:pPr algn="ctr"/>
                      <a:r>
                        <a:rPr lang="es-ES" sz="1400" dirty="0">
                          <a:solidFill>
                            <a:schemeClr val="bg1"/>
                          </a:solidFill>
                        </a:rPr>
                        <a:t>A</a:t>
                      </a:r>
                    </a:p>
                  </a:txBody>
                  <a:tcPr anchor="ctr">
                    <a:solidFill>
                      <a:schemeClr val="accent1"/>
                    </a:solidFill>
                  </a:tcPr>
                </a:tc>
                <a:tc>
                  <a:txBody>
                    <a:bodyPr/>
                    <a:lstStyle/>
                    <a:p>
                      <a:pPr algn="ctr"/>
                      <a:r>
                        <a:rPr lang="es-ES" sz="1400" dirty="0">
                          <a:solidFill>
                            <a:schemeClr val="bg1"/>
                          </a:solidFill>
                        </a:rPr>
                        <a:t>B</a:t>
                      </a:r>
                    </a:p>
                  </a:txBody>
                  <a:tcPr anchor="ctr">
                    <a:solidFill>
                      <a:schemeClr val="accent1"/>
                    </a:solidFill>
                  </a:tcPr>
                </a:tc>
                <a:extLst>
                  <a:ext uri="{0D108BD9-81ED-4DB2-BD59-A6C34878D82A}">
                    <a16:rowId xmlns:a16="http://schemas.microsoft.com/office/drawing/2014/main" val="10000"/>
                  </a:ext>
                </a:extLst>
              </a:tr>
              <a:tr h="0">
                <a:tc>
                  <a:txBody>
                    <a:bodyPr/>
                    <a:lstStyle/>
                    <a:p>
                      <a:pPr algn="ctr"/>
                      <a:r>
                        <a:rPr lang="es-ES" sz="1400" dirty="0"/>
                        <a:t>1</a:t>
                      </a:r>
                    </a:p>
                  </a:txBody>
                  <a:tcPr anchor="ctr"/>
                </a:tc>
                <a:tc>
                  <a:txBody>
                    <a:bodyPr/>
                    <a:lstStyle/>
                    <a:p>
                      <a:pPr algn="ctr"/>
                      <a:r>
                        <a:rPr lang="es-ES" sz="1400" dirty="0"/>
                        <a:t>2</a:t>
                      </a:r>
                    </a:p>
                  </a:txBody>
                  <a:tcPr anchor="ctr"/>
                </a:tc>
                <a:extLst>
                  <a:ext uri="{0D108BD9-81ED-4DB2-BD59-A6C34878D82A}">
                    <a16:rowId xmlns:a16="http://schemas.microsoft.com/office/drawing/2014/main" val="10001"/>
                  </a:ext>
                </a:extLst>
              </a:tr>
              <a:tr h="0">
                <a:tc>
                  <a:txBody>
                    <a:bodyPr/>
                    <a:lstStyle/>
                    <a:p>
                      <a:pPr algn="ctr"/>
                      <a:r>
                        <a:rPr lang="es-ES" sz="1400"/>
                        <a:t>3</a:t>
                      </a:r>
                    </a:p>
                  </a:txBody>
                  <a:tcPr anchor="ctr"/>
                </a:tc>
                <a:tc>
                  <a:txBody>
                    <a:bodyPr/>
                    <a:lstStyle/>
                    <a:p>
                      <a:pPr algn="ctr"/>
                      <a:r>
                        <a:rPr lang="es-ES" sz="1400" dirty="0"/>
                        <a:t>4</a:t>
                      </a:r>
                    </a:p>
                  </a:txBody>
                  <a:tcPr anchor="ctr"/>
                </a:tc>
                <a:extLst>
                  <a:ext uri="{0D108BD9-81ED-4DB2-BD59-A6C34878D82A}">
                    <a16:rowId xmlns:a16="http://schemas.microsoft.com/office/drawing/2014/main" val="10002"/>
                  </a:ext>
                </a:extLst>
              </a:tr>
              <a:tr h="0">
                <a:tc>
                  <a:txBody>
                    <a:bodyPr/>
                    <a:lstStyle/>
                    <a:p>
                      <a:pPr algn="ctr"/>
                      <a:r>
                        <a:rPr lang="es-MX" sz="1400" dirty="0"/>
                        <a:t>5</a:t>
                      </a:r>
                      <a:endParaRPr lang="es-ES" sz="1400" dirty="0"/>
                    </a:p>
                  </a:txBody>
                  <a:tcPr anchor="ctr"/>
                </a:tc>
                <a:tc>
                  <a:txBody>
                    <a:bodyPr/>
                    <a:lstStyle/>
                    <a:p>
                      <a:pPr algn="ctr"/>
                      <a:r>
                        <a:rPr lang="es-MX" sz="1400" dirty="0"/>
                        <a:t>2</a:t>
                      </a:r>
                      <a:endParaRPr lang="es-ES" sz="1400" dirty="0"/>
                    </a:p>
                  </a:txBody>
                  <a:tcPr anchor="ctr"/>
                </a:tc>
                <a:extLst>
                  <a:ext uri="{0D108BD9-81ED-4DB2-BD59-A6C34878D82A}">
                    <a16:rowId xmlns:a16="http://schemas.microsoft.com/office/drawing/2014/main" val="10003"/>
                  </a:ext>
                </a:extLst>
              </a:tr>
            </a:tbl>
          </a:graphicData>
        </a:graphic>
      </p:graphicFrame>
      <p:graphicFrame>
        <p:nvGraphicFramePr>
          <p:cNvPr id="30" name="29 Tabla"/>
          <p:cNvGraphicFramePr>
            <a:graphicFrameLocks noGrp="1"/>
          </p:cNvGraphicFramePr>
          <p:nvPr/>
        </p:nvGraphicFramePr>
        <p:xfrm>
          <a:off x="1714500" y="2687638"/>
          <a:ext cx="1278889" cy="1219200"/>
        </p:xfrm>
        <a:graphic>
          <a:graphicData uri="http://schemas.openxmlformats.org/drawingml/2006/table">
            <a:tbl>
              <a:tblPr>
                <a:tableStyleId>{BC89EF96-8CEA-46FF-86C4-4CE0E7609802}</a:tableStyleId>
              </a:tblPr>
              <a:tblGrid>
                <a:gridCol w="351155">
                  <a:extLst>
                    <a:ext uri="{9D8B030D-6E8A-4147-A177-3AD203B41FA5}">
                      <a16:colId xmlns:a16="http://schemas.microsoft.com/office/drawing/2014/main" val="20000"/>
                    </a:ext>
                  </a:extLst>
                </a:gridCol>
                <a:gridCol w="463867">
                  <a:extLst>
                    <a:ext uri="{9D8B030D-6E8A-4147-A177-3AD203B41FA5}">
                      <a16:colId xmlns:a16="http://schemas.microsoft.com/office/drawing/2014/main" val="20001"/>
                    </a:ext>
                  </a:extLst>
                </a:gridCol>
                <a:gridCol w="463867">
                  <a:extLst>
                    <a:ext uri="{9D8B030D-6E8A-4147-A177-3AD203B41FA5}">
                      <a16:colId xmlns:a16="http://schemas.microsoft.com/office/drawing/2014/main" val="20002"/>
                    </a:ext>
                  </a:extLst>
                </a:gridCol>
              </a:tblGrid>
              <a:tr h="0">
                <a:tc>
                  <a:txBody>
                    <a:bodyPr/>
                    <a:lstStyle/>
                    <a:p>
                      <a:pPr algn="ctr"/>
                      <a:r>
                        <a:rPr lang="es-ES" sz="1400" dirty="0">
                          <a:solidFill>
                            <a:schemeClr val="bg1"/>
                          </a:solidFill>
                        </a:rPr>
                        <a:t>B</a:t>
                      </a:r>
                    </a:p>
                  </a:txBody>
                  <a:tcPr anchor="ctr">
                    <a:solidFill>
                      <a:schemeClr val="accent1"/>
                    </a:solidFill>
                  </a:tcPr>
                </a:tc>
                <a:tc>
                  <a:txBody>
                    <a:bodyPr/>
                    <a:lstStyle/>
                    <a:p>
                      <a:pPr algn="ctr"/>
                      <a:r>
                        <a:rPr lang="es-ES" sz="1400" dirty="0">
                          <a:solidFill>
                            <a:schemeClr val="bg1"/>
                          </a:solidFill>
                        </a:rPr>
                        <a:t>C</a:t>
                      </a:r>
                    </a:p>
                  </a:txBody>
                  <a:tcPr anchor="ctr">
                    <a:solidFill>
                      <a:schemeClr val="accent1"/>
                    </a:solidFill>
                  </a:tcPr>
                </a:tc>
                <a:tc>
                  <a:txBody>
                    <a:bodyPr/>
                    <a:lstStyle/>
                    <a:p>
                      <a:pPr algn="ctr"/>
                      <a:r>
                        <a:rPr lang="es-ES" sz="1400" dirty="0">
                          <a:solidFill>
                            <a:schemeClr val="bg1"/>
                          </a:solidFill>
                        </a:rPr>
                        <a:t>D</a:t>
                      </a:r>
                    </a:p>
                  </a:txBody>
                  <a:tcPr anchor="ctr">
                    <a:solidFill>
                      <a:schemeClr val="accent1"/>
                    </a:solidFill>
                  </a:tcPr>
                </a:tc>
                <a:extLst>
                  <a:ext uri="{0D108BD9-81ED-4DB2-BD59-A6C34878D82A}">
                    <a16:rowId xmlns:a16="http://schemas.microsoft.com/office/drawing/2014/main" val="10000"/>
                  </a:ext>
                </a:extLst>
              </a:tr>
              <a:tr h="0">
                <a:tc>
                  <a:txBody>
                    <a:bodyPr/>
                    <a:lstStyle/>
                    <a:p>
                      <a:pPr algn="ctr"/>
                      <a:r>
                        <a:rPr lang="es-ES" sz="1400"/>
                        <a:t>2</a:t>
                      </a:r>
                    </a:p>
                  </a:txBody>
                  <a:tcPr anchor="ctr"/>
                </a:tc>
                <a:tc>
                  <a:txBody>
                    <a:bodyPr/>
                    <a:lstStyle/>
                    <a:p>
                      <a:pPr algn="ctr"/>
                      <a:r>
                        <a:rPr lang="es-ES" sz="1400" dirty="0"/>
                        <a:t>5</a:t>
                      </a:r>
                    </a:p>
                  </a:txBody>
                  <a:tcPr anchor="ctr"/>
                </a:tc>
                <a:tc>
                  <a:txBody>
                    <a:bodyPr/>
                    <a:lstStyle/>
                    <a:p>
                      <a:pPr algn="ctr"/>
                      <a:r>
                        <a:rPr lang="es-ES" sz="1400" dirty="0"/>
                        <a:t>6</a:t>
                      </a:r>
                    </a:p>
                  </a:txBody>
                  <a:tcPr anchor="ctr"/>
                </a:tc>
                <a:extLst>
                  <a:ext uri="{0D108BD9-81ED-4DB2-BD59-A6C34878D82A}">
                    <a16:rowId xmlns:a16="http://schemas.microsoft.com/office/drawing/2014/main" val="10001"/>
                  </a:ext>
                </a:extLst>
              </a:tr>
              <a:tr h="0">
                <a:tc>
                  <a:txBody>
                    <a:bodyPr/>
                    <a:lstStyle/>
                    <a:p>
                      <a:pPr algn="ctr"/>
                      <a:r>
                        <a:rPr lang="es-ES" sz="1400"/>
                        <a:t>4</a:t>
                      </a:r>
                    </a:p>
                  </a:txBody>
                  <a:tcPr anchor="ctr"/>
                </a:tc>
                <a:tc>
                  <a:txBody>
                    <a:bodyPr/>
                    <a:lstStyle/>
                    <a:p>
                      <a:pPr algn="ctr"/>
                      <a:r>
                        <a:rPr lang="es-ES" sz="1400"/>
                        <a:t>7</a:t>
                      </a:r>
                    </a:p>
                  </a:txBody>
                  <a:tcPr anchor="ctr"/>
                </a:tc>
                <a:tc>
                  <a:txBody>
                    <a:bodyPr/>
                    <a:lstStyle/>
                    <a:p>
                      <a:pPr algn="ctr"/>
                      <a:r>
                        <a:rPr lang="es-ES" sz="1400" dirty="0"/>
                        <a:t>8</a:t>
                      </a:r>
                    </a:p>
                  </a:txBody>
                  <a:tcPr anchor="ctr"/>
                </a:tc>
                <a:extLst>
                  <a:ext uri="{0D108BD9-81ED-4DB2-BD59-A6C34878D82A}">
                    <a16:rowId xmlns:a16="http://schemas.microsoft.com/office/drawing/2014/main" val="10002"/>
                  </a:ext>
                </a:extLst>
              </a:tr>
              <a:tr h="0">
                <a:tc>
                  <a:txBody>
                    <a:bodyPr/>
                    <a:lstStyle/>
                    <a:p>
                      <a:pPr algn="ctr"/>
                      <a:r>
                        <a:rPr lang="es-ES" sz="1400"/>
                        <a:t>9</a:t>
                      </a:r>
                    </a:p>
                  </a:txBody>
                  <a:tcPr anchor="ctr"/>
                </a:tc>
                <a:tc>
                  <a:txBody>
                    <a:bodyPr/>
                    <a:lstStyle/>
                    <a:p>
                      <a:pPr algn="ctr"/>
                      <a:r>
                        <a:rPr lang="es-ES" sz="1400"/>
                        <a:t>10</a:t>
                      </a:r>
                    </a:p>
                  </a:txBody>
                  <a:tcPr anchor="ctr"/>
                </a:tc>
                <a:tc>
                  <a:txBody>
                    <a:bodyPr/>
                    <a:lstStyle/>
                    <a:p>
                      <a:pPr algn="ctr"/>
                      <a:r>
                        <a:rPr lang="es-ES" sz="1400" dirty="0"/>
                        <a:t>11</a:t>
                      </a:r>
                    </a:p>
                  </a:txBody>
                  <a:tcPr anchor="ctr"/>
                </a:tc>
                <a:extLst>
                  <a:ext uri="{0D108BD9-81ED-4DB2-BD59-A6C34878D82A}">
                    <a16:rowId xmlns:a16="http://schemas.microsoft.com/office/drawing/2014/main" val="10003"/>
                  </a:ext>
                </a:extLst>
              </a:tr>
            </a:tbl>
          </a:graphicData>
        </a:graphic>
      </p:graphicFrame>
      <p:sp>
        <p:nvSpPr>
          <p:cNvPr id="31" name="Rectangle 71"/>
          <p:cNvSpPr>
            <a:spLocks noChangeArrowheads="1"/>
          </p:cNvSpPr>
          <p:nvPr/>
        </p:nvSpPr>
        <p:spPr bwMode="auto">
          <a:xfrm>
            <a:off x="714375" y="2259013"/>
            <a:ext cx="333375" cy="339725"/>
          </a:xfrm>
          <a:prstGeom prst="rect">
            <a:avLst/>
          </a:prstGeom>
          <a:noFill/>
          <a:ln w="9525">
            <a:noFill/>
            <a:miter lim="800000"/>
            <a:headEnd/>
            <a:tailEnd/>
          </a:ln>
        </p:spPr>
        <p:txBody>
          <a:bodyPr wrap="none" anchor="ctr">
            <a:spAutoFit/>
          </a:bodyPr>
          <a:lstStyle/>
          <a:p>
            <a:pPr algn="ctr" eaLnBrk="0" hangingPunct="0"/>
            <a:r>
              <a:rPr lang="es-MX" sz="1600" b="1">
                <a:latin typeface="Tahoma" pitchFamily="34" charset="0"/>
                <a:cs typeface="Tahoma" pitchFamily="34" charset="0"/>
              </a:rPr>
              <a:t>R</a:t>
            </a:r>
            <a:endParaRPr lang="es-ES" sz="1600" b="1"/>
          </a:p>
        </p:txBody>
      </p:sp>
      <p:sp>
        <p:nvSpPr>
          <p:cNvPr id="32" name="Rectangle 71"/>
          <p:cNvSpPr>
            <a:spLocks noChangeArrowheads="1"/>
          </p:cNvSpPr>
          <p:nvPr/>
        </p:nvSpPr>
        <p:spPr bwMode="auto">
          <a:xfrm>
            <a:off x="2143125" y="2259013"/>
            <a:ext cx="314325" cy="339725"/>
          </a:xfrm>
          <a:prstGeom prst="rect">
            <a:avLst/>
          </a:prstGeom>
          <a:noFill/>
          <a:ln w="9525">
            <a:noFill/>
            <a:miter lim="800000"/>
            <a:headEnd/>
            <a:tailEnd/>
          </a:ln>
        </p:spPr>
        <p:txBody>
          <a:bodyPr wrap="none" anchor="ctr">
            <a:spAutoFit/>
          </a:bodyPr>
          <a:lstStyle/>
          <a:p>
            <a:pPr algn="ctr" eaLnBrk="0" hangingPunct="0"/>
            <a:r>
              <a:rPr lang="es-MX" sz="1600" b="1">
                <a:latin typeface="Tahoma" pitchFamily="34" charset="0"/>
                <a:cs typeface="Tahoma" pitchFamily="34" charset="0"/>
              </a:rPr>
              <a:t>S</a:t>
            </a:r>
            <a:endParaRPr lang="es-ES" sz="1600" b="1"/>
          </a:p>
        </p:txBody>
      </p:sp>
      <p:sp>
        <p:nvSpPr>
          <p:cNvPr id="33" name="1 Rectángulo"/>
          <p:cNvSpPr>
            <a:spLocks noChangeArrowheads="1"/>
          </p:cNvSpPr>
          <p:nvPr/>
        </p:nvSpPr>
        <p:spPr bwMode="auto">
          <a:xfrm>
            <a:off x="857250" y="2973388"/>
            <a:ext cx="1214438" cy="523875"/>
          </a:xfrm>
          <a:prstGeom prst="rect">
            <a:avLst/>
          </a:prstGeom>
          <a:noFill/>
          <a:ln w="9525">
            <a:noFill/>
            <a:miter lim="800000"/>
            <a:headEnd/>
            <a:tailEnd/>
          </a:ln>
        </p:spPr>
        <p:txBody>
          <a:bodyPr>
            <a:spAutoFit/>
          </a:bodyPr>
          <a:lstStyle/>
          <a:p>
            <a:pPr marL="800100" lvl="1" indent="-342900">
              <a:buFont typeface="Arial" charset="0"/>
              <a:buNone/>
            </a:pPr>
            <a:r>
              <a:rPr lang="es-ES_tradnl" sz="2800" b="1">
                <a:solidFill>
                  <a:schemeClr val="accent2"/>
                </a:solidFill>
                <a:sym typeface="Symbol" pitchFamily="18" charset="2"/>
              </a:rPr>
              <a:t></a:t>
            </a:r>
            <a:endParaRPr lang="es-ES_tradnl" sz="2000" b="1">
              <a:sym typeface="Symbol" pitchFamily="18" charset="2"/>
            </a:endParaRPr>
          </a:p>
        </p:txBody>
      </p:sp>
      <p:graphicFrame>
        <p:nvGraphicFramePr>
          <p:cNvPr id="34" name="33 Tabla"/>
          <p:cNvGraphicFramePr>
            <a:graphicFrameLocks noGrp="1"/>
          </p:cNvGraphicFramePr>
          <p:nvPr/>
        </p:nvGraphicFramePr>
        <p:xfrm>
          <a:off x="3743325" y="2667000"/>
          <a:ext cx="1857393" cy="2235382"/>
        </p:xfrm>
        <a:graphic>
          <a:graphicData uri="http://schemas.openxmlformats.org/drawingml/2006/table">
            <a:tbl>
              <a:tblPr>
                <a:tableStyleId>{BC89EF96-8CEA-46FF-86C4-4CE0E7609802}</a:tableStyleId>
              </a:tblPr>
              <a:tblGrid>
                <a:gridCol w="386518">
                  <a:extLst>
                    <a:ext uri="{9D8B030D-6E8A-4147-A177-3AD203B41FA5}">
                      <a16:colId xmlns:a16="http://schemas.microsoft.com/office/drawing/2014/main" val="20000"/>
                    </a:ext>
                  </a:extLst>
                </a:gridCol>
                <a:gridCol w="387398">
                  <a:extLst>
                    <a:ext uri="{9D8B030D-6E8A-4147-A177-3AD203B41FA5}">
                      <a16:colId xmlns:a16="http://schemas.microsoft.com/office/drawing/2014/main" val="20001"/>
                    </a:ext>
                  </a:extLst>
                </a:gridCol>
                <a:gridCol w="386956">
                  <a:extLst>
                    <a:ext uri="{9D8B030D-6E8A-4147-A177-3AD203B41FA5}">
                      <a16:colId xmlns:a16="http://schemas.microsoft.com/office/drawing/2014/main" val="20002"/>
                    </a:ext>
                  </a:extLst>
                </a:gridCol>
                <a:gridCol w="316454">
                  <a:extLst>
                    <a:ext uri="{9D8B030D-6E8A-4147-A177-3AD203B41FA5}">
                      <a16:colId xmlns:a16="http://schemas.microsoft.com/office/drawing/2014/main" val="20003"/>
                    </a:ext>
                  </a:extLst>
                </a:gridCol>
                <a:gridCol w="380067">
                  <a:extLst>
                    <a:ext uri="{9D8B030D-6E8A-4147-A177-3AD203B41FA5}">
                      <a16:colId xmlns:a16="http://schemas.microsoft.com/office/drawing/2014/main" val="20004"/>
                    </a:ext>
                  </a:extLst>
                </a:gridCol>
              </a:tblGrid>
              <a:tr h="315142">
                <a:tc>
                  <a:txBody>
                    <a:bodyPr/>
                    <a:lstStyle/>
                    <a:p>
                      <a:pPr algn="ctr"/>
                      <a:r>
                        <a:rPr lang="es-ES" sz="1400" dirty="0">
                          <a:solidFill>
                            <a:schemeClr val="bg1"/>
                          </a:solidFill>
                        </a:rPr>
                        <a:t>A</a:t>
                      </a:r>
                    </a:p>
                  </a:txBody>
                  <a:tcPr marL="0" marR="0" marT="0" marB="0" anchor="ctr">
                    <a:solidFill>
                      <a:schemeClr val="accent1"/>
                    </a:solidFill>
                  </a:tcPr>
                </a:tc>
                <a:tc>
                  <a:txBody>
                    <a:bodyPr/>
                    <a:lstStyle/>
                    <a:p>
                      <a:pPr algn="ctr"/>
                      <a:r>
                        <a:rPr lang="es-ES" sz="1400" dirty="0">
                          <a:solidFill>
                            <a:schemeClr val="bg1"/>
                          </a:solidFill>
                        </a:rPr>
                        <a:t>R.B</a:t>
                      </a:r>
                    </a:p>
                  </a:txBody>
                  <a:tcPr marL="0" marR="0" marT="0" marB="0" anchor="ctr">
                    <a:solidFill>
                      <a:schemeClr val="accent1"/>
                    </a:solidFill>
                  </a:tcPr>
                </a:tc>
                <a:tc>
                  <a:txBody>
                    <a:bodyPr/>
                    <a:lstStyle/>
                    <a:p>
                      <a:pPr algn="ctr"/>
                      <a:r>
                        <a:rPr lang="es-ES" sz="1400" dirty="0">
                          <a:solidFill>
                            <a:schemeClr val="bg1"/>
                          </a:solidFill>
                        </a:rPr>
                        <a:t>S.B</a:t>
                      </a:r>
                    </a:p>
                  </a:txBody>
                  <a:tcPr marL="0" marR="0" marT="0" marB="0" anchor="ctr">
                    <a:solidFill>
                      <a:schemeClr val="accent1"/>
                    </a:solidFill>
                  </a:tcPr>
                </a:tc>
                <a:tc>
                  <a:txBody>
                    <a:bodyPr/>
                    <a:lstStyle/>
                    <a:p>
                      <a:pPr algn="ctr"/>
                      <a:r>
                        <a:rPr lang="es-ES" sz="1400" dirty="0">
                          <a:solidFill>
                            <a:schemeClr val="bg1"/>
                          </a:solidFill>
                        </a:rPr>
                        <a:t>C</a:t>
                      </a:r>
                    </a:p>
                  </a:txBody>
                  <a:tcPr marL="0" marR="0" marT="0" marB="0" anchor="ctr">
                    <a:solidFill>
                      <a:schemeClr val="accent1"/>
                    </a:solidFill>
                  </a:tcPr>
                </a:tc>
                <a:tc>
                  <a:txBody>
                    <a:bodyPr/>
                    <a:lstStyle/>
                    <a:p>
                      <a:pPr algn="ctr"/>
                      <a:r>
                        <a:rPr lang="es-ES" sz="1400" dirty="0">
                          <a:solidFill>
                            <a:schemeClr val="bg1"/>
                          </a:solidFill>
                        </a:rPr>
                        <a:t>D</a:t>
                      </a:r>
                    </a:p>
                  </a:txBody>
                  <a:tcPr marL="0" marR="0" marT="0" marB="0" anchor="ctr">
                    <a:solidFill>
                      <a:schemeClr val="accent1"/>
                    </a:solidFill>
                  </a:tcPr>
                </a:tc>
                <a:extLst>
                  <a:ext uri="{0D108BD9-81ED-4DB2-BD59-A6C34878D82A}">
                    <a16:rowId xmlns:a16="http://schemas.microsoft.com/office/drawing/2014/main" val="10000"/>
                  </a:ext>
                </a:extLst>
              </a:tr>
              <a:tr h="184927">
                <a:tc>
                  <a:txBody>
                    <a:bodyPr/>
                    <a:lstStyle/>
                    <a:p>
                      <a:pPr algn="ctr"/>
                      <a:r>
                        <a:rPr lang="es-ES" sz="1400" dirty="0"/>
                        <a:t>1</a:t>
                      </a:r>
                    </a:p>
                  </a:txBody>
                  <a:tcPr marL="0" marR="0" marT="0" marB="0" anchor="ctr"/>
                </a:tc>
                <a:tc>
                  <a:txBody>
                    <a:bodyPr/>
                    <a:lstStyle/>
                    <a:p>
                      <a:pPr algn="ctr"/>
                      <a:r>
                        <a:rPr lang="es-ES" sz="1400" dirty="0"/>
                        <a:t>2</a:t>
                      </a:r>
                    </a:p>
                  </a:txBody>
                  <a:tcPr marL="0" marR="0" marT="0" marB="0" anchor="ctr"/>
                </a:tc>
                <a:tc>
                  <a:txBody>
                    <a:bodyPr/>
                    <a:lstStyle/>
                    <a:p>
                      <a:pPr algn="ctr"/>
                      <a:r>
                        <a:rPr lang="es-ES" sz="1400" dirty="0"/>
                        <a:t>2</a:t>
                      </a:r>
                    </a:p>
                  </a:txBody>
                  <a:tcPr marL="0" marR="0" marT="0" marB="0" anchor="ctr"/>
                </a:tc>
                <a:tc>
                  <a:txBody>
                    <a:bodyPr/>
                    <a:lstStyle/>
                    <a:p>
                      <a:pPr algn="ctr"/>
                      <a:r>
                        <a:rPr lang="es-ES" sz="1400"/>
                        <a:t>5</a:t>
                      </a:r>
                    </a:p>
                  </a:txBody>
                  <a:tcPr marL="0" marR="0" marT="0" marB="0" anchor="ctr"/>
                </a:tc>
                <a:tc>
                  <a:txBody>
                    <a:bodyPr/>
                    <a:lstStyle/>
                    <a:p>
                      <a:pPr algn="ctr"/>
                      <a:r>
                        <a:rPr lang="es-ES" sz="1400"/>
                        <a:t>6</a:t>
                      </a:r>
                    </a:p>
                  </a:txBody>
                  <a:tcPr marL="0" marR="0" marT="0" marB="0" anchor="ctr"/>
                </a:tc>
                <a:extLst>
                  <a:ext uri="{0D108BD9-81ED-4DB2-BD59-A6C34878D82A}">
                    <a16:rowId xmlns:a16="http://schemas.microsoft.com/office/drawing/2014/main" val="10001"/>
                  </a:ext>
                </a:extLst>
              </a:tr>
              <a:tr h="114443">
                <a:tc>
                  <a:txBody>
                    <a:bodyPr/>
                    <a:lstStyle/>
                    <a:p>
                      <a:pPr algn="ctr"/>
                      <a:r>
                        <a:rPr lang="es-ES" sz="1400"/>
                        <a:t>1</a:t>
                      </a:r>
                    </a:p>
                  </a:txBody>
                  <a:tcPr marL="0" marR="0" marT="0" marB="0" anchor="ctr"/>
                </a:tc>
                <a:tc>
                  <a:txBody>
                    <a:bodyPr/>
                    <a:lstStyle/>
                    <a:p>
                      <a:pPr algn="ctr"/>
                      <a:r>
                        <a:rPr lang="es-ES" sz="1400" dirty="0"/>
                        <a:t>2</a:t>
                      </a:r>
                    </a:p>
                  </a:txBody>
                  <a:tcPr marL="0" marR="0" marT="0" marB="0" anchor="ctr"/>
                </a:tc>
                <a:tc>
                  <a:txBody>
                    <a:bodyPr/>
                    <a:lstStyle/>
                    <a:p>
                      <a:pPr algn="ctr"/>
                      <a:r>
                        <a:rPr lang="es-ES" sz="1400" dirty="0"/>
                        <a:t>4</a:t>
                      </a:r>
                    </a:p>
                  </a:txBody>
                  <a:tcPr marL="0" marR="0" marT="0" marB="0" anchor="ctr"/>
                </a:tc>
                <a:tc>
                  <a:txBody>
                    <a:bodyPr/>
                    <a:lstStyle/>
                    <a:p>
                      <a:pPr algn="ctr"/>
                      <a:r>
                        <a:rPr lang="es-ES" sz="1400" dirty="0"/>
                        <a:t>7</a:t>
                      </a:r>
                    </a:p>
                  </a:txBody>
                  <a:tcPr marL="0" marR="0" marT="0" marB="0" anchor="ctr"/>
                </a:tc>
                <a:tc>
                  <a:txBody>
                    <a:bodyPr/>
                    <a:lstStyle/>
                    <a:p>
                      <a:pPr algn="ctr"/>
                      <a:r>
                        <a:rPr lang="es-ES" sz="1400" dirty="0"/>
                        <a:t>8</a:t>
                      </a:r>
                    </a:p>
                  </a:txBody>
                  <a:tcPr marL="0" marR="0" marT="0" marB="0" anchor="ctr"/>
                </a:tc>
                <a:extLst>
                  <a:ext uri="{0D108BD9-81ED-4DB2-BD59-A6C34878D82A}">
                    <a16:rowId xmlns:a16="http://schemas.microsoft.com/office/drawing/2014/main" val="10002"/>
                  </a:ext>
                </a:extLst>
              </a:tr>
              <a:tr h="43959">
                <a:tc>
                  <a:txBody>
                    <a:bodyPr/>
                    <a:lstStyle/>
                    <a:p>
                      <a:pPr algn="ctr"/>
                      <a:r>
                        <a:rPr lang="es-ES" sz="1400"/>
                        <a:t>1</a:t>
                      </a:r>
                    </a:p>
                  </a:txBody>
                  <a:tcPr marL="0" marR="0" marT="0" marB="0" anchor="ctr"/>
                </a:tc>
                <a:tc>
                  <a:txBody>
                    <a:bodyPr/>
                    <a:lstStyle/>
                    <a:p>
                      <a:pPr algn="ctr"/>
                      <a:r>
                        <a:rPr lang="es-ES" sz="1400"/>
                        <a:t>2</a:t>
                      </a:r>
                    </a:p>
                  </a:txBody>
                  <a:tcPr marL="0" marR="0" marT="0" marB="0" anchor="ctr"/>
                </a:tc>
                <a:tc>
                  <a:txBody>
                    <a:bodyPr/>
                    <a:lstStyle/>
                    <a:p>
                      <a:pPr algn="ctr"/>
                      <a:r>
                        <a:rPr lang="es-ES" sz="1400" dirty="0"/>
                        <a:t>9</a:t>
                      </a:r>
                    </a:p>
                  </a:txBody>
                  <a:tcPr marL="0" marR="0" marT="0" marB="0" anchor="ctr"/>
                </a:tc>
                <a:tc>
                  <a:txBody>
                    <a:bodyPr/>
                    <a:lstStyle/>
                    <a:p>
                      <a:pPr algn="ctr"/>
                      <a:r>
                        <a:rPr lang="es-ES" sz="1400"/>
                        <a:t>10</a:t>
                      </a:r>
                    </a:p>
                  </a:txBody>
                  <a:tcPr marL="0" marR="0" marT="0" marB="0" anchor="ctr"/>
                </a:tc>
                <a:tc>
                  <a:txBody>
                    <a:bodyPr/>
                    <a:lstStyle/>
                    <a:p>
                      <a:pPr algn="ctr"/>
                      <a:r>
                        <a:rPr lang="es-ES" sz="1400" dirty="0"/>
                        <a:t>11</a:t>
                      </a:r>
                    </a:p>
                  </a:txBody>
                  <a:tcPr marL="0" marR="0" marT="0" marB="0" anchor="ctr"/>
                </a:tc>
                <a:extLst>
                  <a:ext uri="{0D108BD9-81ED-4DB2-BD59-A6C34878D82A}">
                    <a16:rowId xmlns:a16="http://schemas.microsoft.com/office/drawing/2014/main" val="10003"/>
                  </a:ext>
                </a:extLst>
              </a:tr>
              <a:tr h="44913">
                <a:tc>
                  <a:txBody>
                    <a:bodyPr/>
                    <a:lstStyle/>
                    <a:p>
                      <a:pPr algn="ctr"/>
                      <a:r>
                        <a:rPr lang="es-ES" sz="1400"/>
                        <a:t>3</a:t>
                      </a:r>
                    </a:p>
                  </a:txBody>
                  <a:tcPr marL="0" marR="0" marT="0" marB="0" anchor="ctr"/>
                </a:tc>
                <a:tc>
                  <a:txBody>
                    <a:bodyPr/>
                    <a:lstStyle/>
                    <a:p>
                      <a:pPr algn="ctr"/>
                      <a:r>
                        <a:rPr lang="es-ES" sz="1400"/>
                        <a:t>4</a:t>
                      </a:r>
                    </a:p>
                  </a:txBody>
                  <a:tcPr marL="0" marR="0" marT="0" marB="0" anchor="ctr"/>
                </a:tc>
                <a:tc>
                  <a:txBody>
                    <a:bodyPr/>
                    <a:lstStyle/>
                    <a:p>
                      <a:pPr algn="ctr"/>
                      <a:r>
                        <a:rPr lang="es-ES" sz="1400" dirty="0"/>
                        <a:t>2</a:t>
                      </a:r>
                    </a:p>
                  </a:txBody>
                  <a:tcPr marL="0" marR="0" marT="0" marB="0" anchor="ctr"/>
                </a:tc>
                <a:tc>
                  <a:txBody>
                    <a:bodyPr/>
                    <a:lstStyle/>
                    <a:p>
                      <a:pPr algn="ctr"/>
                      <a:r>
                        <a:rPr lang="es-ES" sz="1400" dirty="0"/>
                        <a:t>5</a:t>
                      </a:r>
                    </a:p>
                  </a:txBody>
                  <a:tcPr marL="0" marR="0" marT="0" marB="0" anchor="ctr"/>
                </a:tc>
                <a:tc>
                  <a:txBody>
                    <a:bodyPr/>
                    <a:lstStyle/>
                    <a:p>
                      <a:pPr algn="ctr"/>
                      <a:r>
                        <a:rPr lang="es-ES" sz="1400"/>
                        <a:t>6</a:t>
                      </a:r>
                    </a:p>
                  </a:txBody>
                  <a:tcPr marL="0" marR="0" marT="0" marB="0" anchor="ctr"/>
                </a:tc>
                <a:extLst>
                  <a:ext uri="{0D108BD9-81ED-4DB2-BD59-A6C34878D82A}">
                    <a16:rowId xmlns:a16="http://schemas.microsoft.com/office/drawing/2014/main" val="10004"/>
                  </a:ext>
                </a:extLst>
              </a:tr>
              <a:tr h="45867">
                <a:tc>
                  <a:txBody>
                    <a:bodyPr/>
                    <a:lstStyle/>
                    <a:p>
                      <a:pPr algn="ctr"/>
                      <a:r>
                        <a:rPr lang="es-ES" sz="1400"/>
                        <a:t>3</a:t>
                      </a:r>
                    </a:p>
                  </a:txBody>
                  <a:tcPr marL="0" marR="0" marT="0" marB="0" anchor="ctr"/>
                </a:tc>
                <a:tc>
                  <a:txBody>
                    <a:bodyPr/>
                    <a:lstStyle/>
                    <a:p>
                      <a:pPr algn="ctr"/>
                      <a:r>
                        <a:rPr lang="es-ES" sz="1400"/>
                        <a:t>4</a:t>
                      </a:r>
                    </a:p>
                  </a:txBody>
                  <a:tcPr marL="0" marR="0" marT="0" marB="0" anchor="ctr"/>
                </a:tc>
                <a:tc>
                  <a:txBody>
                    <a:bodyPr/>
                    <a:lstStyle/>
                    <a:p>
                      <a:pPr algn="ctr"/>
                      <a:r>
                        <a:rPr lang="es-ES" sz="1400" dirty="0"/>
                        <a:t>4</a:t>
                      </a:r>
                    </a:p>
                  </a:txBody>
                  <a:tcPr marL="0" marR="0" marT="0" marB="0" anchor="ctr"/>
                </a:tc>
                <a:tc>
                  <a:txBody>
                    <a:bodyPr/>
                    <a:lstStyle/>
                    <a:p>
                      <a:pPr algn="ctr"/>
                      <a:r>
                        <a:rPr lang="es-ES" sz="1400" dirty="0"/>
                        <a:t>7</a:t>
                      </a:r>
                    </a:p>
                  </a:txBody>
                  <a:tcPr marL="0" marR="0" marT="0" marB="0" anchor="ctr"/>
                </a:tc>
                <a:tc>
                  <a:txBody>
                    <a:bodyPr/>
                    <a:lstStyle/>
                    <a:p>
                      <a:pPr algn="ctr"/>
                      <a:r>
                        <a:rPr lang="es-ES" sz="1400"/>
                        <a:t>8</a:t>
                      </a:r>
                    </a:p>
                  </a:txBody>
                  <a:tcPr marL="0" marR="0" marT="0" marB="0" anchor="ctr"/>
                </a:tc>
                <a:extLst>
                  <a:ext uri="{0D108BD9-81ED-4DB2-BD59-A6C34878D82A}">
                    <a16:rowId xmlns:a16="http://schemas.microsoft.com/office/drawing/2014/main" val="10005"/>
                  </a:ext>
                </a:extLst>
              </a:tr>
              <a:tr h="118259">
                <a:tc>
                  <a:txBody>
                    <a:bodyPr/>
                    <a:lstStyle/>
                    <a:p>
                      <a:pPr algn="ctr"/>
                      <a:r>
                        <a:rPr lang="es-ES" sz="1400"/>
                        <a:t>3</a:t>
                      </a:r>
                    </a:p>
                  </a:txBody>
                  <a:tcPr marL="0" marR="0" marT="0" marB="0" anchor="ctr"/>
                </a:tc>
                <a:tc>
                  <a:txBody>
                    <a:bodyPr/>
                    <a:lstStyle/>
                    <a:p>
                      <a:pPr algn="ctr"/>
                      <a:r>
                        <a:rPr lang="es-ES" sz="1400"/>
                        <a:t>4</a:t>
                      </a:r>
                    </a:p>
                  </a:txBody>
                  <a:tcPr marL="0" marR="0" marT="0" marB="0" anchor="ctr"/>
                </a:tc>
                <a:tc>
                  <a:txBody>
                    <a:bodyPr/>
                    <a:lstStyle/>
                    <a:p>
                      <a:pPr algn="ctr"/>
                      <a:r>
                        <a:rPr lang="es-ES" sz="1400" dirty="0"/>
                        <a:t>9</a:t>
                      </a:r>
                    </a:p>
                  </a:txBody>
                  <a:tcPr marL="0" marR="0" marT="0" marB="0" anchor="ctr"/>
                </a:tc>
                <a:tc>
                  <a:txBody>
                    <a:bodyPr/>
                    <a:lstStyle/>
                    <a:p>
                      <a:pPr algn="ctr"/>
                      <a:r>
                        <a:rPr lang="es-ES" sz="1400"/>
                        <a:t>10</a:t>
                      </a:r>
                    </a:p>
                  </a:txBody>
                  <a:tcPr marL="0" marR="0" marT="0" marB="0" anchor="ctr"/>
                </a:tc>
                <a:tc>
                  <a:txBody>
                    <a:bodyPr/>
                    <a:lstStyle/>
                    <a:p>
                      <a:pPr algn="ctr"/>
                      <a:r>
                        <a:rPr lang="es-ES" sz="1400" dirty="0"/>
                        <a:t>11</a:t>
                      </a:r>
                    </a:p>
                  </a:txBody>
                  <a:tcPr marL="0" marR="0" marT="0" marB="0" anchor="ctr"/>
                </a:tc>
                <a:extLst>
                  <a:ext uri="{0D108BD9-81ED-4DB2-BD59-A6C34878D82A}">
                    <a16:rowId xmlns:a16="http://schemas.microsoft.com/office/drawing/2014/main" val="10006"/>
                  </a:ext>
                </a:extLst>
              </a:tr>
              <a:tr h="47775">
                <a:tc>
                  <a:txBody>
                    <a:bodyPr/>
                    <a:lstStyle/>
                    <a:p>
                      <a:pPr algn="ctr"/>
                      <a:r>
                        <a:rPr lang="es-MX" sz="1400" dirty="0"/>
                        <a:t>5</a:t>
                      </a:r>
                      <a:endParaRPr lang="es-ES" sz="1400" dirty="0"/>
                    </a:p>
                  </a:txBody>
                  <a:tcPr marL="0" marR="0" marT="0" marB="0" anchor="ctr"/>
                </a:tc>
                <a:tc>
                  <a:txBody>
                    <a:bodyPr/>
                    <a:lstStyle/>
                    <a:p>
                      <a:pPr algn="ctr"/>
                      <a:r>
                        <a:rPr lang="es-MX" sz="1400" dirty="0"/>
                        <a:t>2</a:t>
                      </a:r>
                      <a:endParaRPr lang="es-ES" sz="1400" dirty="0"/>
                    </a:p>
                  </a:txBody>
                  <a:tcPr marL="0" marR="0" marT="0" marB="0" anchor="ctr"/>
                </a:tc>
                <a:tc>
                  <a:txBody>
                    <a:bodyPr/>
                    <a:lstStyle/>
                    <a:p>
                      <a:pPr algn="ctr"/>
                      <a:r>
                        <a:rPr lang="es-ES" sz="1400" dirty="0"/>
                        <a:t>2</a:t>
                      </a:r>
                    </a:p>
                  </a:txBody>
                  <a:tcPr marL="0" marR="0" marT="0" marB="0" anchor="ctr"/>
                </a:tc>
                <a:tc>
                  <a:txBody>
                    <a:bodyPr/>
                    <a:lstStyle/>
                    <a:p>
                      <a:pPr algn="ctr"/>
                      <a:r>
                        <a:rPr lang="es-ES" sz="1400"/>
                        <a:t>5</a:t>
                      </a:r>
                    </a:p>
                  </a:txBody>
                  <a:tcPr marL="0" marR="0" marT="0" marB="0" anchor="ctr"/>
                </a:tc>
                <a:tc>
                  <a:txBody>
                    <a:bodyPr/>
                    <a:lstStyle/>
                    <a:p>
                      <a:pPr algn="ctr"/>
                      <a:r>
                        <a:rPr lang="es-ES" sz="1400" dirty="0"/>
                        <a:t>6</a:t>
                      </a:r>
                    </a:p>
                  </a:txBody>
                  <a:tcPr marL="0" marR="0" marT="0" marB="0" anchor="ctr"/>
                </a:tc>
                <a:extLst>
                  <a:ext uri="{0D108BD9-81ED-4DB2-BD59-A6C34878D82A}">
                    <a16:rowId xmlns:a16="http://schemas.microsoft.com/office/drawing/2014/main" val="10007"/>
                  </a:ext>
                </a:extLst>
              </a:tr>
              <a:tr h="48729">
                <a:tc>
                  <a:txBody>
                    <a:bodyPr/>
                    <a:lstStyle/>
                    <a:p>
                      <a:pPr algn="ctr"/>
                      <a:r>
                        <a:rPr lang="es-MX" sz="1400" dirty="0"/>
                        <a:t>5</a:t>
                      </a:r>
                      <a:endParaRPr lang="es-ES" sz="1400" dirty="0"/>
                    </a:p>
                  </a:txBody>
                  <a:tcPr marL="0" marR="0" marT="0" marB="0" anchor="ctr"/>
                </a:tc>
                <a:tc>
                  <a:txBody>
                    <a:bodyPr/>
                    <a:lstStyle/>
                    <a:p>
                      <a:pPr algn="ctr"/>
                      <a:r>
                        <a:rPr lang="es-MX" sz="1400" dirty="0"/>
                        <a:t>2</a:t>
                      </a:r>
                      <a:endParaRPr lang="es-ES" sz="1400" dirty="0"/>
                    </a:p>
                  </a:txBody>
                  <a:tcPr marL="0" marR="0" marT="0" marB="0" anchor="ctr"/>
                </a:tc>
                <a:tc>
                  <a:txBody>
                    <a:bodyPr/>
                    <a:lstStyle/>
                    <a:p>
                      <a:pPr algn="ctr"/>
                      <a:r>
                        <a:rPr lang="es-ES" sz="1400" dirty="0"/>
                        <a:t>4</a:t>
                      </a:r>
                    </a:p>
                  </a:txBody>
                  <a:tcPr marL="0" marR="0" marT="0" marB="0" anchor="ctr"/>
                </a:tc>
                <a:tc>
                  <a:txBody>
                    <a:bodyPr/>
                    <a:lstStyle/>
                    <a:p>
                      <a:pPr algn="ctr"/>
                      <a:r>
                        <a:rPr lang="es-ES" sz="1400" dirty="0"/>
                        <a:t>7</a:t>
                      </a:r>
                    </a:p>
                  </a:txBody>
                  <a:tcPr marL="0" marR="0" marT="0" marB="0" anchor="ctr"/>
                </a:tc>
                <a:tc>
                  <a:txBody>
                    <a:bodyPr/>
                    <a:lstStyle/>
                    <a:p>
                      <a:pPr algn="ctr"/>
                      <a:r>
                        <a:rPr lang="es-ES" sz="1400" dirty="0"/>
                        <a:t>8</a:t>
                      </a:r>
                    </a:p>
                  </a:txBody>
                  <a:tcPr marL="0" marR="0" marT="0" marB="0" anchor="ctr"/>
                </a:tc>
                <a:extLst>
                  <a:ext uri="{0D108BD9-81ED-4DB2-BD59-A6C34878D82A}">
                    <a16:rowId xmlns:a16="http://schemas.microsoft.com/office/drawing/2014/main" val="10008"/>
                  </a:ext>
                </a:extLst>
              </a:tr>
              <a:tr h="213360">
                <a:tc>
                  <a:txBody>
                    <a:bodyPr/>
                    <a:lstStyle/>
                    <a:p>
                      <a:pPr algn="ctr"/>
                      <a:r>
                        <a:rPr lang="es-MX" sz="1400" dirty="0"/>
                        <a:t>5</a:t>
                      </a:r>
                      <a:endParaRPr lang="es-ES" sz="1400" dirty="0"/>
                    </a:p>
                  </a:txBody>
                  <a:tcPr marL="0" marR="0" marT="0" marB="0" anchor="ctr"/>
                </a:tc>
                <a:tc>
                  <a:txBody>
                    <a:bodyPr/>
                    <a:lstStyle/>
                    <a:p>
                      <a:pPr algn="ctr"/>
                      <a:r>
                        <a:rPr lang="es-MX" sz="1400" dirty="0"/>
                        <a:t>2</a:t>
                      </a:r>
                      <a:endParaRPr lang="es-ES" sz="1400" dirty="0"/>
                    </a:p>
                  </a:txBody>
                  <a:tcPr marL="0" marR="0" marT="0" marB="0" anchor="ctr"/>
                </a:tc>
                <a:tc>
                  <a:txBody>
                    <a:bodyPr/>
                    <a:lstStyle/>
                    <a:p>
                      <a:pPr algn="ctr"/>
                      <a:r>
                        <a:rPr lang="es-ES" sz="1400" dirty="0"/>
                        <a:t>9</a:t>
                      </a:r>
                    </a:p>
                  </a:txBody>
                  <a:tcPr marL="0" marR="0" marT="0" marB="0" anchor="ctr"/>
                </a:tc>
                <a:tc>
                  <a:txBody>
                    <a:bodyPr/>
                    <a:lstStyle/>
                    <a:p>
                      <a:pPr algn="ctr"/>
                      <a:r>
                        <a:rPr lang="es-ES" sz="1400"/>
                        <a:t>10</a:t>
                      </a:r>
                    </a:p>
                  </a:txBody>
                  <a:tcPr marL="0" marR="0" marT="0" marB="0" anchor="ctr"/>
                </a:tc>
                <a:tc>
                  <a:txBody>
                    <a:bodyPr/>
                    <a:lstStyle/>
                    <a:p>
                      <a:pPr algn="ctr"/>
                      <a:r>
                        <a:rPr lang="es-ES" sz="1400" dirty="0"/>
                        <a:t>11</a:t>
                      </a:r>
                    </a:p>
                  </a:txBody>
                  <a:tcPr marL="0" marR="0" marT="0" marB="0" anchor="ctr"/>
                </a:tc>
                <a:extLst>
                  <a:ext uri="{0D108BD9-81ED-4DB2-BD59-A6C34878D82A}">
                    <a16:rowId xmlns:a16="http://schemas.microsoft.com/office/drawing/2014/main" val="10009"/>
                  </a:ext>
                </a:extLst>
              </a:tr>
            </a:tbl>
          </a:graphicData>
        </a:graphic>
      </p:graphicFrame>
      <p:sp>
        <p:nvSpPr>
          <p:cNvPr id="35" name="34 Rectángulo"/>
          <p:cNvSpPr>
            <a:spLocks noChangeArrowheads="1"/>
          </p:cNvSpPr>
          <p:nvPr/>
        </p:nvSpPr>
        <p:spPr bwMode="auto">
          <a:xfrm>
            <a:off x="4243388" y="2289175"/>
            <a:ext cx="760412" cy="369888"/>
          </a:xfrm>
          <a:prstGeom prst="rect">
            <a:avLst/>
          </a:prstGeom>
          <a:noFill/>
          <a:ln w="9525">
            <a:noFill/>
            <a:miter lim="800000"/>
            <a:headEnd/>
            <a:tailEnd/>
          </a:ln>
        </p:spPr>
        <p:txBody>
          <a:bodyPr wrap="none">
            <a:spAutoFit/>
          </a:bodyPr>
          <a:lstStyle/>
          <a:p>
            <a:r>
              <a:rPr lang="es-ES" b="1"/>
              <a:t>R </a:t>
            </a:r>
            <a:r>
              <a:rPr lang="es-ES_tradnl" b="1">
                <a:solidFill>
                  <a:schemeClr val="accent2"/>
                </a:solidFill>
                <a:sym typeface="Symbol" pitchFamily="18" charset="2"/>
              </a:rPr>
              <a:t> </a:t>
            </a:r>
            <a:r>
              <a:rPr lang="es-ES" b="1"/>
              <a:t>S</a:t>
            </a:r>
            <a:endParaRPr lang="es-ES"/>
          </a:p>
        </p:txBody>
      </p:sp>
      <p:sp>
        <p:nvSpPr>
          <p:cNvPr id="36" name="Rectangle 38"/>
          <p:cNvSpPr>
            <a:spLocks noChangeArrowheads="1"/>
          </p:cNvSpPr>
          <p:nvPr/>
        </p:nvSpPr>
        <p:spPr bwMode="auto">
          <a:xfrm>
            <a:off x="6257925" y="2187575"/>
            <a:ext cx="2314575" cy="461963"/>
          </a:xfrm>
          <a:prstGeom prst="rect">
            <a:avLst/>
          </a:prstGeom>
          <a:noFill/>
          <a:ln w="9525">
            <a:noFill/>
            <a:miter lim="800000"/>
            <a:headEnd/>
            <a:tailEnd/>
          </a:ln>
        </p:spPr>
        <p:txBody>
          <a:bodyPr>
            <a:spAutoFit/>
          </a:bodyPr>
          <a:lstStyle/>
          <a:p>
            <a:r>
              <a:rPr lang="es-ES_tradnl" sz="2400" b="1">
                <a:solidFill>
                  <a:schemeClr val="accent2"/>
                </a:solidFill>
                <a:latin typeface="Calibri" pitchFamily="34" charset="0"/>
                <a:sym typeface="Symbol" pitchFamily="18" charset="2"/>
              </a:rPr>
              <a:t></a:t>
            </a:r>
            <a:r>
              <a:rPr lang="es-ES" sz="1500">
                <a:latin typeface="Calibri" pitchFamily="34" charset="0"/>
              </a:rPr>
              <a:t>    R.B   = S.B   (</a:t>
            </a:r>
            <a:r>
              <a:rPr lang="es-ES" sz="1600" b="1"/>
              <a:t>R </a:t>
            </a:r>
            <a:r>
              <a:rPr lang="es-ES_tradnl" sz="1600" b="1">
                <a:solidFill>
                  <a:schemeClr val="accent2"/>
                </a:solidFill>
                <a:sym typeface="Symbol" pitchFamily="18" charset="2"/>
              </a:rPr>
              <a:t> </a:t>
            </a:r>
            <a:r>
              <a:rPr lang="es-ES" sz="1600" b="1"/>
              <a:t>S</a:t>
            </a:r>
            <a:r>
              <a:rPr lang="es-ES" sz="1500">
                <a:latin typeface="Calibri" pitchFamily="34" charset="0"/>
              </a:rPr>
              <a:t>)</a:t>
            </a:r>
          </a:p>
        </p:txBody>
      </p:sp>
      <p:sp>
        <p:nvSpPr>
          <p:cNvPr id="37" name="36 Elipse"/>
          <p:cNvSpPr/>
          <p:nvPr/>
        </p:nvSpPr>
        <p:spPr>
          <a:xfrm>
            <a:off x="3941763" y="2941638"/>
            <a:ext cx="1143000" cy="255587"/>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42" name="1 Rectángulo"/>
          <p:cNvSpPr>
            <a:spLocks noChangeArrowheads="1"/>
          </p:cNvSpPr>
          <p:nvPr/>
        </p:nvSpPr>
        <p:spPr bwMode="auto">
          <a:xfrm>
            <a:off x="2643188" y="3044825"/>
            <a:ext cx="1214437" cy="523875"/>
          </a:xfrm>
          <a:prstGeom prst="rect">
            <a:avLst/>
          </a:prstGeom>
          <a:noFill/>
          <a:ln w="9525">
            <a:noFill/>
            <a:miter lim="800000"/>
            <a:headEnd/>
            <a:tailEnd/>
          </a:ln>
        </p:spPr>
        <p:txBody>
          <a:bodyPr>
            <a:spAutoFit/>
          </a:bodyPr>
          <a:lstStyle/>
          <a:p>
            <a:pPr marL="800100" lvl="1" indent="-342900">
              <a:buFont typeface="Arial" charset="0"/>
              <a:buNone/>
            </a:pPr>
            <a:r>
              <a:rPr lang="es-ES_tradnl" sz="2800" b="1">
                <a:solidFill>
                  <a:schemeClr val="accent2"/>
                </a:solidFill>
                <a:sym typeface="Symbol" pitchFamily="18" charset="2"/>
              </a:rPr>
              <a:t>=</a:t>
            </a:r>
            <a:endParaRPr lang="es-ES_tradnl" sz="2000" b="1">
              <a:sym typeface="Symbol" pitchFamily="18" charset="2"/>
            </a:endParaRPr>
          </a:p>
        </p:txBody>
      </p:sp>
      <p:sp>
        <p:nvSpPr>
          <p:cNvPr id="43" name="42 Elipse"/>
          <p:cNvSpPr/>
          <p:nvPr/>
        </p:nvSpPr>
        <p:spPr>
          <a:xfrm>
            <a:off x="3957638" y="3790950"/>
            <a:ext cx="1143000" cy="25400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44" name="43 Elipse"/>
          <p:cNvSpPr/>
          <p:nvPr/>
        </p:nvSpPr>
        <p:spPr>
          <a:xfrm>
            <a:off x="3957638" y="4219575"/>
            <a:ext cx="1143000" cy="254000"/>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graphicFrame>
        <p:nvGraphicFramePr>
          <p:cNvPr id="45" name="44 Tabla"/>
          <p:cNvGraphicFramePr>
            <a:graphicFrameLocks noGrp="1"/>
          </p:cNvGraphicFramePr>
          <p:nvPr/>
        </p:nvGraphicFramePr>
        <p:xfrm>
          <a:off x="6357938" y="2733675"/>
          <a:ext cx="1857393" cy="955222"/>
        </p:xfrm>
        <a:graphic>
          <a:graphicData uri="http://schemas.openxmlformats.org/drawingml/2006/table">
            <a:tbl>
              <a:tblPr>
                <a:tableStyleId>{BC89EF96-8CEA-46FF-86C4-4CE0E7609802}</a:tableStyleId>
              </a:tblPr>
              <a:tblGrid>
                <a:gridCol w="386518">
                  <a:extLst>
                    <a:ext uri="{9D8B030D-6E8A-4147-A177-3AD203B41FA5}">
                      <a16:colId xmlns:a16="http://schemas.microsoft.com/office/drawing/2014/main" val="20000"/>
                    </a:ext>
                  </a:extLst>
                </a:gridCol>
                <a:gridCol w="387398">
                  <a:extLst>
                    <a:ext uri="{9D8B030D-6E8A-4147-A177-3AD203B41FA5}">
                      <a16:colId xmlns:a16="http://schemas.microsoft.com/office/drawing/2014/main" val="20001"/>
                    </a:ext>
                  </a:extLst>
                </a:gridCol>
                <a:gridCol w="386956">
                  <a:extLst>
                    <a:ext uri="{9D8B030D-6E8A-4147-A177-3AD203B41FA5}">
                      <a16:colId xmlns:a16="http://schemas.microsoft.com/office/drawing/2014/main" val="20002"/>
                    </a:ext>
                  </a:extLst>
                </a:gridCol>
                <a:gridCol w="316454">
                  <a:extLst>
                    <a:ext uri="{9D8B030D-6E8A-4147-A177-3AD203B41FA5}">
                      <a16:colId xmlns:a16="http://schemas.microsoft.com/office/drawing/2014/main" val="20003"/>
                    </a:ext>
                  </a:extLst>
                </a:gridCol>
                <a:gridCol w="380067">
                  <a:extLst>
                    <a:ext uri="{9D8B030D-6E8A-4147-A177-3AD203B41FA5}">
                      <a16:colId xmlns:a16="http://schemas.microsoft.com/office/drawing/2014/main" val="20004"/>
                    </a:ext>
                  </a:extLst>
                </a:gridCol>
              </a:tblGrid>
              <a:tr h="315142">
                <a:tc>
                  <a:txBody>
                    <a:bodyPr/>
                    <a:lstStyle/>
                    <a:p>
                      <a:pPr algn="ctr"/>
                      <a:r>
                        <a:rPr lang="es-ES" sz="1400" dirty="0">
                          <a:solidFill>
                            <a:schemeClr val="bg1"/>
                          </a:solidFill>
                        </a:rPr>
                        <a:t>A</a:t>
                      </a:r>
                    </a:p>
                  </a:txBody>
                  <a:tcPr marL="0" marR="0" marT="0" marB="0" anchor="ctr">
                    <a:solidFill>
                      <a:schemeClr val="accent1"/>
                    </a:solidFill>
                  </a:tcPr>
                </a:tc>
                <a:tc>
                  <a:txBody>
                    <a:bodyPr/>
                    <a:lstStyle/>
                    <a:p>
                      <a:pPr algn="ctr"/>
                      <a:r>
                        <a:rPr lang="es-ES" sz="1400" dirty="0">
                          <a:solidFill>
                            <a:schemeClr val="bg1"/>
                          </a:solidFill>
                        </a:rPr>
                        <a:t>R.B</a:t>
                      </a:r>
                    </a:p>
                  </a:txBody>
                  <a:tcPr marL="0" marR="0" marT="0" marB="0" anchor="ctr">
                    <a:solidFill>
                      <a:schemeClr val="accent1"/>
                    </a:solidFill>
                  </a:tcPr>
                </a:tc>
                <a:tc>
                  <a:txBody>
                    <a:bodyPr/>
                    <a:lstStyle/>
                    <a:p>
                      <a:pPr algn="ctr"/>
                      <a:r>
                        <a:rPr lang="es-ES" sz="1400" dirty="0">
                          <a:solidFill>
                            <a:schemeClr val="bg1"/>
                          </a:solidFill>
                        </a:rPr>
                        <a:t>S.B</a:t>
                      </a:r>
                    </a:p>
                  </a:txBody>
                  <a:tcPr marL="0" marR="0" marT="0" marB="0" anchor="ctr">
                    <a:solidFill>
                      <a:schemeClr val="accent1"/>
                    </a:solidFill>
                  </a:tcPr>
                </a:tc>
                <a:tc>
                  <a:txBody>
                    <a:bodyPr/>
                    <a:lstStyle/>
                    <a:p>
                      <a:pPr algn="ctr"/>
                      <a:r>
                        <a:rPr lang="es-ES" sz="1400" dirty="0">
                          <a:solidFill>
                            <a:schemeClr val="bg1"/>
                          </a:solidFill>
                        </a:rPr>
                        <a:t>C</a:t>
                      </a:r>
                    </a:p>
                  </a:txBody>
                  <a:tcPr marL="0" marR="0" marT="0" marB="0" anchor="ctr">
                    <a:solidFill>
                      <a:schemeClr val="accent1"/>
                    </a:solidFill>
                  </a:tcPr>
                </a:tc>
                <a:tc>
                  <a:txBody>
                    <a:bodyPr/>
                    <a:lstStyle/>
                    <a:p>
                      <a:pPr algn="ctr"/>
                      <a:r>
                        <a:rPr lang="es-ES" sz="1400" dirty="0">
                          <a:solidFill>
                            <a:schemeClr val="bg1"/>
                          </a:solidFill>
                        </a:rPr>
                        <a:t>D</a:t>
                      </a:r>
                    </a:p>
                  </a:txBody>
                  <a:tcPr marL="0" marR="0" marT="0" marB="0" anchor="ctr">
                    <a:solidFill>
                      <a:schemeClr val="accent1"/>
                    </a:solidFill>
                  </a:tcPr>
                </a:tc>
                <a:extLst>
                  <a:ext uri="{0D108BD9-81ED-4DB2-BD59-A6C34878D82A}">
                    <a16:rowId xmlns:a16="http://schemas.microsoft.com/office/drawing/2014/main" val="10000"/>
                  </a:ext>
                </a:extLst>
              </a:tr>
              <a:tr h="184927">
                <a:tc>
                  <a:txBody>
                    <a:bodyPr/>
                    <a:lstStyle/>
                    <a:p>
                      <a:pPr algn="ctr"/>
                      <a:r>
                        <a:rPr lang="es-ES" sz="1400" dirty="0"/>
                        <a:t>1</a:t>
                      </a:r>
                    </a:p>
                  </a:txBody>
                  <a:tcPr marL="0" marR="0" marT="0" marB="0" anchor="ctr"/>
                </a:tc>
                <a:tc>
                  <a:txBody>
                    <a:bodyPr/>
                    <a:lstStyle/>
                    <a:p>
                      <a:pPr algn="ctr"/>
                      <a:r>
                        <a:rPr lang="es-ES" sz="1400" dirty="0"/>
                        <a:t>2</a:t>
                      </a:r>
                    </a:p>
                  </a:txBody>
                  <a:tcPr marL="0" marR="0" marT="0" marB="0" anchor="ctr"/>
                </a:tc>
                <a:tc>
                  <a:txBody>
                    <a:bodyPr/>
                    <a:lstStyle/>
                    <a:p>
                      <a:pPr algn="ctr"/>
                      <a:r>
                        <a:rPr lang="es-ES" sz="1400" dirty="0"/>
                        <a:t>2</a:t>
                      </a:r>
                    </a:p>
                  </a:txBody>
                  <a:tcPr marL="0" marR="0" marT="0" marB="0" anchor="ctr"/>
                </a:tc>
                <a:tc>
                  <a:txBody>
                    <a:bodyPr/>
                    <a:lstStyle/>
                    <a:p>
                      <a:pPr algn="ctr"/>
                      <a:r>
                        <a:rPr lang="es-ES" sz="1400"/>
                        <a:t>5</a:t>
                      </a:r>
                    </a:p>
                  </a:txBody>
                  <a:tcPr marL="0" marR="0" marT="0" marB="0" anchor="ctr"/>
                </a:tc>
                <a:tc>
                  <a:txBody>
                    <a:bodyPr/>
                    <a:lstStyle/>
                    <a:p>
                      <a:pPr algn="ctr"/>
                      <a:r>
                        <a:rPr lang="es-ES" sz="1400"/>
                        <a:t>6</a:t>
                      </a:r>
                    </a:p>
                  </a:txBody>
                  <a:tcPr marL="0" marR="0" marT="0" marB="0" anchor="ctr"/>
                </a:tc>
                <a:extLst>
                  <a:ext uri="{0D108BD9-81ED-4DB2-BD59-A6C34878D82A}">
                    <a16:rowId xmlns:a16="http://schemas.microsoft.com/office/drawing/2014/main" val="10001"/>
                  </a:ext>
                </a:extLst>
              </a:tr>
              <a:tr h="45867">
                <a:tc>
                  <a:txBody>
                    <a:bodyPr/>
                    <a:lstStyle/>
                    <a:p>
                      <a:pPr algn="ctr"/>
                      <a:r>
                        <a:rPr lang="es-ES" sz="1400" dirty="0"/>
                        <a:t>3</a:t>
                      </a:r>
                    </a:p>
                  </a:txBody>
                  <a:tcPr marL="0" marR="0" marT="0" marB="0" anchor="ctr"/>
                </a:tc>
                <a:tc>
                  <a:txBody>
                    <a:bodyPr/>
                    <a:lstStyle/>
                    <a:p>
                      <a:pPr algn="ctr"/>
                      <a:r>
                        <a:rPr lang="es-ES" sz="1400"/>
                        <a:t>4</a:t>
                      </a:r>
                    </a:p>
                  </a:txBody>
                  <a:tcPr marL="0" marR="0" marT="0" marB="0" anchor="ctr"/>
                </a:tc>
                <a:tc>
                  <a:txBody>
                    <a:bodyPr/>
                    <a:lstStyle/>
                    <a:p>
                      <a:pPr algn="ctr"/>
                      <a:r>
                        <a:rPr lang="es-ES" sz="1400" dirty="0"/>
                        <a:t>4</a:t>
                      </a:r>
                    </a:p>
                  </a:txBody>
                  <a:tcPr marL="0" marR="0" marT="0" marB="0" anchor="ctr"/>
                </a:tc>
                <a:tc>
                  <a:txBody>
                    <a:bodyPr/>
                    <a:lstStyle/>
                    <a:p>
                      <a:pPr algn="ctr"/>
                      <a:r>
                        <a:rPr lang="es-ES" sz="1400" dirty="0"/>
                        <a:t>7</a:t>
                      </a:r>
                    </a:p>
                  </a:txBody>
                  <a:tcPr marL="0" marR="0" marT="0" marB="0" anchor="ctr"/>
                </a:tc>
                <a:tc>
                  <a:txBody>
                    <a:bodyPr/>
                    <a:lstStyle/>
                    <a:p>
                      <a:pPr algn="ctr"/>
                      <a:r>
                        <a:rPr lang="es-ES" sz="1400" dirty="0"/>
                        <a:t>8</a:t>
                      </a:r>
                    </a:p>
                  </a:txBody>
                  <a:tcPr marL="0" marR="0" marT="0" marB="0" anchor="ctr"/>
                </a:tc>
                <a:extLst>
                  <a:ext uri="{0D108BD9-81ED-4DB2-BD59-A6C34878D82A}">
                    <a16:rowId xmlns:a16="http://schemas.microsoft.com/office/drawing/2014/main" val="10002"/>
                  </a:ext>
                </a:extLst>
              </a:tr>
              <a:tr h="47775">
                <a:tc>
                  <a:txBody>
                    <a:bodyPr/>
                    <a:lstStyle/>
                    <a:p>
                      <a:pPr algn="ctr"/>
                      <a:r>
                        <a:rPr lang="es-MX" sz="1400" dirty="0"/>
                        <a:t>5</a:t>
                      </a:r>
                      <a:endParaRPr lang="es-ES" sz="1400" dirty="0"/>
                    </a:p>
                  </a:txBody>
                  <a:tcPr marL="0" marR="0" marT="0" marB="0" anchor="ctr"/>
                </a:tc>
                <a:tc>
                  <a:txBody>
                    <a:bodyPr/>
                    <a:lstStyle/>
                    <a:p>
                      <a:pPr algn="ctr"/>
                      <a:r>
                        <a:rPr lang="es-MX" sz="1400" dirty="0"/>
                        <a:t>2</a:t>
                      </a:r>
                      <a:endParaRPr lang="es-ES" sz="1400" dirty="0"/>
                    </a:p>
                  </a:txBody>
                  <a:tcPr marL="0" marR="0" marT="0" marB="0" anchor="ctr"/>
                </a:tc>
                <a:tc>
                  <a:txBody>
                    <a:bodyPr/>
                    <a:lstStyle/>
                    <a:p>
                      <a:pPr algn="ctr"/>
                      <a:r>
                        <a:rPr lang="es-ES" sz="1400" dirty="0"/>
                        <a:t>2</a:t>
                      </a:r>
                    </a:p>
                  </a:txBody>
                  <a:tcPr marL="0" marR="0" marT="0" marB="0" anchor="ctr"/>
                </a:tc>
                <a:tc>
                  <a:txBody>
                    <a:bodyPr/>
                    <a:lstStyle/>
                    <a:p>
                      <a:pPr algn="ctr"/>
                      <a:r>
                        <a:rPr lang="es-ES" sz="1400"/>
                        <a:t>5</a:t>
                      </a:r>
                    </a:p>
                  </a:txBody>
                  <a:tcPr marL="0" marR="0" marT="0" marB="0" anchor="ctr"/>
                </a:tc>
                <a:tc>
                  <a:txBody>
                    <a:bodyPr/>
                    <a:lstStyle/>
                    <a:p>
                      <a:pPr algn="ctr"/>
                      <a:r>
                        <a:rPr lang="es-ES" sz="1400" dirty="0"/>
                        <a:t>6</a:t>
                      </a:r>
                    </a:p>
                  </a:txBody>
                  <a:tcPr marL="0" marR="0" marT="0" marB="0" anchor="ctr"/>
                </a:tc>
                <a:extLst>
                  <a:ext uri="{0D108BD9-81ED-4DB2-BD59-A6C34878D82A}">
                    <a16:rowId xmlns:a16="http://schemas.microsoft.com/office/drawing/2014/main" val="10003"/>
                  </a:ext>
                </a:extLst>
              </a:tr>
            </a:tbl>
          </a:graphicData>
        </a:graphic>
      </p:graphicFrame>
      <p:sp>
        <p:nvSpPr>
          <p:cNvPr id="46" name="1 Rectángulo"/>
          <p:cNvSpPr>
            <a:spLocks noChangeArrowheads="1"/>
          </p:cNvSpPr>
          <p:nvPr/>
        </p:nvSpPr>
        <p:spPr bwMode="auto">
          <a:xfrm>
            <a:off x="5286375" y="2901950"/>
            <a:ext cx="1214438" cy="523875"/>
          </a:xfrm>
          <a:prstGeom prst="rect">
            <a:avLst/>
          </a:prstGeom>
          <a:noFill/>
          <a:ln w="9525">
            <a:noFill/>
            <a:miter lim="800000"/>
            <a:headEnd/>
            <a:tailEnd/>
          </a:ln>
        </p:spPr>
        <p:txBody>
          <a:bodyPr>
            <a:spAutoFit/>
          </a:bodyPr>
          <a:lstStyle/>
          <a:p>
            <a:pPr marL="800100" lvl="1" indent="-342900">
              <a:buFont typeface="Arial" charset="0"/>
              <a:buNone/>
            </a:pPr>
            <a:r>
              <a:rPr lang="es-ES_tradnl" sz="2800" b="1">
                <a:solidFill>
                  <a:schemeClr val="accent2"/>
                </a:solidFill>
                <a:sym typeface="Symbol" pitchFamily="18" charset="2"/>
              </a:rPr>
              <a:t></a:t>
            </a:r>
            <a:endParaRPr lang="es-ES_tradnl" sz="2000" b="1">
              <a:sym typeface="Symbol" pitchFamily="18" charset="2"/>
            </a:endParaRPr>
          </a:p>
        </p:txBody>
      </p:sp>
      <p:sp>
        <p:nvSpPr>
          <p:cNvPr id="47" name="1 Rectángulo"/>
          <p:cNvSpPr>
            <a:spLocks noChangeArrowheads="1"/>
          </p:cNvSpPr>
          <p:nvPr/>
        </p:nvSpPr>
        <p:spPr bwMode="auto">
          <a:xfrm>
            <a:off x="6715125" y="3878263"/>
            <a:ext cx="1214438" cy="523875"/>
          </a:xfrm>
          <a:prstGeom prst="rect">
            <a:avLst/>
          </a:prstGeom>
          <a:noFill/>
          <a:ln w="9525">
            <a:noFill/>
            <a:miter lim="800000"/>
            <a:headEnd/>
            <a:tailEnd/>
          </a:ln>
        </p:spPr>
        <p:txBody>
          <a:bodyPr>
            <a:spAutoFit/>
          </a:bodyPr>
          <a:lstStyle/>
          <a:p>
            <a:pPr marL="800100" lvl="1" indent="-342900">
              <a:buFont typeface="Arial" charset="0"/>
              <a:buNone/>
            </a:pPr>
            <a:r>
              <a:rPr lang="es-ES_tradnl" sz="2800" b="1">
                <a:solidFill>
                  <a:schemeClr val="accent2"/>
                </a:solidFill>
                <a:sym typeface="Symbol" pitchFamily="18" charset="2"/>
              </a:rPr>
              <a:t></a:t>
            </a:r>
            <a:endParaRPr lang="es-ES_tradnl" sz="2000" b="1">
              <a:sym typeface="Symbol" pitchFamily="18" charset="2"/>
            </a:endParaRPr>
          </a:p>
        </p:txBody>
      </p:sp>
      <p:graphicFrame>
        <p:nvGraphicFramePr>
          <p:cNvPr id="48" name="47 Tabla"/>
          <p:cNvGraphicFramePr>
            <a:graphicFrameLocks noGrp="1"/>
          </p:cNvGraphicFramePr>
          <p:nvPr/>
        </p:nvGraphicFramePr>
        <p:xfrm>
          <a:off x="6602413" y="4473575"/>
          <a:ext cx="1470437" cy="955222"/>
        </p:xfrm>
        <a:graphic>
          <a:graphicData uri="http://schemas.openxmlformats.org/drawingml/2006/table">
            <a:tbl>
              <a:tblPr>
                <a:tableStyleId>{BC89EF96-8CEA-46FF-86C4-4CE0E7609802}</a:tableStyleId>
              </a:tblPr>
              <a:tblGrid>
                <a:gridCol w="386518">
                  <a:extLst>
                    <a:ext uri="{9D8B030D-6E8A-4147-A177-3AD203B41FA5}">
                      <a16:colId xmlns:a16="http://schemas.microsoft.com/office/drawing/2014/main" val="20000"/>
                    </a:ext>
                  </a:extLst>
                </a:gridCol>
                <a:gridCol w="387398">
                  <a:extLst>
                    <a:ext uri="{9D8B030D-6E8A-4147-A177-3AD203B41FA5}">
                      <a16:colId xmlns:a16="http://schemas.microsoft.com/office/drawing/2014/main" val="20001"/>
                    </a:ext>
                  </a:extLst>
                </a:gridCol>
                <a:gridCol w="316454">
                  <a:extLst>
                    <a:ext uri="{9D8B030D-6E8A-4147-A177-3AD203B41FA5}">
                      <a16:colId xmlns:a16="http://schemas.microsoft.com/office/drawing/2014/main" val="20002"/>
                    </a:ext>
                  </a:extLst>
                </a:gridCol>
                <a:gridCol w="380067">
                  <a:extLst>
                    <a:ext uri="{9D8B030D-6E8A-4147-A177-3AD203B41FA5}">
                      <a16:colId xmlns:a16="http://schemas.microsoft.com/office/drawing/2014/main" val="20003"/>
                    </a:ext>
                  </a:extLst>
                </a:gridCol>
              </a:tblGrid>
              <a:tr h="315142">
                <a:tc>
                  <a:txBody>
                    <a:bodyPr/>
                    <a:lstStyle/>
                    <a:p>
                      <a:pPr algn="ctr"/>
                      <a:r>
                        <a:rPr lang="es-ES" sz="1400" dirty="0">
                          <a:solidFill>
                            <a:schemeClr val="bg1"/>
                          </a:solidFill>
                        </a:rPr>
                        <a:t>A</a:t>
                      </a:r>
                    </a:p>
                  </a:txBody>
                  <a:tcPr marL="0" marR="0" marT="0" marB="0" anchor="ctr">
                    <a:solidFill>
                      <a:schemeClr val="accent1"/>
                    </a:solidFill>
                  </a:tcPr>
                </a:tc>
                <a:tc>
                  <a:txBody>
                    <a:bodyPr/>
                    <a:lstStyle/>
                    <a:p>
                      <a:pPr algn="ctr"/>
                      <a:r>
                        <a:rPr lang="es-ES" sz="1400" dirty="0">
                          <a:solidFill>
                            <a:schemeClr val="bg1"/>
                          </a:solidFill>
                        </a:rPr>
                        <a:t>B</a:t>
                      </a:r>
                    </a:p>
                  </a:txBody>
                  <a:tcPr marL="0" marR="0" marT="0" marB="0" anchor="ctr">
                    <a:solidFill>
                      <a:schemeClr val="accent1"/>
                    </a:solidFill>
                  </a:tcPr>
                </a:tc>
                <a:tc>
                  <a:txBody>
                    <a:bodyPr/>
                    <a:lstStyle/>
                    <a:p>
                      <a:pPr algn="ctr"/>
                      <a:r>
                        <a:rPr lang="es-ES" sz="1400" dirty="0">
                          <a:solidFill>
                            <a:schemeClr val="bg1"/>
                          </a:solidFill>
                        </a:rPr>
                        <a:t>C</a:t>
                      </a:r>
                    </a:p>
                  </a:txBody>
                  <a:tcPr marL="0" marR="0" marT="0" marB="0" anchor="ctr">
                    <a:solidFill>
                      <a:schemeClr val="accent1"/>
                    </a:solidFill>
                  </a:tcPr>
                </a:tc>
                <a:tc>
                  <a:txBody>
                    <a:bodyPr/>
                    <a:lstStyle/>
                    <a:p>
                      <a:pPr algn="ctr"/>
                      <a:r>
                        <a:rPr lang="es-ES" sz="1400" dirty="0">
                          <a:solidFill>
                            <a:schemeClr val="bg1"/>
                          </a:solidFill>
                        </a:rPr>
                        <a:t>D</a:t>
                      </a:r>
                    </a:p>
                  </a:txBody>
                  <a:tcPr marL="0" marR="0" marT="0" marB="0" anchor="ctr">
                    <a:solidFill>
                      <a:schemeClr val="accent1"/>
                    </a:solidFill>
                  </a:tcPr>
                </a:tc>
                <a:extLst>
                  <a:ext uri="{0D108BD9-81ED-4DB2-BD59-A6C34878D82A}">
                    <a16:rowId xmlns:a16="http://schemas.microsoft.com/office/drawing/2014/main" val="10000"/>
                  </a:ext>
                </a:extLst>
              </a:tr>
              <a:tr h="184927">
                <a:tc>
                  <a:txBody>
                    <a:bodyPr/>
                    <a:lstStyle/>
                    <a:p>
                      <a:pPr algn="ctr"/>
                      <a:r>
                        <a:rPr lang="es-ES" sz="1400" dirty="0"/>
                        <a:t>1</a:t>
                      </a:r>
                    </a:p>
                  </a:txBody>
                  <a:tcPr marL="0" marR="0" marT="0" marB="0" anchor="ctr"/>
                </a:tc>
                <a:tc>
                  <a:txBody>
                    <a:bodyPr/>
                    <a:lstStyle/>
                    <a:p>
                      <a:pPr algn="ctr"/>
                      <a:r>
                        <a:rPr lang="es-ES" sz="1400" dirty="0"/>
                        <a:t>2</a:t>
                      </a:r>
                    </a:p>
                  </a:txBody>
                  <a:tcPr marL="0" marR="0" marT="0" marB="0" anchor="ctr"/>
                </a:tc>
                <a:tc>
                  <a:txBody>
                    <a:bodyPr/>
                    <a:lstStyle/>
                    <a:p>
                      <a:pPr algn="ctr"/>
                      <a:r>
                        <a:rPr lang="es-ES" sz="1400"/>
                        <a:t>5</a:t>
                      </a:r>
                    </a:p>
                  </a:txBody>
                  <a:tcPr marL="0" marR="0" marT="0" marB="0" anchor="ctr"/>
                </a:tc>
                <a:tc>
                  <a:txBody>
                    <a:bodyPr/>
                    <a:lstStyle/>
                    <a:p>
                      <a:pPr algn="ctr"/>
                      <a:r>
                        <a:rPr lang="es-ES" sz="1400"/>
                        <a:t>6</a:t>
                      </a:r>
                    </a:p>
                  </a:txBody>
                  <a:tcPr marL="0" marR="0" marT="0" marB="0" anchor="ctr"/>
                </a:tc>
                <a:extLst>
                  <a:ext uri="{0D108BD9-81ED-4DB2-BD59-A6C34878D82A}">
                    <a16:rowId xmlns:a16="http://schemas.microsoft.com/office/drawing/2014/main" val="10001"/>
                  </a:ext>
                </a:extLst>
              </a:tr>
              <a:tr h="45867">
                <a:tc>
                  <a:txBody>
                    <a:bodyPr/>
                    <a:lstStyle/>
                    <a:p>
                      <a:pPr algn="ctr"/>
                      <a:r>
                        <a:rPr lang="es-ES" sz="1400" dirty="0"/>
                        <a:t>3</a:t>
                      </a:r>
                    </a:p>
                  </a:txBody>
                  <a:tcPr marL="0" marR="0" marT="0" marB="0" anchor="ctr"/>
                </a:tc>
                <a:tc>
                  <a:txBody>
                    <a:bodyPr/>
                    <a:lstStyle/>
                    <a:p>
                      <a:pPr algn="ctr"/>
                      <a:r>
                        <a:rPr lang="es-ES" sz="1400"/>
                        <a:t>4</a:t>
                      </a:r>
                    </a:p>
                  </a:txBody>
                  <a:tcPr marL="0" marR="0" marT="0" marB="0" anchor="ctr"/>
                </a:tc>
                <a:tc>
                  <a:txBody>
                    <a:bodyPr/>
                    <a:lstStyle/>
                    <a:p>
                      <a:pPr algn="ctr"/>
                      <a:r>
                        <a:rPr lang="es-ES" sz="1400" dirty="0"/>
                        <a:t>7</a:t>
                      </a:r>
                    </a:p>
                  </a:txBody>
                  <a:tcPr marL="0" marR="0" marT="0" marB="0" anchor="ctr"/>
                </a:tc>
                <a:tc>
                  <a:txBody>
                    <a:bodyPr/>
                    <a:lstStyle/>
                    <a:p>
                      <a:pPr algn="ctr"/>
                      <a:r>
                        <a:rPr lang="es-ES" sz="1400" dirty="0"/>
                        <a:t>8</a:t>
                      </a:r>
                    </a:p>
                  </a:txBody>
                  <a:tcPr marL="0" marR="0" marT="0" marB="0" anchor="ctr"/>
                </a:tc>
                <a:extLst>
                  <a:ext uri="{0D108BD9-81ED-4DB2-BD59-A6C34878D82A}">
                    <a16:rowId xmlns:a16="http://schemas.microsoft.com/office/drawing/2014/main" val="10002"/>
                  </a:ext>
                </a:extLst>
              </a:tr>
              <a:tr h="47775">
                <a:tc>
                  <a:txBody>
                    <a:bodyPr/>
                    <a:lstStyle/>
                    <a:p>
                      <a:pPr algn="ctr"/>
                      <a:r>
                        <a:rPr lang="es-MX" sz="1400" dirty="0"/>
                        <a:t>5</a:t>
                      </a:r>
                      <a:endParaRPr lang="es-ES" sz="1400" dirty="0"/>
                    </a:p>
                  </a:txBody>
                  <a:tcPr marL="0" marR="0" marT="0" marB="0" anchor="ctr"/>
                </a:tc>
                <a:tc>
                  <a:txBody>
                    <a:bodyPr/>
                    <a:lstStyle/>
                    <a:p>
                      <a:pPr algn="ctr"/>
                      <a:r>
                        <a:rPr lang="es-MX" sz="1400" dirty="0"/>
                        <a:t>2</a:t>
                      </a:r>
                      <a:endParaRPr lang="es-ES" sz="1400" dirty="0"/>
                    </a:p>
                  </a:txBody>
                  <a:tcPr marL="0" marR="0" marT="0" marB="0" anchor="ctr"/>
                </a:tc>
                <a:tc>
                  <a:txBody>
                    <a:bodyPr/>
                    <a:lstStyle/>
                    <a:p>
                      <a:pPr algn="ctr"/>
                      <a:r>
                        <a:rPr lang="es-ES" sz="1400" dirty="0"/>
                        <a:t>5</a:t>
                      </a:r>
                    </a:p>
                  </a:txBody>
                  <a:tcPr marL="0" marR="0" marT="0" marB="0" anchor="ctr"/>
                </a:tc>
                <a:tc>
                  <a:txBody>
                    <a:bodyPr/>
                    <a:lstStyle/>
                    <a:p>
                      <a:pPr algn="ctr"/>
                      <a:r>
                        <a:rPr lang="es-ES" sz="1400" dirty="0"/>
                        <a:t>6</a:t>
                      </a:r>
                    </a:p>
                  </a:txBody>
                  <a:tcPr marL="0" marR="0" marT="0" marB="0" anchor="ct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500"/>
                                        <p:tgtEl>
                                          <p:spTgt spid="3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500"/>
                                        <p:tgtEl>
                                          <p:spTgt spid="3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fade">
                                      <p:cBhvr>
                                        <p:cTn id="26" dur="500"/>
                                        <p:tgtEl>
                                          <p:spTgt spid="4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500"/>
                                        <p:tgtEl>
                                          <p:spTgt spid="3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500"/>
                                        <p:tgtEl>
                                          <p:spTgt spid="3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500"/>
                                        <p:tgtEl>
                                          <p:spTgt spid="3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500"/>
                                        <p:tgtEl>
                                          <p:spTgt spid="4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fade">
                                      <p:cBhvr>
                                        <p:cTn id="45" dur="500"/>
                                        <p:tgtEl>
                                          <p:spTgt spid="4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500"/>
                                        <p:tgtEl>
                                          <p:spTgt spid="3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46"/>
                                        </p:tgtEl>
                                        <p:attrNameLst>
                                          <p:attrName>style.visibility</p:attrName>
                                        </p:attrNameLst>
                                      </p:cBhvr>
                                      <p:to>
                                        <p:strVal val="visible"/>
                                      </p:to>
                                    </p:set>
                                    <p:animEffect transition="in" filter="fade">
                                      <p:cBhvr>
                                        <p:cTn id="55" dur="500"/>
                                        <p:tgtEl>
                                          <p:spTgt spid="46"/>
                                        </p:tgtEl>
                                      </p:cBhvr>
                                    </p:animEffect>
                                  </p:childTnLst>
                                </p:cTn>
                              </p:par>
                              <p:par>
                                <p:cTn id="56" presetID="10" presetClass="entr" presetSubtype="0" fill="hold" nodeType="with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fade">
                                      <p:cBhvr>
                                        <p:cTn id="58" dur="500"/>
                                        <p:tgtEl>
                                          <p:spTgt spid="4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7"/>
                                        </p:tgtEl>
                                        <p:attrNameLst>
                                          <p:attrName>style.visibility</p:attrName>
                                        </p:attrNameLst>
                                      </p:cBhvr>
                                      <p:to>
                                        <p:strVal val="visible"/>
                                      </p:to>
                                    </p:set>
                                    <p:animEffect transition="in" filter="fade">
                                      <p:cBhvr>
                                        <p:cTn id="63" dur="500"/>
                                        <p:tgtEl>
                                          <p:spTgt spid="47"/>
                                        </p:tgtEl>
                                      </p:cBhvr>
                                    </p:animEffect>
                                  </p:childTnLst>
                                </p:cTn>
                              </p:par>
                              <p:par>
                                <p:cTn id="64" presetID="10" presetClass="entr" presetSubtype="0" fill="hold" nodeType="with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fade">
                                      <p:cBhvr>
                                        <p:cTn id="66"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5" grpId="0"/>
      <p:bldP spid="36" grpId="0"/>
      <p:bldP spid="37" grpId="0" animBg="1"/>
      <p:bldP spid="42" grpId="0"/>
      <p:bldP spid="43" grpId="0" animBg="1"/>
      <p:bldP spid="44" grpId="0" animBg="1"/>
      <p:bldP spid="46" grpId="0"/>
      <p:bldP spid="47" grpId="0"/>
    </p:bld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2247900" y="4191000"/>
          <a:ext cx="1165225" cy="1481138"/>
        </p:xfrm>
        <a:graphic>
          <a:graphicData uri="http://schemas.openxmlformats.org/presentationml/2006/ole">
            <mc:AlternateContent xmlns:mc="http://schemas.openxmlformats.org/markup-compatibility/2006">
              <mc:Choice xmlns:v="urn:schemas-microsoft-com:vml" Requires="v">
                <p:oleObj spid="_x0000_s1034" name="Worksheet" r:id="rId3" imgW="771525" imgH="981075" progId="Excel.Sheet.8">
                  <p:embed/>
                </p:oleObj>
              </mc:Choice>
              <mc:Fallback>
                <p:oleObj name="Worksheet" r:id="rId3" imgW="771525" imgH="981075" progId="Excel.Shee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7900" y="4191000"/>
                        <a:ext cx="1165225" cy="1481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7" name="Object 3"/>
          <p:cNvGraphicFramePr>
            <a:graphicFrameLocks noChangeAspect="1"/>
          </p:cNvGraphicFramePr>
          <p:nvPr/>
        </p:nvGraphicFramePr>
        <p:xfrm>
          <a:off x="4692650" y="4191000"/>
          <a:ext cx="2308225" cy="2452688"/>
        </p:xfrm>
        <a:graphic>
          <a:graphicData uri="http://schemas.openxmlformats.org/presentationml/2006/ole">
            <mc:AlternateContent xmlns:mc="http://schemas.openxmlformats.org/markup-compatibility/2006">
              <mc:Choice xmlns:v="urn:schemas-microsoft-com:vml" Requires="v">
                <p:oleObj spid="_x0000_s1035" name="Hoja de cálculo" r:id="rId5" imgW="1609920" imgH="1710000" progId="Excel.Sheet.8">
                  <p:embed/>
                </p:oleObj>
              </mc:Choice>
              <mc:Fallback>
                <p:oleObj name="Hoja de cálculo" r:id="rId5" imgW="1609920" imgH="1710000" progId="Excel.Sheet.8">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92650" y="4191000"/>
                        <a:ext cx="2308225" cy="245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8" name="Text Box 14"/>
          <p:cNvSpPr txBox="1">
            <a:spLocks noChangeArrowheads="1"/>
          </p:cNvSpPr>
          <p:nvPr/>
        </p:nvSpPr>
        <p:spPr bwMode="auto">
          <a:xfrm>
            <a:off x="2143125" y="3748088"/>
            <a:ext cx="1338263" cy="400050"/>
          </a:xfrm>
          <a:prstGeom prst="rect">
            <a:avLst/>
          </a:prstGeom>
          <a:noFill/>
          <a:ln w="9525">
            <a:noFill/>
            <a:miter lim="800000"/>
            <a:headEnd/>
            <a:tailEnd/>
          </a:ln>
        </p:spPr>
        <p:txBody>
          <a:bodyPr wrap="none">
            <a:spAutoFit/>
          </a:bodyPr>
          <a:lstStyle/>
          <a:p>
            <a:pPr algn="ctr"/>
            <a:r>
              <a:rPr lang="es-MX" sz="2000"/>
              <a:t>Productos</a:t>
            </a:r>
            <a:endParaRPr lang="es-ES" sz="2000"/>
          </a:p>
        </p:txBody>
      </p:sp>
      <p:sp>
        <p:nvSpPr>
          <p:cNvPr id="1029" name="Text Box 15"/>
          <p:cNvSpPr txBox="1">
            <a:spLocks noChangeArrowheads="1"/>
          </p:cNvSpPr>
          <p:nvPr/>
        </p:nvSpPr>
        <p:spPr bwMode="auto">
          <a:xfrm>
            <a:off x="5062538" y="3748088"/>
            <a:ext cx="1611312" cy="400050"/>
          </a:xfrm>
          <a:prstGeom prst="rect">
            <a:avLst/>
          </a:prstGeom>
          <a:noFill/>
          <a:ln w="9525">
            <a:noFill/>
            <a:miter lim="800000"/>
            <a:headEnd/>
            <a:tailEnd/>
          </a:ln>
        </p:spPr>
        <p:txBody>
          <a:bodyPr wrap="none">
            <a:spAutoFit/>
          </a:bodyPr>
          <a:lstStyle/>
          <a:p>
            <a:pPr algn="ctr"/>
            <a:r>
              <a:rPr lang="es-MX" sz="2000"/>
              <a:t>Comerciales</a:t>
            </a:r>
            <a:endParaRPr lang="es-ES" sz="2000"/>
          </a:p>
        </p:txBody>
      </p:sp>
      <p:sp>
        <p:nvSpPr>
          <p:cNvPr id="1030"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1031" name="1 Rectángulo"/>
          <p:cNvSpPr>
            <a:spLocks noChangeArrowheads="1"/>
          </p:cNvSpPr>
          <p:nvPr/>
        </p:nvSpPr>
        <p:spPr bwMode="auto">
          <a:xfrm>
            <a:off x="34925" y="1042988"/>
            <a:ext cx="9074150" cy="523875"/>
          </a:xfrm>
          <a:prstGeom prst="rect">
            <a:avLst/>
          </a:prstGeom>
          <a:noFill/>
          <a:ln w="9525">
            <a:noFill/>
            <a:miter lim="800000"/>
            <a:headEnd/>
            <a:tailEnd/>
          </a:ln>
        </p:spPr>
        <p:txBody>
          <a:bodyPr>
            <a:spAutoFit/>
          </a:bodyPr>
          <a:lstStyle/>
          <a:p>
            <a:pPr marL="800100" lvl="1" indent="-342900">
              <a:buFont typeface="Arial" charset="0"/>
              <a:buNone/>
            </a:pPr>
            <a:r>
              <a:rPr lang="es-ES_tradnl" b="1"/>
              <a:t>Operaciones del Algebra Relacional – División </a:t>
            </a:r>
            <a:r>
              <a:rPr lang="es-ES_tradnl" sz="2800" b="1">
                <a:solidFill>
                  <a:schemeClr val="accent2"/>
                </a:solidFill>
                <a:sym typeface="Symbol" pitchFamily="18" charset="2"/>
              </a:rPr>
              <a:t>÷</a:t>
            </a:r>
            <a:endParaRPr lang="es-ES_tradnl" sz="1400" b="1" baseline="-25000">
              <a:sym typeface="Symbol" pitchFamily="18" charset="2"/>
            </a:endParaRPr>
          </a:p>
        </p:txBody>
      </p:sp>
      <p:sp>
        <p:nvSpPr>
          <p:cNvPr id="1032" name="9 Rectángulo"/>
          <p:cNvSpPr>
            <a:spLocks noChangeArrowheads="1"/>
          </p:cNvSpPr>
          <p:nvPr/>
        </p:nvSpPr>
        <p:spPr bwMode="auto">
          <a:xfrm>
            <a:off x="928688" y="1928813"/>
            <a:ext cx="7286625" cy="1200150"/>
          </a:xfrm>
          <a:prstGeom prst="rect">
            <a:avLst/>
          </a:prstGeom>
          <a:noFill/>
          <a:ln w="9525">
            <a:noFill/>
            <a:miter lim="800000"/>
            <a:headEnd/>
            <a:tailEnd/>
          </a:ln>
        </p:spPr>
        <p:txBody>
          <a:bodyPr>
            <a:spAutoFit/>
          </a:bodyPr>
          <a:lstStyle/>
          <a:p>
            <a:pPr algn="just"/>
            <a:r>
              <a:rPr lang="es-ES" b="1">
                <a:cs typeface="Arial" charset="0"/>
              </a:rPr>
              <a:t>R </a:t>
            </a:r>
            <a:r>
              <a:rPr lang="es-ES_tradnl" b="1">
                <a:solidFill>
                  <a:schemeClr val="accent2"/>
                </a:solidFill>
                <a:sym typeface="Symbol" pitchFamily="18" charset="2"/>
              </a:rPr>
              <a:t>÷ </a:t>
            </a:r>
            <a:r>
              <a:rPr lang="es-ES" b="1">
                <a:cs typeface="Arial" charset="0"/>
              </a:rPr>
              <a:t>S</a:t>
            </a:r>
            <a:r>
              <a:rPr lang="es-ES">
                <a:cs typeface="Arial" charset="0"/>
              </a:rPr>
              <a:t>: </a:t>
            </a:r>
            <a:r>
              <a:rPr lang="es-MX"/>
              <a:t>Operación del Algebra Relacional que crea una nueva relación, seleccionando las filas en una relación que corresponden con todas las filas en otra relación. El grado de R debe ser mayor que el grado de S.</a:t>
            </a:r>
            <a:endParaRPr lang="es-ES"/>
          </a:p>
        </p:txBody>
      </p:sp>
      <p:sp>
        <p:nvSpPr>
          <p:cNvPr id="1033" name="Rectangle 3"/>
          <p:cNvSpPr txBox="1">
            <a:spLocks noChangeArrowheads="1"/>
          </p:cNvSpPr>
          <p:nvPr/>
        </p:nvSpPr>
        <p:spPr bwMode="auto">
          <a:xfrm>
            <a:off x="728663" y="3143250"/>
            <a:ext cx="5129212" cy="357188"/>
          </a:xfrm>
          <a:prstGeom prst="rect">
            <a:avLst/>
          </a:prstGeom>
          <a:noFill/>
          <a:ln w="9525">
            <a:noFill/>
            <a:miter lim="800000"/>
            <a:headEnd/>
            <a:tailEnd/>
          </a:ln>
        </p:spPr>
        <p:txBody>
          <a:bodyPr/>
          <a:lstStyle/>
          <a:p>
            <a:pPr marL="365125" indent="-255588" eaLnBrk="0" hangingPunct="0">
              <a:spcBef>
                <a:spcPts val="400"/>
              </a:spcBef>
              <a:buClr>
                <a:schemeClr val="accent1"/>
              </a:buClr>
              <a:buSzPct val="68000"/>
              <a:buFont typeface="Wingdings" pitchFamily="2" charset="2"/>
              <a:buNone/>
            </a:pPr>
            <a:r>
              <a:rPr lang="es-MX">
                <a:cs typeface="Arial" charset="0"/>
              </a:rPr>
              <a:t>Suponer las siguientes tablas:</a:t>
            </a:r>
            <a:endParaRPr lang="es-ES">
              <a:cs typeface="Arial" charset="0"/>
            </a:endParaRP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052" name="1 Rectángulo"/>
          <p:cNvSpPr>
            <a:spLocks noChangeArrowheads="1"/>
          </p:cNvSpPr>
          <p:nvPr/>
        </p:nvSpPr>
        <p:spPr bwMode="auto">
          <a:xfrm>
            <a:off x="34925" y="1042988"/>
            <a:ext cx="9074150" cy="523875"/>
          </a:xfrm>
          <a:prstGeom prst="rect">
            <a:avLst/>
          </a:prstGeom>
          <a:noFill/>
          <a:ln w="9525">
            <a:noFill/>
            <a:miter lim="800000"/>
            <a:headEnd/>
            <a:tailEnd/>
          </a:ln>
        </p:spPr>
        <p:txBody>
          <a:bodyPr>
            <a:spAutoFit/>
          </a:bodyPr>
          <a:lstStyle/>
          <a:p>
            <a:pPr marL="800100" lvl="1" indent="-342900">
              <a:buFont typeface="Arial" charset="0"/>
              <a:buNone/>
            </a:pPr>
            <a:r>
              <a:rPr lang="es-ES_tradnl" b="1"/>
              <a:t>Operaciones del Algebra Relacional – División </a:t>
            </a:r>
            <a:r>
              <a:rPr lang="es-ES_tradnl" sz="2800" b="1">
                <a:solidFill>
                  <a:schemeClr val="accent2"/>
                </a:solidFill>
                <a:sym typeface="Symbol" pitchFamily="18" charset="2"/>
              </a:rPr>
              <a:t>÷</a:t>
            </a:r>
            <a:endParaRPr lang="es-ES_tradnl" sz="1400" b="1" baseline="-25000">
              <a:sym typeface="Symbol" pitchFamily="18" charset="2"/>
            </a:endParaRPr>
          </a:p>
        </p:txBody>
      </p:sp>
      <p:sp>
        <p:nvSpPr>
          <p:cNvPr id="20" name="9 Rectángulo"/>
          <p:cNvSpPr>
            <a:spLocks noChangeArrowheads="1"/>
          </p:cNvSpPr>
          <p:nvPr/>
        </p:nvSpPr>
        <p:spPr bwMode="auto">
          <a:xfrm>
            <a:off x="928688" y="1928813"/>
            <a:ext cx="7286625" cy="3416300"/>
          </a:xfrm>
          <a:prstGeom prst="rect">
            <a:avLst/>
          </a:prstGeom>
          <a:noFill/>
          <a:ln w="9525">
            <a:noFill/>
            <a:miter lim="800000"/>
            <a:headEnd/>
            <a:tailEnd/>
          </a:ln>
        </p:spPr>
        <p:txBody>
          <a:bodyPr>
            <a:spAutoFit/>
          </a:bodyPr>
          <a:lstStyle/>
          <a:p>
            <a:pPr algn="just">
              <a:defRPr/>
            </a:pPr>
            <a:r>
              <a:rPr lang="es-ES" dirty="0"/>
              <a:t>Si dividimos la Tabla COMERCIALES entre la Tabla PRODUCTOS obtendremos como resultado una tercera tabla </a:t>
            </a:r>
            <a:r>
              <a:rPr lang="es-MX" dirty="0"/>
              <a:t>en la </a:t>
            </a:r>
            <a:r>
              <a:rPr lang="es-ES" dirty="0"/>
              <a:t>que:</a:t>
            </a:r>
          </a:p>
          <a:p>
            <a:pPr algn="just">
              <a:defRPr/>
            </a:pPr>
            <a:endParaRPr lang="es-MX" dirty="0"/>
          </a:p>
          <a:p>
            <a:pPr marL="180000" indent="457200" algn="just">
              <a:buFont typeface="Arial" pitchFamily="34" charset="0"/>
              <a:buChar char="•"/>
              <a:defRPr/>
            </a:pPr>
            <a:r>
              <a:rPr lang="es-ES" dirty="0"/>
              <a:t>Los </a:t>
            </a:r>
            <a:r>
              <a:rPr lang="es-ES" b="1" dirty="0"/>
              <a:t>campos</a:t>
            </a:r>
            <a:r>
              <a:rPr lang="es-ES" dirty="0"/>
              <a:t> que contiene son aquellos de la Tabla COMERCIALES que no existen en la Tabla PRODUCTOS. En este caso el campo Código Comercial es el único de la Tabla COMERCIALES que no existen en la Tabla PRODUCTOS. </a:t>
            </a:r>
          </a:p>
          <a:p>
            <a:pPr marL="180000" indent="457200" algn="just">
              <a:defRPr/>
            </a:pPr>
            <a:endParaRPr lang="es-MX" dirty="0"/>
          </a:p>
          <a:p>
            <a:pPr marL="180000" indent="457200" algn="just">
              <a:buFontTx/>
              <a:buChar char="•"/>
              <a:defRPr/>
            </a:pPr>
            <a:r>
              <a:rPr lang="es-ES" dirty="0"/>
              <a:t>Un </a:t>
            </a:r>
            <a:r>
              <a:rPr lang="es-ES" b="1" dirty="0"/>
              <a:t>registro</a:t>
            </a:r>
            <a:r>
              <a:rPr lang="es-ES" dirty="0"/>
              <a:t> se encuentra en la tabla resultado si y sólo si está asociado en Tabla COMERCIALES con cada fila de la Tabla PRODUCTOS </a:t>
            </a:r>
            <a:endParaRPr lang="es-MX" dirty="0"/>
          </a:p>
          <a:p>
            <a:pPr algn="just">
              <a:defRPr/>
            </a:pPr>
            <a:endParaRPr lang="es-ES" dirty="0"/>
          </a:p>
        </p:txBody>
      </p:sp>
      <p:graphicFrame>
        <p:nvGraphicFramePr>
          <p:cNvPr id="2050" name="Object 2"/>
          <p:cNvGraphicFramePr>
            <a:graphicFrameLocks noChangeAspect="1"/>
          </p:cNvGraphicFramePr>
          <p:nvPr/>
        </p:nvGraphicFramePr>
        <p:xfrm>
          <a:off x="4286250" y="5143500"/>
          <a:ext cx="1219200" cy="782638"/>
        </p:xfrm>
        <a:graphic>
          <a:graphicData uri="http://schemas.openxmlformats.org/presentationml/2006/ole">
            <mc:AlternateContent xmlns:mc="http://schemas.openxmlformats.org/markup-compatibility/2006">
              <mc:Choice xmlns:v="urn:schemas-microsoft-com:vml" Requires="v">
                <p:oleObj spid="_x0000_s2054" name="Hoja de cálculo" r:id="rId4" imgW="810000" imgH="519840" progId="Excel.Sheet.8">
                  <p:embed/>
                </p:oleObj>
              </mc:Choice>
              <mc:Fallback>
                <p:oleObj name="Hoja de cálculo" r:id="rId4" imgW="810000" imgH="519840" progId="Excel.Sheet.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6250" y="5143500"/>
                        <a:ext cx="1219200" cy="782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8594" name="Picture 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776413" y="1928813"/>
            <a:ext cx="6867525" cy="4286250"/>
          </a:xfrm>
          <a:prstGeom prst="rect">
            <a:avLst/>
          </a:prstGeom>
          <a:noFill/>
          <a:ln w="9525">
            <a:noFill/>
            <a:miter lim="800000"/>
            <a:headEnd/>
            <a:tailEnd/>
          </a:ln>
        </p:spPr>
      </p:pic>
      <p:sp>
        <p:nvSpPr>
          <p:cNvPr id="238595"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38596" name="1 Rectángulo"/>
          <p:cNvSpPr>
            <a:spLocks noChangeArrowheads="1"/>
          </p:cNvSpPr>
          <p:nvPr/>
        </p:nvSpPr>
        <p:spPr bwMode="auto">
          <a:xfrm>
            <a:off x="34925" y="1042988"/>
            <a:ext cx="9074150" cy="523875"/>
          </a:xfrm>
          <a:prstGeom prst="rect">
            <a:avLst/>
          </a:prstGeom>
          <a:noFill/>
          <a:ln w="9525">
            <a:noFill/>
            <a:miter lim="800000"/>
            <a:headEnd/>
            <a:tailEnd/>
          </a:ln>
        </p:spPr>
        <p:txBody>
          <a:bodyPr>
            <a:spAutoFit/>
          </a:bodyPr>
          <a:lstStyle/>
          <a:p>
            <a:pPr marL="800100" lvl="1" indent="-342900">
              <a:buFont typeface="Arial" charset="0"/>
              <a:buNone/>
            </a:pPr>
            <a:r>
              <a:rPr lang="es-ES_tradnl" b="1"/>
              <a:t>Operaciones del Algebra Relacional – División </a:t>
            </a:r>
            <a:r>
              <a:rPr lang="es-ES_tradnl" sz="2800" b="1">
                <a:solidFill>
                  <a:schemeClr val="accent2"/>
                </a:solidFill>
                <a:sym typeface="Symbol" pitchFamily="18" charset="2"/>
              </a:rPr>
              <a:t>÷</a:t>
            </a:r>
            <a:endParaRPr lang="es-ES_tradnl" sz="1400" b="1" baseline="-25000">
              <a:sym typeface="Symbol" pitchFamily="18" charset="2"/>
            </a:endParaRPr>
          </a:p>
        </p:txBody>
      </p:sp>
      <p:sp>
        <p:nvSpPr>
          <p:cNvPr id="238597" name="4 CuadroTexto"/>
          <p:cNvSpPr txBox="1">
            <a:spLocks noChangeArrowheads="1"/>
          </p:cNvSpPr>
          <p:nvPr/>
        </p:nvSpPr>
        <p:spPr bwMode="auto">
          <a:xfrm>
            <a:off x="571500" y="1785938"/>
            <a:ext cx="1274763" cy="369887"/>
          </a:xfrm>
          <a:prstGeom prst="rect">
            <a:avLst/>
          </a:prstGeom>
          <a:noFill/>
          <a:ln w="9525">
            <a:noFill/>
            <a:miter lim="800000"/>
            <a:headEnd/>
            <a:tailEnd/>
          </a:ln>
        </p:spPr>
        <p:txBody>
          <a:bodyPr wrap="none">
            <a:spAutoFit/>
          </a:bodyPr>
          <a:lstStyle/>
          <a:p>
            <a:r>
              <a:rPr lang="es-MX" b="1"/>
              <a:t>Ejemplo 2</a:t>
            </a:r>
            <a:endParaRPr lang="es-ES" b="1"/>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2 CuadroTexto"/>
          <p:cNvSpPr txBox="1">
            <a:spLocks noChangeArrowheads="1"/>
          </p:cNvSpPr>
          <p:nvPr/>
        </p:nvSpPr>
        <p:spPr bwMode="auto">
          <a:xfrm>
            <a:off x="214313" y="131763"/>
            <a:ext cx="8643937" cy="461962"/>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4"/>
            </a:pPr>
            <a:r>
              <a:rPr lang="es-ES_tradnl" sz="2400" b="1"/>
              <a:t>ÁLGEBRA RELACIONAL</a:t>
            </a:r>
            <a:endParaRPr lang="es-MX" sz="2400" b="1"/>
          </a:p>
        </p:txBody>
      </p:sp>
      <p:sp>
        <p:nvSpPr>
          <p:cNvPr id="239619" name="1 Rectángulo"/>
          <p:cNvSpPr>
            <a:spLocks noChangeArrowheads="1"/>
          </p:cNvSpPr>
          <p:nvPr/>
        </p:nvSpPr>
        <p:spPr bwMode="auto">
          <a:xfrm>
            <a:off x="34925" y="1042988"/>
            <a:ext cx="9074150" cy="523875"/>
          </a:xfrm>
          <a:prstGeom prst="rect">
            <a:avLst/>
          </a:prstGeom>
          <a:noFill/>
          <a:ln w="9525">
            <a:noFill/>
            <a:miter lim="800000"/>
            <a:headEnd/>
            <a:tailEnd/>
          </a:ln>
        </p:spPr>
        <p:txBody>
          <a:bodyPr>
            <a:spAutoFit/>
          </a:bodyPr>
          <a:lstStyle/>
          <a:p>
            <a:pPr marL="800100" lvl="1" indent="-342900">
              <a:buFont typeface="Arial" charset="0"/>
              <a:buNone/>
            </a:pPr>
            <a:r>
              <a:rPr lang="es-ES_tradnl" b="1"/>
              <a:t>Operaciones del Algebra Relacional – División </a:t>
            </a:r>
            <a:r>
              <a:rPr lang="es-ES_tradnl" sz="2800" b="1">
                <a:solidFill>
                  <a:schemeClr val="accent2"/>
                </a:solidFill>
                <a:sym typeface="Symbol" pitchFamily="18" charset="2"/>
              </a:rPr>
              <a:t>÷</a:t>
            </a:r>
            <a:endParaRPr lang="es-ES_tradnl" sz="1400" b="1" baseline="-25000">
              <a:sym typeface="Symbol" pitchFamily="18" charset="2"/>
            </a:endParaRPr>
          </a:p>
        </p:txBody>
      </p:sp>
      <p:pic>
        <p:nvPicPr>
          <p:cNvPr id="239620" name="Picture 2"/>
          <p:cNvPicPr>
            <a:picLocks noChangeAspect="1" noChangeArrowheads="1"/>
          </p:cNvPicPr>
          <p:nvPr/>
        </p:nvPicPr>
        <p:blipFill>
          <a:blip r:embed="rId2" cstate="print"/>
          <a:srcRect/>
          <a:stretch>
            <a:fillRect/>
          </a:stretch>
        </p:blipFill>
        <p:spPr bwMode="auto">
          <a:xfrm>
            <a:off x="1804988" y="2328863"/>
            <a:ext cx="6553200" cy="3600450"/>
          </a:xfrm>
          <a:prstGeom prst="rect">
            <a:avLst/>
          </a:prstGeom>
          <a:noFill/>
          <a:ln w="9525">
            <a:noFill/>
            <a:miter lim="800000"/>
            <a:headEnd/>
            <a:tailEnd/>
          </a:ln>
        </p:spPr>
      </p:pic>
      <p:sp>
        <p:nvSpPr>
          <p:cNvPr id="239621" name="6 CuadroTexto"/>
          <p:cNvSpPr txBox="1">
            <a:spLocks noChangeArrowheads="1"/>
          </p:cNvSpPr>
          <p:nvPr/>
        </p:nvSpPr>
        <p:spPr bwMode="auto">
          <a:xfrm>
            <a:off x="571500" y="1785938"/>
            <a:ext cx="1274763" cy="369887"/>
          </a:xfrm>
          <a:prstGeom prst="rect">
            <a:avLst/>
          </a:prstGeom>
          <a:noFill/>
          <a:ln w="9525">
            <a:noFill/>
            <a:miter lim="800000"/>
            <a:headEnd/>
            <a:tailEnd/>
          </a:ln>
        </p:spPr>
        <p:txBody>
          <a:bodyPr wrap="none">
            <a:spAutoFit/>
          </a:bodyPr>
          <a:lstStyle/>
          <a:p>
            <a:r>
              <a:rPr lang="es-MX" b="1"/>
              <a:t>Ejemplo 3</a:t>
            </a:r>
            <a:endParaRPr lang="es-ES" b="1"/>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1 Rectángulo"/>
          <p:cNvSpPr>
            <a:spLocks noChangeArrowheads="1"/>
          </p:cNvSpPr>
          <p:nvPr/>
        </p:nvSpPr>
        <p:spPr bwMode="auto">
          <a:xfrm>
            <a:off x="714375" y="1357313"/>
            <a:ext cx="7715250" cy="3786187"/>
          </a:xfrm>
          <a:prstGeom prst="rect">
            <a:avLst/>
          </a:prstGeom>
          <a:noFill/>
          <a:ln w="9525">
            <a:noFill/>
            <a:miter lim="800000"/>
            <a:headEnd/>
            <a:tailEnd/>
          </a:ln>
        </p:spPr>
        <p:txBody>
          <a:bodyPr>
            <a:spAutoFit/>
          </a:bodyPr>
          <a:lstStyle/>
          <a:p>
            <a:pPr marL="800100" lvl="1" indent="-342900">
              <a:lnSpc>
                <a:spcPct val="200000"/>
              </a:lnSpc>
              <a:buFont typeface="Arial" charset="0"/>
              <a:buChar char="•"/>
            </a:pPr>
            <a:r>
              <a:rPr lang="es-ES_tradnl" sz="2000"/>
              <a:t>Definición de datos, restricciones y cambios de esquema</a:t>
            </a:r>
          </a:p>
          <a:p>
            <a:pPr marL="800100" lvl="1" indent="-342900">
              <a:lnSpc>
                <a:spcPct val="200000"/>
              </a:lnSpc>
              <a:buFont typeface="Arial" charset="0"/>
              <a:buChar char="•"/>
            </a:pPr>
            <a:r>
              <a:rPr lang="es-ES_tradnl" sz="2000"/>
              <a:t>Operaciones de Actualización y tratamiento de las restricciones</a:t>
            </a:r>
          </a:p>
          <a:p>
            <a:pPr marL="800100" lvl="1" indent="-342900">
              <a:lnSpc>
                <a:spcPct val="200000"/>
              </a:lnSpc>
              <a:buFont typeface="Arial" charset="0"/>
              <a:buChar char="•"/>
            </a:pPr>
            <a:r>
              <a:rPr lang="es-ES_tradnl" sz="2000"/>
              <a:t>Visualizando restricciones en el control de integridad</a:t>
            </a:r>
          </a:p>
          <a:p>
            <a:pPr marL="800100" lvl="1" indent="-342900">
              <a:lnSpc>
                <a:spcPct val="200000"/>
              </a:lnSpc>
              <a:buFont typeface="Arial" charset="0"/>
              <a:buChar char="•"/>
            </a:pPr>
            <a:r>
              <a:rPr lang="es-ES_tradnl" sz="2000"/>
              <a:t>Especificación de valores por omisión y acciones de disparo referencial</a:t>
            </a:r>
            <a:endParaRPr lang="es-MX" sz="2000"/>
          </a:p>
        </p:txBody>
      </p:sp>
      <p:sp>
        <p:nvSpPr>
          <p:cNvPr id="240643" name="2 CuadroTexto"/>
          <p:cNvSpPr txBox="1">
            <a:spLocks noChangeArrowheads="1"/>
          </p:cNvSpPr>
          <p:nvPr/>
        </p:nvSpPr>
        <p:spPr bwMode="auto">
          <a:xfrm>
            <a:off x="214313" y="131763"/>
            <a:ext cx="8643937" cy="831850"/>
          </a:xfrm>
          <a:prstGeom prst="rect">
            <a:avLst/>
          </a:prstGeom>
          <a:noFill/>
          <a:ln w="9525">
            <a:noFill/>
            <a:miter lim="800000"/>
            <a:headEnd/>
            <a:tailEnd/>
          </a:ln>
        </p:spPr>
        <p:txBody>
          <a:bodyPr>
            <a:spAutoFit/>
          </a:bodyPr>
          <a:lstStyle/>
          <a:p>
            <a:pPr marL="514350" indent="-514350">
              <a:buFont typeface="Lucida Sans Unicode" pitchFamily="34" charset="0"/>
              <a:buAutoNum type="romanUcPeriod" startAt="5"/>
            </a:pPr>
            <a:r>
              <a:rPr lang="es-ES_tradnl" sz="2400" b="1"/>
              <a:t>ESTÁNDARES DE LAS BASES DE DATOS RELACIONALES</a:t>
            </a:r>
            <a:endParaRPr lang="es-MX" sz="2400" b="1"/>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urrenci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oncurrencia">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urrencia">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Concourse</Template>
  <TotalTime>4273</TotalTime>
  <Words>12577</Words>
  <Application>Microsoft Office PowerPoint</Application>
  <PresentationFormat>Presentación en pantalla (4:3)</PresentationFormat>
  <Paragraphs>2581</Paragraphs>
  <Slides>220</Slides>
  <Notes>34</Notes>
  <HiddenSlides>0</HiddenSlides>
  <MMClips>0</MMClips>
  <ScaleCrop>false</ScaleCrop>
  <HeadingPairs>
    <vt:vector size="8" baseType="variant">
      <vt:variant>
        <vt:lpstr>Fuentes usadas</vt:lpstr>
      </vt:variant>
      <vt:variant>
        <vt:i4>10</vt:i4>
      </vt:variant>
      <vt:variant>
        <vt:lpstr>Tema</vt:lpstr>
      </vt:variant>
      <vt:variant>
        <vt:i4>1</vt:i4>
      </vt:variant>
      <vt:variant>
        <vt:lpstr>Servidores OLE incrustados</vt:lpstr>
      </vt:variant>
      <vt:variant>
        <vt:i4>2</vt:i4>
      </vt:variant>
      <vt:variant>
        <vt:lpstr>Títulos de diapositiva</vt:lpstr>
      </vt:variant>
      <vt:variant>
        <vt:i4>220</vt:i4>
      </vt:variant>
    </vt:vector>
  </HeadingPairs>
  <TitlesOfParts>
    <vt:vector size="233" baseType="lpstr">
      <vt:lpstr>Arial</vt:lpstr>
      <vt:lpstr>Arial Black</vt:lpstr>
      <vt:lpstr>Calibri</vt:lpstr>
      <vt:lpstr>Lucida Sans Unicode</vt:lpstr>
      <vt:lpstr>Symbol</vt:lpstr>
      <vt:lpstr>Tahoma</vt:lpstr>
      <vt:lpstr>Verdana</vt:lpstr>
      <vt:lpstr>Wingdings</vt:lpstr>
      <vt:lpstr>Wingdings 2</vt:lpstr>
      <vt:lpstr>Wingdings 3</vt:lpstr>
      <vt:lpstr>Concurrencia</vt:lpstr>
      <vt:lpstr>Worksheet</vt:lpstr>
      <vt:lpstr>Hoja de cálculo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Bloques de construcción de UML</vt:lpstr>
      <vt:lpstr>Elementos en UML. </vt:lpstr>
      <vt:lpstr>Relaciones en UML. </vt:lpstr>
      <vt:lpstr>Diagramas en UML. </vt:lpstr>
      <vt:lpstr>Presentación de PowerPoint</vt:lpstr>
      <vt:lpstr>Reglas de UML</vt:lpstr>
      <vt:lpstr>Mecanismos comunes en UML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AMILKAR</dc:creator>
  <cp:lastModifiedBy>User</cp:lastModifiedBy>
  <cp:revision>354</cp:revision>
  <dcterms:created xsi:type="dcterms:W3CDTF">2009-03-23T18:44:54Z</dcterms:created>
  <dcterms:modified xsi:type="dcterms:W3CDTF">2017-06-19T14:59:43Z</dcterms:modified>
</cp:coreProperties>
</file>